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 id="214748367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379" r:id="rId132"/>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748">
          <p15:clr>
            <a:srgbClr val="A4A3A4"/>
          </p15:clr>
        </p15:guide>
        <p15:guide id="2" orient="horz" pos="1162">
          <p15:clr>
            <a:srgbClr val="A4A3A4"/>
          </p15:clr>
        </p15:guide>
        <p15:guide id="3" orient="horz" pos="278">
          <p15:clr>
            <a:srgbClr val="A4A3A4"/>
          </p15:clr>
        </p15:guide>
        <p15:guide id="4" pos="7401">
          <p15:clr>
            <a:srgbClr val="A4A3A4"/>
          </p15:clr>
        </p15:guide>
      </p15:sldGuideLst>
    </p:ext>
    <p:ext uri="GoogleSlidesCustomDataVersion2">
      <go:slidesCustomData xmlns:go="http://customooxmlschemas.google.com/" r:id="rId131" roundtripDataSignature="AMtx7mhHGhHDIHJhEbSSjID+PJV9E4BL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FAD970-CCD4-4778-8618-83184D9DF701}">
  <a:tblStyle styleId="{DEFAD970-CCD4-4778-8618-83184D9DF701}" styleName="Table_0">
    <a:wholeTbl>
      <a:tcTxStyle b="off" i="off">
        <a:font>
          <a:latin typeface="ES Klarheit Kurrent Mono Md"/>
          <a:ea typeface="ES Klarheit Kurrent Mono Md"/>
          <a:cs typeface="ES Klarheit Kurrent Mono Md"/>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E9E7"/>
          </a:solidFill>
        </a:fill>
      </a:tcStyle>
    </a:wholeTbl>
    <a:band1H>
      <a:tcTxStyle b="off" i="off"/>
      <a:tcStyle>
        <a:fill>
          <a:solidFill>
            <a:srgbClr val="F3CFCB"/>
          </a:solidFill>
        </a:fill>
      </a:tcStyle>
    </a:band1H>
    <a:band2H>
      <a:tcTxStyle b="off" i="off"/>
    </a:band2H>
    <a:band1V>
      <a:tcTxStyle b="off" i="off"/>
      <a:tcStyle>
        <a:fill>
          <a:solidFill>
            <a:srgbClr val="F3CFCB"/>
          </a:solidFill>
        </a:fill>
      </a:tcStyle>
    </a:band1V>
    <a:band2V>
      <a:tcTxStyle b="off" i="off"/>
    </a:band2V>
    <a:lastCol>
      <a:tcTxStyle b="on" i="off">
        <a:font>
          <a:latin typeface="ES Klarheit Kurrent Mono Md"/>
          <a:ea typeface="ES Klarheit Kurrent Mono Md"/>
          <a:cs typeface="ES Klarheit Kurrent Mono Md"/>
        </a:font>
        <a:schemeClr val="lt1"/>
      </a:tcTxStyle>
      <a:tcStyle>
        <a:fill>
          <a:solidFill>
            <a:schemeClr val="accent1"/>
          </a:solidFill>
        </a:fill>
      </a:tcStyle>
    </a:lastCol>
    <a:firstCol>
      <a:tcTxStyle b="on" i="off">
        <a:font>
          <a:latin typeface="ES Klarheit Kurrent Mono Md"/>
          <a:ea typeface="ES Klarheit Kurrent Mono Md"/>
          <a:cs typeface="ES Klarheit Kurrent Mono Md"/>
        </a:font>
        <a:schemeClr val="lt1"/>
      </a:tcTxStyle>
      <a:tcStyle>
        <a:fill>
          <a:solidFill>
            <a:schemeClr val="accent1"/>
          </a:solidFill>
        </a:fill>
      </a:tcStyle>
    </a:firstCol>
    <a:lastRow>
      <a:tcTxStyle b="on" i="off">
        <a:font>
          <a:latin typeface="ES Klarheit Kurrent Mono Md"/>
          <a:ea typeface="ES Klarheit Kurrent Mono Md"/>
          <a:cs typeface="ES Klarheit Kurrent Mono Md"/>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ES Klarheit Kurrent Mono Md"/>
          <a:ea typeface="ES Klarheit Kurrent Mono Md"/>
          <a:cs typeface="ES Klarheit Kurrent Mono Md"/>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748" orient="horz"/>
        <p:guide pos="1162" orient="horz"/>
        <p:guide pos="278" orient="horz"/>
        <p:guide pos="7401"/>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customschemas.google.com/relationships/presentationmetadata" Target="metadata"/><Relationship Id="rId132" Type="http://schemas.openxmlformats.org/officeDocument/2006/relationships/slide" Target="slides/slide1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Model landscape as of October 2026. Check availability and EU routes in the Orq.ai model garden before the workshop: the list changes monthly. EU-hosted routes exist for several models (e.g. eu.gemini-3.7-flash, eu.claude-sonnet-5 via Vertex).</a:t>
            </a:r>
            <a:endParaRPr/>
          </a:p>
        </p:txBody>
      </p:sp>
      <p:sp>
        <p:nvSpPr>
          <p:cNvPr id="652" name="Google Shape;65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Open-weight models matter for cost and for data-sovereignty conversations. Orq.ai routes to them through EU/US hosting partners, so the data does not have to go to the original lab. Licences differ: open weight is not the same as unrestricted use.</a:t>
            </a:r>
            <a:endParaRPr/>
          </a:p>
        </p:txBody>
      </p:sp>
      <p:sp>
        <p:nvSpPr>
          <p:cNvPr id="670" name="Google Shape;67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1" name="Google Shape;93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2" name="Google Shape;93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 name="Google Shape;98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2" name="Google Shape;98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1" name="Google Shape;103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2" name="Google Shape;103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2" name="Google Shape;108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3" name="Google Shape;109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0" name="Google Shape;114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1" name="Google Shape;1141;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5" name="Google Shape;1165;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2" name="Google Shape;118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3" name="Google Shape;118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8" name="Google Shape;1198;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9" name="Google Shape;1199;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4" name="Google Shape;121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5" name="Google Shape;1215;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6" name="Google Shape;1236;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7" name="Google Shape;1237;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5" name="Google Shape;1255;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From the Enterprise Prompt Management deck. For new builds this replaces the Deployment walkthrough (now in backup): prompts are versioned, tested and published by environment tag, and called through the AI Router.</a:t>
            </a:r>
            <a:endParaRPr/>
          </a:p>
        </p:txBody>
      </p:sp>
      <p:sp>
        <p:nvSpPr>
          <p:cNvPr id="1256" name="Google Shape;1256;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6" name="Shape 1276"/>
        <p:cNvGrpSpPr/>
        <p:nvPr/>
      </p:nvGrpSpPr>
      <p:grpSpPr>
        <a:xfrm>
          <a:off x="0" y="0"/>
          <a:ext cx="0" cy="0"/>
          <a:chOff x="0" y="0"/>
          <a:chExt cx="0" cy="0"/>
        </a:xfrm>
      </p:grpSpPr>
      <p:sp>
        <p:nvSpPr>
          <p:cNvPr id="1277" name="Google Shape;1277;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8" name="Google Shape;127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5" name="Google Shape;1305;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9" name="Google Shape;131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3" name="Google Shape;1333;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4" name="Google Shape;1334;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7" name="Google Shape;134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3" name="Google Shape;1353;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6" name="Google Shape;136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7" name="Google Shape;136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1" name="Google Shape;1381;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2" name="Google Shape;1382;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6" name="Google Shape;1406;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The workshop exercises cover the base layer (experiments). Mention that agent simulations and red-teaming sit on top, and that all layers re-run when prompt, model, tools or knowledge change.</a:t>
            </a:r>
            <a:endParaRPr/>
          </a:p>
        </p:txBody>
      </p:sp>
      <p:sp>
        <p:nvSpPr>
          <p:cNvPr id="1424" name="Google Shape;1424;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1" name="Google Shape;147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6" name="Google Shape;1476;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Bridge into guardrails, PII redaction and evaluators. The one question: must this be stopped before it reaches a person, system or tool?</a:t>
            </a:r>
            <a:endParaRPr/>
          </a:p>
        </p:txBody>
      </p:sp>
      <p:sp>
        <p:nvSpPr>
          <p:cNvPr id="1477" name="Google Shape;1477;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3" name="Google Shape;1543;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4" name="Google Shape;1574;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5" name="Google Shape;1575;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0" name="Google Shape;1630;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1" name="Google Shape;1631;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6" name="Google Shape;1646;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7" name="Google Shape;1647;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8" name="Google Shape;1658;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Key message: redaction lets teams use the best model for the job on personal data without the provider ever seeing it. Detection runs on Orq.ai's own hosted model, never a third-party service. Show the workspace setting under Settings &gt; Plugins. Config options: language (auto/en/nl), regions, entities, per-entity thresholds, on_failure (block or passthrough), persist_redacted_to_traces. Source: docs.orq.ai/ai-gateway/features/plugins/pii-redaction</a:t>
            </a:r>
            <a:endParaRPr/>
          </a:p>
        </p:txBody>
      </p:sp>
      <p:sp>
        <p:nvSpPr>
          <p:cNvPr id="1659" name="Google Shape;1659;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8" name="Google Shape;1698;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Security and privacy officers often mix these up. Guardrails decide whether a call may happen, redaction changes what the provider sees, masking/scrubbing changes what is stored. Map each to a risk from the requirements map.</a:t>
            </a:r>
            <a:endParaRPr/>
          </a:p>
        </p:txBody>
      </p:sp>
      <p:sp>
        <p:nvSpPr>
          <p:cNvPr id="1699" name="Google Shape;1699;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8" name="Google Shape;172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3" name="Google Shape;1733;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4" name="Google Shape;1734;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6" name="Google Shape;1756;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7" name="Google Shape;1757;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2" name="Google Shape;1772;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3" name="Google Shape;1773;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4" name="Google Shape;1784;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5" name="Google Shape;1785;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4" name="Google Shape;1794;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p8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9" name="Google Shape;1799;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4" name="Google Shape;1804;p8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5" name="Google Shape;1805;p8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0" name="Google Shape;182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3" name="Shape 1823"/>
        <p:cNvGrpSpPr/>
        <p:nvPr/>
      </p:nvGrpSpPr>
      <p:grpSpPr>
        <a:xfrm>
          <a:off x="0" y="0"/>
          <a:ext cx="0" cy="0"/>
          <a:chOff x="0" y="0"/>
          <a:chExt cx="0" cy="0"/>
        </a:xfrm>
      </p:grpSpPr>
      <p:sp>
        <p:nvSpPr>
          <p:cNvPr id="1824" name="Google Shape;1824;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5" name="Google Shape;1825;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8" name="Shape 1828"/>
        <p:cNvGrpSpPr/>
        <p:nvPr/>
      </p:nvGrpSpPr>
      <p:grpSpPr>
        <a:xfrm>
          <a:off x="0" y="0"/>
          <a:ext cx="0" cy="0"/>
          <a:chOff x="0" y="0"/>
          <a:chExt cx="0" cy="0"/>
        </a:xfrm>
      </p:grpSpPr>
      <p:sp>
        <p:nvSpPr>
          <p:cNvPr id="1829" name="Google Shape;1829;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0" name="Google Shape;1830;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1" name="Google Shape;1831;p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4" name="Google Shape;1854;p8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55" name="Google Shape;1855;p8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2" name="Google Shape;1872;p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3" name="Google Shape;1873;p8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6" name="Shape 1886"/>
        <p:cNvGrpSpPr/>
        <p:nvPr/>
      </p:nvGrpSpPr>
      <p:grpSpPr>
        <a:xfrm>
          <a:off x="0" y="0"/>
          <a:ext cx="0" cy="0"/>
          <a:chOff x="0" y="0"/>
          <a:chExt cx="0" cy="0"/>
        </a:xfrm>
      </p:grpSpPr>
      <p:sp>
        <p:nvSpPr>
          <p:cNvPr id="1887" name="Google Shape;1887;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8" name="Google Shape;1888;p8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9" name="Google Shape;1889;p8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4" name="Google Shape;1904;p9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5" name="Google Shape;1905;p9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8" name="Google Shape;1918;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9" name="Google Shape;1919;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2" name="Google Shape;1942;p9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3" name="Google Shape;1943;p9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1" name="Google Shape;1961;p9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2" name="Google Shape;1962;p9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7" name="Google Shape;1977;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8" name="Google Shape;1978;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9" name="Google Shape;1989;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4" name="Google Shape;1994;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5" name="Google Shape;1995;p10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2" name="Shape 2002"/>
        <p:cNvGrpSpPr/>
        <p:nvPr/>
      </p:nvGrpSpPr>
      <p:grpSpPr>
        <a:xfrm>
          <a:off x="0" y="0"/>
          <a:ext cx="0" cy="0"/>
          <a:chOff x="0" y="0"/>
          <a:chExt cx="0" cy="0"/>
        </a:xfrm>
      </p:grpSpPr>
      <p:sp>
        <p:nvSpPr>
          <p:cNvPr id="2003" name="Google Shape;2003;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4" name="Google Shape;2004;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5" name="Google Shape;2005;p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0" name="Google Shape;2020;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1" name="Google Shape;2021;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2" name="Google Shape;2032;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3" name="Google Shape;2033;p9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4" name="Google Shape;2044;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5" name="Google Shape;2045;p9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4" name="Shape 2054"/>
        <p:cNvGrpSpPr/>
        <p:nvPr/>
      </p:nvGrpSpPr>
      <p:grpSpPr>
        <a:xfrm>
          <a:off x="0" y="0"/>
          <a:ext cx="0" cy="0"/>
          <a:chOff x="0" y="0"/>
          <a:chExt cx="0" cy="0"/>
        </a:xfrm>
      </p:grpSpPr>
      <p:sp>
        <p:nvSpPr>
          <p:cNvPr id="2055" name="Google Shape;2055;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6" name="Google Shape;2056;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1" name="Google Shape;2061;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6" name="Google Shape;2066;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h2d7e8d0cc2ebee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1" name="Google Shape;2071;h2d7e8d0cc2ebee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2" name="Google Shape;2072;h2d7e8d0cc2ebee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h2d7e8d0cc2ebee9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7" name="Google Shape;2077;h2d7e8d0cc2ebee9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8" name="Google Shape;2078;h2d7e8d0cc2ebee9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h2d7e8d0cc2ebee9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5" name="Google Shape;2115;h2d7e8d0cc2ebee9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6" name="Google Shape;2116;h2d7e8d0cc2ebee9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9" name="Shape 2159"/>
        <p:cNvGrpSpPr/>
        <p:nvPr/>
      </p:nvGrpSpPr>
      <p:grpSpPr>
        <a:xfrm>
          <a:off x="0" y="0"/>
          <a:ext cx="0" cy="0"/>
          <a:chOff x="0" y="0"/>
          <a:chExt cx="0" cy="0"/>
        </a:xfrm>
      </p:grpSpPr>
      <p:sp>
        <p:nvSpPr>
          <p:cNvPr id="2160" name="Google Shape;2160;h2d7e8d0cc2ebee9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1" name="Google Shape;2161;h2d7e8d0cc2ebee9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2" name="Google Shape;2162;h2d7e8d0cc2ebee9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h2d7e8d0cc2ebee9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5" name="Google Shape;2205;h2d7e8d0cc2ebee9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h2d7e8d0cc2ebee9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9" name="Google Shape;2249;h2d7e8d0cc2ebee9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7" name="Shape 2287"/>
        <p:cNvGrpSpPr/>
        <p:nvPr/>
      </p:nvGrpSpPr>
      <p:grpSpPr>
        <a:xfrm>
          <a:off x="0" y="0"/>
          <a:ext cx="0" cy="0"/>
          <a:chOff x="0" y="0"/>
          <a:chExt cx="0" cy="0"/>
        </a:xfrm>
      </p:grpSpPr>
      <p:sp>
        <p:nvSpPr>
          <p:cNvPr id="2288" name="Google Shape;2288;h2d7e8d0cc2ebee9_0_2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9" name="Google Shape;2289;h2d7e8d0cc2ebee9_0_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4" name="Shape 2334"/>
        <p:cNvGrpSpPr/>
        <p:nvPr/>
      </p:nvGrpSpPr>
      <p:grpSpPr>
        <a:xfrm>
          <a:off x="0" y="0"/>
          <a:ext cx="0" cy="0"/>
          <a:chOff x="0" y="0"/>
          <a:chExt cx="0" cy="0"/>
        </a:xfrm>
      </p:grpSpPr>
      <p:sp>
        <p:nvSpPr>
          <p:cNvPr id="2335" name="Google Shape;2335;h2d7e8d0cc2ebee9_0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6" name="Google Shape;2336;h2d7e8d0cc2ebee9_0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h2d7e8d0cc2ebee9_0_2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5" name="Google Shape;2375;h2d7e8d0cc2ebee9_0_2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6" name="Google Shape;2376;h2d7e8d0cc2ebee9_0_2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6" name="Shape 2386"/>
        <p:cNvGrpSpPr/>
        <p:nvPr/>
      </p:nvGrpSpPr>
      <p:grpSpPr>
        <a:xfrm>
          <a:off x="0" y="0"/>
          <a:ext cx="0" cy="0"/>
          <a:chOff x="0" y="0"/>
          <a:chExt cx="0" cy="0"/>
        </a:xfrm>
      </p:grpSpPr>
      <p:sp>
        <p:nvSpPr>
          <p:cNvPr id="2387" name="Google Shape;2387;h2d7e8d0cc2ebee9_0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8" name="Google Shape;2388;h2d7e8d0cc2ebee9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9" name="Google Shape;2389;h2d7e8d0cc2ebee9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0" name="Shape 2410"/>
        <p:cNvGrpSpPr/>
        <p:nvPr/>
      </p:nvGrpSpPr>
      <p:grpSpPr>
        <a:xfrm>
          <a:off x="0" y="0"/>
          <a:ext cx="0" cy="0"/>
          <a:chOff x="0" y="0"/>
          <a:chExt cx="0" cy="0"/>
        </a:xfrm>
      </p:grpSpPr>
      <p:sp>
        <p:nvSpPr>
          <p:cNvPr id="2411" name="Google Shape;2411;h2d7e8d0cc2ebee9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2" name="Google Shape;2412;h2d7e8d0cc2ebee9_0_3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3" name="Google Shape;2413;h2d7e8d0cc2ebee9_0_3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9" name="Shape 2429"/>
        <p:cNvGrpSpPr/>
        <p:nvPr/>
      </p:nvGrpSpPr>
      <p:grpSpPr>
        <a:xfrm>
          <a:off x="0" y="0"/>
          <a:ext cx="0" cy="0"/>
          <a:chOff x="0" y="0"/>
          <a:chExt cx="0" cy="0"/>
        </a:xfrm>
      </p:grpSpPr>
      <p:sp>
        <p:nvSpPr>
          <p:cNvPr id="2430" name="Google Shape;2430;h2d7e8d0cc2ebee9_0_3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1" name="Google Shape;2431;h2d7e8d0cc2ebee9_0_3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2" name="Google Shape;2432;h2d7e8d0cc2ebee9_0_3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h2d7e8d0cc2ebee9_0_3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7" name="Google Shape;2447;h2d7e8d0cc2ebee9_0_3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8" name="Google Shape;2448;h2d7e8d0cc2ebee9_0_3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0" name="Shape 2470"/>
        <p:cNvGrpSpPr/>
        <p:nvPr/>
      </p:nvGrpSpPr>
      <p:grpSpPr>
        <a:xfrm>
          <a:off x="0" y="0"/>
          <a:ext cx="0" cy="0"/>
          <a:chOff x="0" y="0"/>
          <a:chExt cx="0" cy="0"/>
        </a:xfrm>
      </p:grpSpPr>
      <p:sp>
        <p:nvSpPr>
          <p:cNvPr id="2471" name="Google Shape;2471;h2d7e8d0cc2ebee9_0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2" name="Google Shape;2472;h2d7e8d0cc2ebee9_0_3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3" name="Google Shape;2473;h2d7e8d0cc2ebee9_0_3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h2d7e8d0cc2ebee9_0_4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8" name="Google Shape;2498;h2d7e8d0cc2ebee9_0_4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From the AI risk mitigation pack. Sets up the Safety column of the requirements map: know the risks (catalogue), validate (pre-launch), control (runtime).</a:t>
            </a:r>
            <a:endParaRPr/>
          </a:p>
        </p:txBody>
      </p:sp>
      <p:sp>
        <p:nvSpPr>
          <p:cNvPr id="2499" name="Google Shape;2499;h2d7e8d0cc2ebee9_0_4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4" name="Shape 2524"/>
        <p:cNvGrpSpPr/>
        <p:nvPr/>
      </p:nvGrpSpPr>
      <p:grpSpPr>
        <a:xfrm>
          <a:off x="0" y="0"/>
          <a:ext cx="0" cy="0"/>
          <a:chOff x="0" y="0"/>
          <a:chExt cx="0" cy="0"/>
        </a:xfrm>
      </p:grpSpPr>
      <p:sp>
        <p:nvSpPr>
          <p:cNvPr id="2525" name="Google Shape;2525;h2d7e8d0cc2ebee9_0_4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6" name="Google Shape;2526;h2d7e8d0cc2ebee9_0_4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Use this to fill in "What use-case specific risks exist?" on the requirements map. Each risk has a business owner, which is often the first time teams see that safety is not only an IT question.</a:t>
            </a:r>
            <a:endParaRPr/>
          </a:p>
        </p:txBody>
      </p:sp>
      <p:sp>
        <p:nvSpPr>
          <p:cNvPr id="2527" name="Google Shape;2527;h2d7e8d0cc2ebee9_0_4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2" name="Shape 2542"/>
        <p:cNvGrpSpPr/>
        <p:nvPr/>
      </p:nvGrpSpPr>
      <p:grpSpPr>
        <a:xfrm>
          <a:off x="0" y="0"/>
          <a:ext cx="0" cy="0"/>
          <a:chOff x="0" y="0"/>
          <a:chExt cx="0" cy="0"/>
        </a:xfrm>
      </p:grpSpPr>
      <p:sp>
        <p:nvSpPr>
          <p:cNvPr id="2543" name="Google Shape;2543;h2d7e8d0cc2ebee9_0_4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4" name="Google Shape;2544;h2d7e8d0cc2ebee9_0_4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Use this map to structure requirements before building. The top row is defined by the business (where it runs, what it must produce, which risks matter); the bottom row is filled in with the AI expert (context, capabilities, runtime controls). Next slide shows a worked example; the exercise after that asks each team to fill this in for their own use case.</a:t>
            </a:r>
            <a:endParaRPr/>
          </a:p>
        </p:txBody>
      </p:sp>
      <p:sp>
        <p:nvSpPr>
          <p:cNvPr id="2545" name="Google Shape;2545;h2d7e8d0cc2ebee9_0_4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2" name="Shape 2592"/>
        <p:cNvGrpSpPr/>
        <p:nvPr/>
      </p:nvGrpSpPr>
      <p:grpSpPr>
        <a:xfrm>
          <a:off x="0" y="0"/>
          <a:ext cx="0" cy="0"/>
          <a:chOff x="0" y="0"/>
          <a:chExt cx="0" cy="0"/>
        </a:xfrm>
      </p:grpSpPr>
      <p:sp>
        <p:nvSpPr>
          <p:cNvPr id="2593" name="Google Shape;2593;h2d7e8d0cc2ebee9_0_5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4" name="Google Shape;2594;h2d7e8d0cc2ebee9_0_5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Worked example based on the GP health chatbot requirements from the previous slides. Walk through it top row first (business), then bottom row (AI expert), and point out how each risk in Pre-launch validation has a matching runtime control.</a:t>
            </a:r>
            <a:endParaRPr/>
          </a:p>
        </p:txBody>
      </p:sp>
      <p:sp>
        <p:nvSpPr>
          <p:cNvPr id="2595" name="Google Shape;2595;h2d7e8d0cc2ebee9_0_5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2" name="Shape 2642"/>
        <p:cNvGrpSpPr/>
        <p:nvPr/>
      </p:nvGrpSpPr>
      <p:grpSpPr>
        <a:xfrm>
          <a:off x="0" y="0"/>
          <a:ext cx="0" cy="0"/>
          <a:chOff x="0" y="0"/>
          <a:chExt cx="0" cy="0"/>
        </a:xfrm>
      </p:grpSpPr>
      <p:sp>
        <p:nvSpPr>
          <p:cNvPr id="2643" name="Google Shape;2643;h2d7e8d0cc2ebee9_0_5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4" name="Google Shape;2644;h2d7e8d0cc2ebee9_0_5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5" name="Google Shape;2645;h2d7e8d0cc2ebee9_0_5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0" name="Google Shape;2650;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3" name="Shape 2653"/>
        <p:cNvGrpSpPr/>
        <p:nvPr/>
      </p:nvGrpSpPr>
      <p:grpSpPr>
        <a:xfrm>
          <a:off x="0" y="0"/>
          <a:ext cx="0" cy="0"/>
          <a:chOff x="0" y="0"/>
          <a:chExt cx="0" cy="0"/>
        </a:xfrm>
      </p:grpSpPr>
      <p:sp>
        <p:nvSpPr>
          <p:cNvPr id="2654" name="Google Shape;2654;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5" name="Google Shape;265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6" name="Shape 2676"/>
        <p:cNvGrpSpPr/>
        <p:nvPr/>
      </p:nvGrpSpPr>
      <p:grpSpPr>
        <a:xfrm>
          <a:off x="0" y="0"/>
          <a:ext cx="0" cy="0"/>
          <a:chOff x="0" y="0"/>
          <a:chExt cx="0" cy="0"/>
        </a:xfrm>
      </p:grpSpPr>
      <p:sp>
        <p:nvSpPr>
          <p:cNvPr id="2677" name="Google Shape;2677;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8" name="Google Shape;2678;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9" name="Google Shape;2679;p1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0" name="Shape 2690"/>
        <p:cNvGrpSpPr/>
        <p:nvPr/>
      </p:nvGrpSpPr>
      <p:grpSpPr>
        <a:xfrm>
          <a:off x="0" y="0"/>
          <a:ext cx="0" cy="0"/>
          <a:chOff x="0" y="0"/>
          <a:chExt cx="0" cy="0"/>
        </a:xfrm>
      </p:grpSpPr>
      <p:sp>
        <p:nvSpPr>
          <p:cNvPr id="2691" name="Google Shape;2691;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2" name="Google Shape;2692;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3" name="Google Shape;2693;p10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6" name="Shape 2706"/>
        <p:cNvGrpSpPr/>
        <p:nvPr/>
      </p:nvGrpSpPr>
      <p:grpSpPr>
        <a:xfrm>
          <a:off x="0" y="0"/>
          <a:ext cx="0" cy="0"/>
          <a:chOff x="0" y="0"/>
          <a:chExt cx="0" cy="0"/>
        </a:xfrm>
      </p:grpSpPr>
      <p:sp>
        <p:nvSpPr>
          <p:cNvPr id="2707" name="Google Shape;2707;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8" name="Google Shape;2708;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09" name="Google Shape;2709;p10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9" name="Shape 2719"/>
        <p:cNvGrpSpPr/>
        <p:nvPr/>
      </p:nvGrpSpPr>
      <p:grpSpPr>
        <a:xfrm>
          <a:off x="0" y="0"/>
          <a:ext cx="0" cy="0"/>
          <a:chOff x="0" y="0"/>
          <a:chExt cx="0" cy="0"/>
        </a:xfrm>
      </p:grpSpPr>
      <p:sp>
        <p:nvSpPr>
          <p:cNvPr id="2720" name="Google Shape;2720;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1" name="Google Shape;2721;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2" name="Google Shape;2722;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8" name="Shape 2738"/>
        <p:cNvGrpSpPr/>
        <p:nvPr/>
      </p:nvGrpSpPr>
      <p:grpSpPr>
        <a:xfrm>
          <a:off x="0" y="0"/>
          <a:ext cx="0" cy="0"/>
          <a:chOff x="0" y="0"/>
          <a:chExt cx="0" cy="0"/>
        </a:xfrm>
      </p:grpSpPr>
      <p:sp>
        <p:nvSpPr>
          <p:cNvPr id="2739" name="Google Shape;2739;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0" name="Google Shape;2740;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1" name="Google Shape;2741;p1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2" name="Shape 2762"/>
        <p:cNvGrpSpPr/>
        <p:nvPr/>
      </p:nvGrpSpPr>
      <p:grpSpPr>
        <a:xfrm>
          <a:off x="0" y="0"/>
          <a:ext cx="0" cy="0"/>
          <a:chOff x="0" y="0"/>
          <a:chExt cx="0" cy="0"/>
        </a:xfrm>
      </p:grpSpPr>
      <p:sp>
        <p:nvSpPr>
          <p:cNvPr id="2763" name="Google Shape;2763;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4" name="Google Shape;2764;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1" name="Shape 2771"/>
        <p:cNvGrpSpPr/>
        <p:nvPr/>
      </p:nvGrpSpPr>
      <p:grpSpPr>
        <a:xfrm>
          <a:off x="0" y="0"/>
          <a:ext cx="0" cy="0"/>
          <a:chOff x="0" y="0"/>
          <a:chExt cx="0" cy="0"/>
        </a:xfrm>
      </p:grpSpPr>
      <p:sp>
        <p:nvSpPr>
          <p:cNvPr id="2772" name="Google Shape;277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3" name="Google Shape;2773;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4" name="Google Shape;2774;p1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5" name="Shape 2795"/>
        <p:cNvGrpSpPr/>
        <p:nvPr/>
      </p:nvGrpSpPr>
      <p:grpSpPr>
        <a:xfrm>
          <a:off x="0" y="0"/>
          <a:ext cx="0" cy="0"/>
          <a:chOff x="0" y="0"/>
          <a:chExt cx="0" cy="0"/>
        </a:xfrm>
      </p:grpSpPr>
      <p:sp>
        <p:nvSpPr>
          <p:cNvPr id="2796" name="Google Shape;2796;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7" name="Google Shape;2797;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4" name="Shape 2804"/>
        <p:cNvGrpSpPr/>
        <p:nvPr/>
      </p:nvGrpSpPr>
      <p:grpSpPr>
        <a:xfrm>
          <a:off x="0" y="0"/>
          <a:ext cx="0" cy="0"/>
          <a:chOff x="0" y="0"/>
          <a:chExt cx="0" cy="0"/>
        </a:xfrm>
      </p:grpSpPr>
      <p:sp>
        <p:nvSpPr>
          <p:cNvPr id="2805" name="Google Shape;2805;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6" name="Google Shape;2806;p1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7" name="Google Shape;2807;p1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8" name="Shape 2818"/>
        <p:cNvGrpSpPr/>
        <p:nvPr/>
      </p:nvGrpSpPr>
      <p:grpSpPr>
        <a:xfrm>
          <a:off x="0" y="0"/>
          <a:ext cx="0" cy="0"/>
          <a:chOff x="0" y="0"/>
          <a:chExt cx="0" cy="0"/>
        </a:xfrm>
      </p:grpSpPr>
      <p:sp>
        <p:nvSpPr>
          <p:cNvPr id="2819" name="Google Shape;2819;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0" name="Google Shape;2820;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Arial"/>
                <a:ea typeface="Arial"/>
                <a:cs typeface="Arial"/>
                <a:sym typeface="Arial"/>
              </a:rPr>
              <a:t>Product update (v4.8): Deployments keep working, but for new builds Orq.ai recommends Agents (with or without tools) or Prompts called through the AI Router. Mention this when the group is starting something new.</a:t>
            </a:r>
            <a:endParaRPr/>
          </a:p>
        </p:txBody>
      </p:sp>
      <p:sp>
        <p:nvSpPr>
          <p:cNvPr id="2821" name="Google Shape;2821;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4" name="Shape 2824"/>
        <p:cNvGrpSpPr/>
        <p:nvPr/>
      </p:nvGrpSpPr>
      <p:grpSpPr>
        <a:xfrm>
          <a:off x="0" y="0"/>
          <a:ext cx="0" cy="0"/>
          <a:chOff x="0" y="0"/>
          <a:chExt cx="0" cy="0"/>
        </a:xfrm>
      </p:grpSpPr>
      <p:sp>
        <p:nvSpPr>
          <p:cNvPr id="2825" name="Google Shape;2825;p1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6" name="Google Shape;2826;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3" name="Shape 2833"/>
        <p:cNvGrpSpPr/>
        <p:nvPr/>
      </p:nvGrpSpPr>
      <p:grpSpPr>
        <a:xfrm>
          <a:off x="0" y="0"/>
          <a:ext cx="0" cy="0"/>
          <a:chOff x="0" y="0"/>
          <a:chExt cx="0" cy="0"/>
        </a:xfrm>
      </p:grpSpPr>
      <p:sp>
        <p:nvSpPr>
          <p:cNvPr id="2834" name="Google Shape;2834;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5" name="Google Shape;2835;p1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6" name="Google Shape;2836;p1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7" name="Shape 2857"/>
        <p:cNvGrpSpPr/>
        <p:nvPr/>
      </p:nvGrpSpPr>
      <p:grpSpPr>
        <a:xfrm>
          <a:off x="0" y="0"/>
          <a:ext cx="0" cy="0"/>
          <a:chOff x="0" y="0"/>
          <a:chExt cx="0" cy="0"/>
        </a:xfrm>
      </p:grpSpPr>
      <p:sp>
        <p:nvSpPr>
          <p:cNvPr id="2858" name="Google Shape;2858;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9" name="Google Shape;2859;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6" name="Shape 2866"/>
        <p:cNvGrpSpPr/>
        <p:nvPr/>
      </p:nvGrpSpPr>
      <p:grpSpPr>
        <a:xfrm>
          <a:off x="0" y="0"/>
          <a:ext cx="0" cy="0"/>
          <a:chOff x="0" y="0"/>
          <a:chExt cx="0" cy="0"/>
        </a:xfrm>
      </p:grpSpPr>
      <p:sp>
        <p:nvSpPr>
          <p:cNvPr id="2867" name="Google Shape;2867;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8" name="Google Shape;2868;p1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9" name="Google Shape;2869;p1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0" name="Shape 2890"/>
        <p:cNvGrpSpPr/>
        <p:nvPr/>
      </p:nvGrpSpPr>
      <p:grpSpPr>
        <a:xfrm>
          <a:off x="0" y="0"/>
          <a:ext cx="0" cy="0"/>
          <a:chOff x="0" y="0"/>
          <a:chExt cx="0" cy="0"/>
        </a:xfrm>
      </p:grpSpPr>
      <p:sp>
        <p:nvSpPr>
          <p:cNvPr id="2891" name="Google Shape;2891;p1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2" name="Google Shape;2892;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9" name="Shape 2899"/>
        <p:cNvGrpSpPr/>
        <p:nvPr/>
      </p:nvGrpSpPr>
      <p:grpSpPr>
        <a:xfrm>
          <a:off x="0" y="0"/>
          <a:ext cx="0" cy="0"/>
          <a:chOff x="0" y="0"/>
          <a:chExt cx="0" cy="0"/>
        </a:xfrm>
      </p:grpSpPr>
      <p:sp>
        <p:nvSpPr>
          <p:cNvPr id="2900" name="Google Shape;2900;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1" name="Google Shape;2901;p1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2" name="Google Shape;2902;p1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3" name="Shape 2923"/>
        <p:cNvGrpSpPr/>
        <p:nvPr/>
      </p:nvGrpSpPr>
      <p:grpSpPr>
        <a:xfrm>
          <a:off x="0" y="0"/>
          <a:ext cx="0" cy="0"/>
          <a:chOff x="0" y="0"/>
          <a:chExt cx="0" cy="0"/>
        </a:xfrm>
      </p:grpSpPr>
      <p:sp>
        <p:nvSpPr>
          <p:cNvPr id="2924" name="Google Shape;2924;p1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5" name="Google Shape;2925;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2" name="Shape 2932"/>
        <p:cNvGrpSpPr/>
        <p:nvPr/>
      </p:nvGrpSpPr>
      <p:grpSpPr>
        <a:xfrm>
          <a:off x="0" y="0"/>
          <a:ext cx="0" cy="0"/>
          <a:chOff x="0" y="0"/>
          <a:chExt cx="0" cy="0"/>
        </a:xfrm>
      </p:grpSpPr>
      <p:sp>
        <p:nvSpPr>
          <p:cNvPr id="2933" name="Google Shape;2933;p1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4" name="Google Shape;2934;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4" name="Shape 2964"/>
        <p:cNvGrpSpPr/>
        <p:nvPr/>
      </p:nvGrpSpPr>
      <p:grpSpPr>
        <a:xfrm>
          <a:off x="0" y="0"/>
          <a:ext cx="0" cy="0"/>
          <a:chOff x="0" y="0"/>
          <a:chExt cx="0" cy="0"/>
        </a:xfrm>
      </p:grpSpPr>
      <p:sp>
        <p:nvSpPr>
          <p:cNvPr id="2965" name="Google Shape;2965;p1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6" name="Google Shape;2966;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01">
  <p:cSld name="Cover Slide 01">
    <p:bg>
      <p:bgPr>
        <a:solidFill>
          <a:schemeClr val="lt2"/>
        </a:solidFill>
      </p:bgPr>
    </p:bg>
    <p:spTree>
      <p:nvGrpSpPr>
        <p:cNvPr id="15" name="Shape 15"/>
        <p:cNvGrpSpPr/>
        <p:nvPr/>
      </p:nvGrpSpPr>
      <p:grpSpPr>
        <a:xfrm>
          <a:off x="0" y="0"/>
          <a:ext cx="0" cy="0"/>
          <a:chOff x="0" y="0"/>
          <a:chExt cx="0" cy="0"/>
        </a:xfrm>
      </p:grpSpPr>
      <p:pic>
        <p:nvPicPr>
          <p:cNvPr descr="A white and blue gradient&#10;&#10;AI-generated content may be incorrect." id="16" name="Google Shape;16;p126"/>
          <p:cNvPicPr preferRelativeResize="0"/>
          <p:nvPr/>
        </p:nvPicPr>
        <p:blipFill rotWithShape="1">
          <a:blip r:embed="rId2">
            <a:alphaModFix/>
          </a:blip>
          <a:srcRect b="0" l="0" r="0" t="0"/>
          <a:stretch/>
        </p:blipFill>
        <p:spPr>
          <a:xfrm>
            <a:off x="0" y="0"/>
            <a:ext cx="12192000" cy="5435600"/>
          </a:xfrm>
          <a:prstGeom prst="rect">
            <a:avLst/>
          </a:prstGeom>
          <a:noFill/>
          <a:ln>
            <a:noFill/>
          </a:ln>
        </p:spPr>
      </p:pic>
      <p:sp>
        <p:nvSpPr>
          <p:cNvPr id="17" name="Google Shape;17;p126"/>
          <p:cNvSpPr txBox="1"/>
          <p:nvPr>
            <p:ph type="title"/>
          </p:nvPr>
        </p:nvSpPr>
        <p:spPr>
          <a:xfrm>
            <a:off x="263525" y="5458877"/>
            <a:ext cx="11664949" cy="1138773"/>
          </a:xfrm>
          <a:prstGeom prst="rect">
            <a:avLst/>
          </a:prstGeom>
          <a:noFill/>
          <a:ln>
            <a:noFill/>
          </a:ln>
        </p:spPr>
        <p:txBody>
          <a:bodyPr anchorCtr="0" anchor="b" bIns="0" lIns="0" spcFirstLastPara="1" rIns="0" wrap="square" tIns="0">
            <a:spAutoFit/>
          </a:bodyPr>
          <a:lstStyle>
            <a:lvl1pPr lvl="0" algn="l">
              <a:lnSpc>
                <a:spcPct val="100000"/>
              </a:lnSpc>
              <a:spcBef>
                <a:spcPts val="1200"/>
              </a:spcBef>
              <a:spcAft>
                <a:spcPts val="0"/>
              </a:spcAft>
              <a:buClr>
                <a:schemeClr val="dk1"/>
              </a:buClr>
              <a:buSzPts val="7400"/>
              <a:buFont typeface="Arial"/>
              <a:buNone/>
              <a:defRPr sz="7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26"/>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p:spTree>
      <p:nvGrpSpPr>
        <p:cNvPr id="19" name="Shape 19"/>
        <p:cNvGrpSpPr/>
        <p:nvPr/>
      </p:nvGrpSpPr>
      <p:grpSpPr>
        <a:xfrm>
          <a:off x="0" y="0"/>
          <a:ext cx="0" cy="0"/>
          <a:chOff x="0" y="0"/>
          <a:chExt cx="0" cy="0"/>
        </a:xfrm>
      </p:grpSpPr>
      <p:sp>
        <p:nvSpPr>
          <p:cNvPr id="20" name="Google Shape;20;p127"/>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12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2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6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Caption">
  <p:cSld name="Title + Caption">
    <p:spTree>
      <p:nvGrpSpPr>
        <p:cNvPr id="24" name="Shape 24"/>
        <p:cNvGrpSpPr/>
        <p:nvPr/>
      </p:nvGrpSpPr>
      <p:grpSpPr>
        <a:xfrm>
          <a:off x="0" y="0"/>
          <a:ext cx="0" cy="0"/>
          <a:chOff x="0" y="0"/>
          <a:chExt cx="0" cy="0"/>
        </a:xfrm>
      </p:grpSpPr>
      <p:sp>
        <p:nvSpPr>
          <p:cNvPr id="25" name="Google Shape;25;p128"/>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8"/>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28"/>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 name="Google Shape;28;p12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2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28"/>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 right">
  <p:cSld name="Box right">
    <p:spTree>
      <p:nvGrpSpPr>
        <p:cNvPr id="31" name="Shape 31"/>
        <p:cNvGrpSpPr/>
        <p:nvPr/>
      </p:nvGrpSpPr>
      <p:grpSpPr>
        <a:xfrm>
          <a:off x="0" y="0"/>
          <a:ext cx="0" cy="0"/>
          <a:chOff x="0" y="0"/>
          <a:chExt cx="0" cy="0"/>
        </a:xfrm>
      </p:grpSpPr>
      <p:sp>
        <p:nvSpPr>
          <p:cNvPr id="32" name="Google Shape;32;p129"/>
          <p:cNvSpPr/>
          <p:nvPr/>
        </p:nvSpPr>
        <p:spPr>
          <a:xfrm>
            <a:off x="4295800" y="260350"/>
            <a:ext cx="7632848" cy="5905500"/>
          </a:xfrm>
          <a:prstGeom prst="roundRect">
            <a:avLst>
              <a:gd fmla="val 1487"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 name="Google Shape;33;p129"/>
          <p:cNvSpPr txBox="1"/>
          <p:nvPr>
            <p:ph idx="1" type="body"/>
          </p:nvPr>
        </p:nvSpPr>
        <p:spPr>
          <a:xfrm>
            <a:off x="263352" y="981889"/>
            <a:ext cx="3529066"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29"/>
          <p:cNvSpPr txBox="1"/>
          <p:nvPr>
            <p:ph type="title"/>
          </p:nvPr>
        </p:nvSpPr>
        <p:spPr>
          <a:xfrm>
            <a:off x="263525" y="512676"/>
            <a:ext cx="3529013"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29"/>
          <p:cNvSpPr txBox="1"/>
          <p:nvPr>
            <p:ph idx="2" type="body"/>
          </p:nvPr>
        </p:nvSpPr>
        <p:spPr>
          <a:xfrm>
            <a:off x="263353" y="260648"/>
            <a:ext cx="3529066"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29"/>
          <p:cNvSpPr txBox="1"/>
          <p:nvPr>
            <p:ph idx="3" type="body"/>
          </p:nvPr>
        </p:nvSpPr>
        <p:spPr>
          <a:xfrm>
            <a:off x="263525" y="3716734"/>
            <a:ext cx="2411413" cy="244857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Clr>
                <a:schemeClr val="dk2"/>
              </a:buClr>
              <a:buSzPts val="1000"/>
              <a:buNone/>
              <a:defRPr sz="1000">
                <a:solidFill>
                  <a:schemeClr val="dk2"/>
                </a:solidFill>
              </a:defRPr>
            </a:lvl1pPr>
            <a:lvl2pPr indent="-292100" lvl="1" marL="914400" algn="l">
              <a:lnSpc>
                <a:spcPct val="100000"/>
              </a:lnSpc>
              <a:spcBef>
                <a:spcPts val="600"/>
              </a:spcBef>
              <a:spcAft>
                <a:spcPts val="0"/>
              </a:spcAft>
              <a:buClr>
                <a:schemeClr val="dk2"/>
              </a:buClr>
              <a:buSzPts val="1000"/>
              <a:buChar char="•"/>
              <a:defRPr sz="1000">
                <a:solidFill>
                  <a:schemeClr val="dk2"/>
                </a:solidFill>
              </a:defRPr>
            </a:lvl2pPr>
            <a:lvl3pPr indent="-292100" lvl="2" marL="1371600" algn="l">
              <a:lnSpc>
                <a:spcPct val="100000"/>
              </a:lnSpc>
              <a:spcBef>
                <a:spcPts val="600"/>
              </a:spcBef>
              <a:spcAft>
                <a:spcPts val="0"/>
              </a:spcAft>
              <a:buClr>
                <a:schemeClr val="dk2"/>
              </a:buClr>
              <a:buSzPts val="1000"/>
              <a:buChar char="–"/>
              <a:defRPr sz="1000">
                <a:solidFill>
                  <a:schemeClr val="dk2"/>
                </a:solidFill>
              </a:defRPr>
            </a:lvl3pPr>
            <a:lvl4pPr indent="-292100" lvl="3" marL="1828800" algn="l">
              <a:lnSpc>
                <a:spcPct val="100000"/>
              </a:lnSpc>
              <a:spcBef>
                <a:spcPts val="600"/>
              </a:spcBef>
              <a:spcAft>
                <a:spcPts val="0"/>
              </a:spcAft>
              <a:buClr>
                <a:schemeClr val="dk2"/>
              </a:buClr>
              <a:buSzPts val="1000"/>
              <a:buChar char="•"/>
              <a:defRPr sz="1000">
                <a:solidFill>
                  <a:schemeClr val="dk2"/>
                </a:solidFill>
              </a:defRPr>
            </a:lvl4pPr>
            <a:lvl5pPr indent="-292100" lvl="4" marL="2286000" algn="l">
              <a:lnSpc>
                <a:spcPct val="100000"/>
              </a:lnSpc>
              <a:spcBef>
                <a:spcPts val="600"/>
              </a:spcBef>
              <a:spcAft>
                <a:spcPts val="0"/>
              </a:spcAft>
              <a:buClr>
                <a:schemeClr val="dk2"/>
              </a:buClr>
              <a:buSzPts val="1000"/>
              <a:buChar char="–"/>
              <a:defRPr sz="1000">
                <a:solidFill>
                  <a:schemeClr val="dk2"/>
                </a:solidFill>
              </a:defRPr>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29"/>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12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2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29"/>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2706">
          <p15:clr>
            <a:srgbClr val="FBAE40"/>
          </p15:clr>
        </p15:guide>
        <p15:guide id="2" pos="2547">
          <p15:clr>
            <a:srgbClr val="FBAE40"/>
          </p15:clr>
        </p15:guide>
        <p15:guide id="3" pos="2389">
          <p15:clr>
            <a:srgbClr val="FBAE40"/>
          </p15:clr>
        </p15:guide>
        <p15:guide id="4" pos="16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p:cSld name="Chapter">
    <p:bg>
      <p:bgPr>
        <a:solidFill>
          <a:schemeClr val="lt2"/>
        </a:solidFill>
      </p:bgPr>
    </p:bg>
    <p:spTree>
      <p:nvGrpSpPr>
        <p:cNvPr id="41" name="Shape 41"/>
        <p:cNvGrpSpPr/>
        <p:nvPr/>
      </p:nvGrpSpPr>
      <p:grpSpPr>
        <a:xfrm>
          <a:off x="0" y="0"/>
          <a:ext cx="0" cy="0"/>
          <a:chOff x="0" y="0"/>
          <a:chExt cx="0" cy="0"/>
        </a:xfrm>
      </p:grpSpPr>
      <p:sp>
        <p:nvSpPr>
          <p:cNvPr id="42" name="Google Shape;42;p130"/>
          <p:cNvSpPr txBox="1"/>
          <p:nvPr>
            <p:ph type="title"/>
          </p:nvPr>
        </p:nvSpPr>
        <p:spPr>
          <a:xfrm>
            <a:off x="5519936" y="2970540"/>
            <a:ext cx="6408538" cy="92333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descr="A blue and white gradient&#10;&#10;AI-generated content may be incorrect." id="43" name="Google Shape;43;p130"/>
          <p:cNvPicPr preferRelativeResize="0"/>
          <p:nvPr/>
        </p:nvPicPr>
        <p:blipFill rotWithShape="1">
          <a:blip r:embed="rId2">
            <a:alphaModFix/>
          </a:blip>
          <a:srcRect b="0" l="0" r="0" t="0"/>
          <a:stretch/>
        </p:blipFill>
        <p:spPr>
          <a:xfrm rot="-5400000">
            <a:off x="-1500496" y="1503672"/>
            <a:ext cx="6854826" cy="3853832"/>
          </a:xfrm>
          <a:prstGeom prst="rect">
            <a:avLst/>
          </a:prstGeom>
          <a:noFill/>
          <a:ln>
            <a:noFill/>
          </a:ln>
        </p:spPr>
      </p:pic>
      <p:sp>
        <p:nvSpPr>
          <p:cNvPr id="44" name="Google Shape;44;p130"/>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5" name="Shape 45"/>
        <p:cNvGrpSpPr/>
        <p:nvPr/>
      </p:nvGrpSpPr>
      <p:grpSpPr>
        <a:xfrm>
          <a:off x="0" y="0"/>
          <a:ext cx="0" cy="0"/>
          <a:chOff x="0" y="0"/>
          <a:chExt cx="0" cy="0"/>
        </a:xfrm>
      </p:grpSpPr>
      <p:sp>
        <p:nvSpPr>
          <p:cNvPr id="46" name="Google Shape;46;p13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37"/>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13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3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3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02">
  <p:cSld name="Cover Slide 02">
    <p:bg>
      <p:bgPr>
        <a:solidFill>
          <a:schemeClr val="accent6"/>
        </a:solidFill>
      </p:bgPr>
    </p:bg>
    <p:spTree>
      <p:nvGrpSpPr>
        <p:cNvPr id="51" name="Shape 51"/>
        <p:cNvGrpSpPr/>
        <p:nvPr/>
      </p:nvGrpSpPr>
      <p:grpSpPr>
        <a:xfrm>
          <a:off x="0" y="0"/>
          <a:ext cx="0" cy="0"/>
          <a:chOff x="0" y="0"/>
          <a:chExt cx="0" cy="0"/>
        </a:xfrm>
      </p:grpSpPr>
      <p:pic>
        <p:nvPicPr>
          <p:cNvPr id="52" name="Google Shape;52;p138"/>
          <p:cNvPicPr preferRelativeResize="0"/>
          <p:nvPr/>
        </p:nvPicPr>
        <p:blipFill rotWithShape="1">
          <a:blip r:embed="rId2">
            <a:alphaModFix/>
          </a:blip>
          <a:srcRect b="0" l="0" r="0" t="0"/>
          <a:stretch/>
        </p:blipFill>
        <p:spPr>
          <a:xfrm>
            <a:off x="0" y="0"/>
            <a:ext cx="12192000" cy="6858000"/>
          </a:xfrm>
          <a:prstGeom prst="rect">
            <a:avLst/>
          </a:prstGeom>
          <a:noFill/>
          <a:ln>
            <a:noFill/>
          </a:ln>
        </p:spPr>
      </p:pic>
      <p:grpSp>
        <p:nvGrpSpPr>
          <p:cNvPr id="53" name="Google Shape;53;p138"/>
          <p:cNvGrpSpPr/>
          <p:nvPr/>
        </p:nvGrpSpPr>
        <p:grpSpPr>
          <a:xfrm>
            <a:off x="10923349" y="637755"/>
            <a:ext cx="634833" cy="634959"/>
            <a:chOff x="10923349" y="637755"/>
            <a:chExt cx="634833" cy="634959"/>
          </a:xfrm>
        </p:grpSpPr>
        <p:sp>
          <p:nvSpPr>
            <p:cNvPr id="54" name="Google Shape;54;p138"/>
            <p:cNvSpPr/>
            <p:nvPr/>
          </p:nvSpPr>
          <p:spPr>
            <a:xfrm>
              <a:off x="11217472" y="637755"/>
              <a:ext cx="232429" cy="232302"/>
            </a:xfrm>
            <a:custGeom>
              <a:rect b="b" l="l" r="r" t="t"/>
              <a:pathLst>
                <a:path extrusionOk="0" h="232302" w="232429">
                  <a:moveTo>
                    <a:pt x="232303" y="176575"/>
                  </a:moveTo>
                  <a:cubicBezTo>
                    <a:pt x="232303" y="196124"/>
                    <a:pt x="232303" y="205899"/>
                    <a:pt x="228494" y="213261"/>
                  </a:cubicBezTo>
                  <a:cubicBezTo>
                    <a:pt x="225194" y="219862"/>
                    <a:pt x="219862" y="225194"/>
                    <a:pt x="213262" y="228494"/>
                  </a:cubicBezTo>
                  <a:cubicBezTo>
                    <a:pt x="205772" y="232302"/>
                    <a:pt x="195997" y="232302"/>
                    <a:pt x="176576" y="232302"/>
                  </a:cubicBezTo>
                  <a:lnTo>
                    <a:pt x="164135" y="232302"/>
                  </a:lnTo>
                  <a:cubicBezTo>
                    <a:pt x="144586" y="232302"/>
                    <a:pt x="134939" y="232302"/>
                    <a:pt x="127449" y="228494"/>
                  </a:cubicBezTo>
                  <a:cubicBezTo>
                    <a:pt x="120848" y="225194"/>
                    <a:pt x="115517" y="219862"/>
                    <a:pt x="112216" y="213261"/>
                  </a:cubicBezTo>
                  <a:cubicBezTo>
                    <a:pt x="108408" y="205772"/>
                    <a:pt x="108408" y="195997"/>
                    <a:pt x="108408" y="176575"/>
                  </a:cubicBezTo>
                  <a:lnTo>
                    <a:pt x="108408" y="162612"/>
                  </a:lnTo>
                  <a:cubicBezTo>
                    <a:pt x="108408" y="144586"/>
                    <a:pt x="108408" y="135573"/>
                    <a:pt x="105108" y="128591"/>
                  </a:cubicBezTo>
                  <a:cubicBezTo>
                    <a:pt x="101680" y="121229"/>
                    <a:pt x="95714" y="115263"/>
                    <a:pt x="88224" y="111708"/>
                  </a:cubicBezTo>
                  <a:cubicBezTo>
                    <a:pt x="81243" y="108408"/>
                    <a:pt x="72230" y="108408"/>
                    <a:pt x="54204" y="108408"/>
                  </a:cubicBezTo>
                  <a:cubicBezTo>
                    <a:pt x="36179" y="108408"/>
                    <a:pt x="27166" y="108408"/>
                    <a:pt x="20184" y="105107"/>
                  </a:cubicBezTo>
                  <a:cubicBezTo>
                    <a:pt x="12821" y="101680"/>
                    <a:pt x="6855" y="95714"/>
                    <a:pt x="3301" y="88224"/>
                  </a:cubicBezTo>
                  <a:cubicBezTo>
                    <a:pt x="0" y="81242"/>
                    <a:pt x="0" y="72230"/>
                    <a:pt x="0" y="54204"/>
                  </a:cubicBezTo>
                  <a:cubicBezTo>
                    <a:pt x="0" y="36178"/>
                    <a:pt x="0" y="27165"/>
                    <a:pt x="3301" y="20184"/>
                  </a:cubicBezTo>
                  <a:cubicBezTo>
                    <a:pt x="6728" y="12821"/>
                    <a:pt x="12694" y="6855"/>
                    <a:pt x="20184" y="3300"/>
                  </a:cubicBezTo>
                  <a:cubicBezTo>
                    <a:pt x="27166" y="0"/>
                    <a:pt x="36306" y="0"/>
                    <a:pt x="54458" y="0"/>
                  </a:cubicBezTo>
                  <a:cubicBezTo>
                    <a:pt x="72611" y="0"/>
                    <a:pt x="81750" y="0"/>
                    <a:pt x="88732" y="3300"/>
                  </a:cubicBezTo>
                  <a:cubicBezTo>
                    <a:pt x="96222" y="6728"/>
                    <a:pt x="102061" y="12694"/>
                    <a:pt x="105615" y="20184"/>
                  </a:cubicBezTo>
                  <a:cubicBezTo>
                    <a:pt x="108916" y="27165"/>
                    <a:pt x="108916" y="36178"/>
                    <a:pt x="108916" y="54204"/>
                  </a:cubicBezTo>
                  <a:cubicBezTo>
                    <a:pt x="108916" y="72230"/>
                    <a:pt x="108916" y="81242"/>
                    <a:pt x="112216" y="88224"/>
                  </a:cubicBezTo>
                  <a:cubicBezTo>
                    <a:pt x="115644" y="95587"/>
                    <a:pt x="121610" y="101553"/>
                    <a:pt x="129100" y="105107"/>
                  </a:cubicBezTo>
                  <a:cubicBezTo>
                    <a:pt x="136081" y="108408"/>
                    <a:pt x="145094" y="108408"/>
                    <a:pt x="163120" y="108408"/>
                  </a:cubicBezTo>
                  <a:lnTo>
                    <a:pt x="176703" y="108408"/>
                  </a:lnTo>
                  <a:cubicBezTo>
                    <a:pt x="196251" y="108408"/>
                    <a:pt x="205899" y="108408"/>
                    <a:pt x="213388" y="112216"/>
                  </a:cubicBezTo>
                  <a:cubicBezTo>
                    <a:pt x="219989" y="115516"/>
                    <a:pt x="225321" y="120848"/>
                    <a:pt x="228621" y="127449"/>
                  </a:cubicBezTo>
                  <a:cubicBezTo>
                    <a:pt x="232429" y="134938"/>
                    <a:pt x="232429" y="144713"/>
                    <a:pt x="232429" y="164135"/>
                  </a:cubicBezTo>
                  <a:lnTo>
                    <a:pt x="232429" y="176575"/>
                  </a:ln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 name="Google Shape;55;p138"/>
            <p:cNvSpPr/>
            <p:nvPr/>
          </p:nvSpPr>
          <p:spPr>
            <a:xfrm>
              <a:off x="10923349" y="746162"/>
              <a:ext cx="232302" cy="232429"/>
            </a:xfrm>
            <a:custGeom>
              <a:rect b="b" l="l" r="r" t="t"/>
              <a:pathLst>
                <a:path extrusionOk="0" h="232429" w="232302">
                  <a:moveTo>
                    <a:pt x="176575" y="127"/>
                  </a:moveTo>
                  <a:cubicBezTo>
                    <a:pt x="196124" y="127"/>
                    <a:pt x="205772" y="127"/>
                    <a:pt x="213261" y="3935"/>
                  </a:cubicBezTo>
                  <a:cubicBezTo>
                    <a:pt x="219862" y="7236"/>
                    <a:pt x="225194" y="12567"/>
                    <a:pt x="228494" y="19168"/>
                  </a:cubicBezTo>
                  <a:cubicBezTo>
                    <a:pt x="232302" y="26658"/>
                    <a:pt x="232302" y="36432"/>
                    <a:pt x="232302" y="55854"/>
                  </a:cubicBezTo>
                  <a:lnTo>
                    <a:pt x="232302" y="68294"/>
                  </a:lnTo>
                  <a:cubicBezTo>
                    <a:pt x="232302" y="87843"/>
                    <a:pt x="232302" y="97618"/>
                    <a:pt x="228494" y="104980"/>
                  </a:cubicBezTo>
                  <a:cubicBezTo>
                    <a:pt x="225194" y="111581"/>
                    <a:pt x="219862" y="116913"/>
                    <a:pt x="213261" y="120213"/>
                  </a:cubicBezTo>
                  <a:cubicBezTo>
                    <a:pt x="205772" y="124022"/>
                    <a:pt x="196124" y="124022"/>
                    <a:pt x="176575" y="124022"/>
                  </a:cubicBezTo>
                  <a:lnTo>
                    <a:pt x="162612" y="124022"/>
                  </a:lnTo>
                  <a:cubicBezTo>
                    <a:pt x="144586" y="124022"/>
                    <a:pt x="135573" y="124022"/>
                    <a:pt x="128591" y="127322"/>
                  </a:cubicBezTo>
                  <a:cubicBezTo>
                    <a:pt x="121229" y="130749"/>
                    <a:pt x="115263" y="136716"/>
                    <a:pt x="111708" y="144205"/>
                  </a:cubicBezTo>
                  <a:cubicBezTo>
                    <a:pt x="108407" y="151187"/>
                    <a:pt x="108407" y="160200"/>
                    <a:pt x="108407" y="178225"/>
                  </a:cubicBezTo>
                  <a:cubicBezTo>
                    <a:pt x="108407" y="196251"/>
                    <a:pt x="108407" y="205264"/>
                    <a:pt x="105108" y="212246"/>
                  </a:cubicBezTo>
                  <a:cubicBezTo>
                    <a:pt x="101680" y="219608"/>
                    <a:pt x="95713" y="225575"/>
                    <a:pt x="88224" y="229129"/>
                  </a:cubicBezTo>
                  <a:cubicBezTo>
                    <a:pt x="81243" y="232429"/>
                    <a:pt x="72230" y="232429"/>
                    <a:pt x="54204" y="232429"/>
                  </a:cubicBezTo>
                  <a:cubicBezTo>
                    <a:pt x="36178" y="232429"/>
                    <a:pt x="27166" y="232429"/>
                    <a:pt x="20184" y="229129"/>
                  </a:cubicBezTo>
                  <a:cubicBezTo>
                    <a:pt x="12821" y="225701"/>
                    <a:pt x="6855" y="219735"/>
                    <a:pt x="3301" y="212246"/>
                  </a:cubicBezTo>
                  <a:cubicBezTo>
                    <a:pt x="0" y="205264"/>
                    <a:pt x="0" y="196124"/>
                    <a:pt x="0" y="177972"/>
                  </a:cubicBezTo>
                  <a:cubicBezTo>
                    <a:pt x="0" y="159819"/>
                    <a:pt x="0" y="150679"/>
                    <a:pt x="3301" y="143697"/>
                  </a:cubicBezTo>
                  <a:cubicBezTo>
                    <a:pt x="6728" y="136335"/>
                    <a:pt x="12694" y="130369"/>
                    <a:pt x="20184" y="126814"/>
                  </a:cubicBezTo>
                  <a:cubicBezTo>
                    <a:pt x="27166" y="123514"/>
                    <a:pt x="36178" y="123514"/>
                    <a:pt x="54204" y="123514"/>
                  </a:cubicBezTo>
                  <a:cubicBezTo>
                    <a:pt x="72230" y="123514"/>
                    <a:pt x="81243" y="123514"/>
                    <a:pt x="88224" y="120213"/>
                  </a:cubicBezTo>
                  <a:cubicBezTo>
                    <a:pt x="95587" y="116786"/>
                    <a:pt x="101553" y="110820"/>
                    <a:pt x="105108" y="103330"/>
                  </a:cubicBezTo>
                  <a:cubicBezTo>
                    <a:pt x="108407" y="96348"/>
                    <a:pt x="108407" y="87336"/>
                    <a:pt x="108407" y="69310"/>
                  </a:cubicBezTo>
                  <a:lnTo>
                    <a:pt x="108407" y="55727"/>
                  </a:lnTo>
                  <a:cubicBezTo>
                    <a:pt x="108407" y="36178"/>
                    <a:pt x="108407" y="26404"/>
                    <a:pt x="112216" y="19041"/>
                  </a:cubicBezTo>
                  <a:cubicBezTo>
                    <a:pt x="115516" y="12440"/>
                    <a:pt x="120848" y="7109"/>
                    <a:pt x="127449" y="3808"/>
                  </a:cubicBezTo>
                  <a:cubicBezTo>
                    <a:pt x="134939" y="0"/>
                    <a:pt x="144713" y="0"/>
                    <a:pt x="164135" y="0"/>
                  </a:cubicBezTo>
                  <a:lnTo>
                    <a:pt x="176575" y="0"/>
                  </a:ln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 name="Google Shape;56;p138"/>
            <p:cNvSpPr/>
            <p:nvPr/>
          </p:nvSpPr>
          <p:spPr>
            <a:xfrm>
              <a:off x="11031630" y="1040285"/>
              <a:ext cx="232302" cy="232429"/>
            </a:xfrm>
            <a:custGeom>
              <a:rect b="b" l="l" r="r" t="t"/>
              <a:pathLst>
                <a:path extrusionOk="0" h="232429" w="232302">
                  <a:moveTo>
                    <a:pt x="123894" y="178099"/>
                  </a:moveTo>
                  <a:cubicBezTo>
                    <a:pt x="123894" y="160073"/>
                    <a:pt x="123894" y="151060"/>
                    <a:pt x="120594" y="144078"/>
                  </a:cubicBezTo>
                  <a:cubicBezTo>
                    <a:pt x="117166" y="136716"/>
                    <a:pt x="111200" y="130749"/>
                    <a:pt x="103711" y="127195"/>
                  </a:cubicBezTo>
                  <a:cubicBezTo>
                    <a:pt x="96729" y="123895"/>
                    <a:pt x="87716" y="123895"/>
                    <a:pt x="69691" y="123895"/>
                  </a:cubicBezTo>
                  <a:lnTo>
                    <a:pt x="55727" y="123895"/>
                  </a:lnTo>
                  <a:cubicBezTo>
                    <a:pt x="36178" y="123895"/>
                    <a:pt x="26530" y="123895"/>
                    <a:pt x="19041" y="120086"/>
                  </a:cubicBezTo>
                  <a:cubicBezTo>
                    <a:pt x="12440" y="116786"/>
                    <a:pt x="7109" y="111454"/>
                    <a:pt x="3808" y="104853"/>
                  </a:cubicBezTo>
                  <a:cubicBezTo>
                    <a:pt x="0" y="97364"/>
                    <a:pt x="0" y="87589"/>
                    <a:pt x="0" y="68167"/>
                  </a:cubicBezTo>
                  <a:lnTo>
                    <a:pt x="0" y="55727"/>
                  </a:lnTo>
                  <a:cubicBezTo>
                    <a:pt x="0" y="36178"/>
                    <a:pt x="0" y="26404"/>
                    <a:pt x="3808" y="19041"/>
                  </a:cubicBezTo>
                  <a:cubicBezTo>
                    <a:pt x="7109" y="12440"/>
                    <a:pt x="12440" y="7109"/>
                    <a:pt x="19041" y="3808"/>
                  </a:cubicBezTo>
                  <a:cubicBezTo>
                    <a:pt x="26530" y="0"/>
                    <a:pt x="36305" y="0"/>
                    <a:pt x="55727" y="0"/>
                  </a:cubicBezTo>
                  <a:lnTo>
                    <a:pt x="68167" y="0"/>
                  </a:lnTo>
                  <a:cubicBezTo>
                    <a:pt x="87716" y="0"/>
                    <a:pt x="97364" y="0"/>
                    <a:pt x="104853" y="3808"/>
                  </a:cubicBezTo>
                  <a:cubicBezTo>
                    <a:pt x="111454" y="7109"/>
                    <a:pt x="116785" y="12440"/>
                    <a:pt x="120086" y="19041"/>
                  </a:cubicBezTo>
                  <a:cubicBezTo>
                    <a:pt x="123894" y="26531"/>
                    <a:pt x="123894" y="36305"/>
                    <a:pt x="123894" y="55727"/>
                  </a:cubicBezTo>
                  <a:lnTo>
                    <a:pt x="123894" y="69310"/>
                  </a:lnTo>
                  <a:cubicBezTo>
                    <a:pt x="123894" y="87336"/>
                    <a:pt x="123894" y="96348"/>
                    <a:pt x="127195" y="103330"/>
                  </a:cubicBezTo>
                  <a:cubicBezTo>
                    <a:pt x="130622" y="110693"/>
                    <a:pt x="136588" y="116659"/>
                    <a:pt x="144078" y="120213"/>
                  </a:cubicBezTo>
                  <a:cubicBezTo>
                    <a:pt x="151060" y="123514"/>
                    <a:pt x="160073" y="123514"/>
                    <a:pt x="178098" y="123514"/>
                  </a:cubicBezTo>
                  <a:cubicBezTo>
                    <a:pt x="196124" y="123514"/>
                    <a:pt x="205137" y="123514"/>
                    <a:pt x="212118" y="126814"/>
                  </a:cubicBezTo>
                  <a:cubicBezTo>
                    <a:pt x="219608" y="130242"/>
                    <a:pt x="225447" y="136208"/>
                    <a:pt x="229002" y="143697"/>
                  </a:cubicBezTo>
                  <a:cubicBezTo>
                    <a:pt x="232302" y="150679"/>
                    <a:pt x="232302" y="159819"/>
                    <a:pt x="232302" y="177972"/>
                  </a:cubicBezTo>
                  <a:cubicBezTo>
                    <a:pt x="232302" y="196124"/>
                    <a:pt x="232302" y="205264"/>
                    <a:pt x="229002" y="212246"/>
                  </a:cubicBezTo>
                  <a:cubicBezTo>
                    <a:pt x="225574" y="219608"/>
                    <a:pt x="219608" y="225575"/>
                    <a:pt x="212118" y="229129"/>
                  </a:cubicBezTo>
                  <a:cubicBezTo>
                    <a:pt x="205137" y="232429"/>
                    <a:pt x="196124" y="232429"/>
                    <a:pt x="178098" y="232429"/>
                  </a:cubicBezTo>
                  <a:cubicBezTo>
                    <a:pt x="160073" y="232429"/>
                    <a:pt x="151060" y="232429"/>
                    <a:pt x="144078" y="229129"/>
                  </a:cubicBezTo>
                  <a:cubicBezTo>
                    <a:pt x="136715" y="225702"/>
                    <a:pt x="130749" y="219735"/>
                    <a:pt x="127195" y="212246"/>
                  </a:cubicBezTo>
                  <a:cubicBezTo>
                    <a:pt x="123894" y="205264"/>
                    <a:pt x="123894" y="196251"/>
                    <a:pt x="123894" y="178225"/>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7" name="Google Shape;57;p138"/>
            <p:cNvSpPr/>
            <p:nvPr/>
          </p:nvSpPr>
          <p:spPr>
            <a:xfrm>
              <a:off x="11325880" y="931877"/>
              <a:ext cx="232302" cy="232429"/>
            </a:xfrm>
            <a:custGeom>
              <a:rect b="b" l="l" r="r" t="t"/>
              <a:pathLst>
                <a:path extrusionOk="0" h="232429" w="232302">
                  <a:moveTo>
                    <a:pt x="55727" y="232302"/>
                  </a:moveTo>
                  <a:cubicBezTo>
                    <a:pt x="36178" y="232302"/>
                    <a:pt x="26530" y="232302"/>
                    <a:pt x="19041" y="228494"/>
                  </a:cubicBezTo>
                  <a:cubicBezTo>
                    <a:pt x="12440" y="225194"/>
                    <a:pt x="7109" y="219862"/>
                    <a:pt x="3808" y="213261"/>
                  </a:cubicBezTo>
                  <a:cubicBezTo>
                    <a:pt x="0" y="205772"/>
                    <a:pt x="0" y="195997"/>
                    <a:pt x="0" y="176575"/>
                  </a:cubicBezTo>
                  <a:lnTo>
                    <a:pt x="0" y="164135"/>
                  </a:lnTo>
                  <a:cubicBezTo>
                    <a:pt x="0" y="144586"/>
                    <a:pt x="0" y="134811"/>
                    <a:pt x="3808" y="127449"/>
                  </a:cubicBezTo>
                  <a:cubicBezTo>
                    <a:pt x="7109" y="120848"/>
                    <a:pt x="12440" y="115516"/>
                    <a:pt x="19041" y="112216"/>
                  </a:cubicBezTo>
                  <a:cubicBezTo>
                    <a:pt x="26530" y="108408"/>
                    <a:pt x="36178" y="108408"/>
                    <a:pt x="55727" y="108408"/>
                  </a:cubicBezTo>
                  <a:lnTo>
                    <a:pt x="69691" y="108408"/>
                  </a:lnTo>
                  <a:cubicBezTo>
                    <a:pt x="87716" y="108408"/>
                    <a:pt x="96729" y="108408"/>
                    <a:pt x="103711" y="105107"/>
                  </a:cubicBezTo>
                  <a:cubicBezTo>
                    <a:pt x="111074" y="101680"/>
                    <a:pt x="117039" y="95714"/>
                    <a:pt x="120594" y="88224"/>
                  </a:cubicBezTo>
                  <a:cubicBezTo>
                    <a:pt x="123895" y="81242"/>
                    <a:pt x="123895" y="72229"/>
                    <a:pt x="123895" y="54204"/>
                  </a:cubicBezTo>
                  <a:cubicBezTo>
                    <a:pt x="123895" y="36178"/>
                    <a:pt x="123895" y="27165"/>
                    <a:pt x="127195" y="20184"/>
                  </a:cubicBezTo>
                  <a:cubicBezTo>
                    <a:pt x="130622" y="12821"/>
                    <a:pt x="136589" y="6855"/>
                    <a:pt x="144078" y="3300"/>
                  </a:cubicBezTo>
                  <a:cubicBezTo>
                    <a:pt x="151060" y="0"/>
                    <a:pt x="160073" y="0"/>
                    <a:pt x="178098" y="0"/>
                  </a:cubicBezTo>
                  <a:cubicBezTo>
                    <a:pt x="196124" y="0"/>
                    <a:pt x="205137" y="0"/>
                    <a:pt x="212118" y="3300"/>
                  </a:cubicBezTo>
                  <a:cubicBezTo>
                    <a:pt x="219481" y="6728"/>
                    <a:pt x="225448" y="12694"/>
                    <a:pt x="229002" y="20184"/>
                  </a:cubicBezTo>
                  <a:cubicBezTo>
                    <a:pt x="232302" y="27165"/>
                    <a:pt x="232302" y="36305"/>
                    <a:pt x="232302" y="54458"/>
                  </a:cubicBezTo>
                  <a:cubicBezTo>
                    <a:pt x="232302" y="72610"/>
                    <a:pt x="232302" y="81750"/>
                    <a:pt x="229002" y="88732"/>
                  </a:cubicBezTo>
                  <a:cubicBezTo>
                    <a:pt x="225574" y="96094"/>
                    <a:pt x="219608" y="102061"/>
                    <a:pt x="212118" y="105615"/>
                  </a:cubicBezTo>
                  <a:cubicBezTo>
                    <a:pt x="205137" y="108915"/>
                    <a:pt x="196124" y="108915"/>
                    <a:pt x="178098" y="108915"/>
                  </a:cubicBezTo>
                  <a:cubicBezTo>
                    <a:pt x="160073" y="108915"/>
                    <a:pt x="151060" y="108915"/>
                    <a:pt x="144078" y="112216"/>
                  </a:cubicBezTo>
                  <a:cubicBezTo>
                    <a:pt x="136715" y="115643"/>
                    <a:pt x="130749" y="121610"/>
                    <a:pt x="127195" y="129099"/>
                  </a:cubicBezTo>
                  <a:cubicBezTo>
                    <a:pt x="123895" y="136081"/>
                    <a:pt x="123895" y="145094"/>
                    <a:pt x="123895" y="163119"/>
                  </a:cubicBezTo>
                  <a:lnTo>
                    <a:pt x="123895" y="176702"/>
                  </a:lnTo>
                  <a:cubicBezTo>
                    <a:pt x="123895" y="196251"/>
                    <a:pt x="123895" y="206025"/>
                    <a:pt x="120086" y="213388"/>
                  </a:cubicBezTo>
                  <a:cubicBezTo>
                    <a:pt x="116785" y="219989"/>
                    <a:pt x="111454" y="225321"/>
                    <a:pt x="104854" y="228621"/>
                  </a:cubicBezTo>
                  <a:cubicBezTo>
                    <a:pt x="97364" y="232429"/>
                    <a:pt x="87589" y="232429"/>
                    <a:pt x="68167" y="232429"/>
                  </a:cubicBezTo>
                  <a:lnTo>
                    <a:pt x="55727" y="232429"/>
                  </a:ln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 name="Google Shape;58;p138"/>
            <p:cNvSpPr/>
            <p:nvPr/>
          </p:nvSpPr>
          <p:spPr>
            <a:xfrm>
              <a:off x="11186498" y="901031"/>
              <a:ext cx="108408" cy="108407"/>
            </a:xfrm>
            <a:custGeom>
              <a:rect b="b" l="l" r="r" t="t"/>
              <a:pathLst>
                <a:path extrusionOk="0" h="108407" w="108408">
                  <a:moveTo>
                    <a:pt x="54204" y="108408"/>
                  </a:moveTo>
                  <a:cubicBezTo>
                    <a:pt x="37956" y="108408"/>
                    <a:pt x="29832" y="108408"/>
                    <a:pt x="23485" y="105869"/>
                  </a:cubicBezTo>
                  <a:cubicBezTo>
                    <a:pt x="13837" y="102188"/>
                    <a:pt x="6347" y="94571"/>
                    <a:pt x="2539" y="84924"/>
                  </a:cubicBezTo>
                  <a:cubicBezTo>
                    <a:pt x="0" y="78450"/>
                    <a:pt x="0" y="70325"/>
                    <a:pt x="0" y="54204"/>
                  </a:cubicBezTo>
                  <a:cubicBezTo>
                    <a:pt x="0" y="38082"/>
                    <a:pt x="0" y="29831"/>
                    <a:pt x="2539" y="23484"/>
                  </a:cubicBezTo>
                  <a:cubicBezTo>
                    <a:pt x="6221" y="13964"/>
                    <a:pt x="13837" y="6347"/>
                    <a:pt x="23485" y="2539"/>
                  </a:cubicBezTo>
                  <a:cubicBezTo>
                    <a:pt x="29959" y="0"/>
                    <a:pt x="38082" y="0"/>
                    <a:pt x="54204" y="0"/>
                  </a:cubicBezTo>
                  <a:cubicBezTo>
                    <a:pt x="70326" y="0"/>
                    <a:pt x="78577" y="0"/>
                    <a:pt x="84924" y="2539"/>
                  </a:cubicBezTo>
                  <a:cubicBezTo>
                    <a:pt x="94571" y="6220"/>
                    <a:pt x="102061" y="13837"/>
                    <a:pt x="105869" y="23484"/>
                  </a:cubicBezTo>
                  <a:cubicBezTo>
                    <a:pt x="108408" y="29958"/>
                    <a:pt x="108408" y="38082"/>
                    <a:pt x="108408" y="54204"/>
                  </a:cubicBezTo>
                  <a:cubicBezTo>
                    <a:pt x="108408" y="70325"/>
                    <a:pt x="108408" y="78577"/>
                    <a:pt x="105869" y="84924"/>
                  </a:cubicBezTo>
                  <a:cubicBezTo>
                    <a:pt x="102188" y="94444"/>
                    <a:pt x="94571" y="102061"/>
                    <a:pt x="84924" y="105869"/>
                  </a:cubicBezTo>
                  <a:cubicBezTo>
                    <a:pt x="78450" y="108408"/>
                    <a:pt x="70326" y="108408"/>
                    <a:pt x="54204" y="108408"/>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9" name="Google Shape;59;p138"/>
          <p:cNvSpPr txBox="1"/>
          <p:nvPr>
            <p:ph type="title"/>
          </p:nvPr>
        </p:nvSpPr>
        <p:spPr>
          <a:xfrm>
            <a:off x="659397" y="3933056"/>
            <a:ext cx="10765196" cy="2277547"/>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Clr>
                <a:schemeClr val="dk1"/>
              </a:buClr>
              <a:buSzPts val="7400"/>
              <a:buFont typeface="Arial"/>
              <a:buNone/>
              <a:defRPr sz="7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38"/>
          <p:cNvSpPr txBox="1"/>
          <p:nvPr>
            <p:ph idx="1" type="body"/>
          </p:nvPr>
        </p:nvSpPr>
        <p:spPr>
          <a:xfrm>
            <a:off x="659398" y="3192117"/>
            <a:ext cx="10765196" cy="307777"/>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600"/>
              </a:spcBef>
              <a:spcAft>
                <a:spcPts val="0"/>
              </a:spcAft>
              <a:buClr>
                <a:schemeClr val="accent1"/>
              </a:buClr>
              <a:buSzPts val="2000"/>
              <a:buNone/>
              <a:defRPr b="0" sz="2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1" name="Shape 61"/>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7pt">
  <p:cSld name="Title + subtitle 17pt">
    <p:spTree>
      <p:nvGrpSpPr>
        <p:cNvPr id="62" name="Shape 62"/>
        <p:cNvGrpSpPr/>
        <p:nvPr/>
      </p:nvGrpSpPr>
      <p:grpSpPr>
        <a:xfrm>
          <a:off x="0" y="0"/>
          <a:ext cx="0" cy="0"/>
          <a:chOff x="0" y="0"/>
          <a:chExt cx="0" cy="0"/>
        </a:xfrm>
      </p:grpSpPr>
      <p:sp>
        <p:nvSpPr>
          <p:cNvPr id="63" name="Google Shape;63;p140"/>
          <p:cNvSpPr txBox="1"/>
          <p:nvPr>
            <p:ph idx="1" type="body"/>
          </p:nvPr>
        </p:nvSpPr>
        <p:spPr>
          <a:xfrm>
            <a:off x="263351" y="512676"/>
            <a:ext cx="11665123" cy="261610"/>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1700"/>
              <a:buNone/>
              <a:defRPr b="0" sz="17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140"/>
          <p:cNvSpPr txBox="1"/>
          <p:nvPr>
            <p:ph type="title"/>
          </p:nvPr>
        </p:nvSpPr>
        <p:spPr>
          <a:xfrm>
            <a:off x="263525" y="260648"/>
            <a:ext cx="11664949" cy="2616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1700"/>
              <a:buFont typeface="Arial"/>
              <a:buNone/>
              <a:defRPr b="0" sz="17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40"/>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 name="Google Shape;66;p14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4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6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 subtitle + caption">
  <p:cSld name="1_Title + subtitle + caption">
    <p:spTree>
      <p:nvGrpSpPr>
        <p:cNvPr id="69" name="Shape 69"/>
        <p:cNvGrpSpPr/>
        <p:nvPr/>
      </p:nvGrpSpPr>
      <p:grpSpPr>
        <a:xfrm>
          <a:off x="0" y="0"/>
          <a:ext cx="0" cy="0"/>
          <a:chOff x="0" y="0"/>
          <a:chExt cx="0" cy="0"/>
        </a:xfrm>
      </p:grpSpPr>
      <p:sp>
        <p:nvSpPr>
          <p:cNvPr id="70" name="Google Shape;70;p141"/>
          <p:cNvSpPr txBox="1"/>
          <p:nvPr>
            <p:ph idx="1" type="body"/>
          </p:nvPr>
        </p:nvSpPr>
        <p:spPr>
          <a:xfrm>
            <a:off x="263351" y="981889"/>
            <a:ext cx="11665123"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1"/>
          <p:cNvSpPr txBox="1"/>
          <p:nvPr>
            <p:ph idx="2" type="body"/>
          </p:nvPr>
        </p:nvSpPr>
        <p:spPr>
          <a:xfrm>
            <a:off x="263352" y="260648"/>
            <a:ext cx="11665123"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41"/>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4" name="Google Shape;74;p14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4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1"/>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caption + text">
  <p:cSld name="Title + subtitle + caption + text">
    <p:spTree>
      <p:nvGrpSpPr>
        <p:cNvPr id="77" name="Shape 77"/>
        <p:cNvGrpSpPr/>
        <p:nvPr/>
      </p:nvGrpSpPr>
      <p:grpSpPr>
        <a:xfrm>
          <a:off x="0" y="0"/>
          <a:ext cx="0" cy="0"/>
          <a:chOff x="0" y="0"/>
          <a:chExt cx="0" cy="0"/>
        </a:xfrm>
      </p:grpSpPr>
      <p:sp>
        <p:nvSpPr>
          <p:cNvPr id="78" name="Google Shape;78;p142"/>
          <p:cNvSpPr txBox="1"/>
          <p:nvPr>
            <p:ph idx="1" type="body"/>
          </p:nvPr>
        </p:nvSpPr>
        <p:spPr>
          <a:xfrm>
            <a:off x="263351" y="981889"/>
            <a:ext cx="11665123"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14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2"/>
          <p:cNvSpPr txBox="1"/>
          <p:nvPr>
            <p:ph idx="2" type="body"/>
          </p:nvPr>
        </p:nvSpPr>
        <p:spPr>
          <a:xfrm>
            <a:off x="263352" y="260648"/>
            <a:ext cx="11665123"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42"/>
          <p:cNvSpPr txBox="1"/>
          <p:nvPr>
            <p:ph idx="3" type="body"/>
          </p:nvPr>
        </p:nvSpPr>
        <p:spPr>
          <a:xfrm>
            <a:off x="263525" y="1665289"/>
            <a:ext cx="11664950" cy="45005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1"/>
              </a:buClr>
              <a:buSzPts val="1600"/>
              <a:buNone/>
              <a:defRPr/>
            </a:lvl1pPr>
            <a:lvl2pPr indent="-330200" lvl="1" marL="914400" algn="l">
              <a:lnSpc>
                <a:spcPct val="100000"/>
              </a:lnSpc>
              <a:spcBef>
                <a:spcPts val="600"/>
              </a:spcBef>
              <a:spcAft>
                <a:spcPts val="0"/>
              </a:spcAft>
              <a:buClr>
                <a:schemeClr val="dk2"/>
              </a:buClr>
              <a:buSzPts val="1600"/>
              <a:buChar char="•"/>
              <a:defRPr/>
            </a:lvl2pPr>
            <a:lvl3pPr indent="-330200" lvl="2" marL="1371600" algn="l">
              <a:lnSpc>
                <a:spcPct val="100000"/>
              </a:lnSpc>
              <a:spcBef>
                <a:spcPts val="600"/>
              </a:spcBef>
              <a:spcAft>
                <a:spcPts val="0"/>
              </a:spcAft>
              <a:buClr>
                <a:schemeClr val="dk2"/>
              </a:buClr>
              <a:buSzPts val="1600"/>
              <a:buChar char="–"/>
              <a:defRPr/>
            </a:lvl3pPr>
            <a:lvl4pPr indent="-330200" lvl="3" marL="1828800" algn="l">
              <a:lnSpc>
                <a:spcPct val="100000"/>
              </a:lnSpc>
              <a:spcBef>
                <a:spcPts val="600"/>
              </a:spcBef>
              <a:spcAft>
                <a:spcPts val="0"/>
              </a:spcAft>
              <a:buClr>
                <a:schemeClr val="dk2"/>
              </a:buClr>
              <a:buSzPts val="1600"/>
              <a:buChar char="•"/>
              <a:defRPr/>
            </a:lvl4pPr>
            <a:lvl5pPr indent="-330200" lvl="4" marL="2286000" algn="l">
              <a:lnSpc>
                <a:spcPct val="100000"/>
              </a:lnSpc>
              <a:spcBef>
                <a:spcPts val="600"/>
              </a:spcBef>
              <a:spcAft>
                <a:spcPts val="0"/>
              </a:spcAft>
              <a:buClr>
                <a:schemeClr val="dk2"/>
              </a:buClr>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42"/>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14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4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42"/>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x left">
  <p:cSld name="Box left">
    <p:spTree>
      <p:nvGrpSpPr>
        <p:cNvPr id="86" name="Shape 86"/>
        <p:cNvGrpSpPr/>
        <p:nvPr/>
      </p:nvGrpSpPr>
      <p:grpSpPr>
        <a:xfrm>
          <a:off x="0" y="0"/>
          <a:ext cx="0" cy="0"/>
          <a:chOff x="0" y="0"/>
          <a:chExt cx="0" cy="0"/>
        </a:xfrm>
      </p:grpSpPr>
      <p:sp>
        <p:nvSpPr>
          <p:cNvPr id="87" name="Google Shape;87;p143"/>
          <p:cNvSpPr/>
          <p:nvPr/>
        </p:nvSpPr>
        <p:spPr>
          <a:xfrm>
            <a:off x="263352" y="260350"/>
            <a:ext cx="7632848" cy="5905500"/>
          </a:xfrm>
          <a:prstGeom prst="roundRect">
            <a:avLst>
              <a:gd fmla="val 1487"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143"/>
          <p:cNvSpPr txBox="1"/>
          <p:nvPr>
            <p:ph idx="1" type="body"/>
          </p:nvPr>
        </p:nvSpPr>
        <p:spPr>
          <a:xfrm>
            <a:off x="8399582" y="981889"/>
            <a:ext cx="3529066"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43"/>
          <p:cNvSpPr txBox="1"/>
          <p:nvPr>
            <p:ph type="title"/>
          </p:nvPr>
        </p:nvSpPr>
        <p:spPr>
          <a:xfrm>
            <a:off x="8399582" y="512676"/>
            <a:ext cx="3529013"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43"/>
          <p:cNvSpPr txBox="1"/>
          <p:nvPr>
            <p:ph idx="2" type="body"/>
          </p:nvPr>
        </p:nvSpPr>
        <p:spPr>
          <a:xfrm>
            <a:off x="8399582" y="260648"/>
            <a:ext cx="3529066"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43"/>
          <p:cNvSpPr txBox="1"/>
          <p:nvPr>
            <p:ph idx="3" type="body"/>
          </p:nvPr>
        </p:nvSpPr>
        <p:spPr>
          <a:xfrm>
            <a:off x="8399530" y="3717280"/>
            <a:ext cx="3528945" cy="244857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Clr>
                <a:schemeClr val="dk2"/>
              </a:buClr>
              <a:buSzPts val="1000"/>
              <a:buNone/>
              <a:defRPr sz="1000">
                <a:solidFill>
                  <a:schemeClr val="dk2"/>
                </a:solidFill>
              </a:defRPr>
            </a:lvl1pPr>
            <a:lvl2pPr indent="-292100" lvl="1" marL="914400" algn="l">
              <a:lnSpc>
                <a:spcPct val="100000"/>
              </a:lnSpc>
              <a:spcBef>
                <a:spcPts val="600"/>
              </a:spcBef>
              <a:spcAft>
                <a:spcPts val="0"/>
              </a:spcAft>
              <a:buClr>
                <a:schemeClr val="dk2"/>
              </a:buClr>
              <a:buSzPts val="1000"/>
              <a:buChar char="•"/>
              <a:defRPr sz="1000">
                <a:solidFill>
                  <a:schemeClr val="dk2"/>
                </a:solidFill>
              </a:defRPr>
            </a:lvl2pPr>
            <a:lvl3pPr indent="-292100" lvl="2" marL="1371600" algn="l">
              <a:lnSpc>
                <a:spcPct val="100000"/>
              </a:lnSpc>
              <a:spcBef>
                <a:spcPts val="600"/>
              </a:spcBef>
              <a:spcAft>
                <a:spcPts val="0"/>
              </a:spcAft>
              <a:buClr>
                <a:schemeClr val="dk2"/>
              </a:buClr>
              <a:buSzPts val="1000"/>
              <a:buChar char="–"/>
              <a:defRPr sz="1000">
                <a:solidFill>
                  <a:schemeClr val="dk2"/>
                </a:solidFill>
              </a:defRPr>
            </a:lvl3pPr>
            <a:lvl4pPr indent="-292100" lvl="3" marL="1828800" algn="l">
              <a:lnSpc>
                <a:spcPct val="100000"/>
              </a:lnSpc>
              <a:spcBef>
                <a:spcPts val="600"/>
              </a:spcBef>
              <a:spcAft>
                <a:spcPts val="0"/>
              </a:spcAft>
              <a:buClr>
                <a:schemeClr val="dk2"/>
              </a:buClr>
              <a:buSzPts val="1000"/>
              <a:buChar char="•"/>
              <a:defRPr sz="1000">
                <a:solidFill>
                  <a:schemeClr val="dk2"/>
                </a:solidFill>
              </a:defRPr>
            </a:lvl4pPr>
            <a:lvl5pPr indent="-292100" lvl="4" marL="2286000" algn="l">
              <a:lnSpc>
                <a:spcPct val="100000"/>
              </a:lnSpc>
              <a:spcBef>
                <a:spcPts val="600"/>
              </a:spcBef>
              <a:spcAft>
                <a:spcPts val="0"/>
              </a:spcAft>
              <a:buClr>
                <a:schemeClr val="dk2"/>
              </a:buClr>
              <a:buSzPts val="1000"/>
              <a:buChar char="–"/>
              <a:defRPr sz="1000">
                <a:solidFill>
                  <a:schemeClr val="dk2"/>
                </a:solidFill>
              </a:defRPr>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43"/>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14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4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43"/>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4974">
          <p15:clr>
            <a:srgbClr val="FBAE40"/>
          </p15:clr>
        </p15:guide>
        <p15:guide id="2" pos="5133">
          <p15:clr>
            <a:srgbClr val="FBAE40"/>
          </p15:clr>
        </p15:guide>
        <p15:guide id="3" pos="5292">
          <p15:clr>
            <a:srgbClr val="FBAE40"/>
          </p15:clr>
        </p15:guide>
        <p15:guide id="4" pos="599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positions">
  <p:cSld name="Propositions">
    <p:spTree>
      <p:nvGrpSpPr>
        <p:cNvPr id="96" name="Shape 96"/>
        <p:cNvGrpSpPr/>
        <p:nvPr/>
      </p:nvGrpSpPr>
      <p:grpSpPr>
        <a:xfrm>
          <a:off x="0" y="0"/>
          <a:ext cx="0" cy="0"/>
          <a:chOff x="0" y="0"/>
          <a:chExt cx="0" cy="0"/>
        </a:xfrm>
      </p:grpSpPr>
      <p:sp>
        <p:nvSpPr>
          <p:cNvPr id="97" name="Google Shape;97;p144"/>
          <p:cNvSpPr txBox="1"/>
          <p:nvPr>
            <p:ph idx="1" type="body"/>
          </p:nvPr>
        </p:nvSpPr>
        <p:spPr>
          <a:xfrm>
            <a:off x="263351" y="981889"/>
            <a:ext cx="11665123"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4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44"/>
          <p:cNvSpPr txBox="1"/>
          <p:nvPr>
            <p:ph idx="2" type="body"/>
          </p:nvPr>
        </p:nvSpPr>
        <p:spPr>
          <a:xfrm>
            <a:off x="263352" y="260648"/>
            <a:ext cx="11665123"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44"/>
          <p:cNvSpPr/>
          <p:nvPr>
            <p:ph idx="3" type="body"/>
          </p:nvPr>
        </p:nvSpPr>
        <p:spPr>
          <a:xfrm>
            <a:off x="263525" y="1664804"/>
            <a:ext cx="2232075" cy="4501046"/>
          </a:xfrm>
          <a:prstGeom prst="roundRect">
            <a:avLst>
              <a:gd fmla="val 2670"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t" bIns="72000" lIns="72000" spcFirstLastPara="1" rIns="72000" wrap="square" tIns="72000">
            <a:noAutofit/>
          </a:bodyPr>
          <a:lstStyle>
            <a:lvl1pPr indent="-228600" lvl="0" marL="457200" algn="l">
              <a:lnSpc>
                <a:spcPct val="100000"/>
              </a:lnSpc>
              <a:spcBef>
                <a:spcPts val="600"/>
              </a:spcBef>
              <a:spcAft>
                <a:spcPts val="0"/>
              </a:spcAft>
              <a:buClr>
                <a:schemeClr val="dk1"/>
              </a:buClr>
              <a:buSzPts val="1000"/>
              <a:buNone/>
              <a:defRPr sz="1000"/>
            </a:lvl1pPr>
            <a:lvl2pPr indent="-292100" lvl="1" marL="914400" algn="l">
              <a:lnSpc>
                <a:spcPct val="100000"/>
              </a:lnSpc>
              <a:spcBef>
                <a:spcPts val="600"/>
              </a:spcBef>
              <a:spcAft>
                <a:spcPts val="0"/>
              </a:spcAft>
              <a:buClr>
                <a:schemeClr val="dk2"/>
              </a:buClr>
              <a:buSzPts val="1000"/>
              <a:buChar char="•"/>
              <a:defRPr sz="1000"/>
            </a:lvl2pPr>
            <a:lvl3pPr indent="-292100" lvl="2" marL="1371600" algn="l">
              <a:lnSpc>
                <a:spcPct val="100000"/>
              </a:lnSpc>
              <a:spcBef>
                <a:spcPts val="600"/>
              </a:spcBef>
              <a:spcAft>
                <a:spcPts val="0"/>
              </a:spcAft>
              <a:buClr>
                <a:schemeClr val="dk2"/>
              </a:buClr>
              <a:buSzPts val="1000"/>
              <a:buChar char="–"/>
              <a:defRPr sz="1000"/>
            </a:lvl3pPr>
            <a:lvl4pPr indent="-292100" lvl="3" marL="1828800" algn="l">
              <a:lnSpc>
                <a:spcPct val="100000"/>
              </a:lnSpc>
              <a:spcBef>
                <a:spcPts val="600"/>
              </a:spcBef>
              <a:spcAft>
                <a:spcPts val="0"/>
              </a:spcAft>
              <a:buClr>
                <a:schemeClr val="dk2"/>
              </a:buClr>
              <a:buSzPts val="1000"/>
              <a:buChar char="•"/>
              <a:defRPr sz="1000"/>
            </a:lvl4pPr>
            <a:lvl5pPr indent="-292100" lvl="4" marL="2286000" algn="l">
              <a:lnSpc>
                <a:spcPct val="100000"/>
              </a:lnSpc>
              <a:spcBef>
                <a:spcPts val="600"/>
              </a:spcBef>
              <a:spcAft>
                <a:spcPts val="0"/>
              </a:spcAft>
              <a:buClr>
                <a:schemeClr val="dk2"/>
              </a:buClr>
              <a:buSzPts val="1000"/>
              <a:buChar char="–"/>
              <a:defRPr sz="10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44"/>
          <p:cNvSpPr/>
          <p:nvPr>
            <p:ph idx="4" type="body"/>
          </p:nvPr>
        </p:nvSpPr>
        <p:spPr>
          <a:xfrm>
            <a:off x="2621744" y="1664804"/>
            <a:ext cx="2232075" cy="4501046"/>
          </a:xfrm>
          <a:prstGeom prst="roundRect">
            <a:avLst>
              <a:gd fmla="val 2670"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t" bIns="72000" lIns="72000" spcFirstLastPara="1" rIns="72000" wrap="square" tIns="72000">
            <a:noAutofit/>
          </a:bodyPr>
          <a:lstStyle>
            <a:lvl1pPr indent="-228600" lvl="0" marL="457200" algn="l">
              <a:lnSpc>
                <a:spcPct val="100000"/>
              </a:lnSpc>
              <a:spcBef>
                <a:spcPts val="600"/>
              </a:spcBef>
              <a:spcAft>
                <a:spcPts val="0"/>
              </a:spcAft>
              <a:buClr>
                <a:schemeClr val="dk1"/>
              </a:buClr>
              <a:buSzPts val="1000"/>
              <a:buNone/>
              <a:defRPr sz="1000"/>
            </a:lvl1pPr>
            <a:lvl2pPr indent="-292100" lvl="1" marL="914400" algn="l">
              <a:lnSpc>
                <a:spcPct val="100000"/>
              </a:lnSpc>
              <a:spcBef>
                <a:spcPts val="600"/>
              </a:spcBef>
              <a:spcAft>
                <a:spcPts val="0"/>
              </a:spcAft>
              <a:buClr>
                <a:schemeClr val="dk2"/>
              </a:buClr>
              <a:buSzPts val="1000"/>
              <a:buChar char="•"/>
              <a:defRPr sz="1000"/>
            </a:lvl2pPr>
            <a:lvl3pPr indent="-292100" lvl="2" marL="1371600" algn="l">
              <a:lnSpc>
                <a:spcPct val="100000"/>
              </a:lnSpc>
              <a:spcBef>
                <a:spcPts val="600"/>
              </a:spcBef>
              <a:spcAft>
                <a:spcPts val="0"/>
              </a:spcAft>
              <a:buClr>
                <a:schemeClr val="dk2"/>
              </a:buClr>
              <a:buSzPts val="1000"/>
              <a:buChar char="–"/>
              <a:defRPr sz="1000"/>
            </a:lvl3pPr>
            <a:lvl4pPr indent="-292100" lvl="3" marL="1828800" algn="l">
              <a:lnSpc>
                <a:spcPct val="100000"/>
              </a:lnSpc>
              <a:spcBef>
                <a:spcPts val="600"/>
              </a:spcBef>
              <a:spcAft>
                <a:spcPts val="0"/>
              </a:spcAft>
              <a:buClr>
                <a:schemeClr val="dk2"/>
              </a:buClr>
              <a:buSzPts val="1000"/>
              <a:buChar char="•"/>
              <a:defRPr sz="1000"/>
            </a:lvl4pPr>
            <a:lvl5pPr indent="-292100" lvl="4" marL="2286000" algn="l">
              <a:lnSpc>
                <a:spcPct val="100000"/>
              </a:lnSpc>
              <a:spcBef>
                <a:spcPts val="600"/>
              </a:spcBef>
              <a:spcAft>
                <a:spcPts val="0"/>
              </a:spcAft>
              <a:buClr>
                <a:schemeClr val="dk2"/>
              </a:buClr>
              <a:buSzPts val="1000"/>
              <a:buChar char="–"/>
              <a:defRPr sz="10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144"/>
          <p:cNvSpPr/>
          <p:nvPr>
            <p:ph idx="5" type="body"/>
          </p:nvPr>
        </p:nvSpPr>
        <p:spPr>
          <a:xfrm>
            <a:off x="4979963" y="1664804"/>
            <a:ext cx="2232075" cy="4501046"/>
          </a:xfrm>
          <a:prstGeom prst="roundRect">
            <a:avLst>
              <a:gd fmla="val 2670"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t" bIns="72000" lIns="72000" spcFirstLastPara="1" rIns="72000" wrap="square" tIns="72000">
            <a:noAutofit/>
          </a:bodyPr>
          <a:lstStyle>
            <a:lvl1pPr indent="-228600" lvl="0" marL="457200" algn="l">
              <a:lnSpc>
                <a:spcPct val="100000"/>
              </a:lnSpc>
              <a:spcBef>
                <a:spcPts val="600"/>
              </a:spcBef>
              <a:spcAft>
                <a:spcPts val="0"/>
              </a:spcAft>
              <a:buClr>
                <a:schemeClr val="dk1"/>
              </a:buClr>
              <a:buSzPts val="1000"/>
              <a:buNone/>
              <a:defRPr sz="1000"/>
            </a:lvl1pPr>
            <a:lvl2pPr indent="-292100" lvl="1" marL="914400" algn="l">
              <a:lnSpc>
                <a:spcPct val="100000"/>
              </a:lnSpc>
              <a:spcBef>
                <a:spcPts val="600"/>
              </a:spcBef>
              <a:spcAft>
                <a:spcPts val="0"/>
              </a:spcAft>
              <a:buClr>
                <a:schemeClr val="dk2"/>
              </a:buClr>
              <a:buSzPts val="1000"/>
              <a:buChar char="•"/>
              <a:defRPr sz="1000"/>
            </a:lvl2pPr>
            <a:lvl3pPr indent="-292100" lvl="2" marL="1371600" algn="l">
              <a:lnSpc>
                <a:spcPct val="100000"/>
              </a:lnSpc>
              <a:spcBef>
                <a:spcPts val="600"/>
              </a:spcBef>
              <a:spcAft>
                <a:spcPts val="0"/>
              </a:spcAft>
              <a:buClr>
                <a:schemeClr val="dk2"/>
              </a:buClr>
              <a:buSzPts val="1000"/>
              <a:buChar char="–"/>
              <a:defRPr sz="1000"/>
            </a:lvl3pPr>
            <a:lvl4pPr indent="-292100" lvl="3" marL="1828800" algn="l">
              <a:lnSpc>
                <a:spcPct val="100000"/>
              </a:lnSpc>
              <a:spcBef>
                <a:spcPts val="600"/>
              </a:spcBef>
              <a:spcAft>
                <a:spcPts val="0"/>
              </a:spcAft>
              <a:buClr>
                <a:schemeClr val="dk2"/>
              </a:buClr>
              <a:buSzPts val="1000"/>
              <a:buChar char="•"/>
              <a:defRPr sz="1000"/>
            </a:lvl4pPr>
            <a:lvl5pPr indent="-292100" lvl="4" marL="2286000" algn="l">
              <a:lnSpc>
                <a:spcPct val="100000"/>
              </a:lnSpc>
              <a:spcBef>
                <a:spcPts val="600"/>
              </a:spcBef>
              <a:spcAft>
                <a:spcPts val="0"/>
              </a:spcAft>
              <a:buClr>
                <a:schemeClr val="dk2"/>
              </a:buClr>
              <a:buSzPts val="1000"/>
              <a:buChar char="–"/>
              <a:defRPr sz="10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144"/>
          <p:cNvSpPr/>
          <p:nvPr>
            <p:ph idx="6" type="body"/>
          </p:nvPr>
        </p:nvSpPr>
        <p:spPr>
          <a:xfrm>
            <a:off x="7338182" y="1664804"/>
            <a:ext cx="2232075" cy="4501046"/>
          </a:xfrm>
          <a:prstGeom prst="roundRect">
            <a:avLst>
              <a:gd fmla="val 2670"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t" bIns="72000" lIns="72000" spcFirstLastPara="1" rIns="72000" wrap="square" tIns="72000">
            <a:noAutofit/>
          </a:bodyPr>
          <a:lstStyle>
            <a:lvl1pPr indent="-228600" lvl="0" marL="457200" algn="l">
              <a:lnSpc>
                <a:spcPct val="100000"/>
              </a:lnSpc>
              <a:spcBef>
                <a:spcPts val="600"/>
              </a:spcBef>
              <a:spcAft>
                <a:spcPts val="0"/>
              </a:spcAft>
              <a:buClr>
                <a:schemeClr val="dk1"/>
              </a:buClr>
              <a:buSzPts val="1000"/>
              <a:buNone/>
              <a:defRPr sz="1000"/>
            </a:lvl1pPr>
            <a:lvl2pPr indent="-292100" lvl="1" marL="914400" algn="l">
              <a:lnSpc>
                <a:spcPct val="100000"/>
              </a:lnSpc>
              <a:spcBef>
                <a:spcPts val="600"/>
              </a:spcBef>
              <a:spcAft>
                <a:spcPts val="0"/>
              </a:spcAft>
              <a:buClr>
                <a:schemeClr val="dk2"/>
              </a:buClr>
              <a:buSzPts val="1000"/>
              <a:buChar char="•"/>
              <a:defRPr sz="1000"/>
            </a:lvl2pPr>
            <a:lvl3pPr indent="-292100" lvl="2" marL="1371600" algn="l">
              <a:lnSpc>
                <a:spcPct val="100000"/>
              </a:lnSpc>
              <a:spcBef>
                <a:spcPts val="600"/>
              </a:spcBef>
              <a:spcAft>
                <a:spcPts val="0"/>
              </a:spcAft>
              <a:buClr>
                <a:schemeClr val="dk2"/>
              </a:buClr>
              <a:buSzPts val="1000"/>
              <a:buChar char="–"/>
              <a:defRPr sz="1000"/>
            </a:lvl3pPr>
            <a:lvl4pPr indent="-292100" lvl="3" marL="1828800" algn="l">
              <a:lnSpc>
                <a:spcPct val="100000"/>
              </a:lnSpc>
              <a:spcBef>
                <a:spcPts val="600"/>
              </a:spcBef>
              <a:spcAft>
                <a:spcPts val="0"/>
              </a:spcAft>
              <a:buClr>
                <a:schemeClr val="dk2"/>
              </a:buClr>
              <a:buSzPts val="1000"/>
              <a:buChar char="•"/>
              <a:defRPr sz="1000"/>
            </a:lvl4pPr>
            <a:lvl5pPr indent="-292100" lvl="4" marL="2286000" algn="l">
              <a:lnSpc>
                <a:spcPct val="100000"/>
              </a:lnSpc>
              <a:spcBef>
                <a:spcPts val="600"/>
              </a:spcBef>
              <a:spcAft>
                <a:spcPts val="0"/>
              </a:spcAft>
              <a:buClr>
                <a:schemeClr val="dk2"/>
              </a:buClr>
              <a:buSzPts val="1000"/>
              <a:buChar char="–"/>
              <a:defRPr sz="10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44"/>
          <p:cNvSpPr/>
          <p:nvPr>
            <p:ph idx="7" type="body"/>
          </p:nvPr>
        </p:nvSpPr>
        <p:spPr>
          <a:xfrm>
            <a:off x="9696399" y="1664804"/>
            <a:ext cx="2232075" cy="4501046"/>
          </a:xfrm>
          <a:prstGeom prst="roundRect">
            <a:avLst>
              <a:gd fmla="val 2670"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t" bIns="72000" lIns="72000" spcFirstLastPara="1" rIns="72000" wrap="square" tIns="72000">
            <a:noAutofit/>
          </a:bodyPr>
          <a:lstStyle>
            <a:lvl1pPr indent="-228600" lvl="0" marL="457200" algn="l">
              <a:lnSpc>
                <a:spcPct val="100000"/>
              </a:lnSpc>
              <a:spcBef>
                <a:spcPts val="600"/>
              </a:spcBef>
              <a:spcAft>
                <a:spcPts val="0"/>
              </a:spcAft>
              <a:buClr>
                <a:schemeClr val="dk1"/>
              </a:buClr>
              <a:buSzPts val="1000"/>
              <a:buNone/>
              <a:defRPr sz="1000"/>
            </a:lvl1pPr>
            <a:lvl2pPr indent="-292100" lvl="1" marL="914400" algn="l">
              <a:lnSpc>
                <a:spcPct val="100000"/>
              </a:lnSpc>
              <a:spcBef>
                <a:spcPts val="600"/>
              </a:spcBef>
              <a:spcAft>
                <a:spcPts val="0"/>
              </a:spcAft>
              <a:buClr>
                <a:schemeClr val="dk2"/>
              </a:buClr>
              <a:buSzPts val="1000"/>
              <a:buChar char="•"/>
              <a:defRPr sz="1000"/>
            </a:lvl2pPr>
            <a:lvl3pPr indent="-292100" lvl="2" marL="1371600" algn="l">
              <a:lnSpc>
                <a:spcPct val="100000"/>
              </a:lnSpc>
              <a:spcBef>
                <a:spcPts val="600"/>
              </a:spcBef>
              <a:spcAft>
                <a:spcPts val="0"/>
              </a:spcAft>
              <a:buClr>
                <a:schemeClr val="dk2"/>
              </a:buClr>
              <a:buSzPts val="1000"/>
              <a:buChar char="–"/>
              <a:defRPr sz="1000"/>
            </a:lvl3pPr>
            <a:lvl4pPr indent="-292100" lvl="3" marL="1828800" algn="l">
              <a:lnSpc>
                <a:spcPct val="100000"/>
              </a:lnSpc>
              <a:spcBef>
                <a:spcPts val="600"/>
              </a:spcBef>
              <a:spcAft>
                <a:spcPts val="0"/>
              </a:spcAft>
              <a:buClr>
                <a:schemeClr val="dk2"/>
              </a:buClr>
              <a:buSzPts val="1000"/>
              <a:buChar char="•"/>
              <a:defRPr sz="1000"/>
            </a:lvl4pPr>
            <a:lvl5pPr indent="-292100" lvl="4" marL="2286000" algn="l">
              <a:lnSpc>
                <a:spcPct val="100000"/>
              </a:lnSpc>
              <a:spcBef>
                <a:spcPts val="600"/>
              </a:spcBef>
              <a:spcAft>
                <a:spcPts val="0"/>
              </a:spcAft>
              <a:buClr>
                <a:schemeClr val="dk2"/>
              </a:buClr>
              <a:buSzPts val="1000"/>
              <a:buChar char="–"/>
              <a:defRPr sz="10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144"/>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 name="Google Shape;106;p14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4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44"/>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Map">
  <p:cSld name="Strategy Map">
    <p:spTree>
      <p:nvGrpSpPr>
        <p:cNvPr id="109" name="Shape 109"/>
        <p:cNvGrpSpPr/>
        <p:nvPr/>
      </p:nvGrpSpPr>
      <p:grpSpPr>
        <a:xfrm>
          <a:off x="0" y="0"/>
          <a:ext cx="0" cy="0"/>
          <a:chOff x="0" y="0"/>
          <a:chExt cx="0" cy="0"/>
        </a:xfrm>
      </p:grpSpPr>
      <p:sp>
        <p:nvSpPr>
          <p:cNvPr id="110" name="Google Shape;110;p145"/>
          <p:cNvSpPr/>
          <p:nvPr/>
        </p:nvSpPr>
        <p:spPr>
          <a:xfrm>
            <a:off x="263352" y="1016000"/>
            <a:ext cx="11665296" cy="5149850"/>
          </a:xfrm>
          <a:prstGeom prst="roundRect">
            <a:avLst>
              <a:gd fmla="val 1478"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145"/>
          <p:cNvSpPr txBox="1"/>
          <p:nvPr>
            <p:ph idx="1" type="body"/>
          </p:nvPr>
        </p:nvSpPr>
        <p:spPr>
          <a:xfrm>
            <a:off x="263351" y="512676"/>
            <a:ext cx="11665123" cy="261610"/>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1700"/>
              <a:buNone/>
              <a:defRPr b="0" sz="17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45"/>
          <p:cNvSpPr txBox="1"/>
          <p:nvPr>
            <p:ph type="title"/>
          </p:nvPr>
        </p:nvSpPr>
        <p:spPr>
          <a:xfrm>
            <a:off x="263525" y="260648"/>
            <a:ext cx="11664949" cy="26161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1700"/>
              <a:buFont typeface="Arial"/>
              <a:buNone/>
              <a:defRPr b="0" sz="17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45"/>
          <p:cNvSpPr txBox="1"/>
          <p:nvPr>
            <p:ph idx="2" type="body"/>
          </p:nvPr>
        </p:nvSpPr>
        <p:spPr>
          <a:xfrm>
            <a:off x="1757277" y="1691481"/>
            <a:ext cx="2844800" cy="12239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600"/>
              </a:spcBef>
              <a:spcAft>
                <a:spcPts val="0"/>
              </a:spcAft>
              <a:buClr>
                <a:schemeClr val="dk1"/>
              </a:buClr>
              <a:buSzPts val="1400"/>
              <a:buNone/>
              <a:defRPr sz="1400"/>
            </a:lvl1pPr>
            <a:lvl2pPr indent="-317500" lvl="1" marL="914400" algn="ctr">
              <a:lnSpc>
                <a:spcPct val="100000"/>
              </a:lnSpc>
              <a:spcBef>
                <a:spcPts val="600"/>
              </a:spcBef>
              <a:spcAft>
                <a:spcPts val="0"/>
              </a:spcAft>
              <a:buClr>
                <a:schemeClr val="dk2"/>
              </a:buClr>
              <a:buSzPts val="1400"/>
              <a:buChar char="•"/>
              <a:defRPr sz="1400"/>
            </a:lvl2pPr>
            <a:lvl3pPr indent="-317500" lvl="2" marL="1371600" algn="ctr">
              <a:lnSpc>
                <a:spcPct val="100000"/>
              </a:lnSpc>
              <a:spcBef>
                <a:spcPts val="600"/>
              </a:spcBef>
              <a:spcAft>
                <a:spcPts val="0"/>
              </a:spcAft>
              <a:buClr>
                <a:schemeClr val="dk2"/>
              </a:buClr>
              <a:buSzPts val="1400"/>
              <a:buChar char="–"/>
              <a:defRPr sz="1400"/>
            </a:lvl3pPr>
            <a:lvl4pPr indent="-317500" lvl="3" marL="1828800" algn="ctr">
              <a:lnSpc>
                <a:spcPct val="100000"/>
              </a:lnSpc>
              <a:spcBef>
                <a:spcPts val="600"/>
              </a:spcBef>
              <a:spcAft>
                <a:spcPts val="0"/>
              </a:spcAft>
              <a:buClr>
                <a:schemeClr val="dk2"/>
              </a:buClr>
              <a:buSzPts val="1400"/>
              <a:buChar char="•"/>
              <a:defRPr sz="1400"/>
            </a:lvl4pPr>
            <a:lvl5pPr indent="-317500" lvl="4" marL="2286000" algn="ctr">
              <a:lnSpc>
                <a:spcPct val="100000"/>
              </a:lnSpc>
              <a:spcBef>
                <a:spcPts val="600"/>
              </a:spcBef>
              <a:spcAft>
                <a:spcPts val="0"/>
              </a:spcAft>
              <a:buClr>
                <a:schemeClr val="dk2"/>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14" name="Google Shape;114;p145"/>
          <p:cNvCxnSpPr>
            <a:stCxn id="110" idx="3"/>
            <a:endCxn id="110" idx="1"/>
          </p:cNvCxnSpPr>
          <p:nvPr/>
        </p:nvCxnSpPr>
        <p:spPr>
          <a:xfrm rot="10800000">
            <a:off x="263448" y="3590925"/>
            <a:ext cx="11665200" cy="0"/>
          </a:xfrm>
          <a:prstGeom prst="straightConnector1">
            <a:avLst/>
          </a:prstGeom>
          <a:noFill/>
          <a:ln cap="flat" cmpd="sng" w="9525">
            <a:solidFill>
              <a:schemeClr val="dk1">
                <a:alpha val="10196"/>
              </a:schemeClr>
            </a:solidFill>
            <a:prstDash val="solid"/>
            <a:miter lim="80"/>
            <a:headEnd len="sm" w="sm" type="none"/>
            <a:tailEnd len="sm" w="sm" type="none"/>
          </a:ln>
        </p:spPr>
      </p:cxnSp>
      <p:sp>
        <p:nvSpPr>
          <p:cNvPr id="115" name="Google Shape;115;p145"/>
          <p:cNvSpPr txBox="1"/>
          <p:nvPr>
            <p:ph idx="3" type="body"/>
          </p:nvPr>
        </p:nvSpPr>
        <p:spPr>
          <a:xfrm>
            <a:off x="7589924" y="1691481"/>
            <a:ext cx="2844800" cy="12239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600"/>
              </a:spcBef>
              <a:spcAft>
                <a:spcPts val="0"/>
              </a:spcAft>
              <a:buClr>
                <a:schemeClr val="dk1"/>
              </a:buClr>
              <a:buSzPts val="1400"/>
              <a:buNone/>
              <a:defRPr sz="1400"/>
            </a:lvl1pPr>
            <a:lvl2pPr indent="-317500" lvl="1" marL="914400" algn="ctr">
              <a:lnSpc>
                <a:spcPct val="100000"/>
              </a:lnSpc>
              <a:spcBef>
                <a:spcPts val="600"/>
              </a:spcBef>
              <a:spcAft>
                <a:spcPts val="0"/>
              </a:spcAft>
              <a:buClr>
                <a:schemeClr val="dk2"/>
              </a:buClr>
              <a:buSzPts val="1400"/>
              <a:buChar char="•"/>
              <a:defRPr sz="1400"/>
            </a:lvl2pPr>
            <a:lvl3pPr indent="-317500" lvl="2" marL="1371600" algn="ctr">
              <a:lnSpc>
                <a:spcPct val="100000"/>
              </a:lnSpc>
              <a:spcBef>
                <a:spcPts val="600"/>
              </a:spcBef>
              <a:spcAft>
                <a:spcPts val="0"/>
              </a:spcAft>
              <a:buClr>
                <a:schemeClr val="dk2"/>
              </a:buClr>
              <a:buSzPts val="1400"/>
              <a:buChar char="–"/>
              <a:defRPr sz="1400"/>
            </a:lvl3pPr>
            <a:lvl4pPr indent="-317500" lvl="3" marL="1828800" algn="ctr">
              <a:lnSpc>
                <a:spcPct val="100000"/>
              </a:lnSpc>
              <a:spcBef>
                <a:spcPts val="600"/>
              </a:spcBef>
              <a:spcAft>
                <a:spcPts val="0"/>
              </a:spcAft>
              <a:buClr>
                <a:schemeClr val="dk2"/>
              </a:buClr>
              <a:buSzPts val="1400"/>
              <a:buChar char="•"/>
              <a:defRPr sz="1400"/>
            </a:lvl4pPr>
            <a:lvl5pPr indent="-317500" lvl="4" marL="2286000" algn="ctr">
              <a:lnSpc>
                <a:spcPct val="100000"/>
              </a:lnSpc>
              <a:spcBef>
                <a:spcPts val="600"/>
              </a:spcBef>
              <a:spcAft>
                <a:spcPts val="0"/>
              </a:spcAft>
              <a:buClr>
                <a:schemeClr val="dk2"/>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45"/>
          <p:cNvSpPr txBox="1"/>
          <p:nvPr>
            <p:ph idx="4" type="body"/>
          </p:nvPr>
        </p:nvSpPr>
        <p:spPr>
          <a:xfrm>
            <a:off x="1757277" y="4266406"/>
            <a:ext cx="2844800" cy="12239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600"/>
              </a:spcBef>
              <a:spcAft>
                <a:spcPts val="0"/>
              </a:spcAft>
              <a:buClr>
                <a:schemeClr val="dk1"/>
              </a:buClr>
              <a:buSzPts val="1400"/>
              <a:buNone/>
              <a:defRPr sz="1400"/>
            </a:lvl1pPr>
            <a:lvl2pPr indent="-317500" lvl="1" marL="914400" algn="ctr">
              <a:lnSpc>
                <a:spcPct val="100000"/>
              </a:lnSpc>
              <a:spcBef>
                <a:spcPts val="600"/>
              </a:spcBef>
              <a:spcAft>
                <a:spcPts val="0"/>
              </a:spcAft>
              <a:buClr>
                <a:schemeClr val="dk2"/>
              </a:buClr>
              <a:buSzPts val="1400"/>
              <a:buChar char="•"/>
              <a:defRPr sz="1400"/>
            </a:lvl2pPr>
            <a:lvl3pPr indent="-317500" lvl="2" marL="1371600" algn="ctr">
              <a:lnSpc>
                <a:spcPct val="100000"/>
              </a:lnSpc>
              <a:spcBef>
                <a:spcPts val="600"/>
              </a:spcBef>
              <a:spcAft>
                <a:spcPts val="0"/>
              </a:spcAft>
              <a:buClr>
                <a:schemeClr val="dk2"/>
              </a:buClr>
              <a:buSzPts val="1400"/>
              <a:buChar char="–"/>
              <a:defRPr sz="1400"/>
            </a:lvl3pPr>
            <a:lvl4pPr indent="-317500" lvl="3" marL="1828800" algn="ctr">
              <a:lnSpc>
                <a:spcPct val="100000"/>
              </a:lnSpc>
              <a:spcBef>
                <a:spcPts val="600"/>
              </a:spcBef>
              <a:spcAft>
                <a:spcPts val="0"/>
              </a:spcAft>
              <a:buClr>
                <a:schemeClr val="dk2"/>
              </a:buClr>
              <a:buSzPts val="1400"/>
              <a:buChar char="•"/>
              <a:defRPr sz="1400"/>
            </a:lvl4pPr>
            <a:lvl5pPr indent="-317500" lvl="4" marL="2286000" algn="ctr">
              <a:lnSpc>
                <a:spcPct val="100000"/>
              </a:lnSpc>
              <a:spcBef>
                <a:spcPts val="600"/>
              </a:spcBef>
              <a:spcAft>
                <a:spcPts val="0"/>
              </a:spcAft>
              <a:buClr>
                <a:schemeClr val="dk2"/>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45"/>
          <p:cNvSpPr txBox="1"/>
          <p:nvPr>
            <p:ph idx="5" type="body"/>
          </p:nvPr>
        </p:nvSpPr>
        <p:spPr>
          <a:xfrm>
            <a:off x="7589924" y="4266406"/>
            <a:ext cx="2844800" cy="1223963"/>
          </a:xfrm>
          <a:prstGeom prst="rect">
            <a:avLst/>
          </a:prstGeom>
          <a:noFill/>
          <a:ln>
            <a:noFill/>
          </a:ln>
        </p:spPr>
        <p:txBody>
          <a:bodyPr anchorCtr="0" anchor="ctr" bIns="0" lIns="0" spcFirstLastPara="1" rIns="0" wrap="square" tIns="0">
            <a:noAutofit/>
          </a:bodyPr>
          <a:lstStyle>
            <a:lvl1pPr indent="-228600" lvl="0" marL="457200" algn="ctr">
              <a:lnSpc>
                <a:spcPct val="100000"/>
              </a:lnSpc>
              <a:spcBef>
                <a:spcPts val="600"/>
              </a:spcBef>
              <a:spcAft>
                <a:spcPts val="0"/>
              </a:spcAft>
              <a:buClr>
                <a:schemeClr val="dk1"/>
              </a:buClr>
              <a:buSzPts val="1400"/>
              <a:buNone/>
              <a:defRPr sz="1400"/>
            </a:lvl1pPr>
            <a:lvl2pPr indent="-317500" lvl="1" marL="914400" algn="ctr">
              <a:lnSpc>
                <a:spcPct val="100000"/>
              </a:lnSpc>
              <a:spcBef>
                <a:spcPts val="600"/>
              </a:spcBef>
              <a:spcAft>
                <a:spcPts val="0"/>
              </a:spcAft>
              <a:buClr>
                <a:schemeClr val="dk2"/>
              </a:buClr>
              <a:buSzPts val="1400"/>
              <a:buChar char="•"/>
              <a:defRPr sz="1400"/>
            </a:lvl2pPr>
            <a:lvl3pPr indent="-317500" lvl="2" marL="1371600" algn="ctr">
              <a:lnSpc>
                <a:spcPct val="100000"/>
              </a:lnSpc>
              <a:spcBef>
                <a:spcPts val="600"/>
              </a:spcBef>
              <a:spcAft>
                <a:spcPts val="0"/>
              </a:spcAft>
              <a:buClr>
                <a:schemeClr val="dk2"/>
              </a:buClr>
              <a:buSzPts val="1400"/>
              <a:buChar char="–"/>
              <a:defRPr sz="1400"/>
            </a:lvl3pPr>
            <a:lvl4pPr indent="-317500" lvl="3" marL="1828800" algn="ctr">
              <a:lnSpc>
                <a:spcPct val="100000"/>
              </a:lnSpc>
              <a:spcBef>
                <a:spcPts val="600"/>
              </a:spcBef>
              <a:spcAft>
                <a:spcPts val="0"/>
              </a:spcAft>
              <a:buClr>
                <a:schemeClr val="dk2"/>
              </a:buClr>
              <a:buSzPts val="1400"/>
              <a:buChar char="•"/>
              <a:defRPr sz="1400"/>
            </a:lvl4pPr>
            <a:lvl5pPr indent="-317500" lvl="4" marL="2286000" algn="ctr">
              <a:lnSpc>
                <a:spcPct val="100000"/>
              </a:lnSpc>
              <a:spcBef>
                <a:spcPts val="600"/>
              </a:spcBef>
              <a:spcAft>
                <a:spcPts val="0"/>
              </a:spcAft>
              <a:buClr>
                <a:schemeClr val="dk2"/>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18" name="Google Shape;118;p145"/>
          <p:cNvCxnSpPr>
            <a:stCxn id="110" idx="0"/>
            <a:endCxn id="110" idx="2"/>
          </p:cNvCxnSpPr>
          <p:nvPr/>
        </p:nvCxnSpPr>
        <p:spPr>
          <a:xfrm>
            <a:off x="6096000" y="1016000"/>
            <a:ext cx="0" cy="5149800"/>
          </a:xfrm>
          <a:prstGeom prst="straightConnector1">
            <a:avLst/>
          </a:prstGeom>
          <a:noFill/>
          <a:ln cap="flat" cmpd="sng" w="9525">
            <a:solidFill>
              <a:schemeClr val="dk1">
                <a:alpha val="10196"/>
              </a:schemeClr>
            </a:solidFill>
            <a:prstDash val="solid"/>
            <a:miter lim="80"/>
            <a:headEnd len="sm" w="sm" type="none"/>
            <a:tailEnd len="sm" w="sm" type="none"/>
          </a:ln>
        </p:spPr>
      </p:cxnSp>
      <p:sp>
        <p:nvSpPr>
          <p:cNvPr id="119" name="Google Shape;119;p145"/>
          <p:cNvSpPr/>
          <p:nvPr>
            <p:ph idx="6" type="body"/>
          </p:nvPr>
        </p:nvSpPr>
        <p:spPr>
          <a:xfrm>
            <a:off x="4692235" y="3284925"/>
            <a:ext cx="2807531" cy="612000"/>
          </a:xfrm>
          <a:prstGeom prst="roundRect">
            <a:avLst>
              <a:gd fmla="val 50000" name="adj"/>
            </a:avLst>
          </a:prstGeom>
          <a:solidFill>
            <a:schemeClr val="dk1"/>
          </a:solidFill>
          <a:ln>
            <a:noFill/>
          </a:ln>
        </p:spPr>
        <p:txBody>
          <a:bodyPr anchorCtr="0" anchor="ctr" bIns="0" lIns="0" spcFirstLastPara="1" rIns="0" wrap="square" tIns="0">
            <a:noAutofit/>
          </a:bodyPr>
          <a:lstStyle>
            <a:lvl1pPr indent="-228600" lvl="0" marL="457200" algn="ctr">
              <a:lnSpc>
                <a:spcPct val="100000"/>
              </a:lnSpc>
              <a:spcBef>
                <a:spcPts val="600"/>
              </a:spcBef>
              <a:spcAft>
                <a:spcPts val="0"/>
              </a:spcAft>
              <a:buClr>
                <a:schemeClr val="lt1"/>
              </a:buClr>
              <a:buSzPts val="1400"/>
              <a:buNone/>
              <a:defRPr sz="1400">
                <a:solidFill>
                  <a:schemeClr val="lt1"/>
                </a:solidFill>
              </a:defRPr>
            </a:lvl1pPr>
            <a:lvl2pPr indent="-228600" lvl="1" marL="914400" algn="ctr">
              <a:lnSpc>
                <a:spcPct val="100000"/>
              </a:lnSpc>
              <a:spcBef>
                <a:spcPts val="600"/>
              </a:spcBef>
              <a:spcAft>
                <a:spcPts val="0"/>
              </a:spcAft>
              <a:buClr>
                <a:schemeClr val="dk2"/>
              </a:buClr>
              <a:buSzPts val="1400"/>
              <a:buNone/>
              <a:defRPr sz="1400"/>
            </a:lvl2pPr>
            <a:lvl3pPr indent="-317500" lvl="2" marL="1371600" algn="ctr">
              <a:lnSpc>
                <a:spcPct val="100000"/>
              </a:lnSpc>
              <a:spcBef>
                <a:spcPts val="600"/>
              </a:spcBef>
              <a:spcAft>
                <a:spcPts val="0"/>
              </a:spcAft>
              <a:buClr>
                <a:schemeClr val="dk2"/>
              </a:buClr>
              <a:buSzPts val="1400"/>
              <a:buChar char="–"/>
              <a:defRPr sz="1400"/>
            </a:lvl3pPr>
            <a:lvl4pPr indent="-317500" lvl="3" marL="1828800" algn="ctr">
              <a:lnSpc>
                <a:spcPct val="100000"/>
              </a:lnSpc>
              <a:spcBef>
                <a:spcPts val="600"/>
              </a:spcBef>
              <a:spcAft>
                <a:spcPts val="0"/>
              </a:spcAft>
              <a:buClr>
                <a:schemeClr val="dk2"/>
              </a:buClr>
              <a:buSzPts val="1400"/>
              <a:buChar char="•"/>
              <a:defRPr sz="1400"/>
            </a:lvl4pPr>
            <a:lvl5pPr indent="-317500" lvl="4" marL="2286000" algn="ctr">
              <a:lnSpc>
                <a:spcPct val="100000"/>
              </a:lnSpc>
              <a:spcBef>
                <a:spcPts val="600"/>
              </a:spcBef>
              <a:spcAft>
                <a:spcPts val="0"/>
              </a:spcAft>
              <a:buClr>
                <a:schemeClr val="dk2"/>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45"/>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 name="Google Shape;121;p14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4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45"/>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6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ook">
  <p:cSld name="Outlook">
    <p:spTree>
      <p:nvGrpSpPr>
        <p:cNvPr id="124" name="Shape 124"/>
        <p:cNvGrpSpPr/>
        <p:nvPr/>
      </p:nvGrpSpPr>
      <p:grpSpPr>
        <a:xfrm>
          <a:off x="0" y="0"/>
          <a:ext cx="0" cy="0"/>
          <a:chOff x="0" y="0"/>
          <a:chExt cx="0" cy="0"/>
        </a:xfrm>
      </p:grpSpPr>
      <p:sp>
        <p:nvSpPr>
          <p:cNvPr id="125" name="Google Shape;125;p146"/>
          <p:cNvSpPr txBox="1"/>
          <p:nvPr>
            <p:ph idx="1" type="body"/>
          </p:nvPr>
        </p:nvSpPr>
        <p:spPr>
          <a:xfrm>
            <a:off x="263352" y="981889"/>
            <a:ext cx="3996330"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46"/>
          <p:cNvSpPr txBox="1"/>
          <p:nvPr>
            <p:ph type="title"/>
          </p:nvPr>
        </p:nvSpPr>
        <p:spPr>
          <a:xfrm>
            <a:off x="263526" y="512676"/>
            <a:ext cx="3996270"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46"/>
          <p:cNvSpPr txBox="1"/>
          <p:nvPr>
            <p:ph idx="2" type="body"/>
          </p:nvPr>
        </p:nvSpPr>
        <p:spPr>
          <a:xfrm>
            <a:off x="263353" y="260648"/>
            <a:ext cx="3996330"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46"/>
          <p:cNvSpPr txBox="1"/>
          <p:nvPr>
            <p:ph idx="3" type="body"/>
          </p:nvPr>
        </p:nvSpPr>
        <p:spPr>
          <a:xfrm>
            <a:off x="4872038" y="260350"/>
            <a:ext cx="7056437" cy="11525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2"/>
              </a:buClr>
              <a:buSzPts val="1600"/>
              <a:buNone/>
              <a:defRPr>
                <a:solidFill>
                  <a:schemeClr val="dk2"/>
                </a:solidFil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146"/>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14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4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46"/>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p:cSld name="Objectives">
    <p:spTree>
      <p:nvGrpSpPr>
        <p:cNvPr id="133" name="Shape 133"/>
        <p:cNvGrpSpPr/>
        <p:nvPr/>
      </p:nvGrpSpPr>
      <p:grpSpPr>
        <a:xfrm>
          <a:off x="0" y="0"/>
          <a:ext cx="0" cy="0"/>
          <a:chOff x="0" y="0"/>
          <a:chExt cx="0" cy="0"/>
        </a:xfrm>
      </p:grpSpPr>
      <p:sp>
        <p:nvSpPr>
          <p:cNvPr id="134" name="Google Shape;134;p147"/>
          <p:cNvSpPr txBox="1"/>
          <p:nvPr>
            <p:ph idx="1" type="body"/>
          </p:nvPr>
        </p:nvSpPr>
        <p:spPr>
          <a:xfrm>
            <a:off x="263352" y="981889"/>
            <a:ext cx="3996330"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47"/>
          <p:cNvSpPr txBox="1"/>
          <p:nvPr>
            <p:ph type="title"/>
          </p:nvPr>
        </p:nvSpPr>
        <p:spPr>
          <a:xfrm>
            <a:off x="263526" y="512676"/>
            <a:ext cx="3996270"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47"/>
          <p:cNvSpPr txBox="1"/>
          <p:nvPr>
            <p:ph idx="2" type="body"/>
          </p:nvPr>
        </p:nvSpPr>
        <p:spPr>
          <a:xfrm>
            <a:off x="263353" y="260648"/>
            <a:ext cx="3996330"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47"/>
          <p:cNvSpPr txBox="1"/>
          <p:nvPr>
            <p:ph idx="3" type="body"/>
          </p:nvPr>
        </p:nvSpPr>
        <p:spPr>
          <a:xfrm>
            <a:off x="4872038" y="260350"/>
            <a:ext cx="7056437" cy="115252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Clr>
                <a:schemeClr val="dk2"/>
              </a:buClr>
              <a:buSzPts val="1600"/>
              <a:buNone/>
              <a:defRPr>
                <a:solidFill>
                  <a:schemeClr val="dk2"/>
                </a:solidFil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147"/>
          <p:cNvSpPr/>
          <p:nvPr>
            <p:ph idx="4" type="body"/>
          </p:nvPr>
        </p:nvSpPr>
        <p:spPr>
          <a:xfrm>
            <a:off x="263525" y="2889188"/>
            <a:ext cx="3792248" cy="3276116"/>
          </a:xfrm>
          <a:prstGeom prst="roundRect">
            <a:avLst>
              <a:gd fmla="val 2670" name="adj"/>
            </a:avLst>
          </a:prstGeom>
          <a:solidFill>
            <a:schemeClr val="lt2"/>
          </a:solidFill>
          <a:ln>
            <a:noFill/>
          </a:ln>
        </p:spPr>
        <p:txBody>
          <a:bodyPr anchorCtr="0" anchor="t" bIns="144000" lIns="144000" spcFirstLastPara="1" rIns="144000" wrap="square" tIns="144000">
            <a:noAutofit/>
          </a:bodyPr>
          <a:lstStyle>
            <a:lvl1pPr indent="-228600" lvl="0" marL="457200" algn="l">
              <a:lnSpc>
                <a:spcPct val="100000"/>
              </a:lnSpc>
              <a:spcBef>
                <a:spcPts val="600"/>
              </a:spcBef>
              <a:spcAft>
                <a:spcPts val="0"/>
              </a:spcAft>
              <a:buClr>
                <a:schemeClr val="accent1"/>
              </a:buClr>
              <a:buSzPts val="1000"/>
              <a:buNone/>
              <a:defRPr sz="1000">
                <a:solidFill>
                  <a:schemeClr val="accent1"/>
                </a:solidFill>
              </a:defRPr>
            </a:lvl1pPr>
            <a:lvl2pPr indent="-304800" lvl="1" marL="914400" algn="l">
              <a:lnSpc>
                <a:spcPct val="100000"/>
              </a:lnSpc>
              <a:spcBef>
                <a:spcPts val="600"/>
              </a:spcBef>
              <a:spcAft>
                <a:spcPts val="0"/>
              </a:spcAft>
              <a:buClr>
                <a:schemeClr val="dk2"/>
              </a:buClr>
              <a:buSzPts val="1200"/>
              <a:buFont typeface="Noto Sans Symbols"/>
              <a:buChar char="🡪"/>
              <a:defRPr sz="1200"/>
            </a:lvl2pPr>
            <a:lvl3pPr indent="-304800" lvl="2" marL="1371600" algn="l">
              <a:lnSpc>
                <a:spcPct val="100000"/>
              </a:lnSpc>
              <a:spcBef>
                <a:spcPts val="600"/>
              </a:spcBef>
              <a:spcAft>
                <a:spcPts val="0"/>
              </a:spcAft>
              <a:buClr>
                <a:schemeClr val="dk2"/>
              </a:buClr>
              <a:buSzPts val="1200"/>
              <a:buChar char="–"/>
              <a:defRPr sz="1200"/>
            </a:lvl3pPr>
            <a:lvl4pPr indent="-304800" lvl="3" marL="1828800" algn="l">
              <a:lnSpc>
                <a:spcPct val="100000"/>
              </a:lnSpc>
              <a:spcBef>
                <a:spcPts val="600"/>
              </a:spcBef>
              <a:spcAft>
                <a:spcPts val="0"/>
              </a:spcAft>
              <a:buClr>
                <a:schemeClr val="dk2"/>
              </a:buClr>
              <a:buSzPts val="1200"/>
              <a:buChar char="•"/>
              <a:defRPr sz="1200"/>
            </a:lvl4pPr>
            <a:lvl5pPr indent="-304800" lvl="4" marL="2286000" algn="l">
              <a:lnSpc>
                <a:spcPct val="100000"/>
              </a:lnSpc>
              <a:spcBef>
                <a:spcPts val="600"/>
              </a:spcBef>
              <a:spcAft>
                <a:spcPts val="0"/>
              </a:spcAft>
              <a:buClr>
                <a:schemeClr val="dk2"/>
              </a:buClr>
              <a:buSzPts val="1200"/>
              <a:buChar char="–"/>
              <a:defRPr sz="12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147"/>
          <p:cNvSpPr/>
          <p:nvPr>
            <p:ph idx="5" type="body"/>
          </p:nvPr>
        </p:nvSpPr>
        <p:spPr>
          <a:xfrm>
            <a:off x="4199876" y="2889188"/>
            <a:ext cx="3792248" cy="3276116"/>
          </a:xfrm>
          <a:prstGeom prst="roundRect">
            <a:avLst>
              <a:gd fmla="val 2670" name="adj"/>
            </a:avLst>
          </a:prstGeom>
          <a:solidFill>
            <a:schemeClr val="lt2"/>
          </a:solidFill>
          <a:ln>
            <a:noFill/>
          </a:ln>
        </p:spPr>
        <p:txBody>
          <a:bodyPr anchorCtr="0" anchor="t" bIns="144000" lIns="144000" spcFirstLastPara="1" rIns="144000" wrap="square" tIns="144000">
            <a:noAutofit/>
          </a:bodyPr>
          <a:lstStyle>
            <a:lvl1pPr indent="-228600" lvl="0" marL="457200" algn="l">
              <a:lnSpc>
                <a:spcPct val="100000"/>
              </a:lnSpc>
              <a:spcBef>
                <a:spcPts val="600"/>
              </a:spcBef>
              <a:spcAft>
                <a:spcPts val="0"/>
              </a:spcAft>
              <a:buClr>
                <a:schemeClr val="accent1"/>
              </a:buClr>
              <a:buSzPts val="1000"/>
              <a:buNone/>
              <a:defRPr sz="1000">
                <a:solidFill>
                  <a:schemeClr val="accent1"/>
                </a:solidFill>
              </a:defRPr>
            </a:lvl1pPr>
            <a:lvl2pPr indent="-304800" lvl="1" marL="914400" algn="l">
              <a:lnSpc>
                <a:spcPct val="100000"/>
              </a:lnSpc>
              <a:spcBef>
                <a:spcPts val="600"/>
              </a:spcBef>
              <a:spcAft>
                <a:spcPts val="0"/>
              </a:spcAft>
              <a:buClr>
                <a:schemeClr val="dk2"/>
              </a:buClr>
              <a:buSzPts val="1200"/>
              <a:buFont typeface="Noto Sans Symbols"/>
              <a:buChar char="🡪"/>
              <a:defRPr sz="1200"/>
            </a:lvl2pPr>
            <a:lvl3pPr indent="-304800" lvl="2" marL="1371600" algn="l">
              <a:lnSpc>
                <a:spcPct val="100000"/>
              </a:lnSpc>
              <a:spcBef>
                <a:spcPts val="600"/>
              </a:spcBef>
              <a:spcAft>
                <a:spcPts val="0"/>
              </a:spcAft>
              <a:buClr>
                <a:schemeClr val="dk2"/>
              </a:buClr>
              <a:buSzPts val="1200"/>
              <a:buChar char="–"/>
              <a:defRPr sz="1200"/>
            </a:lvl3pPr>
            <a:lvl4pPr indent="-304800" lvl="3" marL="1828800" algn="l">
              <a:lnSpc>
                <a:spcPct val="100000"/>
              </a:lnSpc>
              <a:spcBef>
                <a:spcPts val="600"/>
              </a:spcBef>
              <a:spcAft>
                <a:spcPts val="0"/>
              </a:spcAft>
              <a:buClr>
                <a:schemeClr val="dk2"/>
              </a:buClr>
              <a:buSzPts val="1200"/>
              <a:buChar char="•"/>
              <a:defRPr sz="1200"/>
            </a:lvl4pPr>
            <a:lvl5pPr indent="-304800" lvl="4" marL="2286000" algn="l">
              <a:lnSpc>
                <a:spcPct val="100000"/>
              </a:lnSpc>
              <a:spcBef>
                <a:spcPts val="600"/>
              </a:spcBef>
              <a:spcAft>
                <a:spcPts val="0"/>
              </a:spcAft>
              <a:buClr>
                <a:schemeClr val="dk2"/>
              </a:buClr>
              <a:buSzPts val="1200"/>
              <a:buChar char="–"/>
              <a:defRPr sz="12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147"/>
          <p:cNvSpPr/>
          <p:nvPr>
            <p:ph idx="6" type="body"/>
          </p:nvPr>
        </p:nvSpPr>
        <p:spPr>
          <a:xfrm>
            <a:off x="8136227" y="2889188"/>
            <a:ext cx="3792248" cy="3276116"/>
          </a:xfrm>
          <a:prstGeom prst="roundRect">
            <a:avLst>
              <a:gd fmla="val 2670" name="adj"/>
            </a:avLst>
          </a:prstGeom>
          <a:solidFill>
            <a:schemeClr val="lt2"/>
          </a:solidFill>
          <a:ln>
            <a:noFill/>
          </a:ln>
        </p:spPr>
        <p:txBody>
          <a:bodyPr anchorCtr="0" anchor="t" bIns="144000" lIns="144000" spcFirstLastPara="1" rIns="144000" wrap="square" tIns="144000">
            <a:noAutofit/>
          </a:bodyPr>
          <a:lstStyle>
            <a:lvl1pPr indent="-228600" lvl="0" marL="457200" algn="l">
              <a:lnSpc>
                <a:spcPct val="100000"/>
              </a:lnSpc>
              <a:spcBef>
                <a:spcPts val="600"/>
              </a:spcBef>
              <a:spcAft>
                <a:spcPts val="0"/>
              </a:spcAft>
              <a:buClr>
                <a:schemeClr val="accent1"/>
              </a:buClr>
              <a:buSzPts val="1000"/>
              <a:buNone/>
              <a:defRPr sz="1000">
                <a:solidFill>
                  <a:schemeClr val="accent1"/>
                </a:solidFill>
              </a:defRPr>
            </a:lvl1pPr>
            <a:lvl2pPr indent="-304800" lvl="1" marL="914400" algn="l">
              <a:lnSpc>
                <a:spcPct val="100000"/>
              </a:lnSpc>
              <a:spcBef>
                <a:spcPts val="600"/>
              </a:spcBef>
              <a:spcAft>
                <a:spcPts val="0"/>
              </a:spcAft>
              <a:buClr>
                <a:schemeClr val="dk2"/>
              </a:buClr>
              <a:buSzPts val="1200"/>
              <a:buFont typeface="Noto Sans Symbols"/>
              <a:buChar char="🡪"/>
              <a:defRPr sz="1200"/>
            </a:lvl2pPr>
            <a:lvl3pPr indent="-304800" lvl="2" marL="1371600" algn="l">
              <a:lnSpc>
                <a:spcPct val="100000"/>
              </a:lnSpc>
              <a:spcBef>
                <a:spcPts val="600"/>
              </a:spcBef>
              <a:spcAft>
                <a:spcPts val="0"/>
              </a:spcAft>
              <a:buClr>
                <a:schemeClr val="dk2"/>
              </a:buClr>
              <a:buSzPts val="1200"/>
              <a:buChar char="–"/>
              <a:defRPr sz="1200"/>
            </a:lvl3pPr>
            <a:lvl4pPr indent="-304800" lvl="3" marL="1828800" algn="l">
              <a:lnSpc>
                <a:spcPct val="100000"/>
              </a:lnSpc>
              <a:spcBef>
                <a:spcPts val="600"/>
              </a:spcBef>
              <a:spcAft>
                <a:spcPts val="0"/>
              </a:spcAft>
              <a:buClr>
                <a:schemeClr val="dk2"/>
              </a:buClr>
              <a:buSzPts val="1200"/>
              <a:buChar char="•"/>
              <a:defRPr sz="1200"/>
            </a:lvl4pPr>
            <a:lvl5pPr indent="-304800" lvl="4" marL="2286000" algn="l">
              <a:lnSpc>
                <a:spcPct val="100000"/>
              </a:lnSpc>
              <a:spcBef>
                <a:spcPts val="600"/>
              </a:spcBef>
              <a:spcAft>
                <a:spcPts val="0"/>
              </a:spcAft>
              <a:buClr>
                <a:schemeClr val="dk2"/>
              </a:buClr>
              <a:buSzPts val="1200"/>
              <a:buChar char="–"/>
              <a:defRPr sz="12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47"/>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14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4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14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182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hot 01">
  <p:cSld name="Product shot 01">
    <p:spTree>
      <p:nvGrpSpPr>
        <p:cNvPr id="145" name="Shape 145"/>
        <p:cNvGrpSpPr/>
        <p:nvPr/>
      </p:nvGrpSpPr>
      <p:grpSpPr>
        <a:xfrm>
          <a:off x="0" y="0"/>
          <a:ext cx="0" cy="0"/>
          <a:chOff x="0" y="0"/>
          <a:chExt cx="0" cy="0"/>
        </a:xfrm>
      </p:grpSpPr>
      <p:sp>
        <p:nvSpPr>
          <p:cNvPr id="146" name="Google Shape;146;p148"/>
          <p:cNvSpPr/>
          <p:nvPr>
            <p:ph idx="2" type="pic"/>
          </p:nvPr>
        </p:nvSpPr>
        <p:spPr>
          <a:xfrm>
            <a:off x="4295775" y="260350"/>
            <a:ext cx="7632873" cy="5905500"/>
          </a:xfrm>
          <a:prstGeom prst="roundRect">
            <a:avLst>
              <a:gd fmla="val 1506" name="adj"/>
            </a:avLst>
          </a:prstGeom>
          <a:solidFill>
            <a:schemeClr val="lt2"/>
          </a:solidFill>
          <a:ln>
            <a:noFill/>
          </a:ln>
        </p:spPr>
      </p:sp>
      <p:sp>
        <p:nvSpPr>
          <p:cNvPr id="147" name="Google Shape;147;p148"/>
          <p:cNvSpPr txBox="1"/>
          <p:nvPr>
            <p:ph idx="1" type="body"/>
          </p:nvPr>
        </p:nvSpPr>
        <p:spPr>
          <a:xfrm>
            <a:off x="263352" y="981889"/>
            <a:ext cx="3529066"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48"/>
          <p:cNvSpPr txBox="1"/>
          <p:nvPr>
            <p:ph type="title"/>
          </p:nvPr>
        </p:nvSpPr>
        <p:spPr>
          <a:xfrm>
            <a:off x="263525" y="512676"/>
            <a:ext cx="3529013"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48"/>
          <p:cNvSpPr txBox="1"/>
          <p:nvPr>
            <p:ph idx="3" type="body"/>
          </p:nvPr>
        </p:nvSpPr>
        <p:spPr>
          <a:xfrm>
            <a:off x="263353" y="260648"/>
            <a:ext cx="3529066"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48"/>
          <p:cNvSpPr txBox="1"/>
          <p:nvPr>
            <p:ph idx="4" type="body"/>
          </p:nvPr>
        </p:nvSpPr>
        <p:spPr>
          <a:xfrm>
            <a:off x="263525" y="3716734"/>
            <a:ext cx="2411413" cy="244857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Clr>
                <a:schemeClr val="dk2"/>
              </a:buClr>
              <a:buSzPts val="1000"/>
              <a:buNone/>
              <a:defRPr sz="1000">
                <a:solidFill>
                  <a:schemeClr val="dk2"/>
                </a:solidFill>
              </a:defRPr>
            </a:lvl1pPr>
            <a:lvl2pPr indent="-292100" lvl="1" marL="914400" algn="l">
              <a:lnSpc>
                <a:spcPct val="100000"/>
              </a:lnSpc>
              <a:spcBef>
                <a:spcPts val="600"/>
              </a:spcBef>
              <a:spcAft>
                <a:spcPts val="0"/>
              </a:spcAft>
              <a:buClr>
                <a:schemeClr val="dk2"/>
              </a:buClr>
              <a:buSzPts val="1000"/>
              <a:buChar char="•"/>
              <a:defRPr sz="1000">
                <a:solidFill>
                  <a:schemeClr val="dk2"/>
                </a:solidFill>
              </a:defRPr>
            </a:lvl2pPr>
            <a:lvl3pPr indent="-292100" lvl="2" marL="1371600" algn="l">
              <a:lnSpc>
                <a:spcPct val="100000"/>
              </a:lnSpc>
              <a:spcBef>
                <a:spcPts val="600"/>
              </a:spcBef>
              <a:spcAft>
                <a:spcPts val="0"/>
              </a:spcAft>
              <a:buClr>
                <a:schemeClr val="dk2"/>
              </a:buClr>
              <a:buSzPts val="1000"/>
              <a:buChar char="–"/>
              <a:defRPr sz="1000">
                <a:solidFill>
                  <a:schemeClr val="dk2"/>
                </a:solidFill>
              </a:defRPr>
            </a:lvl3pPr>
            <a:lvl4pPr indent="-292100" lvl="3" marL="1828800" algn="l">
              <a:lnSpc>
                <a:spcPct val="100000"/>
              </a:lnSpc>
              <a:spcBef>
                <a:spcPts val="600"/>
              </a:spcBef>
              <a:spcAft>
                <a:spcPts val="0"/>
              </a:spcAft>
              <a:buClr>
                <a:schemeClr val="dk2"/>
              </a:buClr>
              <a:buSzPts val="1000"/>
              <a:buChar char="•"/>
              <a:defRPr sz="1000">
                <a:solidFill>
                  <a:schemeClr val="dk2"/>
                </a:solidFill>
              </a:defRPr>
            </a:lvl4pPr>
            <a:lvl5pPr indent="-292100" lvl="4" marL="2286000" algn="l">
              <a:lnSpc>
                <a:spcPct val="100000"/>
              </a:lnSpc>
              <a:spcBef>
                <a:spcPts val="600"/>
              </a:spcBef>
              <a:spcAft>
                <a:spcPts val="0"/>
              </a:spcAft>
              <a:buClr>
                <a:schemeClr val="dk2"/>
              </a:buClr>
              <a:buSzPts val="1000"/>
              <a:buChar char="–"/>
              <a:defRPr sz="1000">
                <a:solidFill>
                  <a:schemeClr val="dk2"/>
                </a:solidFill>
              </a:defRPr>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148"/>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 name="Google Shape;152;p14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4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148"/>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2706">
          <p15:clr>
            <a:srgbClr val="FBAE40"/>
          </p15:clr>
        </p15:guide>
        <p15:guide id="2" pos="2547">
          <p15:clr>
            <a:srgbClr val="FBAE40"/>
          </p15:clr>
        </p15:guide>
        <p15:guide id="3" pos="2389">
          <p15:clr>
            <a:srgbClr val="FBAE40"/>
          </p15:clr>
        </p15:guide>
        <p15:guide id="4" pos="168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hot 02">
  <p:cSld name="Product shot 02">
    <p:spTree>
      <p:nvGrpSpPr>
        <p:cNvPr id="155" name="Shape 155"/>
        <p:cNvGrpSpPr/>
        <p:nvPr/>
      </p:nvGrpSpPr>
      <p:grpSpPr>
        <a:xfrm>
          <a:off x="0" y="0"/>
          <a:ext cx="0" cy="0"/>
          <a:chOff x="0" y="0"/>
          <a:chExt cx="0" cy="0"/>
        </a:xfrm>
      </p:grpSpPr>
      <p:sp>
        <p:nvSpPr>
          <p:cNvPr id="156" name="Google Shape;156;p149"/>
          <p:cNvSpPr txBox="1"/>
          <p:nvPr>
            <p:ph idx="1" type="body"/>
          </p:nvPr>
        </p:nvSpPr>
        <p:spPr>
          <a:xfrm>
            <a:off x="8399582" y="981889"/>
            <a:ext cx="3529066"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 name="Google Shape;157;p149"/>
          <p:cNvSpPr txBox="1"/>
          <p:nvPr>
            <p:ph type="title"/>
          </p:nvPr>
        </p:nvSpPr>
        <p:spPr>
          <a:xfrm>
            <a:off x="8399582" y="512676"/>
            <a:ext cx="3529013"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149"/>
          <p:cNvSpPr txBox="1"/>
          <p:nvPr>
            <p:ph idx="2" type="body"/>
          </p:nvPr>
        </p:nvSpPr>
        <p:spPr>
          <a:xfrm>
            <a:off x="8399582" y="260648"/>
            <a:ext cx="3529066"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149"/>
          <p:cNvSpPr txBox="1"/>
          <p:nvPr>
            <p:ph idx="3" type="body"/>
          </p:nvPr>
        </p:nvSpPr>
        <p:spPr>
          <a:xfrm>
            <a:off x="8399530" y="3717280"/>
            <a:ext cx="3528945" cy="244857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Clr>
                <a:schemeClr val="dk2"/>
              </a:buClr>
              <a:buSzPts val="1000"/>
              <a:buNone/>
              <a:defRPr sz="1000">
                <a:solidFill>
                  <a:schemeClr val="dk2"/>
                </a:solidFill>
              </a:defRPr>
            </a:lvl1pPr>
            <a:lvl2pPr indent="-292100" lvl="1" marL="914400" algn="l">
              <a:lnSpc>
                <a:spcPct val="100000"/>
              </a:lnSpc>
              <a:spcBef>
                <a:spcPts val="600"/>
              </a:spcBef>
              <a:spcAft>
                <a:spcPts val="0"/>
              </a:spcAft>
              <a:buClr>
                <a:schemeClr val="dk2"/>
              </a:buClr>
              <a:buSzPts val="1000"/>
              <a:buChar char="•"/>
              <a:defRPr sz="1000">
                <a:solidFill>
                  <a:schemeClr val="dk2"/>
                </a:solidFill>
              </a:defRPr>
            </a:lvl2pPr>
            <a:lvl3pPr indent="-292100" lvl="2" marL="1371600" algn="l">
              <a:lnSpc>
                <a:spcPct val="100000"/>
              </a:lnSpc>
              <a:spcBef>
                <a:spcPts val="600"/>
              </a:spcBef>
              <a:spcAft>
                <a:spcPts val="0"/>
              </a:spcAft>
              <a:buClr>
                <a:schemeClr val="dk2"/>
              </a:buClr>
              <a:buSzPts val="1000"/>
              <a:buChar char="–"/>
              <a:defRPr sz="1000">
                <a:solidFill>
                  <a:schemeClr val="dk2"/>
                </a:solidFill>
              </a:defRPr>
            </a:lvl3pPr>
            <a:lvl4pPr indent="-292100" lvl="3" marL="1828800" algn="l">
              <a:lnSpc>
                <a:spcPct val="100000"/>
              </a:lnSpc>
              <a:spcBef>
                <a:spcPts val="600"/>
              </a:spcBef>
              <a:spcAft>
                <a:spcPts val="0"/>
              </a:spcAft>
              <a:buClr>
                <a:schemeClr val="dk2"/>
              </a:buClr>
              <a:buSzPts val="1000"/>
              <a:buChar char="•"/>
              <a:defRPr sz="1000">
                <a:solidFill>
                  <a:schemeClr val="dk2"/>
                </a:solidFill>
              </a:defRPr>
            </a:lvl4pPr>
            <a:lvl5pPr indent="-292100" lvl="4" marL="2286000" algn="l">
              <a:lnSpc>
                <a:spcPct val="100000"/>
              </a:lnSpc>
              <a:spcBef>
                <a:spcPts val="600"/>
              </a:spcBef>
              <a:spcAft>
                <a:spcPts val="0"/>
              </a:spcAft>
              <a:buClr>
                <a:schemeClr val="dk2"/>
              </a:buClr>
              <a:buSzPts val="1000"/>
              <a:buChar char="–"/>
              <a:defRPr sz="1000">
                <a:solidFill>
                  <a:schemeClr val="dk2"/>
                </a:solidFill>
              </a:defRPr>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149"/>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1" name="Google Shape;161;p14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14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149"/>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64" name="Google Shape;164;p149"/>
          <p:cNvSpPr/>
          <p:nvPr>
            <p:ph idx="4" type="pic"/>
          </p:nvPr>
        </p:nvSpPr>
        <p:spPr>
          <a:xfrm>
            <a:off x="263352" y="260350"/>
            <a:ext cx="7632873" cy="5905500"/>
          </a:xfrm>
          <a:prstGeom prst="roundRect">
            <a:avLst>
              <a:gd fmla="val 1506" name="adj"/>
            </a:avLst>
          </a:prstGeom>
          <a:solidFill>
            <a:schemeClr val="lt2"/>
          </a:solidFill>
          <a:ln>
            <a:noFill/>
          </a:ln>
        </p:spPr>
      </p:sp>
    </p:spTree>
  </p:cSld>
  <p:clrMapOvr>
    <a:masterClrMapping/>
  </p:clrMapOvr>
  <p:extLst>
    <p:ext uri="{DCECCB84-F9BA-43D5-87BE-67443E8EF086}">
      <p15:sldGuideLst>
        <p15:guide id="1" pos="4974">
          <p15:clr>
            <a:srgbClr val="FBAE40"/>
          </p15:clr>
        </p15:guide>
        <p15:guide id="2" pos="5133">
          <p15:clr>
            <a:srgbClr val="FBAE40"/>
          </p15:clr>
        </p15:guide>
        <p15:guide id="3" pos="5292">
          <p15:clr>
            <a:srgbClr val="FBAE40"/>
          </p15:clr>
        </p15:guide>
        <p15:guide id="4" pos="599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hot 03">
  <p:cSld name="Product shot 03">
    <p:spTree>
      <p:nvGrpSpPr>
        <p:cNvPr id="165" name="Shape 165"/>
        <p:cNvGrpSpPr/>
        <p:nvPr/>
      </p:nvGrpSpPr>
      <p:grpSpPr>
        <a:xfrm>
          <a:off x="0" y="0"/>
          <a:ext cx="0" cy="0"/>
          <a:chOff x="0" y="0"/>
          <a:chExt cx="0" cy="0"/>
        </a:xfrm>
      </p:grpSpPr>
      <p:sp>
        <p:nvSpPr>
          <p:cNvPr id="166" name="Google Shape;166;p150"/>
          <p:cNvSpPr txBox="1"/>
          <p:nvPr>
            <p:ph idx="1" type="body"/>
          </p:nvPr>
        </p:nvSpPr>
        <p:spPr>
          <a:xfrm>
            <a:off x="263352" y="981889"/>
            <a:ext cx="3529066"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150"/>
          <p:cNvSpPr txBox="1"/>
          <p:nvPr>
            <p:ph type="title"/>
          </p:nvPr>
        </p:nvSpPr>
        <p:spPr>
          <a:xfrm>
            <a:off x="263525" y="512676"/>
            <a:ext cx="3529013"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150"/>
          <p:cNvSpPr txBox="1"/>
          <p:nvPr>
            <p:ph idx="2" type="body"/>
          </p:nvPr>
        </p:nvSpPr>
        <p:spPr>
          <a:xfrm>
            <a:off x="263353" y="260648"/>
            <a:ext cx="3529066"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150"/>
          <p:cNvSpPr txBox="1"/>
          <p:nvPr>
            <p:ph idx="3" type="body"/>
          </p:nvPr>
        </p:nvSpPr>
        <p:spPr>
          <a:xfrm>
            <a:off x="263525" y="3716734"/>
            <a:ext cx="2411413" cy="244857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Clr>
                <a:schemeClr val="dk2"/>
              </a:buClr>
              <a:buSzPts val="1000"/>
              <a:buNone/>
              <a:defRPr sz="1000">
                <a:solidFill>
                  <a:schemeClr val="dk2"/>
                </a:solidFill>
              </a:defRPr>
            </a:lvl1pPr>
            <a:lvl2pPr indent="-292100" lvl="1" marL="914400" algn="l">
              <a:lnSpc>
                <a:spcPct val="100000"/>
              </a:lnSpc>
              <a:spcBef>
                <a:spcPts val="600"/>
              </a:spcBef>
              <a:spcAft>
                <a:spcPts val="0"/>
              </a:spcAft>
              <a:buClr>
                <a:schemeClr val="dk2"/>
              </a:buClr>
              <a:buSzPts val="1000"/>
              <a:buChar char="•"/>
              <a:defRPr sz="1000">
                <a:solidFill>
                  <a:schemeClr val="dk2"/>
                </a:solidFill>
              </a:defRPr>
            </a:lvl2pPr>
            <a:lvl3pPr indent="-292100" lvl="2" marL="1371600" algn="l">
              <a:lnSpc>
                <a:spcPct val="100000"/>
              </a:lnSpc>
              <a:spcBef>
                <a:spcPts val="600"/>
              </a:spcBef>
              <a:spcAft>
                <a:spcPts val="0"/>
              </a:spcAft>
              <a:buClr>
                <a:schemeClr val="dk2"/>
              </a:buClr>
              <a:buSzPts val="1000"/>
              <a:buChar char="–"/>
              <a:defRPr sz="1000">
                <a:solidFill>
                  <a:schemeClr val="dk2"/>
                </a:solidFill>
              </a:defRPr>
            </a:lvl3pPr>
            <a:lvl4pPr indent="-292100" lvl="3" marL="1828800" algn="l">
              <a:lnSpc>
                <a:spcPct val="100000"/>
              </a:lnSpc>
              <a:spcBef>
                <a:spcPts val="600"/>
              </a:spcBef>
              <a:spcAft>
                <a:spcPts val="0"/>
              </a:spcAft>
              <a:buClr>
                <a:schemeClr val="dk2"/>
              </a:buClr>
              <a:buSzPts val="1000"/>
              <a:buChar char="•"/>
              <a:defRPr sz="1000">
                <a:solidFill>
                  <a:schemeClr val="dk2"/>
                </a:solidFill>
              </a:defRPr>
            </a:lvl4pPr>
            <a:lvl5pPr indent="-292100" lvl="4" marL="2286000" algn="l">
              <a:lnSpc>
                <a:spcPct val="100000"/>
              </a:lnSpc>
              <a:spcBef>
                <a:spcPts val="600"/>
              </a:spcBef>
              <a:spcAft>
                <a:spcPts val="0"/>
              </a:spcAft>
              <a:buClr>
                <a:schemeClr val="dk2"/>
              </a:buClr>
              <a:buSzPts val="1000"/>
              <a:buChar char="–"/>
              <a:defRPr sz="1000">
                <a:solidFill>
                  <a:schemeClr val="dk2"/>
                </a:solidFill>
              </a:defRPr>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150"/>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1" name="Google Shape;171;p15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15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5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74" name="Google Shape;174;p150"/>
          <p:cNvSpPr/>
          <p:nvPr>
            <p:ph idx="4" type="pic"/>
          </p:nvPr>
        </p:nvSpPr>
        <p:spPr>
          <a:xfrm>
            <a:off x="4295776" y="260350"/>
            <a:ext cx="3744912" cy="5905500"/>
          </a:xfrm>
          <a:prstGeom prst="roundRect">
            <a:avLst>
              <a:gd fmla="val 2396" name="adj"/>
            </a:avLst>
          </a:prstGeom>
          <a:solidFill>
            <a:schemeClr val="lt2"/>
          </a:solidFill>
          <a:ln>
            <a:noFill/>
          </a:ln>
        </p:spPr>
      </p:sp>
      <p:sp>
        <p:nvSpPr>
          <p:cNvPr id="175" name="Google Shape;175;p150"/>
          <p:cNvSpPr/>
          <p:nvPr>
            <p:ph idx="5" type="pic"/>
          </p:nvPr>
        </p:nvSpPr>
        <p:spPr>
          <a:xfrm>
            <a:off x="8183736" y="260350"/>
            <a:ext cx="3744912" cy="5905500"/>
          </a:xfrm>
          <a:prstGeom prst="roundRect">
            <a:avLst>
              <a:gd fmla="val 2396" name="adj"/>
            </a:avLst>
          </a:prstGeom>
          <a:solidFill>
            <a:schemeClr val="lt2"/>
          </a:solidFill>
          <a:ln>
            <a:noFill/>
          </a:ln>
        </p:spPr>
      </p:sp>
    </p:spTree>
  </p:cSld>
  <p:clrMapOvr>
    <a:masterClrMapping/>
  </p:clrMapOvr>
  <p:extLst>
    <p:ext uri="{DCECCB84-F9BA-43D5-87BE-67443E8EF086}">
      <p15:sldGuideLst>
        <p15:guide id="1" pos="2706">
          <p15:clr>
            <a:srgbClr val="FBAE40"/>
          </p15:clr>
        </p15:guide>
        <p15:guide id="2" pos="2547">
          <p15:clr>
            <a:srgbClr val="FBAE40"/>
          </p15:clr>
        </p15:guide>
        <p15:guide id="3" pos="2389">
          <p15:clr>
            <a:srgbClr val="FBAE40"/>
          </p15:clr>
        </p15:guide>
        <p15:guide id="4" pos="168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duct shot 04">
  <p:cSld name="Product shot 04">
    <p:spTree>
      <p:nvGrpSpPr>
        <p:cNvPr id="176" name="Shape 176"/>
        <p:cNvGrpSpPr/>
        <p:nvPr/>
      </p:nvGrpSpPr>
      <p:grpSpPr>
        <a:xfrm>
          <a:off x="0" y="0"/>
          <a:ext cx="0" cy="0"/>
          <a:chOff x="0" y="0"/>
          <a:chExt cx="0" cy="0"/>
        </a:xfrm>
      </p:grpSpPr>
      <p:sp>
        <p:nvSpPr>
          <p:cNvPr id="177" name="Google Shape;177;p151"/>
          <p:cNvSpPr/>
          <p:nvPr>
            <p:ph idx="2" type="pic"/>
          </p:nvPr>
        </p:nvSpPr>
        <p:spPr>
          <a:xfrm>
            <a:off x="4295775" y="260350"/>
            <a:ext cx="7632873" cy="2881226"/>
          </a:xfrm>
          <a:prstGeom prst="roundRect">
            <a:avLst>
              <a:gd fmla="val 3076" name="adj"/>
            </a:avLst>
          </a:prstGeom>
          <a:solidFill>
            <a:schemeClr val="lt2"/>
          </a:solidFill>
          <a:ln>
            <a:noFill/>
          </a:ln>
        </p:spPr>
      </p:sp>
      <p:sp>
        <p:nvSpPr>
          <p:cNvPr id="178" name="Google Shape;178;p151"/>
          <p:cNvSpPr txBox="1"/>
          <p:nvPr>
            <p:ph idx="1" type="body"/>
          </p:nvPr>
        </p:nvSpPr>
        <p:spPr>
          <a:xfrm>
            <a:off x="263352" y="981889"/>
            <a:ext cx="3529066" cy="430887"/>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dk2"/>
              </a:buClr>
              <a:buSzPts val="2800"/>
              <a:buNone/>
              <a:defRPr b="0" sz="2800">
                <a:solidFill>
                  <a:schemeClr val="dk2"/>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151"/>
          <p:cNvSpPr txBox="1"/>
          <p:nvPr>
            <p:ph type="title"/>
          </p:nvPr>
        </p:nvSpPr>
        <p:spPr>
          <a:xfrm>
            <a:off x="263525" y="512676"/>
            <a:ext cx="3529013" cy="43088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1"/>
              </a:buClr>
              <a:buSzPts val="2800"/>
              <a:buFont typeface="Arial"/>
              <a:buNone/>
              <a:defRPr b="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151"/>
          <p:cNvSpPr txBox="1"/>
          <p:nvPr>
            <p:ph idx="3" type="body"/>
          </p:nvPr>
        </p:nvSpPr>
        <p:spPr>
          <a:xfrm>
            <a:off x="263353" y="260648"/>
            <a:ext cx="3529066" cy="153888"/>
          </a:xfrm>
          <a:prstGeom prst="rect">
            <a:avLst/>
          </a:prstGeom>
          <a:noFill/>
          <a:ln>
            <a:noFill/>
          </a:ln>
        </p:spPr>
        <p:txBody>
          <a:bodyPr anchorCtr="0" anchor="ctr" bIns="0" lIns="0" spcFirstLastPara="1" rIns="0" wrap="square" tIns="0">
            <a:spAutoFit/>
          </a:bodyPr>
          <a:lstStyle>
            <a:lvl1pPr indent="-228600" lvl="0" marL="457200" algn="l">
              <a:lnSpc>
                <a:spcPct val="100000"/>
              </a:lnSpc>
              <a:spcBef>
                <a:spcPts val="600"/>
              </a:spcBef>
              <a:spcAft>
                <a:spcPts val="0"/>
              </a:spcAft>
              <a:buClr>
                <a:schemeClr val="accent1"/>
              </a:buClr>
              <a:buSzPts val="1000"/>
              <a:buNone/>
              <a:defRPr b="0" sz="1000" cap="none">
                <a:solidFill>
                  <a:schemeClr val="accent1"/>
                </a:solidFill>
                <a:latin typeface="Arial"/>
                <a:ea typeface="Arial"/>
                <a:cs typeface="Arial"/>
                <a:sym typeface="Arial"/>
              </a:defRPr>
            </a:lvl1pPr>
            <a:lvl2pPr indent="-342900" lvl="1" marL="914400" algn="l">
              <a:lnSpc>
                <a:spcPct val="100000"/>
              </a:lnSpc>
              <a:spcBef>
                <a:spcPts val="600"/>
              </a:spcBef>
              <a:spcAft>
                <a:spcPts val="0"/>
              </a:spcAft>
              <a:buClr>
                <a:schemeClr val="dk2"/>
              </a:buClr>
              <a:buSzPts val="1800"/>
              <a:buChar char="•"/>
              <a:defRPr/>
            </a:lvl2pPr>
            <a:lvl3pPr indent="-342900" lvl="2" marL="1371600" algn="l">
              <a:lnSpc>
                <a:spcPct val="100000"/>
              </a:lnSpc>
              <a:spcBef>
                <a:spcPts val="600"/>
              </a:spcBef>
              <a:spcAft>
                <a:spcPts val="0"/>
              </a:spcAft>
              <a:buClr>
                <a:schemeClr val="dk2"/>
              </a:buClr>
              <a:buSzPts val="1800"/>
              <a:buChar char="–"/>
              <a:defRPr/>
            </a:lvl3pPr>
            <a:lvl4pPr indent="-342900" lvl="3" marL="1828800" algn="l">
              <a:lnSpc>
                <a:spcPct val="100000"/>
              </a:lnSpc>
              <a:spcBef>
                <a:spcPts val="600"/>
              </a:spcBef>
              <a:spcAft>
                <a:spcPts val="0"/>
              </a:spcAft>
              <a:buClr>
                <a:schemeClr val="dk2"/>
              </a:buClr>
              <a:buSzPts val="1800"/>
              <a:buChar char="•"/>
              <a:defRPr/>
            </a:lvl4pPr>
            <a:lvl5pPr indent="-342900" lvl="4" marL="2286000" algn="l">
              <a:lnSpc>
                <a:spcPct val="100000"/>
              </a:lnSpc>
              <a:spcBef>
                <a:spcPts val="60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151"/>
          <p:cNvSpPr txBox="1"/>
          <p:nvPr>
            <p:ph idx="4" type="body"/>
          </p:nvPr>
        </p:nvSpPr>
        <p:spPr>
          <a:xfrm>
            <a:off x="263525" y="3716734"/>
            <a:ext cx="2411413" cy="244857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Clr>
                <a:schemeClr val="dk2"/>
              </a:buClr>
              <a:buSzPts val="1000"/>
              <a:buNone/>
              <a:defRPr sz="1000">
                <a:solidFill>
                  <a:schemeClr val="dk2"/>
                </a:solidFill>
              </a:defRPr>
            </a:lvl1pPr>
            <a:lvl2pPr indent="-292100" lvl="1" marL="914400" algn="l">
              <a:lnSpc>
                <a:spcPct val="100000"/>
              </a:lnSpc>
              <a:spcBef>
                <a:spcPts val="600"/>
              </a:spcBef>
              <a:spcAft>
                <a:spcPts val="0"/>
              </a:spcAft>
              <a:buClr>
                <a:schemeClr val="dk2"/>
              </a:buClr>
              <a:buSzPts val="1000"/>
              <a:buChar char="•"/>
              <a:defRPr sz="1000">
                <a:solidFill>
                  <a:schemeClr val="dk2"/>
                </a:solidFill>
              </a:defRPr>
            </a:lvl2pPr>
            <a:lvl3pPr indent="-292100" lvl="2" marL="1371600" algn="l">
              <a:lnSpc>
                <a:spcPct val="100000"/>
              </a:lnSpc>
              <a:spcBef>
                <a:spcPts val="600"/>
              </a:spcBef>
              <a:spcAft>
                <a:spcPts val="0"/>
              </a:spcAft>
              <a:buClr>
                <a:schemeClr val="dk2"/>
              </a:buClr>
              <a:buSzPts val="1000"/>
              <a:buChar char="–"/>
              <a:defRPr sz="1000">
                <a:solidFill>
                  <a:schemeClr val="dk2"/>
                </a:solidFill>
              </a:defRPr>
            </a:lvl3pPr>
            <a:lvl4pPr indent="-292100" lvl="3" marL="1828800" algn="l">
              <a:lnSpc>
                <a:spcPct val="100000"/>
              </a:lnSpc>
              <a:spcBef>
                <a:spcPts val="600"/>
              </a:spcBef>
              <a:spcAft>
                <a:spcPts val="0"/>
              </a:spcAft>
              <a:buClr>
                <a:schemeClr val="dk2"/>
              </a:buClr>
              <a:buSzPts val="1000"/>
              <a:buChar char="•"/>
              <a:defRPr sz="1000">
                <a:solidFill>
                  <a:schemeClr val="dk2"/>
                </a:solidFill>
              </a:defRPr>
            </a:lvl4pPr>
            <a:lvl5pPr indent="-292100" lvl="4" marL="2286000" algn="l">
              <a:lnSpc>
                <a:spcPct val="100000"/>
              </a:lnSpc>
              <a:spcBef>
                <a:spcPts val="600"/>
              </a:spcBef>
              <a:spcAft>
                <a:spcPts val="0"/>
              </a:spcAft>
              <a:buClr>
                <a:schemeClr val="dk2"/>
              </a:buClr>
              <a:buSzPts val="1000"/>
              <a:buChar char="–"/>
              <a:defRPr sz="1000">
                <a:solidFill>
                  <a:schemeClr val="dk2"/>
                </a:solidFill>
              </a:defRPr>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151"/>
          <p:cNvSpPr/>
          <p:nvPr/>
        </p:nvSpPr>
        <p:spPr>
          <a:xfrm>
            <a:off x="11271242" y="6417352"/>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3" name="Google Shape;183;p15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15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151"/>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86" name="Google Shape;186;p151"/>
          <p:cNvSpPr/>
          <p:nvPr>
            <p:ph idx="5" type="pic"/>
          </p:nvPr>
        </p:nvSpPr>
        <p:spPr>
          <a:xfrm>
            <a:off x="4295775" y="3284624"/>
            <a:ext cx="7632873" cy="2881226"/>
          </a:xfrm>
          <a:prstGeom prst="roundRect">
            <a:avLst>
              <a:gd fmla="val 3076" name="adj"/>
            </a:avLst>
          </a:prstGeom>
          <a:solidFill>
            <a:schemeClr val="lt2"/>
          </a:solidFill>
          <a:ln>
            <a:noFill/>
          </a:ln>
        </p:spPr>
      </p:sp>
    </p:spTree>
  </p:cSld>
  <p:clrMapOvr>
    <a:masterClrMapping/>
  </p:clrMapOvr>
  <p:extLst>
    <p:ext uri="{DCECCB84-F9BA-43D5-87BE-67443E8EF086}">
      <p15:sldGuideLst>
        <p15:guide id="1" pos="2706">
          <p15:clr>
            <a:srgbClr val="FBAE40"/>
          </p15:clr>
        </p15:guide>
        <p15:guide id="2" pos="2547">
          <p15:clr>
            <a:srgbClr val="FBAE40"/>
          </p15:clr>
        </p15:guide>
        <p15:guide id="3" pos="2389">
          <p15:clr>
            <a:srgbClr val="FBAE40"/>
          </p15:clr>
        </p15:guide>
        <p15:guide id="4" pos="168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p:cSld name="text">
    <p:spTree>
      <p:nvGrpSpPr>
        <p:cNvPr id="187" name="Shape 187"/>
        <p:cNvGrpSpPr/>
        <p:nvPr/>
      </p:nvGrpSpPr>
      <p:grpSpPr>
        <a:xfrm>
          <a:off x="0" y="0"/>
          <a:ext cx="0" cy="0"/>
          <a:chOff x="0" y="0"/>
          <a:chExt cx="0" cy="0"/>
        </a:xfrm>
      </p:grpSpPr>
      <p:sp>
        <p:nvSpPr>
          <p:cNvPr id="188" name="Google Shape;188;p152"/>
          <p:cNvSpPr txBox="1"/>
          <p:nvPr>
            <p:ph idx="1" type="body"/>
          </p:nvPr>
        </p:nvSpPr>
        <p:spPr>
          <a:xfrm>
            <a:off x="263525" y="1664804"/>
            <a:ext cx="2232075" cy="107721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600"/>
              </a:spcBef>
              <a:spcAft>
                <a:spcPts val="0"/>
              </a:spcAft>
              <a:buClr>
                <a:schemeClr val="dk1"/>
              </a:buClr>
              <a:buSzPts val="1000"/>
              <a:buNone/>
              <a:defRPr sz="1000"/>
            </a:lvl1pPr>
            <a:lvl2pPr indent="-292100" lvl="1" marL="914400" algn="l">
              <a:lnSpc>
                <a:spcPct val="100000"/>
              </a:lnSpc>
              <a:spcBef>
                <a:spcPts val="600"/>
              </a:spcBef>
              <a:spcAft>
                <a:spcPts val="0"/>
              </a:spcAft>
              <a:buClr>
                <a:schemeClr val="dk2"/>
              </a:buClr>
              <a:buSzPts val="1000"/>
              <a:buChar char="•"/>
              <a:defRPr sz="1000"/>
            </a:lvl2pPr>
            <a:lvl3pPr indent="-292100" lvl="2" marL="1371600" algn="l">
              <a:lnSpc>
                <a:spcPct val="100000"/>
              </a:lnSpc>
              <a:spcBef>
                <a:spcPts val="600"/>
              </a:spcBef>
              <a:spcAft>
                <a:spcPts val="0"/>
              </a:spcAft>
              <a:buClr>
                <a:schemeClr val="dk2"/>
              </a:buClr>
              <a:buSzPts val="1000"/>
              <a:buChar char="–"/>
              <a:defRPr sz="1000"/>
            </a:lvl3pPr>
            <a:lvl4pPr indent="-292100" lvl="3" marL="1828800" algn="l">
              <a:lnSpc>
                <a:spcPct val="100000"/>
              </a:lnSpc>
              <a:spcBef>
                <a:spcPts val="600"/>
              </a:spcBef>
              <a:spcAft>
                <a:spcPts val="0"/>
              </a:spcAft>
              <a:buClr>
                <a:schemeClr val="dk2"/>
              </a:buClr>
              <a:buSzPts val="1000"/>
              <a:buChar char="•"/>
              <a:defRPr sz="1000"/>
            </a:lvl4pPr>
            <a:lvl5pPr indent="-292100" lvl="4" marL="2286000" algn="l">
              <a:lnSpc>
                <a:spcPct val="100000"/>
              </a:lnSpc>
              <a:spcBef>
                <a:spcPts val="600"/>
              </a:spcBef>
              <a:spcAft>
                <a:spcPts val="0"/>
              </a:spcAft>
              <a:buClr>
                <a:schemeClr val="dk2"/>
              </a:buClr>
              <a:buSzPts val="1000"/>
              <a:buChar char="–"/>
              <a:defRPr sz="1000"/>
            </a:lvl5pPr>
            <a:lvl6pPr indent="-292100" lvl="5" marL="2743200" marR="0" algn="l">
              <a:lnSpc>
                <a:spcPct val="90000"/>
              </a:lnSpc>
              <a:spcBef>
                <a:spcPts val="500"/>
              </a:spcBef>
              <a:spcAft>
                <a:spcPts val="0"/>
              </a:spcAft>
              <a:buClr>
                <a:schemeClr val="dk2"/>
              </a:buClr>
              <a:buSzPts val="1000"/>
              <a:buFont typeface="Arial"/>
              <a:buChar char="•"/>
              <a:defRPr sz="1000">
                <a:solidFill>
                  <a:schemeClr val="dk2"/>
                </a:solidFill>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0" name="Shape 19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5"/>
          <p:cNvSpPr txBox="1"/>
          <p:nvPr>
            <p:ph idx="1" type="body"/>
          </p:nvPr>
        </p:nvSpPr>
        <p:spPr>
          <a:xfrm>
            <a:off x="263525" y="1665289"/>
            <a:ext cx="11664950" cy="450056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6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60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2pPr>
            <a:lvl3pPr indent="-330200" lvl="2" marL="1371600" marR="0" rtl="0" algn="l">
              <a:lnSpc>
                <a:spcPct val="100000"/>
              </a:lnSpc>
              <a:spcBef>
                <a:spcPts val="600"/>
              </a:spcBef>
              <a:spcAft>
                <a:spcPts val="0"/>
              </a:spcAft>
              <a:buClr>
                <a:schemeClr val="dk2"/>
              </a:buClr>
              <a:buSzPts val="1600"/>
              <a:buFont typeface="Avenir"/>
              <a:buChar char="–"/>
              <a:defRPr b="0" i="0" sz="1600" u="none" cap="none" strike="noStrike">
                <a:solidFill>
                  <a:schemeClr val="dk2"/>
                </a:solidFill>
                <a:latin typeface="Arial"/>
                <a:ea typeface="Arial"/>
                <a:cs typeface="Arial"/>
                <a:sym typeface="Arial"/>
              </a:defRPr>
            </a:lvl3pPr>
            <a:lvl4pPr indent="-330200" lvl="3" marL="1828800" marR="0" rtl="0" algn="l">
              <a:lnSpc>
                <a:spcPct val="100000"/>
              </a:lnSpc>
              <a:spcBef>
                <a:spcPts val="60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lnSpc>
                <a:spcPct val="100000"/>
              </a:lnSpc>
              <a:spcBef>
                <a:spcPts val="600"/>
              </a:spcBef>
              <a:spcAft>
                <a:spcPts val="0"/>
              </a:spcAft>
              <a:buClr>
                <a:schemeClr val="dk2"/>
              </a:buClr>
              <a:buSzPts val="1600"/>
              <a:buFont typeface="Avenir"/>
              <a:buChar char="–"/>
              <a:defRPr b="0" i="0" sz="1600" u="none" cap="none" strike="noStrike">
                <a:solidFill>
                  <a:schemeClr val="dk2"/>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2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7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2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7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25"/>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lvl1pPr indent="0" lvl="0"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700"/>
              <a:buFont typeface="Arial"/>
              <a:buNone/>
              <a:defRPr b="0" i="0" sz="7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66">
          <p15:clr>
            <a:srgbClr val="F26B43"/>
          </p15:clr>
        </p15:guide>
        <p15:guide id="2" orient="horz" pos="890">
          <p15:clr>
            <a:srgbClr val="F26B43"/>
          </p15:clr>
        </p15:guide>
        <p15:guide id="3" orient="horz" pos="3884">
          <p15:clr>
            <a:srgbClr val="F26B43"/>
          </p15:clr>
        </p15:guide>
        <p15:guide id="4" pos="7514">
          <p15:clr>
            <a:srgbClr val="F26B43"/>
          </p15:clr>
        </p15:guide>
        <p15:guide id="5" orient="horz" pos="1049">
          <p15:clr>
            <a:srgbClr val="F26B43"/>
          </p15:clr>
        </p15:guide>
        <p15:guide id="6" orient="horz" pos="164">
          <p15:clr>
            <a:srgbClr val="F26B43"/>
          </p15:clr>
        </p15:guide>
        <p15:guide id="7" orient="horz" pos="323">
          <p15:clr>
            <a:srgbClr val="F26B43"/>
          </p15:clr>
        </p15:guide>
        <p15:guide id="8" orient="horz" pos="415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orq.ai"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15.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jpg"/><Relationship Id="rId4" Type="http://schemas.openxmlformats.org/officeDocument/2006/relationships/image" Target="../media/image22.png"/><Relationship Id="rId5"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7.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3.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5.png"/><Relationship Id="rId4" Type="http://schemas.openxmlformats.org/officeDocument/2006/relationships/image" Target="../media/image27.png"/><Relationship Id="rId5"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34.png"/><Relationship Id="rId5" Type="http://schemas.openxmlformats.org/officeDocument/2006/relationships/image" Target="../media/image3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37.png"/><Relationship Id="rId5"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12.png"/><Relationship Id="rId4"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39.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image" Target="../media/image39.png"/><Relationship Id="rId4" Type="http://schemas.openxmlformats.org/officeDocument/2006/relationships/image" Target="../media/image28.png"/><Relationship Id="rId5" Type="http://schemas.openxmlformats.org/officeDocument/2006/relationships/image" Target="../media/image2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image" Target="../media/image39.png"/><Relationship Id="rId4" Type="http://schemas.openxmlformats.org/officeDocument/2006/relationships/image" Target="../media/image4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image" Target="../media/image44.png"/><Relationship Id="rId4"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image" Target="../media/image45.png"/><Relationship Id="rId4" Type="http://schemas.openxmlformats.org/officeDocument/2006/relationships/image" Target="../media/image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4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0.xml"/><Relationship Id="rId3" Type="http://schemas.openxmlformats.org/officeDocument/2006/relationships/image" Target="../media/image45.png"/><Relationship Id="rId4" Type="http://schemas.openxmlformats.org/officeDocument/2006/relationships/image" Target="../media/image50.png"/><Relationship Id="rId5" Type="http://schemas.openxmlformats.org/officeDocument/2006/relationships/image" Target="../media/image49.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 Id="rId3" Type="http://schemas.openxmlformats.org/officeDocument/2006/relationships/image" Target="../media/image11.png"/><Relationship Id="rId4" Type="http://schemas.openxmlformats.org/officeDocument/2006/relationships/image" Target="../media/image5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3.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5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 Id="rId3" Type="http://schemas.openxmlformats.org/officeDocument/2006/relationships/image" Target="../media/image51.png"/><Relationship Id="rId4" Type="http://schemas.openxmlformats.org/officeDocument/2006/relationships/image" Target="../media/image5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5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8.xml"/><Relationship Id="rId3" Type="http://schemas.openxmlformats.org/officeDocument/2006/relationships/image" Target="../media/image51.png"/><Relationship Id="rId4" Type="http://schemas.openxmlformats.org/officeDocument/2006/relationships/image" Target="../media/image5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9.xml"/><Relationship Id="rId3" Type="http://schemas.openxmlformats.org/officeDocument/2006/relationships/image" Target="../media/image51.png"/><Relationship Id="rId4" Type="http://schemas.openxmlformats.org/officeDocument/2006/relationships/image" Target="../media/image5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 Id="rId3" Type="http://schemas.openxmlformats.org/officeDocument/2006/relationships/image" Target="../media/image51.png"/><Relationship Id="rId4" Type="http://schemas.openxmlformats.org/officeDocument/2006/relationships/image" Target="../media/image5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4.xml"/><Relationship Id="rId3" Type="http://schemas.openxmlformats.org/officeDocument/2006/relationships/hyperlink" Target="http://orq.ai"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hyperlink" Target="http://orq.ai" TargetMode="External"/><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12.png"/><Relationship Id="rId8" Type="http://schemas.openxmlformats.org/officeDocument/2006/relationships/image" Target="../media/image1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15.png"/><Relationship Id="rId9" Type="http://schemas.openxmlformats.org/officeDocument/2006/relationships/image" Target="../media/image1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4.xml"/><Relationship Id="rId3" Type="http://schemas.openxmlformats.org/officeDocument/2006/relationships/image" Target="../media/image24.png"/><Relationship Id="rId4" Type="http://schemas.openxmlformats.org/officeDocument/2006/relationships/image" Target="../media/image13.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5.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2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6.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56.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7.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56.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5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58.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28.png"/><Relationship Id="rId4" Type="http://schemas.openxmlformats.org/officeDocument/2006/relationships/image" Target="../media/image2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4.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4.jp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Relationship Id="rId3" Type="http://schemas.openxmlformats.org/officeDocument/2006/relationships/image" Target="../media/image50.png"/><Relationship Id="rId4" Type="http://schemas.openxmlformats.org/officeDocument/2006/relationships/image" Target="../media/image49.jpg"/><Relationship Id="rId5" Type="http://schemas.openxmlformats.org/officeDocument/2006/relationships/image" Target="../media/image2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5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
          <p:cNvSpPr txBox="1"/>
          <p:nvPr>
            <p:ph type="title"/>
          </p:nvPr>
        </p:nvSpPr>
        <p:spPr>
          <a:xfrm>
            <a:off x="263525" y="4320103"/>
            <a:ext cx="11664949" cy="2277547"/>
          </a:xfrm>
          <a:prstGeom prst="rect">
            <a:avLst/>
          </a:prstGeom>
          <a:noFill/>
          <a:ln>
            <a:noFill/>
          </a:ln>
        </p:spPr>
        <p:txBody>
          <a:bodyPr anchorCtr="0" anchor="b" bIns="0" lIns="0" spcFirstLastPara="1" rIns="0" wrap="square" tIns="0">
            <a:spAutoFit/>
          </a:bodyPr>
          <a:lstStyle/>
          <a:p>
            <a:pPr indent="0" lvl="0" marL="0" rtl="0" algn="l">
              <a:lnSpc>
                <a:spcPct val="100000"/>
              </a:lnSpc>
              <a:spcBef>
                <a:spcPts val="0"/>
              </a:spcBef>
              <a:spcAft>
                <a:spcPts val="0"/>
              </a:spcAft>
              <a:buClr>
                <a:schemeClr val="dk1"/>
              </a:buClr>
              <a:buSzPts val="7400"/>
              <a:buFont typeface="Arial"/>
              <a:buNone/>
            </a:pPr>
            <a:r>
              <a:rPr lang="en-US"/>
              <a:t>Workshop Master Deck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03" name="Google Shape;203;p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04" name="Google Shape;204;p2"/>
          <p:cNvSpPr txBox="1"/>
          <p:nvPr>
            <p:ph idx="12" type="sldNum"/>
          </p:nvPr>
        </p:nvSpPr>
        <p:spPr>
          <a:xfrm>
            <a:off x="12034589" y="6673964"/>
            <a:ext cx="5129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05" name="Google Shape;205;p2"/>
          <p:cNvSpPr/>
          <p:nvPr/>
        </p:nvSpPr>
        <p:spPr>
          <a:xfrm>
            <a:off x="4295800" y="260350"/>
            <a:ext cx="7632848" cy="5905500"/>
          </a:xfrm>
          <a:prstGeom prst="roundRect">
            <a:avLst>
              <a:gd fmla="val 1487" name="adj"/>
            </a:avLst>
          </a:prstGeom>
          <a:solidFill>
            <a:srgbClr val="F5F3F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A screenshot of a computer&#10;&#10;AI-generated content may be incorrect." id="206" name="Google Shape;206;p2"/>
          <p:cNvPicPr preferRelativeResize="0"/>
          <p:nvPr/>
        </p:nvPicPr>
        <p:blipFill rotWithShape="1">
          <a:blip r:embed="rId3">
            <a:alphaModFix/>
          </a:blip>
          <a:srcRect b="0" l="0" r="0" t="0"/>
          <a:stretch/>
        </p:blipFill>
        <p:spPr>
          <a:xfrm>
            <a:off x="4295800" y="260350"/>
            <a:ext cx="7632848" cy="4762896"/>
          </a:xfrm>
          <a:prstGeom prst="roundRect">
            <a:avLst>
              <a:gd fmla="val 2682" name="adj"/>
            </a:avLst>
          </a:prstGeom>
          <a:noFill/>
          <a:ln>
            <a:noFill/>
          </a:ln>
        </p:spPr>
      </p:pic>
      <p:sp>
        <p:nvSpPr>
          <p:cNvPr id="207" name="Google Shape;207;p2"/>
          <p:cNvSpPr/>
          <p:nvPr/>
        </p:nvSpPr>
        <p:spPr>
          <a:xfrm>
            <a:off x="263355" y="650691"/>
            <a:ext cx="1476162" cy="404178"/>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2"/>
          <p:cNvSpPr txBox="1"/>
          <p:nvPr/>
        </p:nvSpPr>
        <p:spPr>
          <a:xfrm>
            <a:off x="263351" y="1665289"/>
            <a:ext cx="3529015" cy="23083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One control layer for the entire</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AI lifecycle.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Fast, compliant and in control.</a:t>
            </a:r>
            <a:endParaRPr b="0" i="0" sz="1400" u="none" cap="none" strike="noStrike">
              <a:solidFill>
                <a:srgbClr val="000000"/>
              </a:solidFill>
              <a:latin typeface="Arial"/>
              <a:ea typeface="Arial"/>
              <a:cs typeface="Arial"/>
              <a:sym typeface="Arial"/>
            </a:endParaRPr>
          </a:p>
        </p:txBody>
      </p:sp>
      <p:sp>
        <p:nvSpPr>
          <p:cNvPr id="209" name="Google Shape;209;p2"/>
          <p:cNvSpPr txBox="1"/>
          <p:nvPr/>
        </p:nvSpPr>
        <p:spPr>
          <a:xfrm>
            <a:off x="658774" y="5998360"/>
            <a:ext cx="3025580"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sohrab@orq.ai</a:t>
            </a:r>
            <a:endParaRPr b="0" i="0" sz="1400" u="none" cap="none" strike="noStrike">
              <a:solidFill>
                <a:srgbClr val="000000"/>
              </a:solidFill>
              <a:latin typeface="Arial"/>
              <a:ea typeface="Arial"/>
              <a:cs typeface="Arial"/>
              <a:sym typeface="Arial"/>
            </a:endParaRPr>
          </a:p>
        </p:txBody>
      </p:sp>
      <p:sp>
        <p:nvSpPr>
          <p:cNvPr id="210" name="Google Shape;210;p2"/>
          <p:cNvSpPr txBox="1"/>
          <p:nvPr/>
        </p:nvSpPr>
        <p:spPr>
          <a:xfrm>
            <a:off x="658774" y="5602316"/>
            <a:ext cx="3025580"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+31 6 14 62 47 74</a:t>
            </a:r>
            <a:endParaRPr b="0" i="0" sz="1400" u="none" cap="none" strike="noStrike">
              <a:solidFill>
                <a:srgbClr val="000000"/>
              </a:solidFill>
              <a:latin typeface="Arial"/>
              <a:ea typeface="Arial"/>
              <a:cs typeface="Arial"/>
              <a:sym typeface="Arial"/>
            </a:endParaRPr>
          </a:p>
        </p:txBody>
      </p:sp>
      <p:sp>
        <p:nvSpPr>
          <p:cNvPr id="211" name="Google Shape;211;p2"/>
          <p:cNvSpPr txBox="1"/>
          <p:nvPr/>
        </p:nvSpPr>
        <p:spPr>
          <a:xfrm>
            <a:off x="658774" y="5206272"/>
            <a:ext cx="3025580"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kyra.dresen@orq.ai</a:t>
            </a:r>
            <a:endParaRPr b="0" i="0" sz="1400" u="none" cap="none" strike="noStrike">
              <a:solidFill>
                <a:srgbClr val="000000"/>
              </a:solidFill>
              <a:latin typeface="Arial"/>
              <a:ea typeface="Arial"/>
              <a:cs typeface="Arial"/>
              <a:sym typeface="Arial"/>
            </a:endParaRPr>
          </a:p>
        </p:txBody>
      </p:sp>
      <p:pic>
        <p:nvPicPr>
          <p:cNvPr id="212" name="Google Shape;212;p2"/>
          <p:cNvPicPr preferRelativeResize="0"/>
          <p:nvPr/>
        </p:nvPicPr>
        <p:blipFill rotWithShape="1">
          <a:blip r:embed="rId4">
            <a:alphaModFix/>
          </a:blip>
          <a:srcRect b="0" l="0" r="0" t="0"/>
          <a:stretch/>
        </p:blipFill>
        <p:spPr>
          <a:xfrm>
            <a:off x="263352" y="5157216"/>
            <a:ext cx="252000" cy="252000"/>
          </a:xfrm>
          <a:prstGeom prst="rect">
            <a:avLst/>
          </a:prstGeom>
          <a:noFill/>
          <a:ln>
            <a:noFill/>
          </a:ln>
        </p:spPr>
      </p:pic>
      <p:pic>
        <p:nvPicPr>
          <p:cNvPr id="213" name="Google Shape;213;p2"/>
          <p:cNvPicPr preferRelativeResize="0"/>
          <p:nvPr/>
        </p:nvPicPr>
        <p:blipFill rotWithShape="1">
          <a:blip r:embed="rId5">
            <a:alphaModFix/>
          </a:blip>
          <a:srcRect b="0" l="0" r="0" t="0"/>
          <a:stretch/>
        </p:blipFill>
        <p:spPr>
          <a:xfrm>
            <a:off x="263352" y="5553260"/>
            <a:ext cx="252000" cy="252000"/>
          </a:xfrm>
          <a:prstGeom prst="rect">
            <a:avLst/>
          </a:prstGeom>
          <a:noFill/>
          <a:ln>
            <a:noFill/>
          </a:ln>
        </p:spPr>
      </p:pic>
      <p:pic>
        <p:nvPicPr>
          <p:cNvPr id="214" name="Google Shape;214;p2"/>
          <p:cNvPicPr preferRelativeResize="0"/>
          <p:nvPr/>
        </p:nvPicPr>
        <p:blipFill rotWithShape="1">
          <a:blip r:embed="rId6">
            <a:alphaModFix/>
          </a:blip>
          <a:srcRect b="0" l="0" r="0" t="0"/>
          <a:stretch/>
        </p:blipFill>
        <p:spPr>
          <a:xfrm>
            <a:off x="261716" y="5939742"/>
            <a:ext cx="263454" cy="252000"/>
          </a:xfrm>
          <a:prstGeom prst="rect">
            <a:avLst/>
          </a:prstGeom>
          <a:noFill/>
          <a:ln>
            <a:noFill/>
          </a:ln>
        </p:spPr>
      </p:pic>
      <p:sp>
        <p:nvSpPr>
          <p:cNvPr id="215" name="Google Shape;215;p2"/>
          <p:cNvSpPr txBox="1"/>
          <p:nvPr/>
        </p:nvSpPr>
        <p:spPr>
          <a:xfrm>
            <a:off x="263351" y="4185084"/>
            <a:ext cx="2655962"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Kyra Dresen &amp;</a:t>
            </a:r>
            <a:br>
              <a:rPr b="0" i="0" lang="en-US" sz="1400" u="none" cap="none" strike="noStrike">
                <a:solidFill>
                  <a:schemeClr val="dk2"/>
                </a:solidFill>
                <a:latin typeface="Arial"/>
                <a:ea typeface="Arial"/>
                <a:cs typeface="Arial"/>
                <a:sym typeface="Arial"/>
              </a:rPr>
            </a:br>
            <a:r>
              <a:rPr b="0" i="0" lang="en-US" sz="1400" u="none" cap="none" strike="noStrike">
                <a:solidFill>
                  <a:schemeClr val="dk2"/>
                </a:solidFill>
                <a:latin typeface="Arial"/>
                <a:ea typeface="Arial"/>
                <a:cs typeface="Arial"/>
                <a:sym typeface="Arial"/>
              </a:rPr>
              <a:t>Anthony Diaz </a:t>
            </a:r>
            <a:endParaRPr b="0" i="0" sz="1400" u="none" cap="none" strike="noStrike">
              <a:solidFill>
                <a:srgbClr val="000000"/>
              </a:solidFill>
              <a:latin typeface="Arial"/>
              <a:ea typeface="Arial"/>
              <a:cs typeface="Arial"/>
              <a:sym typeface="Arial"/>
            </a:endParaRPr>
          </a:p>
        </p:txBody>
      </p:sp>
      <p:grpSp>
        <p:nvGrpSpPr>
          <p:cNvPr id="216" name="Google Shape;216;p2"/>
          <p:cNvGrpSpPr/>
          <p:nvPr/>
        </p:nvGrpSpPr>
        <p:grpSpPr>
          <a:xfrm rot="2700000">
            <a:off x="1932698" y="733441"/>
            <a:ext cx="212806" cy="212806"/>
            <a:chOff x="4736430" y="1736812"/>
            <a:chExt cx="360040" cy="360040"/>
          </a:xfrm>
        </p:grpSpPr>
        <p:cxnSp>
          <p:nvCxnSpPr>
            <p:cNvPr id="217" name="Google Shape;217;p2"/>
            <p:cNvCxnSpPr/>
            <p:nvPr/>
          </p:nvCxnSpPr>
          <p:spPr>
            <a:xfrm>
              <a:off x="4736430" y="1916832"/>
              <a:ext cx="360040" cy="0"/>
            </a:xfrm>
            <a:prstGeom prst="straightConnector1">
              <a:avLst/>
            </a:prstGeom>
            <a:noFill/>
            <a:ln cap="rnd" cmpd="sng" w="19050">
              <a:solidFill>
                <a:schemeClr val="accent1"/>
              </a:solidFill>
              <a:prstDash val="solid"/>
              <a:round/>
              <a:headEnd len="sm" w="sm" type="none"/>
              <a:tailEnd len="sm" w="sm" type="none"/>
            </a:ln>
          </p:spPr>
        </p:cxnSp>
        <p:cxnSp>
          <p:nvCxnSpPr>
            <p:cNvPr id="218" name="Google Shape;218;p2"/>
            <p:cNvCxnSpPr/>
            <p:nvPr/>
          </p:nvCxnSpPr>
          <p:spPr>
            <a:xfrm rot="5400000">
              <a:off x="4736430" y="1916832"/>
              <a:ext cx="360040" cy="0"/>
            </a:xfrm>
            <a:prstGeom prst="straightConnector1">
              <a:avLst/>
            </a:prstGeom>
            <a:noFill/>
            <a:ln cap="rnd" cmpd="sng" w="19050">
              <a:solidFill>
                <a:schemeClr val="accent1"/>
              </a:solidFill>
              <a:prstDash val="solid"/>
              <a:round/>
              <a:headEnd len="sm" w="sm" type="none"/>
              <a:tailEnd len="sm" w="sm" type="none"/>
            </a:ln>
          </p:spPr>
        </p:cxnSp>
      </p:grpSp>
      <p:pic>
        <p:nvPicPr>
          <p:cNvPr id="219" name="Google Shape;219;p2"/>
          <p:cNvPicPr preferRelativeResize="0"/>
          <p:nvPr/>
        </p:nvPicPr>
        <p:blipFill rotWithShape="1">
          <a:blip r:embed="rId7">
            <a:alphaModFix/>
          </a:blip>
          <a:srcRect b="0" l="0" r="0" t="0"/>
          <a:stretch/>
        </p:blipFill>
        <p:spPr>
          <a:xfrm>
            <a:off x="2338666" y="689375"/>
            <a:ext cx="1620689" cy="300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
          <p:cNvSpPr/>
          <p:nvPr/>
        </p:nvSpPr>
        <p:spPr>
          <a:xfrm>
            <a:off x="263525" y="2889188"/>
            <a:ext cx="3792248" cy="3276662"/>
          </a:xfrm>
          <a:prstGeom prst="roundRect">
            <a:avLst>
              <a:gd fmla="val 2670" name="adj"/>
            </a:avLst>
          </a:prstGeom>
          <a:solidFill>
            <a:schemeClr val="lt2"/>
          </a:solidFill>
          <a:ln>
            <a:noFill/>
          </a:ln>
        </p:spPr>
        <p:txBody>
          <a:bodyPr anchorCtr="0" anchor="t" bIns="144000" lIns="180000" spcFirstLastPara="1" rIns="180000" wrap="square" tIns="1800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Build &amp;</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ship faster</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Give teams the tools to move from idea to production faster</a:t>
            </a:r>
            <a:endParaRPr b="0" i="0" sz="1400" u="none" cap="none" strike="noStrike">
              <a:solidFill>
                <a:srgbClr val="000000"/>
              </a:solidFill>
              <a:latin typeface="Arial"/>
              <a:ea typeface="Arial"/>
              <a:cs typeface="Arial"/>
              <a:sym typeface="Arial"/>
            </a:endParaRPr>
          </a:p>
        </p:txBody>
      </p:sp>
      <p:sp>
        <p:nvSpPr>
          <p:cNvPr id="226" name="Google Shape;226;p3"/>
          <p:cNvSpPr txBox="1"/>
          <p:nvPr>
            <p:ph type="title"/>
          </p:nvPr>
        </p:nvSpPr>
        <p:spPr>
          <a:xfrm>
            <a:off x="263525" y="512763"/>
            <a:ext cx="11664950" cy="86177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Enterprise grade agentic AI, so teams can build fast, </a:t>
            </a:r>
            <a:br>
              <a:rPr lang="en-US"/>
            </a:br>
            <a:r>
              <a:rPr lang="en-US"/>
              <a:t>work collaboratively, and innovate without limits</a:t>
            </a:r>
            <a:endParaRPr/>
          </a:p>
        </p:txBody>
      </p:sp>
      <p:sp>
        <p:nvSpPr>
          <p:cNvPr id="227" name="Google Shape;227;p3"/>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VALUES</a:t>
            </a:r>
            <a:endParaRPr/>
          </a:p>
        </p:txBody>
      </p:sp>
      <p:sp>
        <p:nvSpPr>
          <p:cNvPr id="228" name="Google Shape;228;p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29" name="Google Shape;229;p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30" name="Google Shape;230;p3"/>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31" name="Google Shape;231;p3"/>
          <p:cNvSpPr/>
          <p:nvPr/>
        </p:nvSpPr>
        <p:spPr>
          <a:xfrm>
            <a:off x="4199876" y="2889188"/>
            <a:ext cx="3792248" cy="3276662"/>
          </a:xfrm>
          <a:prstGeom prst="roundRect">
            <a:avLst>
              <a:gd fmla="val 2670" name="adj"/>
            </a:avLst>
          </a:prstGeom>
          <a:solidFill>
            <a:schemeClr val="lt2"/>
          </a:solidFill>
          <a:ln>
            <a:noFill/>
          </a:ln>
        </p:spPr>
        <p:txBody>
          <a:bodyPr anchorCtr="0" anchor="t" bIns="144000" lIns="180000" spcFirstLastPara="1" rIns="180000" wrap="square" tIns="1800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Stay</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in control</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Deploy AI with confidence through a secure, compliant, scalable  infrastructure</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8136227" y="2889188"/>
            <a:ext cx="3792248" cy="3276662"/>
          </a:xfrm>
          <a:prstGeom prst="roundRect">
            <a:avLst>
              <a:gd fmla="val 2670" name="adj"/>
            </a:avLst>
          </a:prstGeom>
          <a:solidFill>
            <a:schemeClr val="lt2"/>
          </a:solidFill>
          <a:ln>
            <a:noFill/>
          </a:ln>
        </p:spPr>
        <p:txBody>
          <a:bodyPr anchorCtr="0" anchor="t" bIns="144000" lIns="180000" spcFirstLastPara="1" rIns="180000" wrap="square" tIns="1800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Collaborate</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for better results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Cross-functional collaboration maximizes ROI and drives continuous improvements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
          <p:cNvSpPr txBox="1"/>
          <p:nvPr>
            <p:ph type="title"/>
          </p:nvPr>
        </p:nvSpPr>
        <p:spPr>
          <a:xfrm>
            <a:off x="263525" y="512676"/>
            <a:ext cx="3529013"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Agenda</a:t>
            </a:r>
            <a:endParaRPr/>
          </a:p>
        </p:txBody>
      </p:sp>
      <p:sp>
        <p:nvSpPr>
          <p:cNvPr id="239" name="Google Shape;239;p4"/>
          <p:cNvSpPr txBox="1"/>
          <p:nvPr>
            <p:ph idx="2" type="body"/>
          </p:nvPr>
        </p:nvSpPr>
        <p:spPr>
          <a:xfrm>
            <a:off x="263353" y="260648"/>
            <a:ext cx="3529066"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DAY 1 </a:t>
            </a:r>
            <a:endParaRPr/>
          </a:p>
        </p:txBody>
      </p:sp>
      <p:sp>
        <p:nvSpPr>
          <p:cNvPr id="240" name="Google Shape;240;p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41" name="Google Shape;241;p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42" name="Google Shape;242;p4"/>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43" name="Google Shape;243;p4"/>
          <p:cNvSpPr txBox="1"/>
          <p:nvPr/>
        </p:nvSpPr>
        <p:spPr>
          <a:xfrm>
            <a:off x="4979876" y="1543869"/>
            <a:ext cx="6264600" cy="3771000"/>
          </a:xfrm>
          <a:prstGeom prst="rect">
            <a:avLst/>
          </a:prstGeom>
          <a:no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GenAI introduction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8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The </a:t>
            </a:r>
            <a:r>
              <a:rPr b="0" i="0" lang="en-US" sz="1600" u="sng" cap="none" strike="noStrike">
                <a:solidFill>
                  <a:schemeClr val="hlink"/>
                </a:solidFill>
                <a:latin typeface="Arial"/>
                <a:ea typeface="Arial"/>
                <a:cs typeface="Arial"/>
                <a:sym typeface="Arial"/>
                <a:hlinkClick r:id="rId3"/>
              </a:rPr>
              <a:t>orq.ai</a:t>
            </a:r>
            <a:r>
              <a:rPr b="0" i="0" lang="en-US" sz="1600" u="none" cap="none" strike="noStrike">
                <a:solidFill>
                  <a:schemeClr val="dk1"/>
                </a:solidFill>
                <a:latin typeface="Arial"/>
                <a:ea typeface="Arial"/>
                <a:cs typeface="Arial"/>
                <a:sym typeface="Arial"/>
              </a:rPr>
              <a:t> flow introduction</a:t>
            </a:r>
            <a:endParaRPr b="0" i="0" sz="1600" u="none" cap="none" strike="noStrike">
              <a:solidFill>
                <a:schemeClr val="dk1"/>
              </a:solidFill>
              <a:latin typeface="Arial"/>
              <a:ea typeface="Arial"/>
              <a:cs typeface="Arial"/>
              <a:sym typeface="Arial"/>
            </a:endParaRPr>
          </a:p>
          <a:p>
            <a:pPr indent="-342900" lvl="0" marL="342900" marR="0" rtl="0" algn="l">
              <a:lnSpc>
                <a:spcPct val="100000"/>
              </a:lnSpc>
              <a:spcBef>
                <a:spcPts val="18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Use Cases: GRC &amp; Security			</a:t>
            </a:r>
            <a:endParaRPr b="0" i="0" sz="1400" u="none" cap="none" strike="noStrike">
              <a:solidFill>
                <a:srgbClr val="000000"/>
              </a:solidFill>
              <a:latin typeface="Arial"/>
              <a:ea typeface="Arial"/>
              <a:cs typeface="Arial"/>
              <a:sym typeface="Arial"/>
            </a:endParaRPr>
          </a:p>
          <a:p>
            <a:pPr indent="0" lvl="3" marL="365125" marR="0" rtl="0" algn="l">
              <a:lnSpc>
                <a:spcPct val="100000"/>
              </a:lnSpc>
              <a:spcBef>
                <a:spcPts val="600"/>
              </a:spcBef>
              <a:spcAft>
                <a:spcPts val="0"/>
              </a:spcAft>
              <a:buClr>
                <a:schemeClr val="dk2"/>
              </a:buClr>
              <a:buSzPts val="1600"/>
              <a:buFont typeface="Arial"/>
              <a:buNone/>
            </a:pPr>
            <a:r>
              <a:rPr b="0" i="0" lang="en-US" sz="1600" u="none" cap="none" strike="noStrike">
                <a:solidFill>
                  <a:schemeClr val="dk2"/>
                </a:solidFill>
                <a:latin typeface="Arial"/>
                <a:ea typeface="Arial"/>
                <a:cs typeface="Arial"/>
                <a:sym typeface="Arial"/>
              </a:rPr>
              <a:t>3.1 Plan				</a:t>
            </a:r>
            <a:endParaRPr b="0" i="0" sz="1400" u="none" cap="none" strike="noStrike">
              <a:solidFill>
                <a:srgbClr val="000000"/>
              </a:solidFill>
              <a:latin typeface="Arial"/>
              <a:ea typeface="Arial"/>
              <a:cs typeface="Arial"/>
              <a:sym typeface="Arial"/>
            </a:endParaRPr>
          </a:p>
          <a:p>
            <a:pPr indent="0" lvl="3" marL="365125" marR="0" rtl="0" algn="l">
              <a:lnSpc>
                <a:spcPct val="100000"/>
              </a:lnSpc>
              <a:spcBef>
                <a:spcPts val="600"/>
              </a:spcBef>
              <a:spcAft>
                <a:spcPts val="0"/>
              </a:spcAft>
              <a:buClr>
                <a:schemeClr val="dk2"/>
              </a:buClr>
              <a:buSzPts val="1600"/>
              <a:buFont typeface="Arial"/>
              <a:buNone/>
            </a:pPr>
            <a:r>
              <a:rPr b="0" i="0" lang="en-US" sz="1600" u="none" cap="none" strike="noStrike">
                <a:solidFill>
                  <a:schemeClr val="dk2"/>
                </a:solidFill>
                <a:latin typeface="Arial"/>
                <a:ea typeface="Arial"/>
                <a:cs typeface="Arial"/>
                <a:sym typeface="Arial"/>
              </a:rPr>
              <a:t>3.2 Build				</a:t>
            </a:r>
            <a:endParaRPr b="0" i="0" sz="1400" u="none" cap="none" strike="noStrike">
              <a:solidFill>
                <a:srgbClr val="000000"/>
              </a:solidFill>
              <a:latin typeface="Arial"/>
              <a:ea typeface="Arial"/>
              <a:cs typeface="Arial"/>
              <a:sym typeface="Arial"/>
            </a:endParaRPr>
          </a:p>
          <a:p>
            <a:pPr indent="0" lvl="3" marL="365125" marR="0" rtl="0" algn="l">
              <a:lnSpc>
                <a:spcPct val="100000"/>
              </a:lnSpc>
              <a:spcBef>
                <a:spcPts val="600"/>
              </a:spcBef>
              <a:spcAft>
                <a:spcPts val="0"/>
              </a:spcAft>
              <a:buClr>
                <a:schemeClr val="dk2"/>
              </a:buClr>
              <a:buSzPts val="1600"/>
              <a:buFont typeface="Arial"/>
              <a:buNone/>
            </a:pPr>
            <a:r>
              <a:rPr b="0" i="0" lang="en-US" sz="1600" u="none" cap="none" strike="noStrike">
                <a:solidFill>
                  <a:schemeClr val="dk2"/>
                </a:solidFill>
                <a:latin typeface="Arial"/>
                <a:ea typeface="Arial"/>
                <a:cs typeface="Arial"/>
                <a:sym typeface="Arial"/>
              </a:rPr>
              <a:t>3.3 Experiment				</a:t>
            </a:r>
            <a:endParaRPr b="0" i="0" sz="1400" u="none" cap="none" strike="noStrike">
              <a:solidFill>
                <a:srgbClr val="000000"/>
              </a:solidFill>
              <a:latin typeface="Arial"/>
              <a:ea typeface="Arial"/>
              <a:cs typeface="Arial"/>
              <a:sym typeface="Arial"/>
            </a:endParaRPr>
          </a:p>
          <a:p>
            <a:pPr indent="0" lvl="3" marL="365125" marR="0" rtl="0" algn="l">
              <a:lnSpc>
                <a:spcPct val="100000"/>
              </a:lnSpc>
              <a:spcBef>
                <a:spcPts val="60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3.4 Deploy					</a:t>
            </a:r>
            <a:endParaRPr b="0" i="0" sz="1400" u="none" cap="none" strike="noStrike">
              <a:solidFill>
                <a:srgbClr val="000000"/>
              </a:solidFill>
              <a:latin typeface="Arial"/>
              <a:ea typeface="Arial"/>
              <a:cs typeface="Arial"/>
              <a:sym typeface="Arial"/>
            </a:endParaRPr>
          </a:p>
          <a:p>
            <a:pPr indent="0" lvl="3" marL="365125" marR="0" rtl="0" algn="l">
              <a:lnSpc>
                <a:spcPct val="100000"/>
              </a:lnSpc>
              <a:spcBef>
                <a:spcPts val="600"/>
              </a:spcBef>
              <a:spcAft>
                <a:spcPts val="0"/>
              </a:spcAft>
              <a:buClr>
                <a:schemeClr val="accent6"/>
              </a:buClr>
              <a:buSzPts val="1600"/>
              <a:buFont typeface="Arial"/>
              <a:buNone/>
            </a:pPr>
            <a:r>
              <a:rPr b="0" i="0" lang="en-US" sz="1600" u="none" cap="none" strike="noStrike">
                <a:solidFill>
                  <a:schemeClr val="accent6"/>
                </a:solidFill>
                <a:latin typeface="Arial"/>
                <a:ea typeface="Arial"/>
                <a:cs typeface="Arial"/>
                <a:sym typeface="Arial"/>
              </a:rPr>
              <a:t>3.5 Operate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800"/>
              </a:spcBef>
              <a:spcAft>
                <a:spcPts val="0"/>
              </a:spcAft>
              <a:buClr>
                <a:schemeClr val="accent6"/>
              </a:buClr>
              <a:buSzPts val="1600"/>
              <a:buFont typeface="Arial"/>
              <a:buAutoNum type="arabicPeriod"/>
            </a:pPr>
            <a:r>
              <a:rPr b="0" i="0" lang="en-US" sz="1600" u="none" cap="none" strike="noStrike">
                <a:solidFill>
                  <a:schemeClr val="accent6"/>
                </a:solidFill>
                <a:latin typeface="Arial"/>
                <a:ea typeface="Arial"/>
                <a:cs typeface="Arial"/>
                <a:sym typeface="Arial"/>
              </a:rPr>
              <a:t>Agents or Evaluator Deepdive</a:t>
            </a:r>
            <a:endParaRPr b="0" i="0" sz="1600" u="none" cap="none" strike="noStrike">
              <a:solidFill>
                <a:schemeClr val="accent6"/>
              </a:solidFill>
              <a:latin typeface="Arial"/>
              <a:ea typeface="Arial"/>
              <a:cs typeface="Arial"/>
              <a:sym typeface="Arial"/>
            </a:endParaRPr>
          </a:p>
          <a:p>
            <a:pPr indent="-342900" lvl="0" marL="342900" marR="0" rtl="0" algn="l">
              <a:lnSpc>
                <a:spcPct val="100000"/>
              </a:lnSpc>
              <a:spcBef>
                <a:spcPts val="1800"/>
              </a:spcBef>
              <a:spcAft>
                <a:spcPts val="0"/>
              </a:spcAft>
              <a:buClr>
                <a:schemeClr val="accent6"/>
              </a:buClr>
              <a:buSzPts val="1600"/>
              <a:buFont typeface="Arial"/>
              <a:buAutoNum type="arabicPeriod"/>
            </a:pPr>
            <a:r>
              <a:rPr b="0" i="0" lang="en-US" sz="1600" u="none" cap="none" strike="noStrike">
                <a:solidFill>
                  <a:schemeClr val="accent6"/>
                </a:solidFill>
                <a:latin typeface="Arial"/>
                <a:ea typeface="Arial"/>
                <a:cs typeface="Arial"/>
                <a:sym typeface="Arial"/>
              </a:rPr>
              <a:t>Closing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
          <p:cNvSpPr/>
          <p:nvPr/>
        </p:nvSpPr>
        <p:spPr>
          <a:xfrm>
            <a:off x="263351"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50" name="Google Shape;250;p5"/>
          <p:cNvSpPr/>
          <p:nvPr/>
        </p:nvSpPr>
        <p:spPr>
          <a:xfrm>
            <a:off x="2620890"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51" name="Google Shape;251;p5"/>
          <p:cNvSpPr/>
          <p:nvPr/>
        </p:nvSpPr>
        <p:spPr>
          <a:xfrm>
            <a:off x="4978429"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52" name="Google Shape;252;p5"/>
          <p:cNvSpPr/>
          <p:nvPr/>
        </p:nvSpPr>
        <p:spPr>
          <a:xfrm>
            <a:off x="7335968"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53" name="Google Shape;253;p5"/>
          <p:cNvSpPr/>
          <p:nvPr/>
        </p:nvSpPr>
        <p:spPr>
          <a:xfrm>
            <a:off x="9693508"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54" name="Google Shape;254;p5"/>
          <p:cNvSpPr txBox="1"/>
          <p:nvPr>
            <p:ph type="title"/>
          </p:nvPr>
        </p:nvSpPr>
        <p:spPr>
          <a:xfrm>
            <a:off x="263525" y="512676"/>
            <a:ext cx="11664949" cy="86177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Orqflow creates clear ownership across every phase of the agent lifecycle</a:t>
            </a:r>
            <a:endParaRPr/>
          </a:p>
        </p:txBody>
      </p:sp>
      <p:sp>
        <p:nvSpPr>
          <p:cNvPr id="255" name="Google Shape;255;p5"/>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THE ORQFLOW INTRODUCTION</a:t>
            </a:r>
            <a:endParaRPr/>
          </a:p>
        </p:txBody>
      </p:sp>
      <p:sp>
        <p:nvSpPr>
          <p:cNvPr id="256" name="Google Shape;256;p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57" name="Google Shape;257;p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58" name="Google Shape;258;p5"/>
          <p:cNvSpPr txBox="1"/>
          <p:nvPr>
            <p:ph idx="12" type="sldNum"/>
          </p:nvPr>
        </p:nvSpPr>
        <p:spPr>
          <a:xfrm>
            <a:off x="12008941" y="6673964"/>
            <a:ext cx="102592"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59" name="Google Shape;259;p5"/>
          <p:cNvSpPr/>
          <p:nvPr/>
        </p:nvSpPr>
        <p:spPr>
          <a:xfrm>
            <a:off x="385750" y="2427150"/>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60" name="Google Shape;260;p5"/>
          <p:cNvSpPr/>
          <p:nvPr/>
        </p:nvSpPr>
        <p:spPr>
          <a:xfrm>
            <a:off x="2743289"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261" name="Google Shape;261;p5"/>
          <p:cNvSpPr/>
          <p:nvPr/>
        </p:nvSpPr>
        <p:spPr>
          <a:xfrm>
            <a:off x="6166607" y="1664804"/>
            <a:ext cx="2216325" cy="396000"/>
          </a:xfrm>
          <a:prstGeom prst="roundRect">
            <a:avLst>
              <a:gd fmla="val 11088" name="adj"/>
            </a:avLst>
          </a:pr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62" name="Google Shape;262;p5"/>
          <p:cNvSpPr/>
          <p:nvPr/>
        </p:nvSpPr>
        <p:spPr>
          <a:xfrm>
            <a:off x="5100828"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63" name="Google Shape;263;p5"/>
          <p:cNvSpPr/>
          <p:nvPr/>
        </p:nvSpPr>
        <p:spPr>
          <a:xfrm>
            <a:off x="7458367"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64" name="Google Shape;264;p5"/>
          <p:cNvSpPr/>
          <p:nvPr/>
        </p:nvSpPr>
        <p:spPr>
          <a:xfrm>
            <a:off x="9815907"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cxnSp>
        <p:nvCxnSpPr>
          <p:cNvPr id="265" name="Google Shape;265;p5"/>
          <p:cNvCxnSpPr>
            <a:stCxn id="253" idx="0"/>
            <a:endCxn id="261" idx="3"/>
          </p:cNvCxnSpPr>
          <p:nvPr/>
        </p:nvCxnSpPr>
        <p:spPr>
          <a:xfrm flipH="1" rot="5400000">
            <a:off x="9374378" y="871240"/>
            <a:ext cx="445200" cy="2428200"/>
          </a:xfrm>
          <a:prstGeom prst="bentConnector2">
            <a:avLst/>
          </a:prstGeom>
          <a:noFill/>
          <a:ln cap="flat" cmpd="sng" w="12700">
            <a:solidFill>
              <a:srgbClr val="DF5325"/>
            </a:solidFill>
            <a:prstDash val="lgDash"/>
            <a:miter lim="80"/>
            <a:headEnd len="sm" w="sm" type="none"/>
            <a:tailEnd len="sm" w="sm" type="none"/>
          </a:ln>
        </p:spPr>
      </p:cxnSp>
      <p:cxnSp>
        <p:nvCxnSpPr>
          <p:cNvPr id="266" name="Google Shape;266;p5"/>
          <p:cNvCxnSpPr>
            <a:stCxn id="261" idx="1"/>
            <a:endCxn id="250" idx="0"/>
          </p:cNvCxnSpPr>
          <p:nvPr/>
        </p:nvCxnSpPr>
        <p:spPr>
          <a:xfrm flipH="1">
            <a:off x="3738407" y="1862804"/>
            <a:ext cx="2428200" cy="445200"/>
          </a:xfrm>
          <a:prstGeom prst="bentConnector2">
            <a:avLst/>
          </a:prstGeom>
          <a:noFill/>
          <a:ln cap="flat" cmpd="sng" w="12700">
            <a:solidFill>
              <a:srgbClr val="DF5325"/>
            </a:solidFill>
            <a:prstDash val="lgDash"/>
            <a:miter lim="80"/>
            <a:headEnd len="sm" w="sm" type="none"/>
            <a:tailEnd len="med" w="med" type="triangle"/>
          </a:ln>
        </p:spPr>
      </p:cxnSp>
      <p:sp>
        <p:nvSpPr>
          <p:cNvPr id="267" name="Google Shape;267;p5"/>
          <p:cNvSpPr/>
          <p:nvPr/>
        </p:nvSpPr>
        <p:spPr>
          <a:xfrm>
            <a:off x="6869986" y="1751973"/>
            <a:ext cx="809566" cy="221662"/>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68" name="Google Shape;268;p5"/>
          <p:cNvPicPr preferRelativeResize="0"/>
          <p:nvPr/>
        </p:nvPicPr>
        <p:blipFill rotWithShape="1">
          <a:blip r:embed="rId3">
            <a:alphaModFix/>
          </a:blip>
          <a:srcRect b="0" l="0" r="0" t="0"/>
          <a:stretch/>
        </p:blipFill>
        <p:spPr>
          <a:xfrm>
            <a:off x="7584071" y="2499150"/>
            <a:ext cx="252000" cy="252000"/>
          </a:xfrm>
          <a:prstGeom prst="rect">
            <a:avLst/>
          </a:prstGeom>
          <a:noFill/>
          <a:ln>
            <a:noFill/>
          </a:ln>
        </p:spPr>
      </p:pic>
      <p:pic>
        <p:nvPicPr>
          <p:cNvPr id="269" name="Google Shape;269;p5"/>
          <p:cNvPicPr preferRelativeResize="0"/>
          <p:nvPr/>
        </p:nvPicPr>
        <p:blipFill rotWithShape="1">
          <a:blip r:embed="rId4">
            <a:alphaModFix/>
          </a:blip>
          <a:srcRect b="0" l="0" r="0" t="0"/>
          <a:stretch/>
        </p:blipFill>
        <p:spPr>
          <a:xfrm>
            <a:off x="9948456" y="2499150"/>
            <a:ext cx="252000" cy="252000"/>
          </a:xfrm>
          <a:prstGeom prst="rect">
            <a:avLst/>
          </a:prstGeom>
          <a:noFill/>
          <a:ln>
            <a:noFill/>
          </a:ln>
        </p:spPr>
      </p:pic>
      <p:pic>
        <p:nvPicPr>
          <p:cNvPr id="270" name="Google Shape;270;p5"/>
          <p:cNvPicPr preferRelativeResize="0"/>
          <p:nvPr/>
        </p:nvPicPr>
        <p:blipFill rotWithShape="1">
          <a:blip r:embed="rId5">
            <a:alphaModFix/>
          </a:blip>
          <a:srcRect b="0" l="0" r="0" t="0"/>
          <a:stretch/>
        </p:blipFill>
        <p:spPr>
          <a:xfrm>
            <a:off x="2855299" y="2499150"/>
            <a:ext cx="298667" cy="252000"/>
          </a:xfrm>
          <a:prstGeom prst="rect">
            <a:avLst/>
          </a:prstGeom>
          <a:noFill/>
          <a:ln>
            <a:noFill/>
          </a:ln>
        </p:spPr>
      </p:pic>
      <p:pic>
        <p:nvPicPr>
          <p:cNvPr id="271" name="Google Shape;271;p5"/>
          <p:cNvPicPr preferRelativeResize="0"/>
          <p:nvPr/>
        </p:nvPicPr>
        <p:blipFill rotWithShape="1">
          <a:blip r:embed="rId6">
            <a:alphaModFix/>
          </a:blip>
          <a:srcRect b="0" l="0" r="0" t="0"/>
          <a:stretch/>
        </p:blipFill>
        <p:spPr>
          <a:xfrm>
            <a:off x="5219685" y="2499150"/>
            <a:ext cx="228375" cy="252000"/>
          </a:xfrm>
          <a:prstGeom prst="rect">
            <a:avLst/>
          </a:prstGeom>
          <a:noFill/>
          <a:ln>
            <a:noFill/>
          </a:ln>
        </p:spPr>
      </p:pic>
      <p:pic>
        <p:nvPicPr>
          <p:cNvPr id="272" name="Google Shape;272;p5"/>
          <p:cNvPicPr preferRelativeResize="0"/>
          <p:nvPr/>
        </p:nvPicPr>
        <p:blipFill rotWithShape="1">
          <a:blip r:embed="rId7">
            <a:alphaModFix/>
          </a:blip>
          <a:srcRect b="0" l="0" r="0" t="0"/>
          <a:stretch/>
        </p:blipFill>
        <p:spPr>
          <a:xfrm>
            <a:off x="490913" y="2499150"/>
            <a:ext cx="252000" cy="252000"/>
          </a:xfrm>
          <a:prstGeom prst="rect">
            <a:avLst/>
          </a:prstGeom>
          <a:noFill/>
          <a:ln>
            <a:noFill/>
          </a:ln>
        </p:spPr>
      </p:pic>
      <p:sp>
        <p:nvSpPr>
          <p:cNvPr id="273" name="Google Shape;273;p5"/>
          <p:cNvSpPr/>
          <p:nvPr/>
        </p:nvSpPr>
        <p:spPr>
          <a:xfrm>
            <a:off x="385750"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74" name="Google Shape;274;p5"/>
          <p:cNvSpPr/>
          <p:nvPr/>
        </p:nvSpPr>
        <p:spPr>
          <a:xfrm>
            <a:off x="385750" y="358864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75" name="Google Shape;275;p5"/>
          <p:cNvSpPr/>
          <p:nvPr/>
        </p:nvSpPr>
        <p:spPr>
          <a:xfrm>
            <a:off x="2743289"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76" name="Google Shape;276;p5"/>
          <p:cNvSpPr/>
          <p:nvPr/>
        </p:nvSpPr>
        <p:spPr>
          <a:xfrm>
            <a:off x="5100828"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77" name="Google Shape;277;p5"/>
          <p:cNvSpPr/>
          <p:nvPr/>
        </p:nvSpPr>
        <p:spPr>
          <a:xfrm>
            <a:off x="5100828" y="358864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78" name="Google Shape;278;p5"/>
          <p:cNvSpPr/>
          <p:nvPr/>
        </p:nvSpPr>
        <p:spPr>
          <a:xfrm>
            <a:off x="5100828" y="4107000"/>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Data scientist</a:t>
            </a:r>
            <a:endParaRPr b="0" i="0" sz="1400" u="none" cap="none" strike="noStrike">
              <a:solidFill>
                <a:srgbClr val="000000"/>
              </a:solidFill>
              <a:latin typeface="Arial"/>
              <a:ea typeface="Arial"/>
              <a:cs typeface="Arial"/>
              <a:sym typeface="Arial"/>
            </a:endParaRPr>
          </a:p>
        </p:txBody>
      </p:sp>
      <p:sp>
        <p:nvSpPr>
          <p:cNvPr id="279" name="Google Shape;279;p5"/>
          <p:cNvSpPr/>
          <p:nvPr/>
        </p:nvSpPr>
        <p:spPr>
          <a:xfrm>
            <a:off x="7458367"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QA / DevOps Engineers</a:t>
            </a:r>
            <a:endParaRPr b="0" i="0" sz="1400" u="none" cap="none" strike="noStrike">
              <a:solidFill>
                <a:srgbClr val="000000"/>
              </a:solidFill>
              <a:latin typeface="Arial"/>
              <a:ea typeface="Arial"/>
              <a:cs typeface="Arial"/>
              <a:sym typeface="Arial"/>
            </a:endParaRPr>
          </a:p>
        </p:txBody>
      </p:sp>
      <p:sp>
        <p:nvSpPr>
          <p:cNvPr id="280" name="Google Shape;280;p5"/>
          <p:cNvSpPr/>
          <p:nvPr/>
        </p:nvSpPr>
        <p:spPr>
          <a:xfrm>
            <a:off x="9815907"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81" name="Google Shape;281;p5"/>
          <p:cNvSpPr/>
          <p:nvPr/>
        </p:nvSpPr>
        <p:spPr>
          <a:xfrm>
            <a:off x="9815907" y="358864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1000"/>
              <a:buFont typeface="Arial"/>
              <a:buNone/>
            </a:pPr>
            <a:r>
              <a:rPr b="0" i="0" lang="en-US" sz="1000" u="none" cap="none" strike="noStrike">
                <a:solidFill>
                  <a:srgbClr val="3F3F3F"/>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82" name="Google Shape;282;p5"/>
          <p:cNvSpPr txBox="1"/>
          <p:nvPr/>
        </p:nvSpPr>
        <p:spPr>
          <a:xfrm>
            <a:off x="3440033" y="1412776"/>
            <a:ext cx="7669474"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Your GenAI Feature needs continuous iterations! Traditional SDLC is not designed for this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6"/>
          <p:cNvSpPr/>
          <p:nvPr/>
        </p:nvSpPr>
        <p:spPr>
          <a:xfrm>
            <a:off x="2620890" y="2307940"/>
            <a:ext cx="2235140" cy="1280703"/>
          </a:xfrm>
          <a:prstGeom prst="roundRect">
            <a:avLst>
              <a:gd fmla="val 5139"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accent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89" name="Google Shape;289;p6"/>
          <p:cNvSpPr/>
          <p:nvPr/>
        </p:nvSpPr>
        <p:spPr>
          <a:xfrm>
            <a:off x="263351"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90" name="Google Shape;290;p6"/>
          <p:cNvSpPr/>
          <p:nvPr/>
        </p:nvSpPr>
        <p:spPr>
          <a:xfrm>
            <a:off x="4978429"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91" name="Google Shape;291;p6"/>
          <p:cNvSpPr/>
          <p:nvPr/>
        </p:nvSpPr>
        <p:spPr>
          <a:xfrm>
            <a:off x="7335968"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92" name="Google Shape;292;p6"/>
          <p:cNvSpPr/>
          <p:nvPr/>
        </p:nvSpPr>
        <p:spPr>
          <a:xfrm>
            <a:off x="9693508" y="2307940"/>
            <a:ext cx="2235140" cy="2317417"/>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93" name="Google Shape;293;p6"/>
          <p:cNvSpPr txBox="1"/>
          <p:nvPr>
            <p:ph type="title"/>
          </p:nvPr>
        </p:nvSpPr>
        <p:spPr>
          <a:xfrm>
            <a:off x="263525" y="512676"/>
            <a:ext cx="11664949" cy="86177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Orqflow creates clear ownership across every phase of the agent lifecycle</a:t>
            </a:r>
            <a:endParaRPr/>
          </a:p>
        </p:txBody>
      </p:sp>
      <p:sp>
        <p:nvSpPr>
          <p:cNvPr id="294" name="Google Shape;294;p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THE ORQFLOW INTRODUCTION</a:t>
            </a:r>
            <a:endParaRPr/>
          </a:p>
        </p:txBody>
      </p:sp>
      <p:sp>
        <p:nvSpPr>
          <p:cNvPr id="295" name="Google Shape;295;p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96" name="Google Shape;296;p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97" name="Google Shape;297;p6"/>
          <p:cNvSpPr txBox="1"/>
          <p:nvPr>
            <p:ph idx="12" type="sldNum"/>
          </p:nvPr>
        </p:nvSpPr>
        <p:spPr>
          <a:xfrm>
            <a:off x="12008941" y="6673964"/>
            <a:ext cx="102592"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98" name="Google Shape;298;p6"/>
          <p:cNvSpPr/>
          <p:nvPr/>
        </p:nvSpPr>
        <p:spPr>
          <a:xfrm>
            <a:off x="385750" y="2427150"/>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99" name="Google Shape;299;p6"/>
          <p:cNvSpPr/>
          <p:nvPr/>
        </p:nvSpPr>
        <p:spPr>
          <a:xfrm>
            <a:off x="6166607" y="1664804"/>
            <a:ext cx="2216325" cy="396000"/>
          </a:xfrm>
          <a:prstGeom prst="roundRect">
            <a:avLst>
              <a:gd fmla="val 11088" name="adj"/>
            </a:avLst>
          </a:pr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300" name="Google Shape;300;p6"/>
          <p:cNvSpPr/>
          <p:nvPr/>
        </p:nvSpPr>
        <p:spPr>
          <a:xfrm>
            <a:off x="5100828"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301" name="Google Shape;301;p6"/>
          <p:cNvSpPr/>
          <p:nvPr/>
        </p:nvSpPr>
        <p:spPr>
          <a:xfrm>
            <a:off x="7458367"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302" name="Google Shape;302;p6"/>
          <p:cNvSpPr/>
          <p:nvPr/>
        </p:nvSpPr>
        <p:spPr>
          <a:xfrm>
            <a:off x="9815907"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cxnSp>
        <p:nvCxnSpPr>
          <p:cNvPr id="303" name="Google Shape;303;p6"/>
          <p:cNvCxnSpPr>
            <a:stCxn id="292" idx="0"/>
            <a:endCxn id="299" idx="3"/>
          </p:cNvCxnSpPr>
          <p:nvPr/>
        </p:nvCxnSpPr>
        <p:spPr>
          <a:xfrm flipH="1" rot="5400000">
            <a:off x="9374378" y="871240"/>
            <a:ext cx="445200" cy="2428200"/>
          </a:xfrm>
          <a:prstGeom prst="bentConnector2">
            <a:avLst/>
          </a:prstGeom>
          <a:noFill/>
          <a:ln cap="flat" cmpd="sng" w="12700">
            <a:solidFill>
              <a:srgbClr val="DF5325"/>
            </a:solidFill>
            <a:prstDash val="lgDash"/>
            <a:miter lim="80"/>
            <a:headEnd len="sm" w="sm" type="none"/>
            <a:tailEnd len="sm" w="sm" type="none"/>
          </a:ln>
        </p:spPr>
      </p:cxnSp>
      <p:cxnSp>
        <p:nvCxnSpPr>
          <p:cNvPr id="304" name="Google Shape;304;p6"/>
          <p:cNvCxnSpPr>
            <a:stCxn id="299" idx="1"/>
            <a:endCxn id="288" idx="0"/>
          </p:cNvCxnSpPr>
          <p:nvPr/>
        </p:nvCxnSpPr>
        <p:spPr>
          <a:xfrm flipH="1">
            <a:off x="3738407" y="1862804"/>
            <a:ext cx="2428200" cy="445200"/>
          </a:xfrm>
          <a:prstGeom prst="bentConnector2">
            <a:avLst/>
          </a:prstGeom>
          <a:noFill/>
          <a:ln cap="flat" cmpd="sng" w="12700">
            <a:solidFill>
              <a:srgbClr val="DF5325"/>
            </a:solidFill>
            <a:prstDash val="lgDash"/>
            <a:miter lim="80"/>
            <a:headEnd len="sm" w="sm" type="none"/>
            <a:tailEnd len="med" w="med" type="triangle"/>
          </a:ln>
        </p:spPr>
      </p:cxnSp>
      <p:sp>
        <p:nvSpPr>
          <p:cNvPr id="305" name="Google Shape;305;p6"/>
          <p:cNvSpPr/>
          <p:nvPr/>
        </p:nvSpPr>
        <p:spPr>
          <a:xfrm>
            <a:off x="6869986" y="1751973"/>
            <a:ext cx="809566" cy="221662"/>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06" name="Google Shape;306;p6"/>
          <p:cNvPicPr preferRelativeResize="0"/>
          <p:nvPr/>
        </p:nvPicPr>
        <p:blipFill rotWithShape="1">
          <a:blip r:embed="rId3">
            <a:alphaModFix/>
          </a:blip>
          <a:srcRect b="0" l="0" r="0" t="0"/>
          <a:stretch/>
        </p:blipFill>
        <p:spPr>
          <a:xfrm>
            <a:off x="7584071" y="2499150"/>
            <a:ext cx="252000" cy="252000"/>
          </a:xfrm>
          <a:prstGeom prst="rect">
            <a:avLst/>
          </a:prstGeom>
          <a:noFill/>
          <a:ln>
            <a:noFill/>
          </a:ln>
        </p:spPr>
      </p:pic>
      <p:pic>
        <p:nvPicPr>
          <p:cNvPr id="307" name="Google Shape;307;p6"/>
          <p:cNvPicPr preferRelativeResize="0"/>
          <p:nvPr/>
        </p:nvPicPr>
        <p:blipFill rotWithShape="1">
          <a:blip r:embed="rId4">
            <a:alphaModFix/>
          </a:blip>
          <a:srcRect b="0" l="0" r="0" t="0"/>
          <a:stretch/>
        </p:blipFill>
        <p:spPr>
          <a:xfrm>
            <a:off x="9948456" y="2499150"/>
            <a:ext cx="252000" cy="252000"/>
          </a:xfrm>
          <a:prstGeom prst="rect">
            <a:avLst/>
          </a:prstGeom>
          <a:noFill/>
          <a:ln>
            <a:noFill/>
          </a:ln>
        </p:spPr>
      </p:pic>
      <p:pic>
        <p:nvPicPr>
          <p:cNvPr id="308" name="Google Shape;308;p6"/>
          <p:cNvPicPr preferRelativeResize="0"/>
          <p:nvPr/>
        </p:nvPicPr>
        <p:blipFill rotWithShape="1">
          <a:blip r:embed="rId5">
            <a:alphaModFix/>
          </a:blip>
          <a:srcRect b="0" l="0" r="0" t="0"/>
          <a:stretch/>
        </p:blipFill>
        <p:spPr>
          <a:xfrm>
            <a:off x="5219685" y="2499150"/>
            <a:ext cx="228375" cy="252000"/>
          </a:xfrm>
          <a:prstGeom prst="rect">
            <a:avLst/>
          </a:prstGeom>
          <a:noFill/>
          <a:ln>
            <a:noFill/>
          </a:ln>
        </p:spPr>
      </p:pic>
      <p:pic>
        <p:nvPicPr>
          <p:cNvPr id="309" name="Google Shape;309;p6"/>
          <p:cNvPicPr preferRelativeResize="0"/>
          <p:nvPr/>
        </p:nvPicPr>
        <p:blipFill rotWithShape="1">
          <a:blip r:embed="rId6">
            <a:alphaModFix/>
          </a:blip>
          <a:srcRect b="0" l="0" r="0" t="0"/>
          <a:stretch/>
        </p:blipFill>
        <p:spPr>
          <a:xfrm>
            <a:off x="490913" y="2499150"/>
            <a:ext cx="252000" cy="252000"/>
          </a:xfrm>
          <a:prstGeom prst="rect">
            <a:avLst/>
          </a:prstGeom>
          <a:noFill/>
          <a:ln>
            <a:noFill/>
          </a:ln>
        </p:spPr>
      </p:pic>
      <p:sp>
        <p:nvSpPr>
          <p:cNvPr id="310" name="Google Shape;310;p6"/>
          <p:cNvSpPr/>
          <p:nvPr/>
        </p:nvSpPr>
        <p:spPr>
          <a:xfrm>
            <a:off x="385750"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311" name="Google Shape;311;p6"/>
          <p:cNvSpPr/>
          <p:nvPr/>
        </p:nvSpPr>
        <p:spPr>
          <a:xfrm>
            <a:off x="385750" y="358864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312" name="Google Shape;312;p6"/>
          <p:cNvSpPr/>
          <p:nvPr/>
        </p:nvSpPr>
        <p:spPr>
          <a:xfrm>
            <a:off x="2743289" y="2427150"/>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Design</a:t>
            </a:r>
            <a:endParaRPr b="0" i="0" sz="1400" u="none" cap="none" strike="noStrike">
              <a:solidFill>
                <a:srgbClr val="000000"/>
              </a:solidFill>
              <a:latin typeface="Arial"/>
              <a:ea typeface="Arial"/>
              <a:cs typeface="Arial"/>
              <a:sym typeface="Arial"/>
            </a:endParaRPr>
          </a:p>
        </p:txBody>
      </p:sp>
      <p:sp>
        <p:nvSpPr>
          <p:cNvPr id="313" name="Google Shape;313;p6"/>
          <p:cNvSpPr/>
          <p:nvPr/>
        </p:nvSpPr>
        <p:spPr>
          <a:xfrm>
            <a:off x="2743289"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314" name="Google Shape;314;p6"/>
          <p:cNvSpPr/>
          <p:nvPr/>
        </p:nvSpPr>
        <p:spPr>
          <a:xfrm>
            <a:off x="5100828"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315" name="Google Shape;315;p6"/>
          <p:cNvSpPr/>
          <p:nvPr/>
        </p:nvSpPr>
        <p:spPr>
          <a:xfrm>
            <a:off x="5100828" y="358864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316" name="Google Shape;316;p6"/>
          <p:cNvSpPr/>
          <p:nvPr/>
        </p:nvSpPr>
        <p:spPr>
          <a:xfrm>
            <a:off x="5100828" y="4107000"/>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Data scientist</a:t>
            </a:r>
            <a:endParaRPr b="0" i="0" sz="1400" u="none" cap="none" strike="noStrike">
              <a:solidFill>
                <a:srgbClr val="000000"/>
              </a:solidFill>
              <a:latin typeface="Arial"/>
              <a:ea typeface="Arial"/>
              <a:cs typeface="Arial"/>
              <a:sym typeface="Arial"/>
            </a:endParaRPr>
          </a:p>
        </p:txBody>
      </p:sp>
      <p:sp>
        <p:nvSpPr>
          <p:cNvPr id="317" name="Google Shape;317;p6"/>
          <p:cNvSpPr/>
          <p:nvPr/>
        </p:nvSpPr>
        <p:spPr>
          <a:xfrm>
            <a:off x="7458367"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Engineer</a:t>
            </a:r>
            <a:endParaRPr b="0" i="0" sz="1400" u="none" cap="none" strike="noStrike">
              <a:solidFill>
                <a:srgbClr val="000000"/>
              </a:solidFill>
              <a:latin typeface="Arial"/>
              <a:ea typeface="Arial"/>
              <a:cs typeface="Arial"/>
              <a:sym typeface="Arial"/>
            </a:endParaRPr>
          </a:p>
        </p:txBody>
      </p:sp>
      <p:sp>
        <p:nvSpPr>
          <p:cNvPr id="318" name="Google Shape;318;p6"/>
          <p:cNvSpPr/>
          <p:nvPr/>
        </p:nvSpPr>
        <p:spPr>
          <a:xfrm>
            <a:off x="9815907" y="3070286"/>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319" name="Google Shape;319;p6"/>
          <p:cNvSpPr/>
          <p:nvPr/>
        </p:nvSpPr>
        <p:spPr>
          <a:xfrm>
            <a:off x="9815907" y="358864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1000"/>
              <a:buFont typeface="Arial"/>
              <a:buNone/>
            </a:pPr>
            <a:r>
              <a:rPr b="0" i="0" lang="en-US" sz="1000" u="none" cap="none" strike="noStrike">
                <a:solidFill>
                  <a:srgbClr val="3F3F3F"/>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320" name="Google Shape;320;p6"/>
          <p:cNvSpPr/>
          <p:nvPr/>
        </p:nvSpPr>
        <p:spPr>
          <a:xfrm>
            <a:off x="2620890" y="3711327"/>
            <a:ext cx="2235140" cy="1280703"/>
          </a:xfrm>
          <a:custGeom>
            <a:rect b="b" l="l" r="r" t="t"/>
            <a:pathLst>
              <a:path extrusionOk="0" h="1280703" w="2235140">
                <a:moveTo>
                  <a:pt x="65355" y="0"/>
                </a:moveTo>
                <a:lnTo>
                  <a:pt x="2169785" y="0"/>
                </a:lnTo>
                <a:cubicBezTo>
                  <a:pt x="2205880" y="0"/>
                  <a:pt x="2235140" y="29260"/>
                  <a:pt x="2235140" y="65355"/>
                </a:cubicBezTo>
                <a:lnTo>
                  <a:pt x="2235140" y="1215348"/>
                </a:lnTo>
                <a:cubicBezTo>
                  <a:pt x="2235140" y="1251443"/>
                  <a:pt x="2205880" y="1280703"/>
                  <a:pt x="2169785" y="1280703"/>
                </a:cubicBezTo>
                <a:lnTo>
                  <a:pt x="65355" y="1280703"/>
                </a:lnTo>
                <a:cubicBezTo>
                  <a:pt x="29260" y="1280703"/>
                  <a:pt x="0" y="1251443"/>
                  <a:pt x="0" y="1215348"/>
                </a:cubicBezTo>
                <a:lnTo>
                  <a:pt x="0" y="65355"/>
                </a:lnTo>
                <a:cubicBezTo>
                  <a:pt x="0" y="29260"/>
                  <a:pt x="29260" y="0"/>
                  <a:pt x="65355" y="0"/>
                </a:cubicBezTo>
                <a:close/>
              </a:path>
            </a:pathLst>
          </a:cu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321" name="Google Shape;321;p6"/>
          <p:cNvSpPr/>
          <p:nvPr/>
        </p:nvSpPr>
        <p:spPr>
          <a:xfrm>
            <a:off x="2743289" y="3830537"/>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Development</a:t>
            </a:r>
            <a:endParaRPr b="0" i="0" sz="1400" u="none" cap="none" strike="noStrike">
              <a:solidFill>
                <a:srgbClr val="000000"/>
              </a:solidFill>
              <a:latin typeface="Arial"/>
              <a:ea typeface="Arial"/>
              <a:cs typeface="Arial"/>
              <a:sym typeface="Arial"/>
            </a:endParaRPr>
          </a:p>
        </p:txBody>
      </p:sp>
      <p:pic>
        <p:nvPicPr>
          <p:cNvPr id="322" name="Google Shape;322;p6"/>
          <p:cNvPicPr preferRelativeResize="0"/>
          <p:nvPr/>
        </p:nvPicPr>
        <p:blipFill rotWithShape="1">
          <a:blip r:embed="rId7">
            <a:alphaModFix/>
          </a:blip>
          <a:srcRect b="0" l="0" r="0" t="0"/>
          <a:stretch/>
        </p:blipFill>
        <p:spPr>
          <a:xfrm>
            <a:off x="2855299" y="3902537"/>
            <a:ext cx="298667" cy="252000"/>
          </a:xfrm>
          <a:prstGeom prst="rect">
            <a:avLst/>
          </a:prstGeom>
          <a:noFill/>
          <a:ln>
            <a:noFill/>
          </a:ln>
        </p:spPr>
      </p:pic>
      <p:sp>
        <p:nvSpPr>
          <p:cNvPr id="323" name="Google Shape;323;p6"/>
          <p:cNvSpPr/>
          <p:nvPr/>
        </p:nvSpPr>
        <p:spPr>
          <a:xfrm>
            <a:off x="2743289" y="4473673"/>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Engineer</a:t>
            </a:r>
            <a:endParaRPr b="0" i="0" sz="1400" u="none" cap="none" strike="noStrike">
              <a:solidFill>
                <a:srgbClr val="000000"/>
              </a:solidFill>
              <a:latin typeface="Arial"/>
              <a:ea typeface="Arial"/>
              <a:cs typeface="Arial"/>
              <a:sym typeface="Arial"/>
            </a:endParaRPr>
          </a:p>
        </p:txBody>
      </p:sp>
      <p:sp>
        <p:nvSpPr>
          <p:cNvPr id="324" name="Google Shape;324;p6"/>
          <p:cNvSpPr/>
          <p:nvPr/>
        </p:nvSpPr>
        <p:spPr>
          <a:xfrm>
            <a:off x="2620890" y="5114714"/>
            <a:ext cx="2235140" cy="1280703"/>
          </a:xfrm>
          <a:custGeom>
            <a:rect b="b" l="l" r="r" t="t"/>
            <a:pathLst>
              <a:path extrusionOk="0" h="1280703" w="2235140">
                <a:moveTo>
                  <a:pt x="65355" y="0"/>
                </a:moveTo>
                <a:lnTo>
                  <a:pt x="2169785" y="0"/>
                </a:lnTo>
                <a:cubicBezTo>
                  <a:pt x="2205880" y="0"/>
                  <a:pt x="2235140" y="29260"/>
                  <a:pt x="2235140" y="65355"/>
                </a:cubicBezTo>
                <a:lnTo>
                  <a:pt x="2235140" y="1215348"/>
                </a:lnTo>
                <a:cubicBezTo>
                  <a:pt x="2235140" y="1251443"/>
                  <a:pt x="2205880" y="1280703"/>
                  <a:pt x="2169785" y="1280703"/>
                </a:cubicBezTo>
                <a:lnTo>
                  <a:pt x="65355" y="1280703"/>
                </a:lnTo>
                <a:cubicBezTo>
                  <a:pt x="29260" y="1280703"/>
                  <a:pt x="0" y="1251443"/>
                  <a:pt x="0" y="1215348"/>
                </a:cubicBezTo>
                <a:lnTo>
                  <a:pt x="0" y="65355"/>
                </a:lnTo>
                <a:cubicBezTo>
                  <a:pt x="0" y="29260"/>
                  <a:pt x="29260" y="0"/>
                  <a:pt x="65355" y="0"/>
                </a:cubicBezTo>
                <a:close/>
              </a:path>
            </a:pathLst>
          </a:cu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325" name="Google Shape;325;p6"/>
          <p:cNvSpPr/>
          <p:nvPr/>
        </p:nvSpPr>
        <p:spPr>
          <a:xfrm>
            <a:off x="2743289" y="5233924"/>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Prompt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Engineering</a:t>
            </a:r>
            <a:endParaRPr b="0" i="0" sz="1400" u="none" cap="none" strike="noStrike">
              <a:solidFill>
                <a:srgbClr val="000000"/>
              </a:solidFill>
              <a:latin typeface="Arial"/>
              <a:ea typeface="Arial"/>
              <a:cs typeface="Arial"/>
              <a:sym typeface="Arial"/>
            </a:endParaRPr>
          </a:p>
        </p:txBody>
      </p:sp>
      <p:sp>
        <p:nvSpPr>
          <p:cNvPr id="326" name="Google Shape;326;p6"/>
          <p:cNvSpPr/>
          <p:nvPr/>
        </p:nvSpPr>
        <p:spPr>
          <a:xfrm>
            <a:off x="2743289" y="5877060"/>
            <a:ext cx="1990342" cy="396000"/>
          </a:xfrm>
          <a:prstGeom prst="roundRect">
            <a:avLst>
              <a:gd fmla="val 11088"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pic>
        <p:nvPicPr>
          <p:cNvPr id="327" name="Google Shape;327;p6"/>
          <p:cNvPicPr preferRelativeResize="0"/>
          <p:nvPr/>
        </p:nvPicPr>
        <p:blipFill rotWithShape="1">
          <a:blip r:embed="rId8">
            <a:alphaModFix/>
          </a:blip>
          <a:srcRect b="0" l="0" r="0" t="0"/>
          <a:stretch/>
        </p:blipFill>
        <p:spPr>
          <a:xfrm>
            <a:off x="2855299" y="5305924"/>
            <a:ext cx="306783" cy="252000"/>
          </a:xfrm>
          <a:prstGeom prst="rect">
            <a:avLst/>
          </a:prstGeom>
          <a:noFill/>
          <a:ln>
            <a:noFill/>
          </a:ln>
        </p:spPr>
      </p:pic>
      <p:pic>
        <p:nvPicPr>
          <p:cNvPr id="328" name="Google Shape;328;p6"/>
          <p:cNvPicPr preferRelativeResize="0"/>
          <p:nvPr/>
        </p:nvPicPr>
        <p:blipFill rotWithShape="1">
          <a:blip r:embed="rId9">
            <a:alphaModFix/>
          </a:blip>
          <a:srcRect b="0" l="0" r="0" t="0"/>
          <a:stretch/>
        </p:blipFill>
        <p:spPr>
          <a:xfrm>
            <a:off x="2855299" y="2499150"/>
            <a:ext cx="252000" cy="25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7"/>
          <p:cNvSpPr txBox="1"/>
          <p:nvPr>
            <p:ph type="title"/>
          </p:nvPr>
        </p:nvSpPr>
        <p:spPr>
          <a:xfrm>
            <a:off x="263525" y="512676"/>
            <a:ext cx="11664949" cy="86177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An end-to-end sovereign Agent Management Platform that empowers teams to move fast while staying in control</a:t>
            </a:r>
            <a:endParaRPr/>
          </a:p>
        </p:txBody>
      </p:sp>
      <p:sp>
        <p:nvSpPr>
          <p:cNvPr id="334" name="Google Shape;334;p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PLATFORM</a:t>
            </a:r>
            <a:endParaRPr/>
          </a:p>
        </p:txBody>
      </p:sp>
      <p:sp>
        <p:nvSpPr>
          <p:cNvPr id="335" name="Google Shape;335;p7"/>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sp>
        <p:nvSpPr>
          <p:cNvPr id="336" name="Google Shape;336;p7"/>
          <p:cNvSpPr/>
          <p:nvPr/>
        </p:nvSpPr>
        <p:spPr>
          <a:xfrm>
            <a:off x="5419691" y="3445855"/>
            <a:ext cx="3768846" cy="939366"/>
          </a:xfrm>
          <a:prstGeom prst="roundRect">
            <a:avLst>
              <a:gd fmla="val 1108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41319"/>
              </a:buClr>
              <a:buSzPts val="2000"/>
              <a:buFont typeface="Arial"/>
              <a:buNone/>
            </a:pPr>
            <a:r>
              <a:rPr b="0" i="0" lang="en-US" sz="2000" u="none" cap="none" strike="noStrike">
                <a:solidFill>
                  <a:srgbClr val="141319"/>
                </a:solidFill>
                <a:latin typeface="Arial"/>
                <a:ea typeface="Arial"/>
                <a:cs typeface="Arial"/>
                <a:sym typeface="Arial"/>
              </a:rPr>
              <a:t>AI Observability</a:t>
            </a:r>
            <a:endParaRPr b="0" i="0" sz="1400" u="none" cap="none" strike="noStrike">
              <a:solidFill>
                <a:srgbClr val="000000"/>
              </a:solidFill>
              <a:latin typeface="Arial"/>
              <a:ea typeface="Arial"/>
              <a:cs typeface="Arial"/>
              <a:sym typeface="Arial"/>
            </a:endParaRPr>
          </a:p>
        </p:txBody>
      </p:sp>
      <p:sp>
        <p:nvSpPr>
          <p:cNvPr id="337" name="Google Shape;337;p7"/>
          <p:cNvSpPr/>
          <p:nvPr/>
        </p:nvSpPr>
        <p:spPr>
          <a:xfrm>
            <a:off x="5419691" y="4742728"/>
            <a:ext cx="3768846" cy="939366"/>
          </a:xfrm>
          <a:prstGeom prst="roundRect">
            <a:avLst>
              <a:gd fmla="val 11088"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AI Gateway</a:t>
            </a:r>
            <a:endParaRPr b="0" i="0" sz="1400" u="none" cap="none" strike="noStrike">
              <a:solidFill>
                <a:srgbClr val="000000"/>
              </a:solidFill>
              <a:latin typeface="Arial"/>
              <a:ea typeface="Arial"/>
              <a:cs typeface="Arial"/>
              <a:sym typeface="Arial"/>
            </a:endParaRPr>
          </a:p>
        </p:txBody>
      </p:sp>
      <p:sp>
        <p:nvSpPr>
          <p:cNvPr id="338" name="Google Shape;338;p7"/>
          <p:cNvSpPr/>
          <p:nvPr/>
        </p:nvSpPr>
        <p:spPr>
          <a:xfrm>
            <a:off x="5419691" y="2148983"/>
            <a:ext cx="3768846" cy="939366"/>
          </a:xfrm>
          <a:prstGeom prst="roundRect">
            <a:avLst>
              <a:gd fmla="val 11088"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41319"/>
              </a:buClr>
              <a:buSzPts val="2000"/>
              <a:buFont typeface="Arial"/>
              <a:buNone/>
            </a:pPr>
            <a:r>
              <a:rPr b="0" i="0" lang="en-US" sz="2000" u="none" cap="none" strike="noStrike">
                <a:solidFill>
                  <a:srgbClr val="141319"/>
                </a:solidFill>
                <a:latin typeface="Arial"/>
                <a:ea typeface="Arial"/>
                <a:cs typeface="Arial"/>
                <a:sym typeface="Arial"/>
              </a:rPr>
              <a:t>AI Engineering</a:t>
            </a:r>
            <a:endParaRPr b="0" i="0" sz="1400" u="none" cap="none" strike="noStrike">
              <a:solidFill>
                <a:srgbClr val="000000"/>
              </a:solidFill>
              <a:latin typeface="Arial"/>
              <a:ea typeface="Arial"/>
              <a:cs typeface="Arial"/>
              <a:sym typeface="Arial"/>
            </a:endParaRPr>
          </a:p>
        </p:txBody>
      </p:sp>
      <p:sp>
        <p:nvSpPr>
          <p:cNvPr id="339" name="Google Shape;339;p7"/>
          <p:cNvSpPr/>
          <p:nvPr/>
        </p:nvSpPr>
        <p:spPr>
          <a:xfrm>
            <a:off x="5633146" y="2382020"/>
            <a:ext cx="473291" cy="47329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a:off x="5633146" y="4975765"/>
            <a:ext cx="473291" cy="47329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5633146" y="3678892"/>
            <a:ext cx="473291" cy="47329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 name="Google Shape;342;p7"/>
          <p:cNvGrpSpPr/>
          <p:nvPr/>
        </p:nvGrpSpPr>
        <p:grpSpPr>
          <a:xfrm>
            <a:off x="2643603" y="2148983"/>
            <a:ext cx="2308557" cy="3533111"/>
            <a:chOff x="1722268" y="2148983"/>
            <a:chExt cx="2308557" cy="3533111"/>
          </a:xfrm>
        </p:grpSpPr>
        <p:sp>
          <p:nvSpPr>
            <p:cNvPr id="343" name="Google Shape;343;p7"/>
            <p:cNvSpPr/>
            <p:nvPr/>
          </p:nvSpPr>
          <p:spPr>
            <a:xfrm>
              <a:off x="1722268" y="2148983"/>
              <a:ext cx="2308557" cy="3533111"/>
            </a:xfrm>
            <a:prstGeom prst="roundRect">
              <a:avLst>
                <a:gd fmla="val 5130" name="adj"/>
              </a:avLst>
            </a:prstGeom>
            <a:solidFill>
              <a:schemeClr val="accent3"/>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FFFFFF"/>
                </a:solidFill>
                <a:latin typeface="Arial"/>
                <a:ea typeface="Arial"/>
                <a:cs typeface="Arial"/>
                <a:sym typeface="Arial"/>
              </a:endParaRPr>
            </a:p>
            <a:p>
              <a:pPr indent="0" lvl="0" marL="0" marR="0" rtl="0" algn="ctr">
                <a:lnSpc>
                  <a:spcPct val="100000"/>
                </a:lnSpc>
                <a:spcBef>
                  <a:spcPts val="60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AI Governance</a:t>
              </a:r>
              <a:endParaRPr b="0" i="0" sz="1400" u="none" cap="none" strike="noStrike">
                <a:solidFill>
                  <a:srgbClr val="000000"/>
                </a:solidFill>
                <a:latin typeface="Arial"/>
                <a:ea typeface="Arial"/>
                <a:cs typeface="Arial"/>
                <a:sym typeface="Arial"/>
              </a:endParaRPr>
            </a:p>
          </p:txBody>
        </p:sp>
        <p:sp>
          <p:nvSpPr>
            <p:cNvPr id="344" name="Google Shape;344;p7"/>
            <p:cNvSpPr/>
            <p:nvPr/>
          </p:nvSpPr>
          <p:spPr>
            <a:xfrm>
              <a:off x="2639900" y="3212637"/>
              <a:ext cx="473291" cy="47329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8"/>
          <p:cNvSpPr/>
          <p:nvPr/>
        </p:nvSpPr>
        <p:spPr>
          <a:xfrm>
            <a:off x="263525" y="1058799"/>
            <a:ext cx="11665123" cy="2603500"/>
          </a:xfrm>
          <a:custGeom>
            <a:rect b="b" l="l" r="r" t="t"/>
            <a:pathLst>
              <a:path extrusionOk="0" h="2016224" w="11665123">
                <a:moveTo>
                  <a:pt x="57920" y="0"/>
                </a:moveTo>
                <a:lnTo>
                  <a:pt x="758889" y="0"/>
                </a:lnTo>
                <a:lnTo>
                  <a:pt x="3287518" y="0"/>
                </a:lnTo>
                <a:lnTo>
                  <a:pt x="3746243" y="0"/>
                </a:lnTo>
                <a:lnTo>
                  <a:pt x="3746245" y="0"/>
                </a:lnTo>
                <a:lnTo>
                  <a:pt x="3988313" y="0"/>
                </a:lnTo>
                <a:lnTo>
                  <a:pt x="3988487" y="0"/>
                </a:lnTo>
                <a:lnTo>
                  <a:pt x="4447212" y="0"/>
                </a:lnTo>
                <a:lnTo>
                  <a:pt x="4447214" y="0"/>
                </a:lnTo>
                <a:lnTo>
                  <a:pt x="4689282" y="0"/>
                </a:lnTo>
                <a:lnTo>
                  <a:pt x="6975841" y="0"/>
                </a:lnTo>
                <a:lnTo>
                  <a:pt x="6975843" y="0"/>
                </a:lnTo>
                <a:lnTo>
                  <a:pt x="7217911" y="0"/>
                </a:lnTo>
                <a:lnTo>
                  <a:pt x="7676636" y="0"/>
                </a:lnTo>
                <a:lnTo>
                  <a:pt x="7676810" y="0"/>
                </a:lnTo>
                <a:lnTo>
                  <a:pt x="7676812" y="0"/>
                </a:lnTo>
                <a:lnTo>
                  <a:pt x="7918880" y="0"/>
                </a:lnTo>
                <a:lnTo>
                  <a:pt x="8377605" y="0"/>
                </a:lnTo>
                <a:lnTo>
                  <a:pt x="10906234" y="0"/>
                </a:lnTo>
                <a:lnTo>
                  <a:pt x="11607203" y="0"/>
                </a:lnTo>
                <a:cubicBezTo>
                  <a:pt x="11639191" y="0"/>
                  <a:pt x="11665123" y="25932"/>
                  <a:pt x="11665123" y="57920"/>
                </a:cubicBezTo>
                <a:lnTo>
                  <a:pt x="11665123" y="129928"/>
                </a:lnTo>
                <a:lnTo>
                  <a:pt x="11665123" y="238349"/>
                </a:lnTo>
                <a:lnTo>
                  <a:pt x="11665123" y="310357"/>
                </a:lnTo>
                <a:lnTo>
                  <a:pt x="11665123" y="481484"/>
                </a:lnTo>
                <a:lnTo>
                  <a:pt x="11665123" y="553492"/>
                </a:lnTo>
                <a:lnTo>
                  <a:pt x="11665123" y="661913"/>
                </a:lnTo>
                <a:lnTo>
                  <a:pt x="11665123" y="733921"/>
                </a:lnTo>
                <a:lnTo>
                  <a:pt x="11665123" y="1282303"/>
                </a:lnTo>
                <a:lnTo>
                  <a:pt x="11665123" y="1354311"/>
                </a:lnTo>
                <a:lnTo>
                  <a:pt x="11665123" y="1462732"/>
                </a:lnTo>
                <a:lnTo>
                  <a:pt x="11665123" y="1534740"/>
                </a:lnTo>
                <a:lnTo>
                  <a:pt x="11665123" y="1705867"/>
                </a:lnTo>
                <a:lnTo>
                  <a:pt x="11665123" y="1777875"/>
                </a:lnTo>
                <a:lnTo>
                  <a:pt x="11665123" y="1886296"/>
                </a:lnTo>
                <a:lnTo>
                  <a:pt x="11665123" y="1958304"/>
                </a:lnTo>
                <a:cubicBezTo>
                  <a:pt x="11665123" y="1990292"/>
                  <a:pt x="11639191" y="2016224"/>
                  <a:pt x="11607203" y="2016224"/>
                </a:cubicBezTo>
                <a:lnTo>
                  <a:pt x="10906234" y="2016224"/>
                </a:lnTo>
                <a:lnTo>
                  <a:pt x="8680110" y="2016224"/>
                </a:lnTo>
                <a:lnTo>
                  <a:pt x="8377605" y="2016224"/>
                </a:lnTo>
                <a:lnTo>
                  <a:pt x="7979141" y="2016224"/>
                </a:lnTo>
                <a:lnTo>
                  <a:pt x="7918880" y="2016224"/>
                </a:lnTo>
                <a:lnTo>
                  <a:pt x="7676810" y="2016224"/>
                </a:lnTo>
                <a:lnTo>
                  <a:pt x="7676636" y="2016224"/>
                </a:lnTo>
                <a:lnTo>
                  <a:pt x="7217911" y="2016224"/>
                </a:lnTo>
                <a:lnTo>
                  <a:pt x="6975841" y="2016224"/>
                </a:lnTo>
                <a:lnTo>
                  <a:pt x="5450513" y="2016224"/>
                </a:lnTo>
                <a:lnTo>
                  <a:pt x="4991787" y="2016224"/>
                </a:lnTo>
                <a:lnTo>
                  <a:pt x="4749543" y="2016224"/>
                </a:lnTo>
                <a:lnTo>
                  <a:pt x="4689282" y="2016224"/>
                </a:lnTo>
                <a:lnTo>
                  <a:pt x="4447212" y="2016224"/>
                </a:lnTo>
                <a:lnTo>
                  <a:pt x="4290818" y="2016224"/>
                </a:lnTo>
                <a:lnTo>
                  <a:pt x="3988487" y="2016224"/>
                </a:lnTo>
                <a:lnTo>
                  <a:pt x="3988313" y="2016224"/>
                </a:lnTo>
                <a:lnTo>
                  <a:pt x="3746243" y="2016224"/>
                </a:lnTo>
                <a:lnTo>
                  <a:pt x="3287518" y="2016224"/>
                </a:lnTo>
                <a:lnTo>
                  <a:pt x="1762189" y="2016224"/>
                </a:lnTo>
                <a:lnTo>
                  <a:pt x="1061220" y="2016224"/>
                </a:lnTo>
                <a:lnTo>
                  <a:pt x="758889" y="2016224"/>
                </a:lnTo>
                <a:lnTo>
                  <a:pt x="57920" y="2016224"/>
                </a:lnTo>
                <a:cubicBezTo>
                  <a:pt x="25932" y="2016224"/>
                  <a:pt x="0" y="1990292"/>
                  <a:pt x="0" y="1958304"/>
                </a:cubicBezTo>
                <a:lnTo>
                  <a:pt x="0" y="1886296"/>
                </a:lnTo>
                <a:lnTo>
                  <a:pt x="0" y="1777875"/>
                </a:lnTo>
                <a:lnTo>
                  <a:pt x="0" y="1705867"/>
                </a:lnTo>
                <a:lnTo>
                  <a:pt x="0" y="1534740"/>
                </a:lnTo>
                <a:lnTo>
                  <a:pt x="0" y="1462732"/>
                </a:lnTo>
                <a:lnTo>
                  <a:pt x="0" y="1354311"/>
                </a:lnTo>
                <a:lnTo>
                  <a:pt x="0" y="1282303"/>
                </a:lnTo>
                <a:lnTo>
                  <a:pt x="0" y="733921"/>
                </a:lnTo>
                <a:lnTo>
                  <a:pt x="0" y="661913"/>
                </a:lnTo>
                <a:lnTo>
                  <a:pt x="0" y="553492"/>
                </a:lnTo>
                <a:lnTo>
                  <a:pt x="0" y="481484"/>
                </a:lnTo>
                <a:lnTo>
                  <a:pt x="0" y="310357"/>
                </a:lnTo>
                <a:lnTo>
                  <a:pt x="0" y="238349"/>
                </a:lnTo>
                <a:lnTo>
                  <a:pt x="0" y="129928"/>
                </a:lnTo>
                <a:lnTo>
                  <a:pt x="0" y="57920"/>
                </a:lnTo>
                <a:cubicBezTo>
                  <a:pt x="0" y="25932"/>
                  <a:pt x="25932" y="0"/>
                  <a:pt x="57920" y="0"/>
                </a:cubicBezTo>
                <a:close/>
              </a:path>
            </a:pathLst>
          </a:custGeom>
          <a:solidFill>
            <a:schemeClr val="accen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50" name="Google Shape;350;p8"/>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Centrally governed, decentrally delivered AI transformation</a:t>
            </a:r>
            <a:endParaRPr/>
          </a:p>
        </p:txBody>
      </p:sp>
      <p:sp>
        <p:nvSpPr>
          <p:cNvPr id="351" name="Google Shape;351;p8"/>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THE OPERATING MODEL</a:t>
            </a:r>
            <a:endParaRPr/>
          </a:p>
        </p:txBody>
      </p:sp>
      <p:sp>
        <p:nvSpPr>
          <p:cNvPr id="352" name="Google Shape;352;p8"/>
          <p:cNvSpPr/>
          <p:nvPr/>
        </p:nvSpPr>
        <p:spPr>
          <a:xfrm>
            <a:off x="433847" y="1229125"/>
            <a:ext cx="1233027" cy="252000"/>
          </a:xfrm>
          <a:prstGeom prst="roundRect">
            <a:avLst>
              <a:gd fmla="val 36477" name="adj"/>
            </a:avLst>
          </a:prstGeom>
          <a:solidFill>
            <a:schemeClr val="lt1"/>
          </a:solidFill>
          <a:ln>
            <a:noFill/>
          </a:ln>
        </p:spPr>
        <p:txBody>
          <a:bodyPr anchorCtr="0" anchor="ctr" bIns="72000" lIns="91425" spcFirstLastPara="1" rIns="91425" wrap="square" tIns="72000">
            <a:no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CoE</a:t>
            </a:r>
            <a:endParaRPr b="0" i="0" sz="1000" u="none" cap="none" strike="noStrike">
              <a:solidFill>
                <a:srgbClr val="141319"/>
              </a:solidFill>
              <a:latin typeface="Arial"/>
              <a:ea typeface="Arial"/>
              <a:cs typeface="Arial"/>
              <a:sym typeface="Arial"/>
            </a:endParaRPr>
          </a:p>
        </p:txBody>
      </p:sp>
      <p:sp>
        <p:nvSpPr>
          <p:cNvPr id="353" name="Google Shape;353;p8"/>
          <p:cNvSpPr/>
          <p:nvPr/>
        </p:nvSpPr>
        <p:spPr>
          <a:xfrm>
            <a:off x="1890004" y="1277437"/>
            <a:ext cx="3470502" cy="155377"/>
          </a:xfrm>
          <a:prstGeom prst="roundRect">
            <a:avLst>
              <a:gd fmla="val 2670" name="adj"/>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The Hub - Builds and governs the reusable components</a:t>
            </a:r>
            <a:endParaRPr b="0" i="0" sz="1400" u="none" cap="none" strike="noStrike">
              <a:solidFill>
                <a:srgbClr val="000000"/>
              </a:solidFill>
              <a:latin typeface="Arial"/>
              <a:ea typeface="Arial"/>
              <a:cs typeface="Arial"/>
              <a:sym typeface="Arial"/>
            </a:endParaRPr>
          </a:p>
        </p:txBody>
      </p:sp>
      <p:sp>
        <p:nvSpPr>
          <p:cNvPr id="354" name="Google Shape;354;p8"/>
          <p:cNvSpPr/>
          <p:nvPr/>
        </p:nvSpPr>
        <p:spPr>
          <a:xfrm>
            <a:off x="263525" y="4110446"/>
            <a:ext cx="11665123" cy="2603500"/>
          </a:xfrm>
          <a:custGeom>
            <a:rect b="b" l="l" r="r" t="t"/>
            <a:pathLst>
              <a:path extrusionOk="0" h="2016224" w="11665123">
                <a:moveTo>
                  <a:pt x="57920" y="0"/>
                </a:moveTo>
                <a:lnTo>
                  <a:pt x="758889" y="0"/>
                </a:lnTo>
                <a:lnTo>
                  <a:pt x="3287518" y="0"/>
                </a:lnTo>
                <a:lnTo>
                  <a:pt x="3746243" y="0"/>
                </a:lnTo>
                <a:lnTo>
                  <a:pt x="3746245" y="0"/>
                </a:lnTo>
                <a:lnTo>
                  <a:pt x="3988313" y="0"/>
                </a:lnTo>
                <a:lnTo>
                  <a:pt x="3988487" y="0"/>
                </a:lnTo>
                <a:lnTo>
                  <a:pt x="4447212" y="0"/>
                </a:lnTo>
                <a:lnTo>
                  <a:pt x="4447214" y="0"/>
                </a:lnTo>
                <a:lnTo>
                  <a:pt x="4689282" y="0"/>
                </a:lnTo>
                <a:lnTo>
                  <a:pt x="6975841" y="0"/>
                </a:lnTo>
                <a:lnTo>
                  <a:pt x="6975843" y="0"/>
                </a:lnTo>
                <a:lnTo>
                  <a:pt x="7217911" y="0"/>
                </a:lnTo>
                <a:lnTo>
                  <a:pt x="7676636" y="0"/>
                </a:lnTo>
                <a:lnTo>
                  <a:pt x="7676810" y="0"/>
                </a:lnTo>
                <a:lnTo>
                  <a:pt x="7676812" y="0"/>
                </a:lnTo>
                <a:lnTo>
                  <a:pt x="7918880" y="0"/>
                </a:lnTo>
                <a:lnTo>
                  <a:pt x="8377605" y="0"/>
                </a:lnTo>
                <a:lnTo>
                  <a:pt x="10906234" y="0"/>
                </a:lnTo>
                <a:lnTo>
                  <a:pt x="11607203" y="0"/>
                </a:lnTo>
                <a:cubicBezTo>
                  <a:pt x="11639191" y="0"/>
                  <a:pt x="11665123" y="25932"/>
                  <a:pt x="11665123" y="57920"/>
                </a:cubicBezTo>
                <a:lnTo>
                  <a:pt x="11665123" y="129928"/>
                </a:lnTo>
                <a:lnTo>
                  <a:pt x="11665123" y="238349"/>
                </a:lnTo>
                <a:lnTo>
                  <a:pt x="11665123" y="310357"/>
                </a:lnTo>
                <a:lnTo>
                  <a:pt x="11665123" y="481484"/>
                </a:lnTo>
                <a:lnTo>
                  <a:pt x="11665123" y="553492"/>
                </a:lnTo>
                <a:lnTo>
                  <a:pt x="11665123" y="661913"/>
                </a:lnTo>
                <a:lnTo>
                  <a:pt x="11665123" y="733921"/>
                </a:lnTo>
                <a:lnTo>
                  <a:pt x="11665123" y="1282303"/>
                </a:lnTo>
                <a:lnTo>
                  <a:pt x="11665123" y="1354311"/>
                </a:lnTo>
                <a:lnTo>
                  <a:pt x="11665123" y="1462732"/>
                </a:lnTo>
                <a:lnTo>
                  <a:pt x="11665123" y="1534740"/>
                </a:lnTo>
                <a:lnTo>
                  <a:pt x="11665123" y="1705867"/>
                </a:lnTo>
                <a:lnTo>
                  <a:pt x="11665123" y="1777875"/>
                </a:lnTo>
                <a:lnTo>
                  <a:pt x="11665123" y="1886296"/>
                </a:lnTo>
                <a:lnTo>
                  <a:pt x="11665123" y="1958304"/>
                </a:lnTo>
                <a:cubicBezTo>
                  <a:pt x="11665123" y="1990292"/>
                  <a:pt x="11639191" y="2016224"/>
                  <a:pt x="11607203" y="2016224"/>
                </a:cubicBezTo>
                <a:lnTo>
                  <a:pt x="10906234" y="2016224"/>
                </a:lnTo>
                <a:lnTo>
                  <a:pt x="8680110" y="2016224"/>
                </a:lnTo>
                <a:lnTo>
                  <a:pt x="8377605" y="2016224"/>
                </a:lnTo>
                <a:lnTo>
                  <a:pt x="7979141" y="2016224"/>
                </a:lnTo>
                <a:lnTo>
                  <a:pt x="7918880" y="2016224"/>
                </a:lnTo>
                <a:lnTo>
                  <a:pt x="7676810" y="2016224"/>
                </a:lnTo>
                <a:lnTo>
                  <a:pt x="7676636" y="2016224"/>
                </a:lnTo>
                <a:lnTo>
                  <a:pt x="7217911" y="2016224"/>
                </a:lnTo>
                <a:lnTo>
                  <a:pt x="6975841" y="2016224"/>
                </a:lnTo>
                <a:lnTo>
                  <a:pt x="5450513" y="2016224"/>
                </a:lnTo>
                <a:lnTo>
                  <a:pt x="4991787" y="2016224"/>
                </a:lnTo>
                <a:lnTo>
                  <a:pt x="4749543" y="2016224"/>
                </a:lnTo>
                <a:lnTo>
                  <a:pt x="4689282" y="2016224"/>
                </a:lnTo>
                <a:lnTo>
                  <a:pt x="4447212" y="2016224"/>
                </a:lnTo>
                <a:lnTo>
                  <a:pt x="4290818" y="2016224"/>
                </a:lnTo>
                <a:lnTo>
                  <a:pt x="3988487" y="2016224"/>
                </a:lnTo>
                <a:lnTo>
                  <a:pt x="3988313" y="2016224"/>
                </a:lnTo>
                <a:lnTo>
                  <a:pt x="3746243" y="2016224"/>
                </a:lnTo>
                <a:lnTo>
                  <a:pt x="3287518" y="2016224"/>
                </a:lnTo>
                <a:lnTo>
                  <a:pt x="1762189" y="2016224"/>
                </a:lnTo>
                <a:lnTo>
                  <a:pt x="1061220" y="2016224"/>
                </a:lnTo>
                <a:lnTo>
                  <a:pt x="758889" y="2016224"/>
                </a:lnTo>
                <a:lnTo>
                  <a:pt x="57920" y="2016224"/>
                </a:lnTo>
                <a:cubicBezTo>
                  <a:pt x="25932" y="2016224"/>
                  <a:pt x="0" y="1990292"/>
                  <a:pt x="0" y="1958304"/>
                </a:cubicBezTo>
                <a:lnTo>
                  <a:pt x="0" y="1886296"/>
                </a:lnTo>
                <a:lnTo>
                  <a:pt x="0" y="1777875"/>
                </a:lnTo>
                <a:lnTo>
                  <a:pt x="0" y="1705867"/>
                </a:lnTo>
                <a:lnTo>
                  <a:pt x="0" y="1534740"/>
                </a:lnTo>
                <a:lnTo>
                  <a:pt x="0" y="1462732"/>
                </a:lnTo>
                <a:lnTo>
                  <a:pt x="0" y="1354311"/>
                </a:lnTo>
                <a:lnTo>
                  <a:pt x="0" y="1282303"/>
                </a:lnTo>
                <a:lnTo>
                  <a:pt x="0" y="733921"/>
                </a:lnTo>
                <a:lnTo>
                  <a:pt x="0" y="661913"/>
                </a:lnTo>
                <a:lnTo>
                  <a:pt x="0" y="553492"/>
                </a:lnTo>
                <a:lnTo>
                  <a:pt x="0" y="481484"/>
                </a:lnTo>
                <a:lnTo>
                  <a:pt x="0" y="310357"/>
                </a:lnTo>
                <a:lnTo>
                  <a:pt x="0" y="238349"/>
                </a:lnTo>
                <a:lnTo>
                  <a:pt x="0" y="129928"/>
                </a:lnTo>
                <a:lnTo>
                  <a:pt x="0" y="57920"/>
                </a:lnTo>
                <a:cubicBezTo>
                  <a:pt x="0" y="25932"/>
                  <a:pt x="25932" y="0"/>
                  <a:pt x="57920" y="0"/>
                </a:cubicBezTo>
                <a:close/>
              </a:path>
            </a:pathLst>
          </a:custGeom>
          <a:solidFill>
            <a:schemeClr val="accent1"/>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55" name="Google Shape;355;p8"/>
          <p:cNvSpPr/>
          <p:nvPr/>
        </p:nvSpPr>
        <p:spPr>
          <a:xfrm>
            <a:off x="431800" y="4287806"/>
            <a:ext cx="1233027" cy="252000"/>
          </a:xfrm>
          <a:prstGeom prst="roundRect">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Domain Teams</a:t>
            </a:r>
            <a:endParaRPr b="0" i="0" sz="1400" u="none" cap="none" strike="noStrike">
              <a:solidFill>
                <a:srgbClr val="000000"/>
              </a:solidFill>
              <a:latin typeface="Arial"/>
              <a:ea typeface="Arial"/>
              <a:cs typeface="Arial"/>
              <a:sym typeface="Arial"/>
            </a:endParaRPr>
          </a:p>
        </p:txBody>
      </p:sp>
      <p:sp>
        <p:nvSpPr>
          <p:cNvPr id="356" name="Google Shape;356;p8"/>
          <p:cNvSpPr/>
          <p:nvPr/>
        </p:nvSpPr>
        <p:spPr>
          <a:xfrm>
            <a:off x="1890004" y="4329084"/>
            <a:ext cx="2723502" cy="155377"/>
          </a:xfrm>
          <a:prstGeom prst="roundRect">
            <a:avLst>
              <a:gd fmla="val 2670" name="adj"/>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The spokes – Agent Development Lifecycle</a:t>
            </a:r>
            <a:endParaRPr b="0" i="0" sz="1400" u="none" cap="none" strike="noStrike">
              <a:solidFill>
                <a:srgbClr val="000000"/>
              </a:solidFill>
              <a:latin typeface="Arial"/>
              <a:ea typeface="Arial"/>
              <a:cs typeface="Arial"/>
              <a:sym typeface="Arial"/>
            </a:endParaRPr>
          </a:p>
        </p:txBody>
      </p:sp>
      <p:sp>
        <p:nvSpPr>
          <p:cNvPr id="357" name="Google Shape;357;p8"/>
          <p:cNvSpPr/>
          <p:nvPr/>
        </p:nvSpPr>
        <p:spPr>
          <a:xfrm>
            <a:off x="10246614" y="1277437"/>
            <a:ext cx="1502014" cy="155377"/>
          </a:xfrm>
          <a:prstGeom prst="roundRect">
            <a:avLst>
              <a:gd fmla="val 2670" name="adj"/>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PROVIDED CENTRALLY</a:t>
            </a:r>
            <a:endParaRPr b="0" i="0" sz="1400" u="none" cap="none" strike="noStrike">
              <a:solidFill>
                <a:srgbClr val="000000"/>
              </a:solidFill>
              <a:latin typeface="Arial"/>
              <a:ea typeface="Arial"/>
              <a:cs typeface="Arial"/>
              <a:sym typeface="Arial"/>
            </a:endParaRPr>
          </a:p>
        </p:txBody>
      </p:sp>
      <p:sp>
        <p:nvSpPr>
          <p:cNvPr id="358" name="Google Shape;358;p8"/>
          <p:cNvSpPr/>
          <p:nvPr/>
        </p:nvSpPr>
        <p:spPr>
          <a:xfrm>
            <a:off x="9841054" y="4329084"/>
            <a:ext cx="1907574" cy="155377"/>
          </a:xfrm>
          <a:prstGeom prst="roundRect">
            <a:avLst>
              <a:gd fmla="val 2670" name="adj"/>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SELF-SERVED DECENTRALLY</a:t>
            </a:r>
            <a:endParaRPr b="0" i="0" sz="1000" u="none" cap="none" strike="noStrike">
              <a:solidFill>
                <a:srgbClr val="FFFFFF"/>
              </a:solidFill>
              <a:latin typeface="Arial"/>
              <a:ea typeface="Arial"/>
              <a:cs typeface="Arial"/>
              <a:sym typeface="Arial"/>
            </a:endParaRPr>
          </a:p>
        </p:txBody>
      </p:sp>
      <p:sp>
        <p:nvSpPr>
          <p:cNvPr id="359" name="Google Shape;359;p8"/>
          <p:cNvSpPr/>
          <p:nvPr/>
        </p:nvSpPr>
        <p:spPr>
          <a:xfrm>
            <a:off x="8204200" y="1726583"/>
            <a:ext cx="3556000" cy="1816884"/>
          </a:xfrm>
          <a:custGeom>
            <a:rect b="b" l="l" r="r" t="t"/>
            <a:pathLst>
              <a:path extrusionOk="0" h="1252244" w="2703376">
                <a:moveTo>
                  <a:pt x="57920" y="0"/>
                </a:moveTo>
                <a:lnTo>
                  <a:pt x="758889" y="0"/>
                </a:lnTo>
                <a:lnTo>
                  <a:pt x="1944487" y="0"/>
                </a:lnTo>
                <a:lnTo>
                  <a:pt x="2645456" y="0"/>
                </a:lnTo>
                <a:cubicBezTo>
                  <a:pt x="2677444" y="0"/>
                  <a:pt x="2703376" y="16106"/>
                  <a:pt x="2703376" y="35973"/>
                </a:cubicBezTo>
                <a:lnTo>
                  <a:pt x="2703376" y="80696"/>
                </a:lnTo>
                <a:lnTo>
                  <a:pt x="2703376" y="148035"/>
                </a:lnTo>
                <a:lnTo>
                  <a:pt x="2703376" y="192758"/>
                </a:lnTo>
                <a:lnTo>
                  <a:pt x="2703376" y="299042"/>
                </a:lnTo>
                <a:lnTo>
                  <a:pt x="2703376" y="343765"/>
                </a:lnTo>
                <a:lnTo>
                  <a:pt x="2703376" y="411104"/>
                </a:lnTo>
                <a:lnTo>
                  <a:pt x="2703376" y="455827"/>
                </a:lnTo>
                <a:lnTo>
                  <a:pt x="2703376" y="796418"/>
                </a:lnTo>
                <a:lnTo>
                  <a:pt x="2703376" y="841141"/>
                </a:lnTo>
                <a:lnTo>
                  <a:pt x="2703376" y="908479"/>
                </a:lnTo>
                <a:lnTo>
                  <a:pt x="2703376" y="953202"/>
                </a:lnTo>
                <a:lnTo>
                  <a:pt x="2703376" y="1059486"/>
                </a:lnTo>
                <a:lnTo>
                  <a:pt x="2703376" y="1104209"/>
                </a:lnTo>
                <a:lnTo>
                  <a:pt x="2703376" y="1171548"/>
                </a:lnTo>
                <a:lnTo>
                  <a:pt x="2703376" y="1216271"/>
                </a:lnTo>
                <a:cubicBezTo>
                  <a:pt x="2703376" y="1236138"/>
                  <a:pt x="2677444" y="1252244"/>
                  <a:pt x="2645456" y="1252244"/>
                </a:cubicBezTo>
                <a:lnTo>
                  <a:pt x="1944487" y="1252244"/>
                </a:lnTo>
                <a:lnTo>
                  <a:pt x="1762189" y="1252244"/>
                </a:lnTo>
                <a:lnTo>
                  <a:pt x="1061220" y="1252244"/>
                </a:lnTo>
                <a:lnTo>
                  <a:pt x="758889" y="1252244"/>
                </a:lnTo>
                <a:lnTo>
                  <a:pt x="57920" y="1252244"/>
                </a:lnTo>
                <a:cubicBezTo>
                  <a:pt x="25932" y="1252244"/>
                  <a:pt x="0" y="1236138"/>
                  <a:pt x="0" y="1216271"/>
                </a:cubicBezTo>
                <a:lnTo>
                  <a:pt x="0" y="1171548"/>
                </a:lnTo>
                <a:lnTo>
                  <a:pt x="0" y="1104209"/>
                </a:lnTo>
                <a:lnTo>
                  <a:pt x="0" y="1059486"/>
                </a:lnTo>
                <a:lnTo>
                  <a:pt x="0" y="953202"/>
                </a:lnTo>
                <a:lnTo>
                  <a:pt x="0" y="908479"/>
                </a:lnTo>
                <a:lnTo>
                  <a:pt x="0" y="841141"/>
                </a:lnTo>
                <a:lnTo>
                  <a:pt x="0" y="796418"/>
                </a:lnTo>
                <a:lnTo>
                  <a:pt x="0" y="455827"/>
                </a:lnTo>
                <a:lnTo>
                  <a:pt x="0" y="411104"/>
                </a:lnTo>
                <a:lnTo>
                  <a:pt x="0" y="343765"/>
                </a:lnTo>
                <a:lnTo>
                  <a:pt x="0" y="299042"/>
                </a:lnTo>
                <a:lnTo>
                  <a:pt x="0" y="192758"/>
                </a:lnTo>
                <a:lnTo>
                  <a:pt x="0" y="148035"/>
                </a:lnTo>
                <a:lnTo>
                  <a:pt x="0" y="80696"/>
                </a:lnTo>
                <a:lnTo>
                  <a:pt x="0" y="35973"/>
                </a:lnTo>
                <a:cubicBezTo>
                  <a:pt x="0" y="16106"/>
                  <a:pt x="25932" y="0"/>
                  <a:pt x="57920" y="0"/>
                </a:cubicBezTo>
                <a:close/>
              </a:path>
            </a:pathLst>
          </a:custGeom>
          <a:solidFill>
            <a:srgbClr val="99FFF1"/>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60" name="Google Shape;360;p8"/>
          <p:cNvSpPr/>
          <p:nvPr/>
        </p:nvSpPr>
        <p:spPr>
          <a:xfrm>
            <a:off x="10559999" y="2551974"/>
            <a:ext cx="928696"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Red Teaming</a:t>
            </a:r>
            <a:endParaRPr b="0" i="0" sz="1400" u="none" cap="none" strike="noStrike">
              <a:solidFill>
                <a:srgbClr val="000000"/>
              </a:solidFill>
              <a:latin typeface="Arial"/>
              <a:ea typeface="Arial"/>
              <a:cs typeface="Arial"/>
              <a:sym typeface="Arial"/>
            </a:endParaRPr>
          </a:p>
        </p:txBody>
      </p:sp>
      <p:sp>
        <p:nvSpPr>
          <p:cNvPr id="361" name="Google Shape;361;p8"/>
          <p:cNvSpPr/>
          <p:nvPr/>
        </p:nvSpPr>
        <p:spPr>
          <a:xfrm>
            <a:off x="8298047" y="2525632"/>
            <a:ext cx="777506"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Audit Logs</a:t>
            </a:r>
            <a:endParaRPr b="0" i="0" sz="1400" u="none" cap="none" strike="noStrike">
              <a:solidFill>
                <a:srgbClr val="000000"/>
              </a:solidFill>
              <a:latin typeface="Arial"/>
              <a:ea typeface="Arial"/>
              <a:cs typeface="Arial"/>
              <a:sym typeface="Arial"/>
            </a:endParaRPr>
          </a:p>
        </p:txBody>
      </p:sp>
      <p:sp>
        <p:nvSpPr>
          <p:cNvPr id="362" name="Google Shape;362;p8"/>
          <p:cNvSpPr/>
          <p:nvPr/>
        </p:nvSpPr>
        <p:spPr>
          <a:xfrm>
            <a:off x="9169400" y="2551974"/>
            <a:ext cx="466099"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RBAC</a:t>
            </a:r>
            <a:endParaRPr b="0" i="0" sz="1400" u="none" cap="none" strike="noStrike">
              <a:solidFill>
                <a:srgbClr val="000000"/>
              </a:solidFill>
              <a:latin typeface="Arial"/>
              <a:ea typeface="Arial"/>
              <a:cs typeface="Arial"/>
              <a:sym typeface="Arial"/>
            </a:endParaRPr>
          </a:p>
        </p:txBody>
      </p:sp>
      <p:sp>
        <p:nvSpPr>
          <p:cNvPr id="363" name="Google Shape;363;p8"/>
          <p:cNvSpPr/>
          <p:nvPr/>
        </p:nvSpPr>
        <p:spPr>
          <a:xfrm>
            <a:off x="9483526" y="3186974"/>
            <a:ext cx="931963"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Skills registry</a:t>
            </a:r>
            <a:endParaRPr b="0" i="0" sz="1400" u="none" cap="none" strike="noStrike">
              <a:solidFill>
                <a:srgbClr val="000000"/>
              </a:solidFill>
              <a:latin typeface="Arial"/>
              <a:ea typeface="Arial"/>
              <a:cs typeface="Arial"/>
              <a:sym typeface="Arial"/>
            </a:endParaRPr>
          </a:p>
        </p:txBody>
      </p:sp>
      <p:sp>
        <p:nvSpPr>
          <p:cNvPr id="364" name="Google Shape;364;p8"/>
          <p:cNvSpPr/>
          <p:nvPr/>
        </p:nvSpPr>
        <p:spPr>
          <a:xfrm>
            <a:off x="8712200" y="1869930"/>
            <a:ext cx="2189466"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AI Governance</a:t>
            </a:r>
            <a:endParaRPr b="0" i="0" sz="1400" u="none" cap="none" strike="noStrike">
              <a:solidFill>
                <a:srgbClr val="000000"/>
              </a:solidFill>
              <a:latin typeface="Arial"/>
              <a:ea typeface="Arial"/>
              <a:cs typeface="Arial"/>
              <a:sym typeface="Arial"/>
            </a:endParaRPr>
          </a:p>
        </p:txBody>
      </p:sp>
      <p:sp>
        <p:nvSpPr>
          <p:cNvPr id="365" name="Google Shape;365;p8"/>
          <p:cNvSpPr/>
          <p:nvPr/>
        </p:nvSpPr>
        <p:spPr>
          <a:xfrm>
            <a:off x="8356600" y="2177043"/>
            <a:ext cx="3048000"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Controlled access and audit across the org</a:t>
            </a:r>
            <a:endParaRPr b="0" i="0" sz="1400" u="none" cap="none" strike="noStrike">
              <a:solidFill>
                <a:srgbClr val="000000"/>
              </a:solidFill>
              <a:latin typeface="Arial"/>
              <a:ea typeface="Arial"/>
              <a:cs typeface="Arial"/>
              <a:sym typeface="Arial"/>
            </a:endParaRPr>
          </a:p>
        </p:txBody>
      </p:sp>
      <p:sp>
        <p:nvSpPr>
          <p:cNvPr id="366" name="Google Shape;366;p8"/>
          <p:cNvSpPr/>
          <p:nvPr/>
        </p:nvSpPr>
        <p:spPr>
          <a:xfrm>
            <a:off x="8356600" y="1817003"/>
            <a:ext cx="212625"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431800" y="1726583"/>
            <a:ext cx="3556000" cy="1816884"/>
          </a:xfrm>
          <a:custGeom>
            <a:rect b="b" l="l" r="r" t="t"/>
            <a:pathLst>
              <a:path extrusionOk="0" h="1252244" w="2703376">
                <a:moveTo>
                  <a:pt x="57920" y="0"/>
                </a:moveTo>
                <a:lnTo>
                  <a:pt x="758889" y="0"/>
                </a:lnTo>
                <a:lnTo>
                  <a:pt x="1944487" y="0"/>
                </a:lnTo>
                <a:lnTo>
                  <a:pt x="2645456" y="0"/>
                </a:lnTo>
                <a:cubicBezTo>
                  <a:pt x="2677444" y="0"/>
                  <a:pt x="2703376" y="16106"/>
                  <a:pt x="2703376" y="35973"/>
                </a:cubicBezTo>
                <a:lnTo>
                  <a:pt x="2703376" y="80696"/>
                </a:lnTo>
                <a:lnTo>
                  <a:pt x="2703376" y="148035"/>
                </a:lnTo>
                <a:lnTo>
                  <a:pt x="2703376" y="192758"/>
                </a:lnTo>
                <a:lnTo>
                  <a:pt x="2703376" y="299042"/>
                </a:lnTo>
                <a:lnTo>
                  <a:pt x="2703376" y="343765"/>
                </a:lnTo>
                <a:lnTo>
                  <a:pt x="2703376" y="411104"/>
                </a:lnTo>
                <a:lnTo>
                  <a:pt x="2703376" y="455827"/>
                </a:lnTo>
                <a:lnTo>
                  <a:pt x="2703376" y="796418"/>
                </a:lnTo>
                <a:lnTo>
                  <a:pt x="2703376" y="841141"/>
                </a:lnTo>
                <a:lnTo>
                  <a:pt x="2703376" y="908479"/>
                </a:lnTo>
                <a:lnTo>
                  <a:pt x="2703376" y="953202"/>
                </a:lnTo>
                <a:lnTo>
                  <a:pt x="2703376" y="1059486"/>
                </a:lnTo>
                <a:lnTo>
                  <a:pt x="2703376" y="1104209"/>
                </a:lnTo>
                <a:lnTo>
                  <a:pt x="2703376" y="1171548"/>
                </a:lnTo>
                <a:lnTo>
                  <a:pt x="2703376" y="1216271"/>
                </a:lnTo>
                <a:cubicBezTo>
                  <a:pt x="2703376" y="1236138"/>
                  <a:pt x="2677444" y="1252244"/>
                  <a:pt x="2645456" y="1252244"/>
                </a:cubicBezTo>
                <a:lnTo>
                  <a:pt x="1944487" y="1252244"/>
                </a:lnTo>
                <a:lnTo>
                  <a:pt x="1762189" y="1252244"/>
                </a:lnTo>
                <a:lnTo>
                  <a:pt x="1061220" y="1252244"/>
                </a:lnTo>
                <a:lnTo>
                  <a:pt x="758889" y="1252244"/>
                </a:lnTo>
                <a:lnTo>
                  <a:pt x="57920" y="1252244"/>
                </a:lnTo>
                <a:cubicBezTo>
                  <a:pt x="25932" y="1252244"/>
                  <a:pt x="0" y="1236138"/>
                  <a:pt x="0" y="1216271"/>
                </a:cubicBezTo>
                <a:lnTo>
                  <a:pt x="0" y="1171548"/>
                </a:lnTo>
                <a:lnTo>
                  <a:pt x="0" y="1104209"/>
                </a:lnTo>
                <a:lnTo>
                  <a:pt x="0" y="1059486"/>
                </a:lnTo>
                <a:lnTo>
                  <a:pt x="0" y="953202"/>
                </a:lnTo>
                <a:lnTo>
                  <a:pt x="0" y="908479"/>
                </a:lnTo>
                <a:lnTo>
                  <a:pt x="0" y="841141"/>
                </a:lnTo>
                <a:lnTo>
                  <a:pt x="0" y="796418"/>
                </a:lnTo>
                <a:lnTo>
                  <a:pt x="0" y="455827"/>
                </a:lnTo>
                <a:lnTo>
                  <a:pt x="0" y="411104"/>
                </a:lnTo>
                <a:lnTo>
                  <a:pt x="0" y="343765"/>
                </a:lnTo>
                <a:lnTo>
                  <a:pt x="0" y="299042"/>
                </a:lnTo>
                <a:lnTo>
                  <a:pt x="0" y="192758"/>
                </a:lnTo>
                <a:lnTo>
                  <a:pt x="0" y="148035"/>
                </a:lnTo>
                <a:lnTo>
                  <a:pt x="0" y="80696"/>
                </a:lnTo>
                <a:lnTo>
                  <a:pt x="0" y="35973"/>
                </a:lnTo>
                <a:cubicBezTo>
                  <a:pt x="0" y="16106"/>
                  <a:pt x="25932" y="0"/>
                  <a:pt x="57920" y="0"/>
                </a:cubicBezTo>
                <a:close/>
              </a:path>
            </a:pathLst>
          </a:custGeom>
          <a:solidFill>
            <a:srgbClr val="99FFF1"/>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68" name="Google Shape;368;p8"/>
          <p:cNvSpPr/>
          <p:nvPr/>
        </p:nvSpPr>
        <p:spPr>
          <a:xfrm>
            <a:off x="1461953" y="2525632"/>
            <a:ext cx="943402"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Smart Router</a:t>
            </a:r>
            <a:endParaRPr b="0" i="0" sz="1400" u="none" cap="none" strike="noStrike">
              <a:solidFill>
                <a:srgbClr val="000000"/>
              </a:solidFill>
              <a:latin typeface="Arial"/>
              <a:ea typeface="Arial"/>
              <a:cs typeface="Arial"/>
              <a:sym typeface="Arial"/>
            </a:endParaRPr>
          </a:p>
        </p:txBody>
      </p:sp>
      <p:sp>
        <p:nvSpPr>
          <p:cNvPr id="369" name="Google Shape;369;p8"/>
          <p:cNvSpPr/>
          <p:nvPr/>
        </p:nvSpPr>
        <p:spPr>
          <a:xfrm>
            <a:off x="522348" y="2525632"/>
            <a:ext cx="784104"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Model Hub</a:t>
            </a:r>
            <a:endParaRPr b="0" i="0" sz="1400" u="none" cap="none" strike="noStrike">
              <a:solidFill>
                <a:srgbClr val="000000"/>
              </a:solidFill>
              <a:latin typeface="Arial"/>
              <a:ea typeface="Arial"/>
              <a:cs typeface="Arial"/>
              <a:sym typeface="Arial"/>
            </a:endParaRPr>
          </a:p>
        </p:txBody>
      </p:sp>
      <p:sp>
        <p:nvSpPr>
          <p:cNvPr id="370" name="Google Shape;370;p8"/>
          <p:cNvSpPr/>
          <p:nvPr/>
        </p:nvSpPr>
        <p:spPr>
          <a:xfrm>
            <a:off x="939800" y="1869930"/>
            <a:ext cx="2189466"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AI Gateway</a:t>
            </a:r>
            <a:endParaRPr b="0" i="0" sz="1400" u="none" cap="none" strike="noStrike">
              <a:solidFill>
                <a:srgbClr val="000000"/>
              </a:solidFill>
              <a:latin typeface="Arial"/>
              <a:ea typeface="Arial"/>
              <a:cs typeface="Arial"/>
              <a:sym typeface="Arial"/>
            </a:endParaRPr>
          </a:p>
        </p:txBody>
      </p:sp>
      <p:sp>
        <p:nvSpPr>
          <p:cNvPr id="371" name="Google Shape;371;p8"/>
          <p:cNvSpPr/>
          <p:nvPr/>
        </p:nvSpPr>
        <p:spPr>
          <a:xfrm>
            <a:off x="582796" y="2177043"/>
            <a:ext cx="3048000"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Secured API for multi-model orchestration</a:t>
            </a:r>
            <a:endParaRPr b="0" i="0" sz="1400" u="none" cap="none" strike="noStrike">
              <a:solidFill>
                <a:srgbClr val="000000"/>
              </a:solidFill>
              <a:latin typeface="Arial"/>
              <a:ea typeface="Arial"/>
              <a:cs typeface="Arial"/>
              <a:sym typeface="Arial"/>
            </a:endParaRPr>
          </a:p>
        </p:txBody>
      </p:sp>
      <p:sp>
        <p:nvSpPr>
          <p:cNvPr id="372" name="Google Shape;372;p8"/>
          <p:cNvSpPr/>
          <p:nvPr/>
        </p:nvSpPr>
        <p:spPr>
          <a:xfrm>
            <a:off x="583579" y="1817003"/>
            <a:ext cx="24331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1847272" y="2851521"/>
            <a:ext cx="775856"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p:txBody>
      </p:sp>
      <p:sp>
        <p:nvSpPr>
          <p:cNvPr id="374" name="Google Shape;374;p8"/>
          <p:cNvSpPr/>
          <p:nvPr/>
        </p:nvSpPr>
        <p:spPr>
          <a:xfrm>
            <a:off x="520796" y="2851521"/>
            <a:ext cx="1103535"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Routing policies</a:t>
            </a:r>
            <a:endParaRPr b="0" i="0" sz="1400" u="none" cap="none" strike="noStrike">
              <a:solidFill>
                <a:srgbClr val="000000"/>
              </a:solidFill>
              <a:latin typeface="Arial"/>
              <a:ea typeface="Arial"/>
              <a:cs typeface="Arial"/>
              <a:sym typeface="Arial"/>
            </a:endParaRPr>
          </a:p>
        </p:txBody>
      </p:sp>
      <p:sp>
        <p:nvSpPr>
          <p:cNvPr id="375" name="Google Shape;375;p8"/>
          <p:cNvSpPr/>
          <p:nvPr/>
        </p:nvSpPr>
        <p:spPr>
          <a:xfrm>
            <a:off x="2535519" y="2525632"/>
            <a:ext cx="858331"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Virtual Keys</a:t>
            </a:r>
            <a:endParaRPr b="0" i="0" sz="1400" u="none" cap="none" strike="noStrike">
              <a:solidFill>
                <a:srgbClr val="000000"/>
              </a:solidFill>
              <a:latin typeface="Arial"/>
              <a:ea typeface="Arial"/>
              <a:cs typeface="Arial"/>
              <a:sym typeface="Arial"/>
            </a:endParaRPr>
          </a:p>
        </p:txBody>
      </p:sp>
      <p:sp>
        <p:nvSpPr>
          <p:cNvPr id="376" name="Google Shape;376;p8"/>
          <p:cNvSpPr/>
          <p:nvPr/>
        </p:nvSpPr>
        <p:spPr>
          <a:xfrm>
            <a:off x="4318000" y="1726583"/>
            <a:ext cx="3556000" cy="1816884"/>
          </a:xfrm>
          <a:custGeom>
            <a:rect b="b" l="l" r="r" t="t"/>
            <a:pathLst>
              <a:path extrusionOk="0" h="1252244" w="2703376">
                <a:moveTo>
                  <a:pt x="57920" y="0"/>
                </a:moveTo>
                <a:lnTo>
                  <a:pt x="758889" y="0"/>
                </a:lnTo>
                <a:lnTo>
                  <a:pt x="1944487" y="0"/>
                </a:lnTo>
                <a:lnTo>
                  <a:pt x="2645456" y="0"/>
                </a:lnTo>
                <a:cubicBezTo>
                  <a:pt x="2677444" y="0"/>
                  <a:pt x="2703376" y="16106"/>
                  <a:pt x="2703376" y="35973"/>
                </a:cubicBezTo>
                <a:lnTo>
                  <a:pt x="2703376" y="80696"/>
                </a:lnTo>
                <a:lnTo>
                  <a:pt x="2703376" y="148035"/>
                </a:lnTo>
                <a:lnTo>
                  <a:pt x="2703376" y="192758"/>
                </a:lnTo>
                <a:lnTo>
                  <a:pt x="2703376" y="299042"/>
                </a:lnTo>
                <a:lnTo>
                  <a:pt x="2703376" y="343765"/>
                </a:lnTo>
                <a:lnTo>
                  <a:pt x="2703376" y="411104"/>
                </a:lnTo>
                <a:lnTo>
                  <a:pt x="2703376" y="455827"/>
                </a:lnTo>
                <a:lnTo>
                  <a:pt x="2703376" y="796418"/>
                </a:lnTo>
                <a:lnTo>
                  <a:pt x="2703376" y="841141"/>
                </a:lnTo>
                <a:lnTo>
                  <a:pt x="2703376" y="908479"/>
                </a:lnTo>
                <a:lnTo>
                  <a:pt x="2703376" y="953202"/>
                </a:lnTo>
                <a:lnTo>
                  <a:pt x="2703376" y="1059486"/>
                </a:lnTo>
                <a:lnTo>
                  <a:pt x="2703376" y="1104209"/>
                </a:lnTo>
                <a:lnTo>
                  <a:pt x="2703376" y="1171548"/>
                </a:lnTo>
                <a:lnTo>
                  <a:pt x="2703376" y="1216271"/>
                </a:lnTo>
                <a:cubicBezTo>
                  <a:pt x="2703376" y="1236138"/>
                  <a:pt x="2677444" y="1252244"/>
                  <a:pt x="2645456" y="1252244"/>
                </a:cubicBezTo>
                <a:lnTo>
                  <a:pt x="1944487" y="1252244"/>
                </a:lnTo>
                <a:lnTo>
                  <a:pt x="1762189" y="1252244"/>
                </a:lnTo>
                <a:lnTo>
                  <a:pt x="1061220" y="1252244"/>
                </a:lnTo>
                <a:lnTo>
                  <a:pt x="758889" y="1252244"/>
                </a:lnTo>
                <a:lnTo>
                  <a:pt x="57920" y="1252244"/>
                </a:lnTo>
                <a:cubicBezTo>
                  <a:pt x="25932" y="1252244"/>
                  <a:pt x="0" y="1236138"/>
                  <a:pt x="0" y="1216271"/>
                </a:cubicBezTo>
                <a:lnTo>
                  <a:pt x="0" y="1171548"/>
                </a:lnTo>
                <a:lnTo>
                  <a:pt x="0" y="1104209"/>
                </a:lnTo>
                <a:lnTo>
                  <a:pt x="0" y="1059486"/>
                </a:lnTo>
                <a:lnTo>
                  <a:pt x="0" y="953202"/>
                </a:lnTo>
                <a:lnTo>
                  <a:pt x="0" y="908479"/>
                </a:lnTo>
                <a:lnTo>
                  <a:pt x="0" y="841141"/>
                </a:lnTo>
                <a:lnTo>
                  <a:pt x="0" y="796418"/>
                </a:lnTo>
                <a:lnTo>
                  <a:pt x="0" y="455827"/>
                </a:lnTo>
                <a:lnTo>
                  <a:pt x="0" y="411104"/>
                </a:lnTo>
                <a:lnTo>
                  <a:pt x="0" y="343765"/>
                </a:lnTo>
                <a:lnTo>
                  <a:pt x="0" y="299042"/>
                </a:lnTo>
                <a:lnTo>
                  <a:pt x="0" y="192758"/>
                </a:lnTo>
                <a:lnTo>
                  <a:pt x="0" y="148035"/>
                </a:lnTo>
                <a:lnTo>
                  <a:pt x="0" y="80696"/>
                </a:lnTo>
                <a:lnTo>
                  <a:pt x="0" y="35973"/>
                </a:lnTo>
                <a:cubicBezTo>
                  <a:pt x="0" y="16106"/>
                  <a:pt x="25932" y="0"/>
                  <a:pt x="57920" y="0"/>
                </a:cubicBezTo>
                <a:close/>
              </a:path>
            </a:pathLst>
          </a:custGeom>
          <a:solidFill>
            <a:srgbClr val="99FFF1"/>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77" name="Google Shape;377;p8"/>
          <p:cNvSpPr/>
          <p:nvPr/>
        </p:nvSpPr>
        <p:spPr>
          <a:xfrm>
            <a:off x="4414085" y="2525632"/>
            <a:ext cx="531731"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Traces</a:t>
            </a:r>
            <a:endParaRPr b="0" i="0" sz="1400" u="none" cap="none" strike="noStrike">
              <a:solidFill>
                <a:srgbClr val="000000"/>
              </a:solidFill>
              <a:latin typeface="Arial"/>
              <a:ea typeface="Arial"/>
              <a:cs typeface="Arial"/>
              <a:sym typeface="Arial"/>
            </a:endParaRPr>
          </a:p>
        </p:txBody>
      </p:sp>
      <p:sp>
        <p:nvSpPr>
          <p:cNvPr id="378" name="Google Shape;378;p8"/>
          <p:cNvSpPr/>
          <p:nvPr/>
        </p:nvSpPr>
        <p:spPr>
          <a:xfrm>
            <a:off x="9281705" y="2869474"/>
            <a:ext cx="990788"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Agent registry</a:t>
            </a:r>
            <a:endParaRPr b="0" i="0" sz="1400" u="none" cap="none" strike="noStrike">
              <a:solidFill>
                <a:srgbClr val="000000"/>
              </a:solidFill>
              <a:latin typeface="Arial"/>
              <a:ea typeface="Arial"/>
              <a:cs typeface="Arial"/>
              <a:sym typeface="Arial"/>
            </a:endParaRPr>
          </a:p>
        </p:txBody>
      </p:sp>
      <p:sp>
        <p:nvSpPr>
          <p:cNvPr id="379" name="Google Shape;379;p8"/>
          <p:cNvSpPr/>
          <p:nvPr/>
        </p:nvSpPr>
        <p:spPr>
          <a:xfrm>
            <a:off x="4826000" y="1869930"/>
            <a:ext cx="2189466"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AI Observability</a:t>
            </a:r>
            <a:endParaRPr b="0" i="0" sz="1400" u="none" cap="none" strike="noStrike">
              <a:solidFill>
                <a:srgbClr val="000000"/>
              </a:solidFill>
              <a:latin typeface="Arial"/>
              <a:ea typeface="Arial"/>
              <a:cs typeface="Arial"/>
              <a:sym typeface="Arial"/>
            </a:endParaRPr>
          </a:p>
        </p:txBody>
      </p:sp>
      <p:sp>
        <p:nvSpPr>
          <p:cNvPr id="380" name="Google Shape;380;p8"/>
          <p:cNvSpPr/>
          <p:nvPr/>
        </p:nvSpPr>
        <p:spPr>
          <a:xfrm>
            <a:off x="4470400" y="2174730"/>
            <a:ext cx="3048000"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Org-wide monitoring</a:t>
            </a:r>
            <a:endParaRPr b="0" i="0" sz="1400" u="none" cap="none" strike="noStrike">
              <a:solidFill>
                <a:srgbClr val="000000"/>
              </a:solidFill>
              <a:latin typeface="Arial"/>
              <a:ea typeface="Arial"/>
              <a:cs typeface="Arial"/>
              <a:sym typeface="Arial"/>
            </a:endParaRPr>
          </a:p>
        </p:txBody>
      </p:sp>
      <p:sp>
        <p:nvSpPr>
          <p:cNvPr id="381" name="Google Shape;381;p8"/>
          <p:cNvSpPr/>
          <p:nvPr/>
        </p:nvSpPr>
        <p:spPr>
          <a:xfrm>
            <a:off x="5089514" y="2525632"/>
            <a:ext cx="685133"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Analytics</a:t>
            </a:r>
            <a:endParaRPr b="0" i="0" sz="1400" u="none" cap="none" strike="noStrike">
              <a:solidFill>
                <a:srgbClr val="000000"/>
              </a:solidFill>
              <a:latin typeface="Arial"/>
              <a:ea typeface="Arial"/>
              <a:cs typeface="Arial"/>
              <a:sym typeface="Arial"/>
            </a:endParaRPr>
          </a:p>
        </p:txBody>
      </p:sp>
      <p:sp>
        <p:nvSpPr>
          <p:cNvPr id="382" name="Google Shape;382;p8"/>
          <p:cNvSpPr/>
          <p:nvPr/>
        </p:nvSpPr>
        <p:spPr>
          <a:xfrm>
            <a:off x="4470400" y="1817003"/>
            <a:ext cx="25200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8"/>
          <p:cNvSpPr/>
          <p:nvPr/>
        </p:nvSpPr>
        <p:spPr>
          <a:xfrm>
            <a:off x="4411886" y="2843132"/>
            <a:ext cx="498029"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Costs </a:t>
            </a:r>
            <a:endParaRPr b="0" i="0" sz="1400" u="none" cap="none" strike="noStrike">
              <a:solidFill>
                <a:srgbClr val="000000"/>
              </a:solidFill>
              <a:latin typeface="Arial"/>
              <a:ea typeface="Arial"/>
              <a:cs typeface="Arial"/>
              <a:sym typeface="Arial"/>
            </a:endParaRPr>
          </a:p>
        </p:txBody>
      </p:sp>
      <p:sp>
        <p:nvSpPr>
          <p:cNvPr id="384" name="Google Shape;384;p8"/>
          <p:cNvSpPr/>
          <p:nvPr/>
        </p:nvSpPr>
        <p:spPr>
          <a:xfrm>
            <a:off x="5893885" y="2525632"/>
            <a:ext cx="477863"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Errors</a:t>
            </a:r>
            <a:endParaRPr b="0" i="0" sz="1400" u="none" cap="none" strike="noStrike">
              <a:solidFill>
                <a:srgbClr val="000000"/>
              </a:solidFill>
              <a:latin typeface="Arial"/>
              <a:ea typeface="Arial"/>
              <a:cs typeface="Arial"/>
              <a:sym typeface="Arial"/>
            </a:endParaRPr>
          </a:p>
        </p:txBody>
      </p:sp>
      <p:sp>
        <p:nvSpPr>
          <p:cNvPr id="385" name="Google Shape;385;p8"/>
          <p:cNvSpPr/>
          <p:nvPr/>
        </p:nvSpPr>
        <p:spPr>
          <a:xfrm>
            <a:off x="6490986" y="2525632"/>
            <a:ext cx="467780"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Alerts</a:t>
            </a:r>
            <a:endParaRPr b="0" i="0" sz="1400" u="none" cap="none" strike="noStrike">
              <a:solidFill>
                <a:srgbClr val="000000"/>
              </a:solidFill>
              <a:latin typeface="Arial"/>
              <a:ea typeface="Arial"/>
              <a:cs typeface="Arial"/>
              <a:sym typeface="Arial"/>
            </a:endParaRPr>
          </a:p>
        </p:txBody>
      </p:sp>
      <p:sp>
        <p:nvSpPr>
          <p:cNvPr id="386" name="Google Shape;386;p8"/>
          <p:cNvSpPr/>
          <p:nvPr/>
        </p:nvSpPr>
        <p:spPr>
          <a:xfrm>
            <a:off x="8285434" y="2843132"/>
            <a:ext cx="853532"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Compliance</a:t>
            </a:r>
            <a:endParaRPr b="0" i="0" sz="1400" u="none" cap="none" strike="noStrike">
              <a:solidFill>
                <a:srgbClr val="000000"/>
              </a:solidFill>
              <a:latin typeface="Arial"/>
              <a:ea typeface="Arial"/>
              <a:cs typeface="Arial"/>
              <a:sym typeface="Arial"/>
            </a:endParaRPr>
          </a:p>
        </p:txBody>
      </p:sp>
      <p:sp>
        <p:nvSpPr>
          <p:cNvPr id="387" name="Google Shape;387;p8"/>
          <p:cNvSpPr/>
          <p:nvPr/>
        </p:nvSpPr>
        <p:spPr>
          <a:xfrm>
            <a:off x="10415232" y="2869474"/>
            <a:ext cx="881310"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Tool registry</a:t>
            </a:r>
            <a:endParaRPr b="0" i="0" sz="1400" u="none" cap="none" strike="noStrike">
              <a:solidFill>
                <a:srgbClr val="000000"/>
              </a:solidFill>
              <a:latin typeface="Arial"/>
              <a:ea typeface="Arial"/>
              <a:cs typeface="Arial"/>
              <a:sym typeface="Arial"/>
            </a:endParaRPr>
          </a:p>
        </p:txBody>
      </p:sp>
      <p:sp>
        <p:nvSpPr>
          <p:cNvPr id="388" name="Google Shape;388;p8"/>
          <p:cNvSpPr/>
          <p:nvPr/>
        </p:nvSpPr>
        <p:spPr>
          <a:xfrm>
            <a:off x="2776158" y="2851521"/>
            <a:ext cx="899283"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PII Detection</a:t>
            </a:r>
            <a:endParaRPr b="0" i="0" sz="1400" u="none" cap="none" strike="noStrike">
              <a:solidFill>
                <a:srgbClr val="000000"/>
              </a:solidFill>
              <a:latin typeface="Arial"/>
              <a:ea typeface="Arial"/>
              <a:cs typeface="Arial"/>
              <a:sym typeface="Arial"/>
            </a:endParaRPr>
          </a:p>
        </p:txBody>
      </p:sp>
      <p:sp>
        <p:nvSpPr>
          <p:cNvPr id="389" name="Google Shape;389;p8"/>
          <p:cNvSpPr/>
          <p:nvPr/>
        </p:nvSpPr>
        <p:spPr>
          <a:xfrm>
            <a:off x="5050589" y="2843132"/>
            <a:ext cx="686782"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Identities</a:t>
            </a:r>
            <a:endParaRPr b="0" i="0" sz="1400" u="none" cap="none" strike="noStrike">
              <a:solidFill>
                <a:srgbClr val="000000"/>
              </a:solidFill>
              <a:latin typeface="Arial"/>
              <a:ea typeface="Arial"/>
              <a:cs typeface="Arial"/>
              <a:sym typeface="Arial"/>
            </a:endParaRPr>
          </a:p>
        </p:txBody>
      </p:sp>
      <p:sp>
        <p:nvSpPr>
          <p:cNvPr id="390" name="Google Shape;390;p8"/>
          <p:cNvSpPr/>
          <p:nvPr/>
        </p:nvSpPr>
        <p:spPr>
          <a:xfrm>
            <a:off x="431800" y="4783106"/>
            <a:ext cx="3556000" cy="1814246"/>
          </a:xfrm>
          <a:custGeom>
            <a:rect b="b" l="l" r="r" t="t"/>
            <a:pathLst>
              <a:path extrusionOk="0" h="1252244" w="2703376">
                <a:moveTo>
                  <a:pt x="57920" y="0"/>
                </a:moveTo>
                <a:lnTo>
                  <a:pt x="758889" y="0"/>
                </a:lnTo>
                <a:lnTo>
                  <a:pt x="1944487" y="0"/>
                </a:lnTo>
                <a:lnTo>
                  <a:pt x="2645456" y="0"/>
                </a:lnTo>
                <a:cubicBezTo>
                  <a:pt x="2677444" y="0"/>
                  <a:pt x="2703376" y="16106"/>
                  <a:pt x="2703376" y="35973"/>
                </a:cubicBezTo>
                <a:lnTo>
                  <a:pt x="2703376" y="80696"/>
                </a:lnTo>
                <a:lnTo>
                  <a:pt x="2703376" y="148035"/>
                </a:lnTo>
                <a:lnTo>
                  <a:pt x="2703376" y="192758"/>
                </a:lnTo>
                <a:lnTo>
                  <a:pt x="2703376" y="299042"/>
                </a:lnTo>
                <a:lnTo>
                  <a:pt x="2703376" y="343765"/>
                </a:lnTo>
                <a:lnTo>
                  <a:pt x="2703376" y="411104"/>
                </a:lnTo>
                <a:lnTo>
                  <a:pt x="2703376" y="455827"/>
                </a:lnTo>
                <a:lnTo>
                  <a:pt x="2703376" y="796418"/>
                </a:lnTo>
                <a:lnTo>
                  <a:pt x="2703376" y="841141"/>
                </a:lnTo>
                <a:lnTo>
                  <a:pt x="2703376" y="908479"/>
                </a:lnTo>
                <a:lnTo>
                  <a:pt x="2703376" y="953202"/>
                </a:lnTo>
                <a:lnTo>
                  <a:pt x="2703376" y="1059486"/>
                </a:lnTo>
                <a:lnTo>
                  <a:pt x="2703376" y="1104209"/>
                </a:lnTo>
                <a:lnTo>
                  <a:pt x="2703376" y="1171548"/>
                </a:lnTo>
                <a:lnTo>
                  <a:pt x="2703376" y="1216271"/>
                </a:lnTo>
                <a:cubicBezTo>
                  <a:pt x="2703376" y="1236138"/>
                  <a:pt x="2677444" y="1252244"/>
                  <a:pt x="2645456" y="1252244"/>
                </a:cubicBezTo>
                <a:lnTo>
                  <a:pt x="1944487" y="1252244"/>
                </a:lnTo>
                <a:lnTo>
                  <a:pt x="1762189" y="1252244"/>
                </a:lnTo>
                <a:lnTo>
                  <a:pt x="1061220" y="1252244"/>
                </a:lnTo>
                <a:lnTo>
                  <a:pt x="758889" y="1252244"/>
                </a:lnTo>
                <a:lnTo>
                  <a:pt x="57920" y="1252244"/>
                </a:lnTo>
                <a:cubicBezTo>
                  <a:pt x="25932" y="1252244"/>
                  <a:pt x="0" y="1236138"/>
                  <a:pt x="0" y="1216271"/>
                </a:cubicBezTo>
                <a:lnTo>
                  <a:pt x="0" y="1171548"/>
                </a:lnTo>
                <a:lnTo>
                  <a:pt x="0" y="1104209"/>
                </a:lnTo>
                <a:lnTo>
                  <a:pt x="0" y="1059486"/>
                </a:lnTo>
                <a:lnTo>
                  <a:pt x="0" y="953202"/>
                </a:lnTo>
                <a:lnTo>
                  <a:pt x="0" y="908479"/>
                </a:lnTo>
                <a:lnTo>
                  <a:pt x="0" y="841141"/>
                </a:lnTo>
                <a:lnTo>
                  <a:pt x="0" y="796418"/>
                </a:lnTo>
                <a:lnTo>
                  <a:pt x="0" y="455827"/>
                </a:lnTo>
                <a:lnTo>
                  <a:pt x="0" y="411104"/>
                </a:lnTo>
                <a:lnTo>
                  <a:pt x="0" y="343765"/>
                </a:lnTo>
                <a:lnTo>
                  <a:pt x="0" y="299042"/>
                </a:lnTo>
                <a:lnTo>
                  <a:pt x="0" y="192758"/>
                </a:lnTo>
                <a:lnTo>
                  <a:pt x="0" y="148035"/>
                </a:lnTo>
                <a:lnTo>
                  <a:pt x="0" y="80696"/>
                </a:lnTo>
                <a:lnTo>
                  <a:pt x="0" y="35973"/>
                </a:lnTo>
                <a:cubicBezTo>
                  <a:pt x="0" y="16106"/>
                  <a:pt x="25932" y="0"/>
                  <a:pt x="57920" y="0"/>
                </a:cubicBezTo>
                <a:close/>
              </a:path>
            </a:pathLst>
          </a:custGeom>
          <a:solidFill>
            <a:srgbClr val="EC967A"/>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91" name="Google Shape;391;p8"/>
          <p:cNvSpPr/>
          <p:nvPr/>
        </p:nvSpPr>
        <p:spPr>
          <a:xfrm>
            <a:off x="4318000" y="4783106"/>
            <a:ext cx="3556000" cy="1814246"/>
          </a:xfrm>
          <a:custGeom>
            <a:rect b="b" l="l" r="r" t="t"/>
            <a:pathLst>
              <a:path extrusionOk="0" h="1252244" w="2703376">
                <a:moveTo>
                  <a:pt x="57920" y="0"/>
                </a:moveTo>
                <a:lnTo>
                  <a:pt x="758889" y="0"/>
                </a:lnTo>
                <a:lnTo>
                  <a:pt x="1944487" y="0"/>
                </a:lnTo>
                <a:lnTo>
                  <a:pt x="2645456" y="0"/>
                </a:lnTo>
                <a:cubicBezTo>
                  <a:pt x="2677444" y="0"/>
                  <a:pt x="2703376" y="16106"/>
                  <a:pt x="2703376" y="35973"/>
                </a:cubicBezTo>
                <a:lnTo>
                  <a:pt x="2703376" y="80696"/>
                </a:lnTo>
                <a:lnTo>
                  <a:pt x="2703376" y="148035"/>
                </a:lnTo>
                <a:lnTo>
                  <a:pt x="2703376" y="192758"/>
                </a:lnTo>
                <a:lnTo>
                  <a:pt x="2703376" y="299042"/>
                </a:lnTo>
                <a:lnTo>
                  <a:pt x="2703376" y="343765"/>
                </a:lnTo>
                <a:lnTo>
                  <a:pt x="2703376" y="411104"/>
                </a:lnTo>
                <a:lnTo>
                  <a:pt x="2703376" y="455827"/>
                </a:lnTo>
                <a:lnTo>
                  <a:pt x="2703376" y="796418"/>
                </a:lnTo>
                <a:lnTo>
                  <a:pt x="2703376" y="841141"/>
                </a:lnTo>
                <a:lnTo>
                  <a:pt x="2703376" y="908479"/>
                </a:lnTo>
                <a:lnTo>
                  <a:pt x="2703376" y="953202"/>
                </a:lnTo>
                <a:lnTo>
                  <a:pt x="2703376" y="1059486"/>
                </a:lnTo>
                <a:lnTo>
                  <a:pt x="2703376" y="1104209"/>
                </a:lnTo>
                <a:lnTo>
                  <a:pt x="2703376" y="1171548"/>
                </a:lnTo>
                <a:lnTo>
                  <a:pt x="2703376" y="1216271"/>
                </a:lnTo>
                <a:cubicBezTo>
                  <a:pt x="2703376" y="1236138"/>
                  <a:pt x="2677444" y="1252244"/>
                  <a:pt x="2645456" y="1252244"/>
                </a:cubicBezTo>
                <a:lnTo>
                  <a:pt x="1944487" y="1252244"/>
                </a:lnTo>
                <a:lnTo>
                  <a:pt x="1762189" y="1252244"/>
                </a:lnTo>
                <a:lnTo>
                  <a:pt x="1061220" y="1252244"/>
                </a:lnTo>
                <a:lnTo>
                  <a:pt x="758889" y="1252244"/>
                </a:lnTo>
                <a:lnTo>
                  <a:pt x="57920" y="1252244"/>
                </a:lnTo>
                <a:cubicBezTo>
                  <a:pt x="25932" y="1252244"/>
                  <a:pt x="0" y="1236138"/>
                  <a:pt x="0" y="1216271"/>
                </a:cubicBezTo>
                <a:lnTo>
                  <a:pt x="0" y="1171548"/>
                </a:lnTo>
                <a:lnTo>
                  <a:pt x="0" y="1104209"/>
                </a:lnTo>
                <a:lnTo>
                  <a:pt x="0" y="1059486"/>
                </a:lnTo>
                <a:lnTo>
                  <a:pt x="0" y="953202"/>
                </a:lnTo>
                <a:lnTo>
                  <a:pt x="0" y="908479"/>
                </a:lnTo>
                <a:lnTo>
                  <a:pt x="0" y="841141"/>
                </a:lnTo>
                <a:lnTo>
                  <a:pt x="0" y="796418"/>
                </a:lnTo>
                <a:lnTo>
                  <a:pt x="0" y="455827"/>
                </a:lnTo>
                <a:lnTo>
                  <a:pt x="0" y="411104"/>
                </a:lnTo>
                <a:lnTo>
                  <a:pt x="0" y="343765"/>
                </a:lnTo>
                <a:lnTo>
                  <a:pt x="0" y="299042"/>
                </a:lnTo>
                <a:lnTo>
                  <a:pt x="0" y="192758"/>
                </a:lnTo>
                <a:lnTo>
                  <a:pt x="0" y="148035"/>
                </a:lnTo>
                <a:lnTo>
                  <a:pt x="0" y="80696"/>
                </a:lnTo>
                <a:lnTo>
                  <a:pt x="0" y="35973"/>
                </a:lnTo>
                <a:cubicBezTo>
                  <a:pt x="0" y="16106"/>
                  <a:pt x="25932" y="0"/>
                  <a:pt x="57920" y="0"/>
                </a:cubicBezTo>
                <a:close/>
              </a:path>
            </a:pathLst>
          </a:custGeom>
          <a:solidFill>
            <a:srgbClr val="EC967A"/>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92" name="Google Shape;392;p8"/>
          <p:cNvSpPr/>
          <p:nvPr/>
        </p:nvSpPr>
        <p:spPr>
          <a:xfrm>
            <a:off x="8204200" y="4783106"/>
            <a:ext cx="3556000" cy="1814246"/>
          </a:xfrm>
          <a:custGeom>
            <a:rect b="b" l="l" r="r" t="t"/>
            <a:pathLst>
              <a:path extrusionOk="0" h="1252244" w="2703376">
                <a:moveTo>
                  <a:pt x="57920" y="0"/>
                </a:moveTo>
                <a:lnTo>
                  <a:pt x="758889" y="0"/>
                </a:lnTo>
                <a:lnTo>
                  <a:pt x="1944487" y="0"/>
                </a:lnTo>
                <a:lnTo>
                  <a:pt x="2645456" y="0"/>
                </a:lnTo>
                <a:cubicBezTo>
                  <a:pt x="2677444" y="0"/>
                  <a:pt x="2703376" y="16106"/>
                  <a:pt x="2703376" y="35973"/>
                </a:cubicBezTo>
                <a:lnTo>
                  <a:pt x="2703376" y="80696"/>
                </a:lnTo>
                <a:lnTo>
                  <a:pt x="2703376" y="148035"/>
                </a:lnTo>
                <a:lnTo>
                  <a:pt x="2703376" y="192758"/>
                </a:lnTo>
                <a:lnTo>
                  <a:pt x="2703376" y="299042"/>
                </a:lnTo>
                <a:lnTo>
                  <a:pt x="2703376" y="343765"/>
                </a:lnTo>
                <a:lnTo>
                  <a:pt x="2703376" y="411104"/>
                </a:lnTo>
                <a:lnTo>
                  <a:pt x="2703376" y="455827"/>
                </a:lnTo>
                <a:lnTo>
                  <a:pt x="2703376" y="796418"/>
                </a:lnTo>
                <a:lnTo>
                  <a:pt x="2703376" y="841141"/>
                </a:lnTo>
                <a:lnTo>
                  <a:pt x="2703376" y="908479"/>
                </a:lnTo>
                <a:lnTo>
                  <a:pt x="2703376" y="953202"/>
                </a:lnTo>
                <a:lnTo>
                  <a:pt x="2703376" y="1059486"/>
                </a:lnTo>
                <a:lnTo>
                  <a:pt x="2703376" y="1104209"/>
                </a:lnTo>
                <a:lnTo>
                  <a:pt x="2703376" y="1171548"/>
                </a:lnTo>
                <a:lnTo>
                  <a:pt x="2703376" y="1216271"/>
                </a:lnTo>
                <a:cubicBezTo>
                  <a:pt x="2703376" y="1236138"/>
                  <a:pt x="2677444" y="1252244"/>
                  <a:pt x="2645456" y="1252244"/>
                </a:cubicBezTo>
                <a:lnTo>
                  <a:pt x="1944487" y="1252244"/>
                </a:lnTo>
                <a:lnTo>
                  <a:pt x="1762189" y="1252244"/>
                </a:lnTo>
                <a:lnTo>
                  <a:pt x="1061220" y="1252244"/>
                </a:lnTo>
                <a:lnTo>
                  <a:pt x="758889" y="1252244"/>
                </a:lnTo>
                <a:lnTo>
                  <a:pt x="57920" y="1252244"/>
                </a:lnTo>
                <a:cubicBezTo>
                  <a:pt x="25932" y="1252244"/>
                  <a:pt x="0" y="1236138"/>
                  <a:pt x="0" y="1216271"/>
                </a:cubicBezTo>
                <a:lnTo>
                  <a:pt x="0" y="1171548"/>
                </a:lnTo>
                <a:lnTo>
                  <a:pt x="0" y="1104209"/>
                </a:lnTo>
                <a:lnTo>
                  <a:pt x="0" y="1059486"/>
                </a:lnTo>
                <a:lnTo>
                  <a:pt x="0" y="953202"/>
                </a:lnTo>
                <a:lnTo>
                  <a:pt x="0" y="908479"/>
                </a:lnTo>
                <a:lnTo>
                  <a:pt x="0" y="841141"/>
                </a:lnTo>
                <a:lnTo>
                  <a:pt x="0" y="796418"/>
                </a:lnTo>
                <a:lnTo>
                  <a:pt x="0" y="455827"/>
                </a:lnTo>
                <a:lnTo>
                  <a:pt x="0" y="411104"/>
                </a:lnTo>
                <a:lnTo>
                  <a:pt x="0" y="343765"/>
                </a:lnTo>
                <a:lnTo>
                  <a:pt x="0" y="299042"/>
                </a:lnTo>
                <a:lnTo>
                  <a:pt x="0" y="192758"/>
                </a:lnTo>
                <a:lnTo>
                  <a:pt x="0" y="148035"/>
                </a:lnTo>
                <a:lnTo>
                  <a:pt x="0" y="80696"/>
                </a:lnTo>
                <a:lnTo>
                  <a:pt x="0" y="35973"/>
                </a:lnTo>
                <a:cubicBezTo>
                  <a:pt x="0" y="16106"/>
                  <a:pt x="25932" y="0"/>
                  <a:pt x="57920" y="0"/>
                </a:cubicBezTo>
                <a:close/>
              </a:path>
            </a:pathLst>
          </a:custGeom>
          <a:solidFill>
            <a:srgbClr val="EC967A"/>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sp>
        <p:nvSpPr>
          <p:cNvPr id="393" name="Google Shape;393;p8"/>
          <p:cNvSpPr/>
          <p:nvPr/>
        </p:nvSpPr>
        <p:spPr>
          <a:xfrm>
            <a:off x="584200" y="4922806"/>
            <a:ext cx="2189466"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394" name="Google Shape;394;p8"/>
          <p:cNvSpPr/>
          <p:nvPr/>
        </p:nvSpPr>
        <p:spPr>
          <a:xfrm>
            <a:off x="4470400" y="4922806"/>
            <a:ext cx="2189466"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395" name="Google Shape;395;p8"/>
          <p:cNvSpPr/>
          <p:nvPr/>
        </p:nvSpPr>
        <p:spPr>
          <a:xfrm>
            <a:off x="8356600" y="4922806"/>
            <a:ext cx="2189466"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Optimize</a:t>
            </a:r>
            <a:endParaRPr b="0" i="0" sz="1400" u="none" cap="none" strike="noStrike">
              <a:solidFill>
                <a:srgbClr val="000000"/>
              </a:solidFill>
              <a:latin typeface="Arial"/>
              <a:ea typeface="Arial"/>
              <a:cs typeface="Arial"/>
              <a:sym typeface="Arial"/>
            </a:endParaRPr>
          </a:p>
        </p:txBody>
      </p:sp>
      <p:sp>
        <p:nvSpPr>
          <p:cNvPr id="396" name="Google Shape;396;p8"/>
          <p:cNvSpPr/>
          <p:nvPr/>
        </p:nvSpPr>
        <p:spPr>
          <a:xfrm>
            <a:off x="584200" y="5227606"/>
            <a:ext cx="3048000" cy="307777"/>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Develop, experiment, and build agents with domain experts</a:t>
            </a:r>
            <a:endParaRPr b="0" i="0" sz="1400" u="none" cap="none" strike="noStrike">
              <a:solidFill>
                <a:srgbClr val="000000"/>
              </a:solidFill>
              <a:latin typeface="Arial"/>
              <a:ea typeface="Arial"/>
              <a:cs typeface="Arial"/>
              <a:sym typeface="Arial"/>
            </a:endParaRPr>
          </a:p>
        </p:txBody>
      </p:sp>
      <p:sp>
        <p:nvSpPr>
          <p:cNvPr id="397" name="Google Shape;397;p8"/>
          <p:cNvSpPr/>
          <p:nvPr/>
        </p:nvSpPr>
        <p:spPr>
          <a:xfrm>
            <a:off x="4470400" y="5227606"/>
            <a:ext cx="3048000" cy="153888"/>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Run agents at scale</a:t>
            </a:r>
            <a:endParaRPr b="0" i="0" sz="1400" u="none" cap="none" strike="noStrike">
              <a:solidFill>
                <a:srgbClr val="000000"/>
              </a:solidFill>
              <a:latin typeface="Arial"/>
              <a:ea typeface="Arial"/>
              <a:cs typeface="Arial"/>
              <a:sym typeface="Arial"/>
            </a:endParaRPr>
          </a:p>
        </p:txBody>
      </p:sp>
      <p:sp>
        <p:nvSpPr>
          <p:cNvPr id="398" name="Google Shape;398;p8"/>
          <p:cNvSpPr/>
          <p:nvPr/>
        </p:nvSpPr>
        <p:spPr>
          <a:xfrm>
            <a:off x="8356600" y="5227606"/>
            <a:ext cx="3048000" cy="307777"/>
          </a:xfrm>
          <a:custGeom>
            <a:rect b="b" l="l" r="r" t="t"/>
            <a:pathLst>
              <a:path extrusionOk="0" h="2268252" w="3804163">
                <a:moveTo>
                  <a:pt x="61306" y="0"/>
                </a:moveTo>
                <a:lnTo>
                  <a:pt x="3742857" y="0"/>
                </a:lnTo>
                <a:cubicBezTo>
                  <a:pt x="3776715" y="0"/>
                  <a:pt x="3804163" y="27448"/>
                  <a:pt x="3804163" y="61306"/>
                </a:cubicBezTo>
                <a:lnTo>
                  <a:pt x="3804163" y="2206946"/>
                </a:lnTo>
                <a:cubicBezTo>
                  <a:pt x="3804163" y="2240804"/>
                  <a:pt x="3776715" y="2268252"/>
                  <a:pt x="3742857" y="2268252"/>
                </a:cubicBezTo>
                <a:lnTo>
                  <a:pt x="61306" y="2268252"/>
                </a:lnTo>
                <a:cubicBezTo>
                  <a:pt x="27448" y="2268252"/>
                  <a:pt x="0" y="2240804"/>
                  <a:pt x="0" y="2206946"/>
                </a:cubicBezTo>
                <a:lnTo>
                  <a:pt x="0" y="61306"/>
                </a:lnTo>
                <a:cubicBezTo>
                  <a:pt x="0" y="27448"/>
                  <a:pt x="27448" y="0"/>
                  <a:pt x="61306" y="0"/>
                </a:cubicBezTo>
                <a:close/>
              </a:path>
            </a:pathLst>
          </a:cu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Identify edge cases and failures for continuous improvement</a:t>
            </a:r>
            <a:endParaRPr b="0" i="0" sz="1400" u="none" cap="none" strike="noStrike">
              <a:solidFill>
                <a:srgbClr val="000000"/>
              </a:solidFill>
              <a:latin typeface="Arial"/>
              <a:ea typeface="Arial"/>
              <a:cs typeface="Arial"/>
              <a:sym typeface="Arial"/>
            </a:endParaRPr>
          </a:p>
        </p:txBody>
      </p:sp>
      <p:sp>
        <p:nvSpPr>
          <p:cNvPr id="399" name="Google Shape;399;p8"/>
          <p:cNvSpPr/>
          <p:nvPr/>
        </p:nvSpPr>
        <p:spPr>
          <a:xfrm>
            <a:off x="1587264" y="5620453"/>
            <a:ext cx="1222818"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Knowledge (RAG)</a:t>
            </a:r>
            <a:endParaRPr b="0" i="0" sz="1400" u="none" cap="none" strike="noStrike">
              <a:solidFill>
                <a:srgbClr val="000000"/>
              </a:solidFill>
              <a:latin typeface="Arial"/>
              <a:ea typeface="Arial"/>
              <a:cs typeface="Arial"/>
              <a:sym typeface="Arial"/>
            </a:endParaRPr>
          </a:p>
        </p:txBody>
      </p:sp>
      <p:sp>
        <p:nvSpPr>
          <p:cNvPr id="400" name="Google Shape;400;p8"/>
          <p:cNvSpPr/>
          <p:nvPr/>
        </p:nvSpPr>
        <p:spPr>
          <a:xfrm>
            <a:off x="4387607" y="5620453"/>
            <a:ext cx="673586"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Sandbox</a:t>
            </a:r>
            <a:endParaRPr b="0" i="0" sz="1400" u="none" cap="none" strike="noStrike">
              <a:solidFill>
                <a:srgbClr val="000000"/>
              </a:solidFill>
              <a:latin typeface="Arial"/>
              <a:ea typeface="Arial"/>
              <a:cs typeface="Arial"/>
              <a:sym typeface="Arial"/>
            </a:endParaRPr>
          </a:p>
        </p:txBody>
      </p:sp>
      <p:sp>
        <p:nvSpPr>
          <p:cNvPr id="401" name="Google Shape;401;p8"/>
          <p:cNvSpPr/>
          <p:nvPr/>
        </p:nvSpPr>
        <p:spPr>
          <a:xfrm>
            <a:off x="9526625" y="5620453"/>
            <a:ext cx="1092097"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Failure Analysis</a:t>
            </a:r>
            <a:endParaRPr b="0" i="0" sz="1400" u="none" cap="none" strike="noStrike">
              <a:solidFill>
                <a:srgbClr val="000000"/>
              </a:solidFill>
              <a:latin typeface="Arial"/>
              <a:ea typeface="Arial"/>
              <a:cs typeface="Arial"/>
              <a:sym typeface="Arial"/>
            </a:endParaRPr>
          </a:p>
        </p:txBody>
      </p:sp>
      <p:sp>
        <p:nvSpPr>
          <p:cNvPr id="402" name="Google Shape;402;p8"/>
          <p:cNvSpPr/>
          <p:nvPr/>
        </p:nvSpPr>
        <p:spPr>
          <a:xfrm>
            <a:off x="524545" y="5937953"/>
            <a:ext cx="881311"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Experiments</a:t>
            </a:r>
            <a:endParaRPr b="0" i="0" sz="1400" u="none" cap="none" strike="noStrike">
              <a:solidFill>
                <a:srgbClr val="000000"/>
              </a:solidFill>
              <a:latin typeface="Arial"/>
              <a:ea typeface="Arial"/>
              <a:cs typeface="Arial"/>
              <a:sym typeface="Arial"/>
            </a:endParaRPr>
          </a:p>
        </p:txBody>
      </p:sp>
      <p:sp>
        <p:nvSpPr>
          <p:cNvPr id="403" name="Google Shape;403;p8"/>
          <p:cNvSpPr/>
          <p:nvPr/>
        </p:nvSpPr>
        <p:spPr>
          <a:xfrm>
            <a:off x="2893788" y="5620453"/>
            <a:ext cx="683483"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Datasets</a:t>
            </a:r>
            <a:endParaRPr b="0" i="0" sz="1400" u="none" cap="none" strike="noStrike">
              <a:solidFill>
                <a:srgbClr val="000000"/>
              </a:solidFill>
              <a:latin typeface="Arial"/>
              <a:ea typeface="Arial"/>
              <a:cs typeface="Arial"/>
              <a:sym typeface="Arial"/>
            </a:endParaRPr>
          </a:p>
        </p:txBody>
      </p:sp>
      <p:sp>
        <p:nvSpPr>
          <p:cNvPr id="404" name="Google Shape;404;p8"/>
          <p:cNvSpPr/>
          <p:nvPr/>
        </p:nvSpPr>
        <p:spPr>
          <a:xfrm>
            <a:off x="529965" y="5620453"/>
            <a:ext cx="946671"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Agent Builder</a:t>
            </a:r>
            <a:endParaRPr b="0" i="0" sz="1400" u="none" cap="none" strike="noStrike">
              <a:solidFill>
                <a:srgbClr val="000000"/>
              </a:solidFill>
              <a:latin typeface="Arial"/>
              <a:ea typeface="Arial"/>
              <a:cs typeface="Arial"/>
              <a:sym typeface="Arial"/>
            </a:endParaRPr>
          </a:p>
        </p:txBody>
      </p:sp>
      <p:sp>
        <p:nvSpPr>
          <p:cNvPr id="405" name="Google Shape;405;p8"/>
          <p:cNvSpPr/>
          <p:nvPr/>
        </p:nvSpPr>
        <p:spPr>
          <a:xfrm>
            <a:off x="4405042" y="5937953"/>
            <a:ext cx="613316"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Memory</a:t>
            </a:r>
            <a:endParaRPr b="0" i="0" sz="1400" u="none" cap="none" strike="noStrike">
              <a:solidFill>
                <a:srgbClr val="000000"/>
              </a:solidFill>
              <a:latin typeface="Arial"/>
              <a:ea typeface="Arial"/>
              <a:cs typeface="Arial"/>
              <a:sym typeface="Arial"/>
            </a:endParaRPr>
          </a:p>
        </p:txBody>
      </p:sp>
      <p:sp>
        <p:nvSpPr>
          <p:cNvPr id="406" name="Google Shape;406;p8"/>
          <p:cNvSpPr/>
          <p:nvPr/>
        </p:nvSpPr>
        <p:spPr>
          <a:xfrm>
            <a:off x="8301847" y="5937953"/>
            <a:ext cx="871506"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Annotations</a:t>
            </a:r>
            <a:endParaRPr b="0" i="0" sz="1400" u="none" cap="none" strike="noStrike">
              <a:solidFill>
                <a:srgbClr val="000000"/>
              </a:solidFill>
              <a:latin typeface="Arial"/>
              <a:ea typeface="Arial"/>
              <a:cs typeface="Arial"/>
              <a:sym typeface="Arial"/>
            </a:endParaRPr>
          </a:p>
        </p:txBody>
      </p:sp>
      <p:sp>
        <p:nvSpPr>
          <p:cNvPr id="407" name="Google Shape;407;p8"/>
          <p:cNvSpPr/>
          <p:nvPr/>
        </p:nvSpPr>
        <p:spPr>
          <a:xfrm>
            <a:off x="1525244" y="5937953"/>
            <a:ext cx="762659"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Versioning</a:t>
            </a:r>
            <a:endParaRPr b="0" i="0" sz="1400" u="none" cap="none" strike="noStrike">
              <a:solidFill>
                <a:srgbClr val="000000"/>
              </a:solidFill>
              <a:latin typeface="Arial"/>
              <a:ea typeface="Arial"/>
              <a:cs typeface="Arial"/>
              <a:sym typeface="Arial"/>
            </a:endParaRPr>
          </a:p>
        </p:txBody>
      </p:sp>
      <p:sp>
        <p:nvSpPr>
          <p:cNvPr id="408" name="Google Shape;408;p8"/>
          <p:cNvSpPr/>
          <p:nvPr/>
        </p:nvSpPr>
        <p:spPr>
          <a:xfrm>
            <a:off x="6323358" y="5937953"/>
            <a:ext cx="822042"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A/B testing</a:t>
            </a:r>
            <a:endParaRPr b="0" i="0" sz="1400" u="none" cap="none" strike="noStrike">
              <a:solidFill>
                <a:srgbClr val="000000"/>
              </a:solidFill>
              <a:latin typeface="Arial"/>
              <a:ea typeface="Arial"/>
              <a:cs typeface="Arial"/>
              <a:sym typeface="Arial"/>
            </a:endParaRPr>
          </a:p>
        </p:txBody>
      </p:sp>
      <p:sp>
        <p:nvSpPr>
          <p:cNvPr id="409" name="Google Shape;409;p8"/>
          <p:cNvSpPr/>
          <p:nvPr/>
        </p:nvSpPr>
        <p:spPr>
          <a:xfrm>
            <a:off x="4406466" y="6255453"/>
            <a:ext cx="1181968"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Canary Releases</a:t>
            </a:r>
            <a:endParaRPr b="0" i="0" sz="1400" u="none" cap="none" strike="noStrike">
              <a:solidFill>
                <a:srgbClr val="000000"/>
              </a:solidFill>
              <a:latin typeface="Arial"/>
              <a:ea typeface="Arial"/>
              <a:cs typeface="Arial"/>
              <a:sym typeface="Arial"/>
            </a:endParaRPr>
          </a:p>
        </p:txBody>
      </p:sp>
      <p:sp>
        <p:nvSpPr>
          <p:cNvPr id="410" name="Google Shape;410;p8"/>
          <p:cNvSpPr/>
          <p:nvPr/>
        </p:nvSpPr>
        <p:spPr>
          <a:xfrm>
            <a:off x="5170637" y="5937953"/>
            <a:ext cx="1028371"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Tool Execution</a:t>
            </a:r>
            <a:endParaRPr b="0" i="0" sz="1400" u="none" cap="none" strike="noStrike">
              <a:solidFill>
                <a:srgbClr val="000000"/>
              </a:solidFill>
              <a:latin typeface="Arial"/>
              <a:ea typeface="Arial"/>
              <a:cs typeface="Arial"/>
              <a:sym typeface="Arial"/>
            </a:endParaRPr>
          </a:p>
        </p:txBody>
      </p:sp>
      <p:sp>
        <p:nvSpPr>
          <p:cNvPr id="411" name="Google Shape;411;p8"/>
          <p:cNvSpPr/>
          <p:nvPr/>
        </p:nvSpPr>
        <p:spPr>
          <a:xfrm>
            <a:off x="9290965" y="5937953"/>
            <a:ext cx="737917"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Feedback</a:t>
            </a:r>
            <a:endParaRPr b="0" i="0" sz="1400" u="none" cap="none" strike="noStrike">
              <a:solidFill>
                <a:srgbClr val="000000"/>
              </a:solidFill>
              <a:latin typeface="Arial"/>
              <a:ea typeface="Arial"/>
              <a:cs typeface="Arial"/>
              <a:sym typeface="Arial"/>
            </a:endParaRPr>
          </a:p>
        </p:txBody>
      </p:sp>
      <p:sp>
        <p:nvSpPr>
          <p:cNvPr id="412" name="Google Shape;412;p8"/>
          <p:cNvSpPr/>
          <p:nvPr/>
        </p:nvSpPr>
        <p:spPr>
          <a:xfrm>
            <a:off x="10153553" y="5937953"/>
            <a:ext cx="1267865"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Human in the Loop</a:t>
            </a:r>
            <a:endParaRPr b="0" i="0" sz="1400" u="none" cap="none" strike="noStrike">
              <a:solidFill>
                <a:srgbClr val="000000"/>
              </a:solidFill>
              <a:latin typeface="Arial"/>
              <a:ea typeface="Arial"/>
              <a:cs typeface="Arial"/>
              <a:sym typeface="Arial"/>
            </a:endParaRPr>
          </a:p>
        </p:txBody>
      </p:sp>
      <p:sp>
        <p:nvSpPr>
          <p:cNvPr id="413" name="Google Shape;413;p8"/>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sp>
        <p:nvSpPr>
          <p:cNvPr id="414" name="Google Shape;414;p8"/>
          <p:cNvSpPr/>
          <p:nvPr/>
        </p:nvSpPr>
        <p:spPr>
          <a:xfrm>
            <a:off x="5185070" y="5620453"/>
            <a:ext cx="770906"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Filesystem</a:t>
            </a:r>
            <a:endParaRPr b="0" i="0" sz="1400" u="none" cap="none" strike="noStrike">
              <a:solidFill>
                <a:srgbClr val="000000"/>
              </a:solidFill>
              <a:latin typeface="Arial"/>
              <a:ea typeface="Arial"/>
              <a:cs typeface="Arial"/>
              <a:sym typeface="Arial"/>
            </a:endParaRPr>
          </a:p>
        </p:txBody>
      </p:sp>
      <p:sp>
        <p:nvSpPr>
          <p:cNvPr id="415" name="Google Shape;415;p8"/>
          <p:cNvSpPr/>
          <p:nvPr/>
        </p:nvSpPr>
        <p:spPr>
          <a:xfrm>
            <a:off x="6131067" y="5620453"/>
            <a:ext cx="1155823"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Code Interpreter</a:t>
            </a:r>
            <a:endParaRPr b="0" i="0" sz="1400" u="none" cap="none" strike="noStrike">
              <a:solidFill>
                <a:srgbClr val="000000"/>
              </a:solidFill>
              <a:latin typeface="Arial"/>
              <a:ea typeface="Arial"/>
              <a:cs typeface="Arial"/>
              <a:sym typeface="Arial"/>
            </a:endParaRPr>
          </a:p>
        </p:txBody>
      </p:sp>
      <p:sp>
        <p:nvSpPr>
          <p:cNvPr id="416" name="Google Shape;416;p8"/>
          <p:cNvSpPr/>
          <p:nvPr/>
        </p:nvSpPr>
        <p:spPr>
          <a:xfrm>
            <a:off x="524033" y="3172634"/>
            <a:ext cx="1023469"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MCP Gateway</a:t>
            </a:r>
            <a:endParaRPr b="0" i="0" sz="1400" u="none" cap="none" strike="noStrike">
              <a:solidFill>
                <a:srgbClr val="000000"/>
              </a:solidFill>
              <a:latin typeface="Arial"/>
              <a:ea typeface="Arial"/>
              <a:cs typeface="Arial"/>
              <a:sym typeface="Arial"/>
            </a:endParaRPr>
          </a:p>
        </p:txBody>
      </p:sp>
      <p:sp>
        <p:nvSpPr>
          <p:cNvPr id="417" name="Google Shape;417;p8"/>
          <p:cNvSpPr/>
          <p:nvPr/>
        </p:nvSpPr>
        <p:spPr>
          <a:xfrm>
            <a:off x="8285434" y="3160632"/>
            <a:ext cx="1080659"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Prompt registry</a:t>
            </a:r>
            <a:endParaRPr b="0" i="0" sz="1400" u="none" cap="none" strike="noStrike">
              <a:solidFill>
                <a:srgbClr val="000000"/>
              </a:solidFill>
              <a:latin typeface="Arial"/>
              <a:ea typeface="Arial"/>
              <a:cs typeface="Arial"/>
              <a:sym typeface="Arial"/>
            </a:endParaRPr>
          </a:p>
        </p:txBody>
      </p:sp>
      <p:sp>
        <p:nvSpPr>
          <p:cNvPr id="418" name="Google Shape;418;p8"/>
          <p:cNvSpPr/>
          <p:nvPr/>
        </p:nvSpPr>
        <p:spPr>
          <a:xfrm>
            <a:off x="1664827" y="3172634"/>
            <a:ext cx="1100267"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Agent Gateway</a:t>
            </a:r>
            <a:endParaRPr b="0" i="0" sz="1400" u="none" cap="none" strike="noStrike">
              <a:solidFill>
                <a:srgbClr val="000000"/>
              </a:solidFill>
              <a:latin typeface="Arial"/>
              <a:ea typeface="Arial"/>
              <a:cs typeface="Arial"/>
              <a:sym typeface="Arial"/>
            </a:endParaRPr>
          </a:p>
        </p:txBody>
      </p:sp>
      <p:sp>
        <p:nvSpPr>
          <p:cNvPr id="419" name="Google Shape;419;p8"/>
          <p:cNvSpPr/>
          <p:nvPr/>
        </p:nvSpPr>
        <p:spPr>
          <a:xfrm>
            <a:off x="9783600" y="2551974"/>
            <a:ext cx="631632"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Budgets</a:t>
            </a:r>
            <a:endParaRPr b="0" i="0" sz="1400" u="none" cap="none" strike="noStrike">
              <a:solidFill>
                <a:srgbClr val="000000"/>
              </a:solidFill>
              <a:latin typeface="Arial"/>
              <a:ea typeface="Arial"/>
              <a:cs typeface="Arial"/>
              <a:sym typeface="Arial"/>
            </a:endParaRPr>
          </a:p>
        </p:txBody>
      </p:sp>
      <p:sp>
        <p:nvSpPr>
          <p:cNvPr id="420" name="Google Shape;420;p8"/>
          <p:cNvSpPr/>
          <p:nvPr/>
        </p:nvSpPr>
        <p:spPr>
          <a:xfrm>
            <a:off x="5857291" y="2843132"/>
            <a:ext cx="792351" cy="250697"/>
          </a:xfrm>
          <a:prstGeom prst="roundRect">
            <a:avLst>
              <a:gd fmla="val 16667" name="adj"/>
            </a:avLst>
          </a:prstGeom>
          <a:solidFill>
            <a:srgbClr val="CCFEF8"/>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Evaluators</a:t>
            </a:r>
            <a:endParaRPr b="0" i="0" sz="1400" u="none" cap="none" strike="noStrike">
              <a:solidFill>
                <a:srgbClr val="000000"/>
              </a:solidFill>
              <a:latin typeface="Arial"/>
              <a:ea typeface="Arial"/>
              <a:cs typeface="Arial"/>
              <a:sym typeface="Arial"/>
            </a:endParaRPr>
          </a:p>
        </p:txBody>
      </p:sp>
      <p:sp>
        <p:nvSpPr>
          <p:cNvPr id="421" name="Google Shape;421;p8"/>
          <p:cNvSpPr/>
          <p:nvPr/>
        </p:nvSpPr>
        <p:spPr>
          <a:xfrm>
            <a:off x="2412036" y="5937953"/>
            <a:ext cx="1418385"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Prompt Optimization</a:t>
            </a:r>
            <a:endParaRPr b="0" i="0" sz="1400" u="none" cap="none" strike="noStrike">
              <a:solidFill>
                <a:srgbClr val="000000"/>
              </a:solidFill>
              <a:latin typeface="Arial"/>
              <a:ea typeface="Arial"/>
              <a:cs typeface="Arial"/>
              <a:sym typeface="Arial"/>
            </a:endParaRPr>
          </a:p>
        </p:txBody>
      </p:sp>
      <p:sp>
        <p:nvSpPr>
          <p:cNvPr id="422" name="Google Shape;422;p8"/>
          <p:cNvSpPr/>
          <p:nvPr/>
        </p:nvSpPr>
        <p:spPr>
          <a:xfrm>
            <a:off x="8290328" y="5620453"/>
            <a:ext cx="1123144" cy="250697"/>
          </a:xfrm>
          <a:prstGeom prst="roundRect">
            <a:avLst>
              <a:gd fmla="val 16667" name="adj"/>
            </a:avLst>
          </a:prstGeom>
          <a:solidFill>
            <a:srgbClr val="F2B9A6"/>
          </a:solidFill>
          <a:ln>
            <a:noFill/>
          </a:ln>
        </p:spPr>
        <p:txBody>
          <a:bodyPr anchorCtr="0" anchor="ctr" bIns="36000" lIns="36000" spcFirstLastPara="1" rIns="36000" wrap="square" tIns="3600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Agent Simulator</a:t>
            </a:r>
            <a:endParaRPr b="0" i="0" sz="1400" u="none" cap="none" strike="noStrike">
              <a:solidFill>
                <a:srgbClr val="000000"/>
              </a:solidFill>
              <a:latin typeface="Arial"/>
              <a:ea typeface="Arial"/>
              <a:cs typeface="Arial"/>
              <a:sym typeface="Arial"/>
            </a:endParaRPr>
          </a:p>
        </p:txBody>
      </p:sp>
      <p:grpSp>
        <p:nvGrpSpPr>
          <p:cNvPr id="423" name="Google Shape;423;p8"/>
          <p:cNvGrpSpPr/>
          <p:nvPr/>
        </p:nvGrpSpPr>
        <p:grpSpPr>
          <a:xfrm>
            <a:off x="5280510" y="3694083"/>
            <a:ext cx="1630980" cy="383760"/>
            <a:chOff x="5484000" y="3771327"/>
            <a:chExt cx="1224000" cy="288000"/>
          </a:xfrm>
        </p:grpSpPr>
        <p:sp>
          <p:nvSpPr>
            <p:cNvPr id="424" name="Google Shape;424;p8"/>
            <p:cNvSpPr/>
            <p:nvPr/>
          </p:nvSpPr>
          <p:spPr>
            <a:xfrm>
              <a:off x="5484000" y="3771327"/>
              <a:ext cx="1224000" cy="28800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Arial"/>
                <a:buNone/>
              </a:pPr>
              <a:r>
                <a:t/>
              </a:r>
              <a:endParaRPr b="0" i="0" sz="1000" u="none" cap="none" strike="noStrike">
                <a:solidFill>
                  <a:srgbClr val="FFFFFF"/>
                </a:solidFill>
                <a:latin typeface="Arial"/>
                <a:ea typeface="Arial"/>
                <a:cs typeface="Arial"/>
                <a:sym typeface="Arial"/>
              </a:endParaRPr>
            </a:p>
          </p:txBody>
        </p:sp>
        <p:sp>
          <p:nvSpPr>
            <p:cNvPr id="425" name="Google Shape;425;p8"/>
            <p:cNvSpPr/>
            <p:nvPr/>
          </p:nvSpPr>
          <p:spPr>
            <a:xfrm>
              <a:off x="5767297" y="3825327"/>
              <a:ext cx="657406" cy="180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141319"/>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9"/>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1. GenAI introduction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0"/>
          <p:cNvSpPr/>
          <p:nvPr/>
        </p:nvSpPr>
        <p:spPr>
          <a:xfrm>
            <a:off x="4295800" y="1665288"/>
            <a:ext cx="7632675" cy="4500562"/>
          </a:xfrm>
          <a:custGeom>
            <a:rect b="b" l="l" r="r" t="t"/>
            <a:pathLst>
              <a:path extrusionOk="0" h="4500562" w="7632675">
                <a:moveTo>
                  <a:pt x="69894" y="0"/>
                </a:moveTo>
                <a:lnTo>
                  <a:pt x="2001857" y="0"/>
                </a:lnTo>
                <a:lnTo>
                  <a:pt x="4312558" y="0"/>
                </a:lnTo>
                <a:lnTo>
                  <a:pt x="5630818" y="0"/>
                </a:lnTo>
                <a:lnTo>
                  <a:pt x="6244521" y="0"/>
                </a:lnTo>
                <a:lnTo>
                  <a:pt x="7562781" y="0"/>
                </a:lnTo>
                <a:cubicBezTo>
                  <a:pt x="7601382" y="0"/>
                  <a:pt x="7632675" y="31293"/>
                  <a:pt x="7632675" y="69894"/>
                </a:cubicBezTo>
                <a:lnTo>
                  <a:pt x="7632675" y="4430668"/>
                </a:lnTo>
                <a:cubicBezTo>
                  <a:pt x="7632675" y="4469269"/>
                  <a:pt x="7601382" y="4500562"/>
                  <a:pt x="7562781" y="4500562"/>
                </a:cubicBezTo>
                <a:lnTo>
                  <a:pt x="6244521" y="4500562"/>
                </a:lnTo>
                <a:lnTo>
                  <a:pt x="5630818" y="4500562"/>
                </a:lnTo>
                <a:lnTo>
                  <a:pt x="4312558" y="4500562"/>
                </a:lnTo>
                <a:lnTo>
                  <a:pt x="2001857" y="4500562"/>
                </a:lnTo>
                <a:lnTo>
                  <a:pt x="69894" y="4500562"/>
                </a:lnTo>
                <a:cubicBezTo>
                  <a:pt x="31293" y="4500562"/>
                  <a:pt x="0" y="4469269"/>
                  <a:pt x="0" y="4430668"/>
                </a:cubicBezTo>
                <a:lnTo>
                  <a:pt x="0" y="69894"/>
                </a:lnTo>
                <a:cubicBezTo>
                  <a:pt x="0" y="31293"/>
                  <a:pt x="31293" y="0"/>
                  <a:pt x="69894" y="0"/>
                </a:cubicBezTo>
                <a:close/>
              </a:path>
            </a:pathLst>
          </a:custGeom>
          <a:solidFill>
            <a:schemeClr val="lt2"/>
          </a:solidFill>
          <a:ln>
            <a:noFill/>
          </a:ln>
        </p:spPr>
        <p:txBody>
          <a:bodyPr anchorCtr="0" anchor="t" bIns="144000" lIns="144000" spcFirstLastPara="1" rIns="144000" wrap="square" tIns="9360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2"/>
              </a:solidFill>
              <a:latin typeface="Arial"/>
              <a:ea typeface="Arial"/>
              <a:cs typeface="Arial"/>
              <a:sym typeface="Arial"/>
            </a:endParaRPr>
          </a:p>
        </p:txBody>
      </p:sp>
      <p:sp>
        <p:nvSpPr>
          <p:cNvPr id="438" name="Google Shape;438;p10"/>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basics of working with an LLM</a:t>
            </a:r>
            <a:endParaRPr/>
          </a:p>
        </p:txBody>
      </p:sp>
      <p:sp>
        <p:nvSpPr>
          <p:cNvPr id="439" name="Google Shape;439;p1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440" name="Google Shape;440;p1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441" name="Google Shape;441;p10"/>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442" name="Google Shape;442;p1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443" name="Google Shape;443;p10"/>
          <p:cNvSpPr/>
          <p:nvPr/>
        </p:nvSpPr>
        <p:spPr>
          <a:xfrm>
            <a:off x="263348" y="1665288"/>
            <a:ext cx="3538709" cy="4500562"/>
          </a:xfrm>
          <a:custGeom>
            <a:rect b="b" l="l" r="r" t="t"/>
            <a:pathLst>
              <a:path extrusionOk="0" h="4500562" w="7734729">
                <a:moveTo>
                  <a:pt x="67553" y="0"/>
                </a:moveTo>
                <a:lnTo>
                  <a:pt x="5289736" y="0"/>
                </a:lnTo>
                <a:lnTo>
                  <a:pt x="7667176" y="0"/>
                </a:lnTo>
                <a:cubicBezTo>
                  <a:pt x="7704484" y="0"/>
                  <a:pt x="7734729" y="30245"/>
                  <a:pt x="7734729" y="67553"/>
                </a:cubicBezTo>
                <a:lnTo>
                  <a:pt x="7734729" y="4433009"/>
                </a:lnTo>
                <a:cubicBezTo>
                  <a:pt x="7734729" y="4470317"/>
                  <a:pt x="7704484" y="4500562"/>
                  <a:pt x="7667176" y="4500562"/>
                </a:cubicBezTo>
                <a:lnTo>
                  <a:pt x="5289736" y="4500562"/>
                </a:lnTo>
                <a:lnTo>
                  <a:pt x="67553" y="4500562"/>
                </a:lnTo>
                <a:cubicBezTo>
                  <a:pt x="30245" y="4500562"/>
                  <a:pt x="0" y="4470317"/>
                  <a:pt x="0" y="4433009"/>
                </a:cubicBezTo>
                <a:lnTo>
                  <a:pt x="0" y="67553"/>
                </a:lnTo>
                <a:cubicBezTo>
                  <a:pt x="0" y="30245"/>
                  <a:pt x="30245" y="0"/>
                  <a:pt x="67553" y="0"/>
                </a:cubicBezTo>
                <a:close/>
              </a:path>
            </a:pathLst>
          </a:custGeom>
          <a:noFill/>
          <a:ln>
            <a:noFill/>
          </a:ln>
        </p:spPr>
        <p:txBody>
          <a:bodyPr anchorCtr="0" anchor="ctr" bIns="144000" lIns="180000" spcFirstLastPara="1" rIns="180000" wrap="square" tIns="180000">
            <a:noAutofit/>
          </a:bodyPr>
          <a:lstStyle/>
          <a:p>
            <a:pPr indent="-128588" lvl="1" marL="128588" marR="0" rtl="0" algn="l">
              <a:lnSpc>
                <a:spcPct val="100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User sends a prompt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LLM replies once, no memory</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LLM uses training data only</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Works well for simple tasks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Limited reasoning or depth</a:t>
            </a:r>
            <a:endParaRPr b="0" i="0" sz="1400" u="none" cap="none" strike="noStrike">
              <a:solidFill>
                <a:srgbClr val="000000"/>
              </a:solidFill>
              <a:latin typeface="Arial"/>
              <a:ea typeface="Arial"/>
              <a:cs typeface="Arial"/>
              <a:sym typeface="Arial"/>
            </a:endParaRPr>
          </a:p>
        </p:txBody>
      </p:sp>
      <p:grpSp>
        <p:nvGrpSpPr>
          <p:cNvPr id="444" name="Google Shape;444;p10"/>
          <p:cNvGrpSpPr/>
          <p:nvPr/>
        </p:nvGrpSpPr>
        <p:grpSpPr>
          <a:xfrm>
            <a:off x="4559325" y="3514065"/>
            <a:ext cx="7105624" cy="803009"/>
            <a:chOff x="4559325" y="3731657"/>
            <a:chExt cx="7105624" cy="803009"/>
          </a:xfrm>
        </p:grpSpPr>
        <p:sp>
          <p:nvSpPr>
            <p:cNvPr id="445" name="Google Shape;445;p10"/>
            <p:cNvSpPr/>
            <p:nvPr/>
          </p:nvSpPr>
          <p:spPr>
            <a:xfrm>
              <a:off x="9647774" y="3731657"/>
              <a:ext cx="2017175" cy="803009"/>
            </a:xfrm>
            <a:prstGeom prst="roundRect">
              <a:avLst>
                <a:gd fmla="val 6047"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446" name="Google Shape;446;p10"/>
            <p:cNvSpPr/>
            <p:nvPr/>
          </p:nvSpPr>
          <p:spPr>
            <a:xfrm>
              <a:off x="4559325" y="3731657"/>
              <a:ext cx="2017175" cy="803009"/>
            </a:xfrm>
            <a:prstGeom prst="roundRect">
              <a:avLst>
                <a:gd fmla="val 6047"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Prompt </a:t>
              </a:r>
              <a:endParaRPr b="0" i="0" sz="1400" u="none" cap="none" strike="noStrike">
                <a:solidFill>
                  <a:srgbClr val="000000"/>
                </a:solidFill>
                <a:latin typeface="Arial"/>
                <a:ea typeface="Arial"/>
                <a:cs typeface="Arial"/>
                <a:sym typeface="Arial"/>
              </a:endParaRPr>
            </a:p>
          </p:txBody>
        </p:sp>
        <p:sp>
          <p:nvSpPr>
            <p:cNvPr id="447" name="Google Shape;447;p10"/>
            <p:cNvSpPr/>
            <p:nvPr/>
          </p:nvSpPr>
          <p:spPr>
            <a:xfrm>
              <a:off x="7103550" y="3731657"/>
              <a:ext cx="2017175" cy="803009"/>
            </a:xfrm>
            <a:prstGeom prst="roundRect">
              <a:avLst>
                <a:gd fmla="val 50000"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cxnSp>
          <p:nvCxnSpPr>
            <p:cNvPr id="448" name="Google Shape;448;p10"/>
            <p:cNvCxnSpPr>
              <a:stCxn id="446" idx="3"/>
            </p:cNvCxnSpPr>
            <p:nvPr/>
          </p:nvCxnSpPr>
          <p:spPr>
            <a:xfrm>
              <a:off x="6576500" y="4133162"/>
              <a:ext cx="527100" cy="0"/>
            </a:xfrm>
            <a:prstGeom prst="straightConnector1">
              <a:avLst/>
            </a:prstGeom>
            <a:noFill/>
            <a:ln cap="flat" cmpd="sng" w="12700">
              <a:solidFill>
                <a:srgbClr val="DF5325"/>
              </a:solidFill>
              <a:prstDash val="lgDash"/>
              <a:miter lim="80"/>
              <a:headEnd len="sm" w="sm" type="none"/>
              <a:tailEnd len="med" w="med" type="triangle"/>
            </a:ln>
          </p:spPr>
        </p:cxnSp>
        <p:cxnSp>
          <p:nvCxnSpPr>
            <p:cNvPr id="449" name="Google Shape;449;p10"/>
            <p:cNvCxnSpPr>
              <a:endCxn id="445" idx="1"/>
            </p:cNvCxnSpPr>
            <p:nvPr/>
          </p:nvCxnSpPr>
          <p:spPr>
            <a:xfrm>
              <a:off x="9120674" y="4133162"/>
              <a:ext cx="527100" cy="0"/>
            </a:xfrm>
            <a:prstGeom prst="straightConnector1">
              <a:avLst/>
            </a:prstGeom>
            <a:noFill/>
            <a:ln cap="flat" cmpd="sng" w="12700">
              <a:solidFill>
                <a:srgbClr val="DF5325"/>
              </a:solidFill>
              <a:prstDash val="lgDash"/>
              <a:miter lim="80"/>
              <a:headEnd len="sm" w="sm" type="none"/>
              <a:tailEnd len="med" w="med" type="triangle"/>
            </a:ln>
          </p:spPr>
        </p:cxnSp>
        <p:grpSp>
          <p:nvGrpSpPr>
            <p:cNvPr id="450" name="Google Shape;450;p10"/>
            <p:cNvGrpSpPr/>
            <p:nvPr/>
          </p:nvGrpSpPr>
          <p:grpSpPr>
            <a:xfrm>
              <a:off x="7513226" y="4222793"/>
              <a:ext cx="1197823" cy="180000"/>
              <a:chOff x="7307317" y="4222793"/>
              <a:chExt cx="1197823" cy="180000"/>
            </a:xfrm>
          </p:grpSpPr>
          <p:pic>
            <p:nvPicPr>
              <p:cNvPr id="451" name="Google Shape;451;p10"/>
              <p:cNvPicPr preferRelativeResize="0"/>
              <p:nvPr/>
            </p:nvPicPr>
            <p:blipFill rotWithShape="1">
              <a:blip r:embed="rId3">
                <a:alphaModFix/>
              </a:blip>
              <a:srcRect b="0" l="0" r="0" t="0"/>
              <a:stretch/>
            </p:blipFill>
            <p:spPr>
              <a:xfrm>
                <a:off x="7307317" y="4222793"/>
                <a:ext cx="174705" cy="180000"/>
              </a:xfrm>
              <a:prstGeom prst="rect">
                <a:avLst/>
              </a:prstGeom>
              <a:noFill/>
              <a:ln>
                <a:noFill/>
              </a:ln>
            </p:spPr>
          </p:pic>
          <p:pic>
            <p:nvPicPr>
              <p:cNvPr id="452" name="Google Shape;452;p10"/>
              <p:cNvPicPr preferRelativeResize="0"/>
              <p:nvPr/>
            </p:nvPicPr>
            <p:blipFill rotWithShape="1">
              <a:blip r:embed="rId4">
                <a:alphaModFix/>
              </a:blip>
              <a:srcRect b="0" l="0" r="0" t="0"/>
              <a:stretch/>
            </p:blipFill>
            <p:spPr>
              <a:xfrm>
                <a:off x="7771796" y="4222793"/>
                <a:ext cx="263570" cy="180000"/>
              </a:xfrm>
              <a:prstGeom prst="rect">
                <a:avLst/>
              </a:prstGeom>
              <a:noFill/>
              <a:ln>
                <a:noFill/>
              </a:ln>
            </p:spPr>
          </p:pic>
          <p:pic>
            <p:nvPicPr>
              <p:cNvPr id="453" name="Google Shape;453;p10"/>
              <p:cNvPicPr preferRelativeResize="0"/>
              <p:nvPr/>
            </p:nvPicPr>
            <p:blipFill rotWithShape="1">
              <a:blip r:embed="rId5">
                <a:alphaModFix/>
              </a:blip>
              <a:srcRect b="0" l="0" r="0" t="0"/>
              <a:stretch/>
            </p:blipFill>
            <p:spPr>
              <a:xfrm>
                <a:off x="8325140" y="4222793"/>
                <a:ext cx="180000" cy="180000"/>
              </a:xfrm>
              <a:prstGeom prst="rect">
                <a:avLst/>
              </a:prstGeom>
              <a:noFill/>
              <a:ln>
                <a:noFill/>
              </a:ln>
            </p:spPr>
          </p:pic>
        </p:grpSp>
      </p:grpSp>
      <p:grpSp>
        <p:nvGrpSpPr>
          <p:cNvPr id="454" name="Google Shape;454;p10"/>
          <p:cNvGrpSpPr/>
          <p:nvPr/>
        </p:nvGrpSpPr>
        <p:grpSpPr>
          <a:xfrm>
            <a:off x="4545389" y="4762365"/>
            <a:ext cx="7105649" cy="803100"/>
            <a:chOff x="4559325" y="3731657"/>
            <a:chExt cx="7105649" cy="803100"/>
          </a:xfrm>
        </p:grpSpPr>
        <p:sp>
          <p:nvSpPr>
            <p:cNvPr id="455" name="Google Shape;455;p10"/>
            <p:cNvSpPr/>
            <p:nvPr/>
          </p:nvSpPr>
          <p:spPr>
            <a:xfrm>
              <a:off x="9647774" y="3731657"/>
              <a:ext cx="2017200" cy="803100"/>
            </a:xfrm>
            <a:prstGeom prst="roundRect">
              <a:avLst>
                <a:gd fmla="val 6047"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lang="en-US" sz="1200">
                  <a:solidFill>
                    <a:schemeClr val="dk1"/>
                  </a:solidFill>
                </a:rPr>
                <a:t>2x3 is 6</a:t>
              </a:r>
              <a:endParaRPr b="0" i="0" sz="1400" u="none" cap="none" strike="noStrike">
                <a:solidFill>
                  <a:srgbClr val="000000"/>
                </a:solidFill>
                <a:latin typeface="Arial"/>
                <a:ea typeface="Arial"/>
                <a:cs typeface="Arial"/>
                <a:sym typeface="Arial"/>
              </a:endParaRPr>
            </a:p>
          </p:txBody>
        </p:sp>
        <p:sp>
          <p:nvSpPr>
            <p:cNvPr id="456" name="Google Shape;456;p10"/>
            <p:cNvSpPr/>
            <p:nvPr/>
          </p:nvSpPr>
          <p:spPr>
            <a:xfrm>
              <a:off x="4559325" y="3731657"/>
              <a:ext cx="2017200" cy="803100"/>
            </a:xfrm>
            <a:prstGeom prst="roundRect">
              <a:avLst>
                <a:gd fmla="val 6047"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lang="en-US" sz="1200">
                  <a:solidFill>
                    <a:schemeClr val="dk1"/>
                  </a:solidFill>
                </a:rPr>
                <a:t>Wat is 2x3?</a:t>
              </a:r>
              <a:endParaRPr b="0" i="0" sz="1400" u="none" cap="none" strike="noStrike">
                <a:solidFill>
                  <a:srgbClr val="000000"/>
                </a:solidFill>
                <a:latin typeface="Arial"/>
                <a:ea typeface="Arial"/>
                <a:cs typeface="Arial"/>
                <a:sym typeface="Arial"/>
              </a:endParaRPr>
            </a:p>
          </p:txBody>
        </p:sp>
        <p:sp>
          <p:nvSpPr>
            <p:cNvPr id="457" name="Google Shape;457;p10"/>
            <p:cNvSpPr/>
            <p:nvPr/>
          </p:nvSpPr>
          <p:spPr>
            <a:xfrm>
              <a:off x="7103550" y="3731657"/>
              <a:ext cx="2017200" cy="803100"/>
            </a:xfrm>
            <a:prstGeom prst="roundRect">
              <a:avLst>
                <a:gd fmla="val 50000"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cxnSp>
          <p:nvCxnSpPr>
            <p:cNvPr id="458" name="Google Shape;458;p10"/>
            <p:cNvCxnSpPr>
              <a:stCxn id="456" idx="3"/>
            </p:cNvCxnSpPr>
            <p:nvPr/>
          </p:nvCxnSpPr>
          <p:spPr>
            <a:xfrm>
              <a:off x="6576525" y="4133207"/>
              <a:ext cx="527100" cy="0"/>
            </a:xfrm>
            <a:prstGeom prst="straightConnector1">
              <a:avLst/>
            </a:prstGeom>
            <a:noFill/>
            <a:ln cap="flat" cmpd="sng" w="12700">
              <a:solidFill>
                <a:srgbClr val="DF5325"/>
              </a:solidFill>
              <a:prstDash val="lgDash"/>
              <a:miter lim="80"/>
              <a:headEnd len="sm" w="sm" type="none"/>
              <a:tailEnd len="med" w="med" type="triangle"/>
            </a:ln>
          </p:spPr>
        </p:cxnSp>
        <p:cxnSp>
          <p:nvCxnSpPr>
            <p:cNvPr id="459" name="Google Shape;459;p10"/>
            <p:cNvCxnSpPr>
              <a:endCxn id="455" idx="1"/>
            </p:cNvCxnSpPr>
            <p:nvPr/>
          </p:nvCxnSpPr>
          <p:spPr>
            <a:xfrm>
              <a:off x="9120674" y="4133207"/>
              <a:ext cx="527100" cy="0"/>
            </a:xfrm>
            <a:prstGeom prst="straightConnector1">
              <a:avLst/>
            </a:prstGeom>
            <a:noFill/>
            <a:ln cap="flat" cmpd="sng" w="12700">
              <a:solidFill>
                <a:srgbClr val="DF5325"/>
              </a:solidFill>
              <a:prstDash val="lgDash"/>
              <a:miter lim="80"/>
              <a:headEnd len="sm" w="sm" type="none"/>
              <a:tailEnd len="med" w="med" type="triangle"/>
            </a:ln>
          </p:spPr>
        </p:cxnSp>
        <p:grpSp>
          <p:nvGrpSpPr>
            <p:cNvPr id="460" name="Google Shape;460;p10"/>
            <p:cNvGrpSpPr/>
            <p:nvPr/>
          </p:nvGrpSpPr>
          <p:grpSpPr>
            <a:xfrm>
              <a:off x="7513226" y="4222793"/>
              <a:ext cx="1197823" cy="180000"/>
              <a:chOff x="7307317" y="4222793"/>
              <a:chExt cx="1197823" cy="180000"/>
            </a:xfrm>
          </p:grpSpPr>
          <p:pic>
            <p:nvPicPr>
              <p:cNvPr id="461" name="Google Shape;461;p10"/>
              <p:cNvPicPr preferRelativeResize="0"/>
              <p:nvPr/>
            </p:nvPicPr>
            <p:blipFill rotWithShape="1">
              <a:blip r:embed="rId3">
                <a:alphaModFix/>
              </a:blip>
              <a:srcRect b="0" l="0" r="0" t="0"/>
              <a:stretch/>
            </p:blipFill>
            <p:spPr>
              <a:xfrm>
                <a:off x="7307317" y="4222793"/>
                <a:ext cx="174705" cy="180000"/>
              </a:xfrm>
              <a:prstGeom prst="rect">
                <a:avLst/>
              </a:prstGeom>
              <a:noFill/>
              <a:ln>
                <a:noFill/>
              </a:ln>
            </p:spPr>
          </p:pic>
          <p:pic>
            <p:nvPicPr>
              <p:cNvPr id="462" name="Google Shape;462;p10"/>
              <p:cNvPicPr preferRelativeResize="0"/>
              <p:nvPr/>
            </p:nvPicPr>
            <p:blipFill rotWithShape="1">
              <a:blip r:embed="rId4">
                <a:alphaModFix/>
              </a:blip>
              <a:srcRect b="0" l="0" r="0" t="0"/>
              <a:stretch/>
            </p:blipFill>
            <p:spPr>
              <a:xfrm>
                <a:off x="7771796" y="4222793"/>
                <a:ext cx="263570" cy="180000"/>
              </a:xfrm>
              <a:prstGeom prst="rect">
                <a:avLst/>
              </a:prstGeom>
              <a:noFill/>
              <a:ln>
                <a:noFill/>
              </a:ln>
            </p:spPr>
          </p:pic>
          <p:pic>
            <p:nvPicPr>
              <p:cNvPr id="463" name="Google Shape;463;p10"/>
              <p:cNvPicPr preferRelativeResize="0"/>
              <p:nvPr/>
            </p:nvPicPr>
            <p:blipFill rotWithShape="1">
              <a:blip r:embed="rId5">
                <a:alphaModFix/>
              </a:blip>
              <a:srcRect b="0" l="0" r="0" t="0"/>
              <a:stretch/>
            </p:blipFill>
            <p:spPr>
              <a:xfrm>
                <a:off x="8325140" y="4222793"/>
                <a:ext cx="180000" cy="180000"/>
              </a:xfrm>
              <a:prstGeom prst="rect">
                <a:avLst/>
              </a:prstGeom>
              <a:noFill/>
              <a:ln>
                <a:noFill/>
              </a:ln>
            </p:spPr>
          </p:pic>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Not all automated workflows are AI Agents</a:t>
            </a:r>
            <a:endParaRPr/>
          </a:p>
        </p:txBody>
      </p:sp>
      <p:sp>
        <p:nvSpPr>
          <p:cNvPr id="470" name="Google Shape;470;p11"/>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471" name="Google Shape;471;p1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472" name="Google Shape;472;p1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473" name="Google Shape;473;p11"/>
          <p:cNvSpPr txBox="1"/>
          <p:nvPr>
            <p:ph idx="12" type="sldNum"/>
          </p:nvPr>
        </p:nvSpPr>
        <p:spPr>
          <a:xfrm>
            <a:off x="12036192" y="6673964"/>
            <a:ext cx="48090"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aphicFrame>
        <p:nvGraphicFramePr>
          <p:cNvPr id="474" name="Google Shape;474;p11"/>
          <p:cNvGraphicFramePr/>
          <p:nvPr/>
        </p:nvGraphicFramePr>
        <p:xfrm>
          <a:off x="263350" y="1665289"/>
          <a:ext cx="3000000" cy="3000000"/>
        </p:xfrm>
        <a:graphic>
          <a:graphicData uri="http://schemas.openxmlformats.org/drawingml/2006/table">
            <a:tbl>
              <a:tblPr bandRow="1" firstRow="1">
                <a:noFill/>
                <a:tableStyleId>{DEFAD970-CCD4-4778-8618-83184D9DF701}</a:tableStyleId>
              </a:tblPr>
              <a:tblGrid>
                <a:gridCol w="1296150"/>
                <a:gridCol w="3456375"/>
                <a:gridCol w="3456375"/>
                <a:gridCol w="3456375"/>
              </a:tblGrid>
              <a:tr h="1296000">
                <a:tc>
                  <a:txBody>
                    <a:bodyPr/>
                    <a:lstStyle/>
                    <a:p>
                      <a:pPr indent="0" lvl="0" marL="0" marR="0" rtl="0" algn="l">
                        <a:lnSpc>
                          <a:spcPct val="100000"/>
                        </a:lnSpc>
                        <a:spcBef>
                          <a:spcPts val="0"/>
                        </a:spcBef>
                        <a:spcAft>
                          <a:spcPts val="0"/>
                        </a:spcAft>
                        <a:buClr>
                          <a:srgbClr val="000000"/>
                        </a:buClr>
                        <a:buSzPts val="1000"/>
                        <a:buFont typeface="Arial"/>
                        <a:buNone/>
                      </a:pPr>
                      <a:r>
                        <a:t/>
                      </a:r>
                      <a:endParaRPr b="0" sz="1000" u="none" cap="none" strike="noStrike">
                        <a:solidFill>
                          <a:schemeClr val="dk1"/>
                        </a:solidFill>
                        <a:latin typeface="Arial"/>
                        <a:ea typeface="Arial"/>
                        <a:cs typeface="Arial"/>
                        <a:sym typeface="Arial"/>
                      </a:endParaRPr>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latin typeface="Arial"/>
                          <a:ea typeface="Arial"/>
                          <a:cs typeface="Arial"/>
                          <a:sym typeface="Arial"/>
                        </a:rPr>
                        <a:t>1. Automation</a:t>
                      </a:r>
                      <a:endParaRPr sz="1400" u="none" cap="none" strike="noStrike"/>
                    </a:p>
                  </a:txBody>
                  <a:tcPr marT="108000" marB="108000" marR="108000" marL="108000">
                    <a:lnL cap="flat" cmpd="sng" w="12700">
                      <a:solidFill>
                        <a:srgbClr val="E7E7E7"/>
                      </a:solidFill>
                      <a:prstDash val="solid"/>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2. AI workflow</a:t>
                      </a:r>
                      <a:endParaRPr sz="1400" u="none" cap="none" strike="noStrike"/>
                    </a:p>
                  </a:txBody>
                  <a:tcPr marT="108000" marB="108000" marR="108000" marL="108000">
                    <a:lnL cap="flat" cmpd="sng" w="9525">
                      <a:solidFill>
                        <a:schemeClr val="accent1"/>
                      </a:solidFill>
                      <a:prstDash val="dash"/>
                      <a:round/>
                      <a:headEnd len="sm" w="sm" type="none"/>
                      <a:tailEnd len="sm" w="sm" type="none"/>
                    </a:lnL>
                    <a:lnR cap="flat" cmpd="sng" w="9525">
                      <a:solidFill>
                        <a:schemeClr val="accent1"/>
                      </a:solidFill>
                      <a:prstDash val="dash"/>
                      <a:round/>
                      <a:headEnd len="sm" w="sm" type="none"/>
                      <a:tailEnd len="sm" w="sm" type="none"/>
                    </a:lnR>
                    <a:lnT cap="flat" cmpd="sng" w="9525">
                      <a:solidFill>
                        <a:schemeClr val="accent1"/>
                      </a:solidFill>
                      <a:prstDash val="dash"/>
                      <a:round/>
                      <a:headEnd len="sm" w="sm" type="none"/>
                      <a:tailEnd len="sm" w="sm" type="none"/>
                    </a:lnT>
                    <a:lnB cap="flat" cmpd="sng" w="12700">
                      <a:solidFill>
                        <a:srgbClr val="E7E7E7"/>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3. AI Agent</a:t>
                      </a:r>
                      <a:endParaRPr sz="1400" u="none" cap="none" strike="noStrike"/>
                    </a:p>
                  </a:txBody>
                  <a:tcPr marT="108000" marB="108000" marR="108000" marL="108000">
                    <a:lnL cap="flat" cmpd="sng" w="9525">
                      <a:solidFill>
                        <a:schemeClr val="accent1"/>
                      </a:solidFill>
                      <a:prstDash val="dash"/>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7200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dk1"/>
                          </a:solidFill>
                          <a:latin typeface="Arial"/>
                          <a:ea typeface="Arial"/>
                          <a:cs typeface="Arial"/>
                          <a:sym typeface="Arial"/>
                        </a:rPr>
                        <a:t>Tasks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dk2"/>
                          </a:solidFill>
                          <a:latin typeface="Arial"/>
                          <a:ea typeface="Arial"/>
                          <a:cs typeface="Arial"/>
                          <a:sym typeface="Arial"/>
                        </a:rPr>
                        <a:t>A program that executes predefined rule-based tasks automatically</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8A898C"/>
                        </a:buClr>
                        <a:buSzPts val="1000"/>
                        <a:buFont typeface="Arial"/>
                        <a:buNone/>
                      </a:pPr>
                      <a:r>
                        <a:rPr b="0" i="0" lang="en-US" sz="1000" u="none" cap="none" strike="noStrike">
                          <a:solidFill>
                            <a:srgbClr val="8A898C"/>
                          </a:solidFill>
                          <a:latin typeface="Arial"/>
                          <a:ea typeface="Arial"/>
                          <a:cs typeface="Arial"/>
                          <a:sym typeface="Arial"/>
                        </a:rPr>
                        <a:t>A program that calls an LLM via API for one or more steps</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8A898C"/>
                        </a:buClr>
                        <a:buSzPts val="1000"/>
                        <a:buFont typeface="Arial"/>
                        <a:buNone/>
                      </a:pPr>
                      <a:r>
                        <a:rPr b="0" i="0" lang="en-US" sz="1000" u="none" cap="none" strike="noStrike">
                          <a:solidFill>
                            <a:srgbClr val="8A898C"/>
                          </a:solidFill>
                          <a:latin typeface="Arial"/>
                          <a:ea typeface="Arial"/>
                          <a:cs typeface="Arial"/>
                          <a:sym typeface="Arial"/>
                        </a:rPr>
                        <a:t>A program designed to perform non-deterministic tasks autonomously</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7200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dk1"/>
                          </a:solidFill>
                          <a:latin typeface="Arial"/>
                          <a:ea typeface="Arial"/>
                          <a:cs typeface="Arial"/>
                          <a:sym typeface="Arial"/>
                        </a:rPr>
                        <a:t>Example</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dk2"/>
                          </a:solidFill>
                          <a:latin typeface="Arial"/>
                          <a:ea typeface="Arial"/>
                          <a:cs typeface="Arial"/>
                          <a:sym typeface="Arial"/>
                        </a:rPr>
                        <a:t>Send a Slack notification every time a new lead signs up on our website</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8A898C"/>
                        </a:buClr>
                        <a:buSzPts val="1000"/>
                        <a:buFont typeface="Arial"/>
                        <a:buNone/>
                      </a:pPr>
                      <a:r>
                        <a:rPr b="0" i="0" lang="en-US" sz="1000" u="none" cap="none" strike="noStrike">
                          <a:solidFill>
                            <a:srgbClr val="8A898C"/>
                          </a:solidFill>
                          <a:latin typeface="Arial"/>
                          <a:ea typeface="Arial"/>
                          <a:cs typeface="Arial"/>
                          <a:sym typeface="Arial"/>
                        </a:rPr>
                        <a:t>Use ChatGPT to analyze and route website leads to the right sales team</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8A898C"/>
                        </a:buClr>
                        <a:buSzPts val="1000"/>
                        <a:buFont typeface="Arial"/>
                        <a:buNone/>
                      </a:pPr>
                      <a:r>
                        <a:rPr b="0" i="0" lang="en-US" sz="1000" u="none" cap="none" strike="noStrike">
                          <a:solidFill>
                            <a:srgbClr val="8A898C"/>
                          </a:solidFill>
                          <a:latin typeface="Arial"/>
                          <a:ea typeface="Arial"/>
                          <a:cs typeface="Arial"/>
                          <a:sym typeface="Arial"/>
                        </a:rPr>
                        <a:t>Automatically research each lead online, update CRM data, and draft personalized outreach</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7200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dk1"/>
                          </a:solidFill>
                          <a:latin typeface="Arial"/>
                          <a:ea typeface="Arial"/>
                          <a:cs typeface="Arial"/>
                          <a:sym typeface="Arial"/>
                        </a:rPr>
                        <a:t>Strengths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266700" lvl="0" marL="266700" marR="0" rtl="0" algn="l">
                        <a:lnSpc>
                          <a:spcPct val="100000"/>
                        </a:lnSpc>
                        <a:spcBef>
                          <a:spcPts val="0"/>
                        </a:spcBef>
                        <a:spcAft>
                          <a:spcPts val="0"/>
                        </a:spcAft>
                        <a:buClr>
                          <a:schemeClr val="accent1"/>
                        </a:buClr>
                        <a:buSzPts val="1000"/>
                        <a:buFont typeface="Arial"/>
                        <a:buChar char="✓"/>
                      </a:pPr>
                      <a:r>
                        <a:rPr b="0" lang="en-US" sz="1000" u="none" cap="none" strike="noStrike">
                          <a:solidFill>
                            <a:schemeClr val="dk2"/>
                          </a:solidFill>
                          <a:latin typeface="Arial"/>
                          <a:ea typeface="Arial"/>
                          <a:cs typeface="Arial"/>
                          <a:sym typeface="Arial"/>
                        </a:rPr>
                        <a:t>Delivers reliable outcomes</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lang="en-US" sz="1000" u="none" cap="none" strike="noStrike">
                          <a:solidFill>
                            <a:schemeClr val="dk2"/>
                          </a:solidFill>
                          <a:latin typeface="Arial"/>
                          <a:ea typeface="Arial"/>
                          <a:cs typeface="Arial"/>
                          <a:sym typeface="Arial"/>
                        </a:rPr>
                        <a:t>Fast to execute</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Better handling of complex rules</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Great for pattern recognition</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2"/>
                    </a:solidFill>
                  </a:tcPr>
                </a:tc>
                <a:tc>
                  <a:txBody>
                    <a:bodyPr/>
                    <a:lstStyle/>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Highly adaptive to new variables</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Simulates human-like behavior and reasoning</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7200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dk1"/>
                          </a:solidFill>
                          <a:latin typeface="Arial"/>
                          <a:ea typeface="Arial"/>
                          <a:cs typeface="Arial"/>
                          <a:sym typeface="Arial"/>
                        </a:rPr>
                        <a:t>Weaknesses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266700" lvl="0" marL="266700" marR="0" rtl="0" algn="l">
                        <a:lnSpc>
                          <a:spcPct val="100000"/>
                        </a:lnSpc>
                        <a:spcBef>
                          <a:spcPts val="0"/>
                        </a:spcBef>
                        <a:spcAft>
                          <a:spcPts val="0"/>
                        </a:spcAft>
                        <a:buClr>
                          <a:schemeClr val="accent1"/>
                        </a:buClr>
                        <a:buSzPts val="1000"/>
                        <a:buFont typeface="Arial"/>
                        <a:buChar char="−"/>
                      </a:pPr>
                      <a:r>
                        <a:rPr b="0" lang="en-US" sz="1000" u="none" cap="none" strike="noStrike">
                          <a:solidFill>
                            <a:schemeClr val="dk2"/>
                          </a:solidFill>
                          <a:latin typeface="Arial"/>
                          <a:ea typeface="Arial"/>
                          <a:cs typeface="Arial"/>
                          <a:sym typeface="Arial"/>
                        </a:rPr>
                        <a:t>Limited to tasks explicitly programmed</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lang="en-US" sz="1000" u="none" cap="none" strike="noStrike">
                          <a:solidFill>
                            <a:schemeClr val="dk2"/>
                          </a:solidFill>
                          <a:latin typeface="Arial"/>
                          <a:ea typeface="Arial"/>
                          <a:cs typeface="Arial"/>
                          <a:sym typeface="Arial"/>
                        </a:rPr>
                        <a:t>Cannot adapt to new scenarios</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lang="en-US" sz="1000" u="none" cap="none" strike="noStrike">
                          <a:solidFill>
                            <a:schemeClr val="dk2"/>
                          </a:solidFill>
                          <a:latin typeface="Arial"/>
                          <a:ea typeface="Arial"/>
                          <a:cs typeface="Arial"/>
                          <a:sym typeface="Arial"/>
                        </a:rPr>
                        <a:t>Struggles with complexity</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tcPr>
                </a:tc>
                <a:tc>
                  <a:txBody>
                    <a:bodyPr/>
                    <a:lstStyle/>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Requires data to train models effectively</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Harder to debug and interpret</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9525">
                      <a:solidFill>
                        <a:schemeClr val="accent1"/>
                      </a:solidFill>
                      <a:prstDash val="dash"/>
                      <a:round/>
                      <a:headEnd len="sm" w="sm" type="none"/>
                      <a:tailEnd len="sm" w="sm" type="none"/>
                    </a:lnR>
                    <a:lnT cap="flat" cmpd="sng" w="12700">
                      <a:solidFill>
                        <a:srgbClr val="E7E7E7"/>
                      </a:solidFill>
                      <a:prstDash val="solid"/>
                      <a:round/>
                      <a:headEnd len="sm" w="sm" type="none"/>
                      <a:tailEnd len="sm" w="sm" type="none"/>
                    </a:lnT>
                    <a:lnB cap="flat" cmpd="sng" w="9525">
                      <a:solidFill>
                        <a:schemeClr val="accent1"/>
                      </a:solidFill>
                      <a:prstDash val="dash"/>
                      <a:round/>
                      <a:headEnd len="sm" w="sm" type="none"/>
                      <a:tailEnd len="sm" w="sm" type="none"/>
                    </a:lnB>
                    <a:solidFill>
                      <a:schemeClr val="lt2"/>
                    </a:solidFill>
                  </a:tcPr>
                </a:tc>
                <a:tc>
                  <a:txBody>
                    <a:bodyPr/>
                    <a:lstStyle/>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Less reliable, may produce unpredictable undesired outcomes</a:t>
                      </a:r>
                      <a:endParaRPr sz="1400" u="none" cap="none" strike="noStrike"/>
                    </a:p>
                    <a:p>
                      <a:pPr indent="-266700" lvl="0" marL="266700" marR="0" rtl="0" algn="l">
                        <a:lnSpc>
                          <a:spcPct val="100000"/>
                        </a:lnSpc>
                        <a:spcBef>
                          <a:spcPts val="0"/>
                        </a:spcBef>
                        <a:spcAft>
                          <a:spcPts val="0"/>
                        </a:spcAft>
                        <a:buClr>
                          <a:schemeClr val="accent1"/>
                        </a:buClr>
                        <a:buSzPts val="1000"/>
                        <a:buFont typeface="Arial"/>
                        <a:buChar char="−"/>
                      </a:pPr>
                      <a:r>
                        <a:rPr b="0" i="0" lang="en-US" sz="1000" u="none" cap="none" strike="noStrike">
                          <a:solidFill>
                            <a:srgbClr val="8A898C"/>
                          </a:solidFill>
                          <a:latin typeface="Arial"/>
                          <a:ea typeface="Arial"/>
                          <a:cs typeface="Arial"/>
                          <a:sym typeface="Arial"/>
                        </a:rPr>
                        <a:t>Slower to execute</a:t>
                      </a:r>
                      <a:endParaRPr sz="1400" u="none" cap="none" strike="noStrike"/>
                    </a:p>
                  </a:txBody>
                  <a:tcPr marT="36000" marB="36000" marR="108000" marL="108000" anchor="ctr">
                    <a:lnL cap="flat" cmpd="sng" w="9525">
                      <a:solidFill>
                        <a:schemeClr val="accent1"/>
                      </a:solidFill>
                      <a:prstDash val="dash"/>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bl>
          </a:graphicData>
        </a:graphic>
      </p:graphicFrame>
      <p:cxnSp>
        <p:nvCxnSpPr>
          <p:cNvPr id="475" name="Google Shape;475;p11"/>
          <p:cNvCxnSpPr>
            <a:stCxn id="476" idx="6"/>
            <a:endCxn id="477" idx="2"/>
          </p:cNvCxnSpPr>
          <p:nvPr/>
        </p:nvCxnSpPr>
        <p:spPr>
          <a:xfrm>
            <a:off x="2747580" y="2348904"/>
            <a:ext cx="324000" cy="0"/>
          </a:xfrm>
          <a:prstGeom prst="straightConnector1">
            <a:avLst/>
          </a:prstGeom>
          <a:noFill/>
          <a:ln cap="flat" cmpd="sng" w="12700">
            <a:solidFill>
              <a:schemeClr val="lt1"/>
            </a:solidFill>
            <a:prstDash val="lgDash"/>
            <a:miter lim="80"/>
            <a:headEnd len="sm" w="sm" type="none"/>
            <a:tailEnd len="med" w="med" type="triangle"/>
          </a:ln>
        </p:spPr>
      </p:cxnSp>
      <p:sp>
        <p:nvSpPr>
          <p:cNvPr id="476" name="Google Shape;476;p11"/>
          <p:cNvSpPr/>
          <p:nvPr/>
        </p:nvSpPr>
        <p:spPr>
          <a:xfrm>
            <a:off x="2315580" y="2132904"/>
            <a:ext cx="432000" cy="432000"/>
          </a:xfrm>
          <a:prstGeom prst="ellipse">
            <a:avLst/>
          </a:prstGeom>
          <a:solidFill>
            <a:srgbClr val="FF8F35">
              <a:alpha val="10196"/>
            </a:srgbClr>
          </a:solidFill>
          <a:ln cap="flat" cmpd="sng" w="9525">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477" name="Google Shape;477;p11"/>
          <p:cNvSpPr/>
          <p:nvPr/>
        </p:nvSpPr>
        <p:spPr>
          <a:xfrm>
            <a:off x="3071664" y="2132904"/>
            <a:ext cx="432000" cy="432000"/>
          </a:xfrm>
          <a:prstGeom prst="ellipse">
            <a:avLst/>
          </a:prstGeom>
          <a:solidFill>
            <a:srgbClr val="FF8F35">
              <a:alpha val="10196"/>
            </a:srgbClr>
          </a:solidFill>
          <a:ln cap="flat" cmpd="sng" w="9525">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478" name="Google Shape;478;p11"/>
          <p:cNvSpPr/>
          <p:nvPr/>
        </p:nvSpPr>
        <p:spPr>
          <a:xfrm>
            <a:off x="3827748" y="2132904"/>
            <a:ext cx="432000" cy="432000"/>
          </a:xfrm>
          <a:prstGeom prst="ellipse">
            <a:avLst/>
          </a:prstGeom>
          <a:solidFill>
            <a:srgbClr val="FF8F35">
              <a:alpha val="10196"/>
            </a:srgbClr>
          </a:solidFill>
          <a:ln cap="flat" cmpd="sng" w="9525">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cxnSp>
        <p:nvCxnSpPr>
          <p:cNvPr id="479" name="Google Shape;479;p11"/>
          <p:cNvCxnSpPr>
            <a:stCxn id="477" idx="6"/>
            <a:endCxn id="478" idx="2"/>
          </p:cNvCxnSpPr>
          <p:nvPr/>
        </p:nvCxnSpPr>
        <p:spPr>
          <a:xfrm>
            <a:off x="3503664" y="2348904"/>
            <a:ext cx="324000" cy="0"/>
          </a:xfrm>
          <a:prstGeom prst="straightConnector1">
            <a:avLst/>
          </a:prstGeom>
          <a:noFill/>
          <a:ln cap="flat" cmpd="sng" w="12700">
            <a:solidFill>
              <a:schemeClr val="lt1"/>
            </a:solidFill>
            <a:prstDash val="lgDash"/>
            <a:miter lim="80"/>
            <a:headEnd len="sm" w="sm" type="none"/>
            <a:tailEnd len="med" w="med" type="triangle"/>
          </a:ln>
        </p:spPr>
      </p:cxnSp>
      <p:cxnSp>
        <p:nvCxnSpPr>
          <p:cNvPr id="480" name="Google Shape;480;p11"/>
          <p:cNvCxnSpPr>
            <a:stCxn id="481" idx="6"/>
            <a:endCxn id="482" idx="2"/>
          </p:cNvCxnSpPr>
          <p:nvPr/>
        </p:nvCxnSpPr>
        <p:spPr>
          <a:xfrm>
            <a:off x="6203964" y="2348904"/>
            <a:ext cx="324000" cy="0"/>
          </a:xfrm>
          <a:prstGeom prst="straightConnector1">
            <a:avLst/>
          </a:prstGeom>
          <a:noFill/>
          <a:ln cap="flat" cmpd="sng" w="12700">
            <a:solidFill>
              <a:srgbClr val="DF5325"/>
            </a:solidFill>
            <a:prstDash val="lgDash"/>
            <a:miter lim="80"/>
            <a:headEnd len="sm" w="sm" type="none"/>
            <a:tailEnd len="med" w="med" type="triangle"/>
          </a:ln>
        </p:spPr>
      </p:cxnSp>
      <p:sp>
        <p:nvSpPr>
          <p:cNvPr id="481" name="Google Shape;481;p11"/>
          <p:cNvSpPr/>
          <p:nvPr/>
        </p:nvSpPr>
        <p:spPr>
          <a:xfrm>
            <a:off x="5771964" y="2132904"/>
            <a:ext cx="432000" cy="432000"/>
          </a:xfrm>
          <a:prstGeom prst="ellipse">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482" name="Google Shape;482;p11"/>
          <p:cNvSpPr/>
          <p:nvPr/>
        </p:nvSpPr>
        <p:spPr>
          <a:xfrm>
            <a:off x="6528048" y="2132904"/>
            <a:ext cx="432000" cy="432000"/>
          </a:xfrm>
          <a:prstGeom prst="ellipse">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483" name="Google Shape;483;p11"/>
          <p:cNvSpPr/>
          <p:nvPr/>
        </p:nvSpPr>
        <p:spPr>
          <a:xfrm>
            <a:off x="7284132" y="2132904"/>
            <a:ext cx="432000" cy="432000"/>
          </a:xfrm>
          <a:prstGeom prst="ellipse">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p:txBody>
      </p:sp>
      <p:cxnSp>
        <p:nvCxnSpPr>
          <p:cNvPr id="484" name="Google Shape;484;p11"/>
          <p:cNvCxnSpPr>
            <a:stCxn id="482" idx="6"/>
            <a:endCxn id="483" idx="2"/>
          </p:cNvCxnSpPr>
          <p:nvPr/>
        </p:nvCxnSpPr>
        <p:spPr>
          <a:xfrm>
            <a:off x="6960048" y="2348904"/>
            <a:ext cx="324000" cy="0"/>
          </a:xfrm>
          <a:prstGeom prst="straightConnector1">
            <a:avLst/>
          </a:prstGeom>
          <a:noFill/>
          <a:ln cap="flat" cmpd="sng" w="12700">
            <a:solidFill>
              <a:srgbClr val="DF5325"/>
            </a:solidFill>
            <a:prstDash val="lgDash"/>
            <a:miter lim="80"/>
            <a:headEnd len="sm" w="sm" type="none"/>
            <a:tailEnd len="med" w="med" type="triangle"/>
          </a:ln>
        </p:spPr>
      </p:cxnSp>
      <p:sp>
        <p:nvSpPr>
          <p:cNvPr id="485" name="Google Shape;485;p11"/>
          <p:cNvSpPr txBox="1"/>
          <p:nvPr/>
        </p:nvSpPr>
        <p:spPr>
          <a:xfrm>
            <a:off x="5633167" y="5980638"/>
            <a:ext cx="2221762" cy="18466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Today’s focus with Orq</a:t>
            </a:r>
            <a:endParaRPr b="0" i="0" sz="1200" u="none" cap="none" strike="noStrike">
              <a:solidFill>
                <a:schemeClr val="accent1"/>
              </a:solidFill>
              <a:latin typeface="Arial"/>
              <a:ea typeface="Arial"/>
              <a:cs typeface="Arial"/>
              <a:sym typeface="Arial"/>
            </a:endParaRPr>
          </a:p>
        </p:txBody>
      </p:sp>
      <p:sp>
        <p:nvSpPr>
          <p:cNvPr id="486" name="Google Shape;486;p11"/>
          <p:cNvSpPr txBox="1"/>
          <p:nvPr/>
        </p:nvSpPr>
        <p:spPr>
          <a:xfrm>
            <a:off x="10038553" y="2643078"/>
            <a:ext cx="323807" cy="18466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p:txBody>
      </p:sp>
      <p:sp>
        <p:nvSpPr>
          <p:cNvPr id="487" name="Google Shape;487;p11"/>
          <p:cNvSpPr txBox="1"/>
          <p:nvPr/>
        </p:nvSpPr>
        <p:spPr>
          <a:xfrm>
            <a:off x="6582169" y="2643078"/>
            <a:ext cx="323807" cy="18466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p:txBody>
      </p:sp>
      <p:pic>
        <p:nvPicPr>
          <p:cNvPr id="488" name="Google Shape;488;p11"/>
          <p:cNvPicPr preferRelativeResize="0"/>
          <p:nvPr/>
        </p:nvPicPr>
        <p:blipFill rotWithShape="1">
          <a:blip r:embed="rId3">
            <a:alphaModFix/>
          </a:blip>
          <a:srcRect b="0" l="0" r="0" t="0"/>
          <a:stretch/>
        </p:blipFill>
        <p:spPr>
          <a:xfrm>
            <a:off x="6613226" y="2206237"/>
            <a:ext cx="261693" cy="252000"/>
          </a:xfrm>
          <a:prstGeom prst="rect">
            <a:avLst/>
          </a:prstGeom>
          <a:noFill/>
          <a:ln>
            <a:noFill/>
          </a:ln>
        </p:spPr>
      </p:pic>
      <p:pic>
        <p:nvPicPr>
          <p:cNvPr id="489" name="Google Shape;489;p11"/>
          <p:cNvPicPr preferRelativeResize="0"/>
          <p:nvPr/>
        </p:nvPicPr>
        <p:blipFill rotWithShape="1">
          <a:blip r:embed="rId3">
            <a:alphaModFix/>
          </a:blip>
          <a:srcRect b="0" l="0" r="0" t="0"/>
          <a:stretch/>
        </p:blipFill>
        <p:spPr>
          <a:xfrm>
            <a:off x="10069610" y="2206237"/>
            <a:ext cx="261693" cy="252000"/>
          </a:xfrm>
          <a:prstGeom prst="rect">
            <a:avLst/>
          </a:prstGeom>
          <a:noFill/>
          <a:ln>
            <a:noFill/>
          </a:ln>
        </p:spPr>
      </p:pic>
      <p:pic>
        <p:nvPicPr>
          <p:cNvPr id="490" name="Google Shape;490;p11"/>
          <p:cNvPicPr preferRelativeResize="0"/>
          <p:nvPr/>
        </p:nvPicPr>
        <p:blipFill rotWithShape="1">
          <a:blip r:embed="rId4">
            <a:alphaModFix/>
          </a:blip>
          <a:srcRect b="0" l="0" r="0" t="0"/>
          <a:stretch/>
        </p:blipFill>
        <p:spPr>
          <a:xfrm>
            <a:off x="9966274" y="2114722"/>
            <a:ext cx="468364" cy="4683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LLMs become powerful when they can use tools</a:t>
            </a:r>
            <a:endParaRPr/>
          </a:p>
        </p:txBody>
      </p:sp>
      <p:sp>
        <p:nvSpPr>
          <p:cNvPr id="497" name="Google Shape;497;p12"/>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498" name="Google Shape;498;p1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499" name="Google Shape;499;p1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500" name="Google Shape;500;p12"/>
          <p:cNvSpPr txBox="1"/>
          <p:nvPr>
            <p:ph idx="12" type="sldNum"/>
          </p:nvPr>
        </p:nvSpPr>
        <p:spPr>
          <a:xfrm>
            <a:off x="12032986" y="6673964"/>
            <a:ext cx="54502"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501" name="Google Shape;501;p12"/>
          <p:cNvSpPr txBox="1"/>
          <p:nvPr/>
        </p:nvSpPr>
        <p:spPr>
          <a:xfrm>
            <a:off x="263525" y="1664804"/>
            <a:ext cx="2483052"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How do LLM’s use tools?</a:t>
            </a:r>
            <a:endParaRPr b="0" i="0" sz="1400" u="none" cap="none" strike="noStrike">
              <a:solidFill>
                <a:srgbClr val="000000"/>
              </a:solidFill>
              <a:latin typeface="Arial"/>
              <a:ea typeface="Arial"/>
              <a:cs typeface="Arial"/>
              <a:sym typeface="Arial"/>
            </a:endParaRPr>
          </a:p>
        </p:txBody>
      </p:sp>
      <p:sp>
        <p:nvSpPr>
          <p:cNvPr id="502" name="Google Shape;502;p12"/>
          <p:cNvSpPr/>
          <p:nvPr/>
        </p:nvSpPr>
        <p:spPr>
          <a:xfrm>
            <a:off x="263526" y="2169438"/>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Human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“What is 2 multiplied by 3”</a:t>
            </a:r>
            <a:endParaRPr b="0" i="0" sz="1400" u="none" cap="none" strike="noStrike">
              <a:solidFill>
                <a:srgbClr val="000000"/>
              </a:solidFill>
              <a:latin typeface="Arial"/>
              <a:ea typeface="Arial"/>
              <a:cs typeface="Arial"/>
              <a:sym typeface="Arial"/>
            </a:endParaRPr>
          </a:p>
        </p:txBody>
      </p:sp>
      <p:sp>
        <p:nvSpPr>
          <p:cNvPr id="503" name="Google Shape;503;p12"/>
          <p:cNvSpPr/>
          <p:nvPr/>
        </p:nvSpPr>
        <p:spPr>
          <a:xfrm>
            <a:off x="263526" y="3593852"/>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Do I need a tool?</a:t>
            </a:r>
            <a:endParaRPr b="0" i="0" sz="1400" u="none" cap="none" strike="noStrike">
              <a:solidFill>
                <a:srgbClr val="000000"/>
              </a:solidFill>
              <a:latin typeface="Arial"/>
              <a:ea typeface="Arial"/>
              <a:cs typeface="Arial"/>
              <a:sym typeface="Arial"/>
            </a:endParaRPr>
          </a:p>
        </p:txBody>
      </p:sp>
      <p:sp>
        <p:nvSpPr>
          <p:cNvPr id="504" name="Google Shape;504;p12"/>
          <p:cNvSpPr/>
          <p:nvPr/>
        </p:nvSpPr>
        <p:spPr>
          <a:xfrm>
            <a:off x="263526" y="5018265"/>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 </a:t>
            </a:r>
            <a:endParaRPr b="0" i="0" sz="1000" u="none" cap="none" strike="noStrike">
              <a:solidFill>
                <a:schemeClr val="dk2"/>
              </a:solidFill>
              <a:latin typeface="Arial"/>
              <a:ea typeface="Arial"/>
              <a:cs typeface="Arial"/>
              <a:sym typeface="Arial"/>
            </a:endParaRPr>
          </a:p>
          <a:p>
            <a:pPr indent="0" lvl="0" marL="0" marR="0" rtl="0" algn="l">
              <a:lnSpc>
                <a:spcPct val="100000"/>
              </a:lnSpc>
              <a:spcBef>
                <a:spcPts val="60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Give: 6</a:t>
            </a:r>
            <a:endParaRPr b="0" i="0" sz="1400" u="none" cap="none" strike="noStrike">
              <a:solidFill>
                <a:srgbClr val="000000"/>
              </a:solidFill>
              <a:latin typeface="Arial"/>
              <a:ea typeface="Arial"/>
              <a:cs typeface="Arial"/>
              <a:sym typeface="Arial"/>
            </a:endParaRPr>
          </a:p>
        </p:txBody>
      </p:sp>
      <p:cxnSp>
        <p:nvCxnSpPr>
          <p:cNvPr id="505" name="Google Shape;505;p12"/>
          <p:cNvCxnSpPr>
            <a:stCxn id="503" idx="3"/>
          </p:cNvCxnSpPr>
          <p:nvPr/>
        </p:nvCxnSpPr>
        <p:spPr>
          <a:xfrm>
            <a:off x="2850357" y="4171988"/>
            <a:ext cx="527100" cy="0"/>
          </a:xfrm>
          <a:prstGeom prst="straightConnector1">
            <a:avLst/>
          </a:prstGeom>
          <a:noFill/>
          <a:ln cap="flat" cmpd="sng" w="12700">
            <a:solidFill>
              <a:srgbClr val="DF5325"/>
            </a:solidFill>
            <a:prstDash val="solid"/>
            <a:miter lim="80"/>
            <a:headEnd len="med" w="med" type="triangle"/>
            <a:tailEnd len="med" w="med" type="triangle"/>
          </a:ln>
        </p:spPr>
      </p:cxnSp>
      <p:cxnSp>
        <p:nvCxnSpPr>
          <p:cNvPr id="506" name="Google Shape;506;p12"/>
          <p:cNvCxnSpPr>
            <a:stCxn id="502" idx="2"/>
            <a:endCxn id="503" idx="0"/>
          </p:cNvCxnSpPr>
          <p:nvPr/>
        </p:nvCxnSpPr>
        <p:spPr>
          <a:xfrm>
            <a:off x="1556942" y="3325710"/>
            <a:ext cx="0" cy="268200"/>
          </a:xfrm>
          <a:prstGeom prst="straightConnector1">
            <a:avLst/>
          </a:prstGeom>
          <a:noFill/>
          <a:ln cap="flat" cmpd="sng" w="12700">
            <a:solidFill>
              <a:srgbClr val="DF5325"/>
            </a:solidFill>
            <a:prstDash val="solid"/>
            <a:miter lim="80"/>
            <a:headEnd len="sm" w="sm" type="none"/>
            <a:tailEnd len="med" w="med" type="triangle"/>
          </a:ln>
        </p:spPr>
      </p:cxnSp>
      <p:cxnSp>
        <p:nvCxnSpPr>
          <p:cNvPr id="507" name="Google Shape;507;p12"/>
          <p:cNvCxnSpPr>
            <a:stCxn id="503" idx="2"/>
            <a:endCxn id="504" idx="0"/>
          </p:cNvCxnSpPr>
          <p:nvPr/>
        </p:nvCxnSpPr>
        <p:spPr>
          <a:xfrm>
            <a:off x="1556942" y="4750124"/>
            <a:ext cx="0" cy="268200"/>
          </a:xfrm>
          <a:prstGeom prst="straightConnector1">
            <a:avLst/>
          </a:prstGeom>
          <a:noFill/>
          <a:ln cap="flat" cmpd="sng" w="12700">
            <a:solidFill>
              <a:srgbClr val="DF5325"/>
            </a:solidFill>
            <a:prstDash val="solid"/>
            <a:miter lim="80"/>
            <a:headEnd len="sm" w="sm" type="none"/>
            <a:tailEnd len="med" w="med" type="triangle"/>
          </a:ln>
        </p:spPr>
      </p:cxnSp>
      <p:sp>
        <p:nvSpPr>
          <p:cNvPr id="508" name="Google Shape;508;p12"/>
          <p:cNvSpPr/>
          <p:nvPr/>
        </p:nvSpPr>
        <p:spPr>
          <a:xfrm>
            <a:off x="3377407" y="3593852"/>
            <a:ext cx="2586831" cy="1156272"/>
          </a:xfrm>
          <a:prstGeom prst="roundRect">
            <a:avLst>
              <a:gd fmla="val 4038" name="adj"/>
            </a:avLst>
          </a:prstGeom>
          <a:solidFill>
            <a:schemeClr val="dk2">
              <a:alpha val="10196"/>
            </a:schemeClr>
          </a:solidFill>
          <a:ln cap="flat" cmpd="sng" w="9525">
            <a:solidFill>
              <a:schemeClr val="dk1">
                <a:alpha val="10196"/>
              </a:schemeClr>
            </a:solidFill>
            <a:prstDash val="solid"/>
            <a:round/>
            <a:headEnd len="sm" w="sm" type="none"/>
            <a:tailEnd len="sm" w="sm" type="none"/>
          </a:ln>
        </p:spPr>
        <p:txBody>
          <a:bodyPr anchorCtr="0" anchor="t" bIns="72000" lIns="144000" spcFirstLastPara="1" rIns="144000" wrap="square" tIns="144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1. Tool_name: multiply</a:t>
            </a:r>
            <a:endParaRPr b="0" i="0" sz="1000" u="none" cap="none" strike="noStrike">
              <a:solidFill>
                <a:schemeClr val="dk2"/>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Def multiply (2,3): return 2*3</a:t>
            </a:r>
            <a:endParaRPr b="0" i="0" sz="1400" u="none" cap="none" strike="noStrike">
              <a:solidFill>
                <a:srgbClr val="000000"/>
              </a:solidFill>
              <a:latin typeface="Arial"/>
              <a:ea typeface="Arial"/>
              <a:cs typeface="Arial"/>
              <a:sym typeface="Arial"/>
            </a:endParaRPr>
          </a:p>
        </p:txBody>
      </p:sp>
      <p:sp>
        <p:nvSpPr>
          <p:cNvPr id="509" name="Google Shape;509;p12"/>
          <p:cNvSpPr txBox="1"/>
          <p:nvPr/>
        </p:nvSpPr>
        <p:spPr>
          <a:xfrm>
            <a:off x="2996061" y="3887180"/>
            <a:ext cx="235642" cy="1538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510" name="Google Shape;510;p12"/>
          <p:cNvSpPr txBox="1"/>
          <p:nvPr/>
        </p:nvSpPr>
        <p:spPr>
          <a:xfrm>
            <a:off x="6227763" y="3764184"/>
            <a:ext cx="5521325" cy="815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 key principle of tool calling is that the model decided when to use a tool based on the input’s relevance.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The model doesn’t always need to call a tool. For example, given an unrelated input, the model would not call the tool. </a:t>
            </a:r>
            <a:endParaRPr b="0" i="0" sz="1400" u="none" cap="none" strike="noStrike">
              <a:solidFill>
                <a:srgbClr val="000000"/>
              </a:solidFill>
              <a:latin typeface="Arial"/>
              <a:ea typeface="Arial"/>
              <a:cs typeface="Arial"/>
              <a:sym typeface="Arial"/>
            </a:endParaRPr>
          </a:p>
        </p:txBody>
      </p:sp>
      <p:sp>
        <p:nvSpPr>
          <p:cNvPr id="511" name="Google Shape;511;p12"/>
          <p:cNvSpPr txBox="1"/>
          <p:nvPr/>
        </p:nvSpPr>
        <p:spPr>
          <a:xfrm>
            <a:off x="2996061" y="2787101"/>
            <a:ext cx="1564531" cy="53860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Payload needed for 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Arguments: ‘{“a”:2, “b”:3}’</a:t>
            </a:r>
            <a:br>
              <a:rPr b="0" i="0" lang="en-US" sz="1000" u="none" cap="none" strike="noStrike">
                <a:solidFill>
                  <a:schemeClr val="dk2"/>
                </a:solidFill>
                <a:latin typeface="Arial"/>
                <a:ea typeface="Arial"/>
                <a:cs typeface="Arial"/>
                <a:sym typeface="Arial"/>
              </a:rPr>
            </a:br>
            <a:r>
              <a:rPr b="0" i="0" lang="en-US" sz="1000" u="none" cap="none" strike="noStrike">
                <a:solidFill>
                  <a:schemeClr val="dk2"/>
                </a:solidFill>
                <a:latin typeface="Arial"/>
                <a:ea typeface="Arial"/>
                <a:cs typeface="Arial"/>
                <a:sym typeface="Arial"/>
              </a:rPr>
              <a:t>tool_name: multiply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3"/>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LLMs become powerful when they can use tools</a:t>
            </a:r>
            <a:endParaRPr/>
          </a:p>
        </p:txBody>
      </p:sp>
      <p:sp>
        <p:nvSpPr>
          <p:cNvPr id="518" name="Google Shape;518;p13"/>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519" name="Google Shape;519;p1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520" name="Google Shape;520;p1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521" name="Google Shape;521;p13"/>
          <p:cNvSpPr txBox="1"/>
          <p:nvPr>
            <p:ph idx="12" type="sldNum"/>
          </p:nvPr>
        </p:nvSpPr>
        <p:spPr>
          <a:xfrm>
            <a:off x="12032986" y="6673964"/>
            <a:ext cx="54502"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522" name="Google Shape;522;p13"/>
          <p:cNvSpPr txBox="1"/>
          <p:nvPr/>
        </p:nvSpPr>
        <p:spPr>
          <a:xfrm>
            <a:off x="263525" y="1664804"/>
            <a:ext cx="2483052"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How do LLM’s use tools?</a:t>
            </a:r>
            <a:endParaRPr b="0" i="0" sz="1400" u="none" cap="none" strike="noStrike">
              <a:solidFill>
                <a:srgbClr val="000000"/>
              </a:solidFill>
              <a:latin typeface="Arial"/>
              <a:ea typeface="Arial"/>
              <a:cs typeface="Arial"/>
              <a:sym typeface="Arial"/>
            </a:endParaRPr>
          </a:p>
        </p:txBody>
      </p:sp>
      <p:sp>
        <p:nvSpPr>
          <p:cNvPr id="523" name="Google Shape;523;p13"/>
          <p:cNvSpPr/>
          <p:nvPr/>
        </p:nvSpPr>
        <p:spPr>
          <a:xfrm>
            <a:off x="263526" y="2169438"/>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Human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“What is 2 multiplied by 3”</a:t>
            </a:r>
            <a:endParaRPr b="0" i="0" sz="1400" u="none" cap="none" strike="noStrike">
              <a:solidFill>
                <a:srgbClr val="000000"/>
              </a:solidFill>
              <a:latin typeface="Arial"/>
              <a:ea typeface="Arial"/>
              <a:cs typeface="Arial"/>
              <a:sym typeface="Arial"/>
            </a:endParaRPr>
          </a:p>
        </p:txBody>
      </p:sp>
      <p:sp>
        <p:nvSpPr>
          <p:cNvPr id="524" name="Google Shape;524;p13"/>
          <p:cNvSpPr/>
          <p:nvPr/>
        </p:nvSpPr>
        <p:spPr>
          <a:xfrm>
            <a:off x="263526" y="3593852"/>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Do I need a tool?</a:t>
            </a:r>
            <a:endParaRPr b="0" i="0" sz="1400" u="none" cap="none" strike="noStrike">
              <a:solidFill>
                <a:srgbClr val="000000"/>
              </a:solidFill>
              <a:latin typeface="Arial"/>
              <a:ea typeface="Arial"/>
              <a:cs typeface="Arial"/>
              <a:sym typeface="Arial"/>
            </a:endParaRPr>
          </a:p>
        </p:txBody>
      </p:sp>
      <p:sp>
        <p:nvSpPr>
          <p:cNvPr id="525" name="Google Shape;525;p13"/>
          <p:cNvSpPr/>
          <p:nvPr/>
        </p:nvSpPr>
        <p:spPr>
          <a:xfrm>
            <a:off x="263526" y="5018265"/>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 </a:t>
            </a:r>
            <a:endParaRPr b="0" i="0" sz="1000" u="none" cap="none" strike="noStrike">
              <a:solidFill>
                <a:schemeClr val="dk2"/>
              </a:solidFill>
              <a:latin typeface="Arial"/>
              <a:ea typeface="Arial"/>
              <a:cs typeface="Arial"/>
              <a:sym typeface="Arial"/>
            </a:endParaRPr>
          </a:p>
          <a:p>
            <a:pPr indent="0" lvl="0" marL="0" marR="0" rtl="0" algn="l">
              <a:lnSpc>
                <a:spcPct val="100000"/>
              </a:lnSpc>
              <a:spcBef>
                <a:spcPts val="60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Give: 6</a:t>
            </a:r>
            <a:endParaRPr b="0" i="0" sz="1400" u="none" cap="none" strike="noStrike">
              <a:solidFill>
                <a:srgbClr val="000000"/>
              </a:solidFill>
              <a:latin typeface="Arial"/>
              <a:ea typeface="Arial"/>
              <a:cs typeface="Arial"/>
              <a:sym typeface="Arial"/>
            </a:endParaRPr>
          </a:p>
        </p:txBody>
      </p:sp>
      <p:cxnSp>
        <p:nvCxnSpPr>
          <p:cNvPr id="526" name="Google Shape;526;p13"/>
          <p:cNvCxnSpPr>
            <a:stCxn id="524" idx="3"/>
          </p:cNvCxnSpPr>
          <p:nvPr/>
        </p:nvCxnSpPr>
        <p:spPr>
          <a:xfrm>
            <a:off x="2850357" y="4171988"/>
            <a:ext cx="527100" cy="0"/>
          </a:xfrm>
          <a:prstGeom prst="straightConnector1">
            <a:avLst/>
          </a:prstGeom>
          <a:noFill/>
          <a:ln cap="flat" cmpd="sng" w="12700">
            <a:solidFill>
              <a:srgbClr val="DF5325"/>
            </a:solidFill>
            <a:prstDash val="solid"/>
            <a:miter lim="80"/>
            <a:headEnd len="med" w="med" type="triangle"/>
            <a:tailEnd len="med" w="med" type="triangle"/>
          </a:ln>
        </p:spPr>
      </p:cxnSp>
      <p:cxnSp>
        <p:nvCxnSpPr>
          <p:cNvPr id="527" name="Google Shape;527;p13"/>
          <p:cNvCxnSpPr>
            <a:stCxn id="523" idx="2"/>
            <a:endCxn id="524" idx="0"/>
          </p:cNvCxnSpPr>
          <p:nvPr/>
        </p:nvCxnSpPr>
        <p:spPr>
          <a:xfrm>
            <a:off x="1556942" y="3325710"/>
            <a:ext cx="0" cy="268200"/>
          </a:xfrm>
          <a:prstGeom prst="straightConnector1">
            <a:avLst/>
          </a:prstGeom>
          <a:noFill/>
          <a:ln cap="flat" cmpd="sng" w="12700">
            <a:solidFill>
              <a:srgbClr val="DF5325"/>
            </a:solidFill>
            <a:prstDash val="solid"/>
            <a:miter lim="80"/>
            <a:headEnd len="sm" w="sm" type="none"/>
            <a:tailEnd len="med" w="med" type="triangle"/>
          </a:ln>
        </p:spPr>
      </p:cxnSp>
      <p:cxnSp>
        <p:nvCxnSpPr>
          <p:cNvPr id="528" name="Google Shape;528;p13"/>
          <p:cNvCxnSpPr>
            <a:stCxn id="524" idx="2"/>
            <a:endCxn id="525" idx="0"/>
          </p:cNvCxnSpPr>
          <p:nvPr/>
        </p:nvCxnSpPr>
        <p:spPr>
          <a:xfrm>
            <a:off x="1556942" y="4750124"/>
            <a:ext cx="0" cy="268200"/>
          </a:xfrm>
          <a:prstGeom prst="straightConnector1">
            <a:avLst/>
          </a:prstGeom>
          <a:noFill/>
          <a:ln cap="flat" cmpd="sng" w="12700">
            <a:solidFill>
              <a:srgbClr val="DF5325"/>
            </a:solidFill>
            <a:prstDash val="solid"/>
            <a:miter lim="80"/>
            <a:headEnd len="sm" w="sm" type="none"/>
            <a:tailEnd len="med" w="med" type="triangle"/>
          </a:ln>
        </p:spPr>
      </p:cxnSp>
      <p:sp>
        <p:nvSpPr>
          <p:cNvPr id="529" name="Google Shape;529;p13"/>
          <p:cNvSpPr txBox="1"/>
          <p:nvPr/>
        </p:nvSpPr>
        <p:spPr>
          <a:xfrm>
            <a:off x="2996061" y="3887180"/>
            <a:ext cx="235642" cy="1538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530" name="Google Shape;530;p13"/>
          <p:cNvSpPr txBox="1"/>
          <p:nvPr/>
        </p:nvSpPr>
        <p:spPr>
          <a:xfrm>
            <a:off x="6227763" y="3764184"/>
            <a:ext cx="5521325" cy="81560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 key principle of tool calling is that the model decided when to use a tool based on the input’s relevance.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The model doesn’t always need to call a tool. For example, given an unrelated input, the model would not call the tool. </a:t>
            </a:r>
            <a:endParaRPr b="0" i="0" sz="1400" u="none" cap="none" strike="noStrike">
              <a:solidFill>
                <a:srgbClr val="000000"/>
              </a:solidFill>
              <a:latin typeface="Arial"/>
              <a:ea typeface="Arial"/>
              <a:cs typeface="Arial"/>
              <a:sym typeface="Arial"/>
            </a:endParaRPr>
          </a:p>
        </p:txBody>
      </p:sp>
      <p:sp>
        <p:nvSpPr>
          <p:cNvPr id="531" name="Google Shape;531;p13"/>
          <p:cNvSpPr/>
          <p:nvPr/>
        </p:nvSpPr>
        <p:spPr>
          <a:xfrm>
            <a:off x="3377407" y="3593851"/>
            <a:ext cx="2586831" cy="2580685"/>
          </a:xfrm>
          <a:prstGeom prst="roundRect">
            <a:avLst>
              <a:gd fmla="val 1731" name="adj"/>
            </a:avLst>
          </a:prstGeom>
          <a:solidFill>
            <a:schemeClr val="dk2">
              <a:alpha val="10196"/>
            </a:schemeClr>
          </a:solidFill>
          <a:ln cap="flat" cmpd="sng" w="9525">
            <a:solidFill>
              <a:schemeClr val="dk1">
                <a:alpha val="10196"/>
              </a:schemeClr>
            </a:solidFill>
            <a:prstDash val="solid"/>
            <a:round/>
            <a:headEnd len="sm" w="sm" type="none"/>
            <a:tailEnd len="sm" w="sm" type="none"/>
          </a:ln>
        </p:spPr>
        <p:txBody>
          <a:bodyPr anchorCtr="0" anchor="t" bIns="72000" lIns="144000" spcFirstLastPara="1" rIns="144000" wrap="square" tIns="144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1. Tool_name: multiply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2. CRM data lookup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3. BI dashboards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4. Policy checkers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5. Ticket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6. Email / Calander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1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LLMs become powerful when they can use tools</a:t>
            </a:r>
            <a:endParaRPr/>
          </a:p>
        </p:txBody>
      </p:sp>
      <p:sp>
        <p:nvSpPr>
          <p:cNvPr id="538" name="Google Shape;538;p14"/>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539" name="Google Shape;539;p1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540" name="Google Shape;540;p1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541" name="Google Shape;541;p14"/>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542" name="Google Shape;542;p14"/>
          <p:cNvSpPr/>
          <p:nvPr/>
        </p:nvSpPr>
        <p:spPr>
          <a:xfrm>
            <a:off x="6227763" y="2169438"/>
            <a:ext cx="5700712" cy="801321"/>
          </a:xfrm>
          <a:prstGeom prst="roundRect">
            <a:avLst>
              <a:gd fmla="val 560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Connects AI to your organizational systems</a:t>
            </a:r>
            <a:br>
              <a:rPr b="0" i="0" lang="en-US" sz="1200" u="none" cap="none" strike="noStrike">
                <a:solidFill>
                  <a:schemeClr val="dk1"/>
                </a:solidFill>
                <a:latin typeface="Arial"/>
                <a:ea typeface="Arial"/>
                <a:cs typeface="Arial"/>
                <a:sym typeface="Arial"/>
              </a:rPr>
            </a:br>
            <a:r>
              <a:rPr b="0" i="0" lang="en-US" sz="1000" u="none" cap="none" strike="noStrike">
                <a:solidFill>
                  <a:schemeClr val="dk2"/>
                </a:solidFill>
                <a:latin typeface="Arial"/>
                <a:ea typeface="Arial"/>
                <a:cs typeface="Arial"/>
                <a:sym typeface="Arial"/>
              </a:rPr>
              <a:t>Enables agents to also act on data and tools (CRMs, APIs, databases)</a:t>
            </a:r>
            <a:endParaRPr b="0" i="0" sz="1400" u="none" cap="none" strike="noStrike">
              <a:solidFill>
                <a:srgbClr val="000000"/>
              </a:solidFill>
              <a:latin typeface="Arial"/>
              <a:ea typeface="Arial"/>
              <a:cs typeface="Arial"/>
              <a:sym typeface="Arial"/>
            </a:endParaRPr>
          </a:p>
        </p:txBody>
      </p:sp>
      <p:sp>
        <p:nvSpPr>
          <p:cNvPr id="543" name="Google Shape;543;p14"/>
          <p:cNvSpPr txBox="1"/>
          <p:nvPr/>
        </p:nvSpPr>
        <p:spPr>
          <a:xfrm>
            <a:off x="263525" y="1664804"/>
            <a:ext cx="2483052"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How do LLM’s use tools?</a:t>
            </a:r>
            <a:endParaRPr b="0" i="0" sz="1400" u="none" cap="none" strike="noStrike">
              <a:solidFill>
                <a:srgbClr val="000000"/>
              </a:solidFill>
              <a:latin typeface="Arial"/>
              <a:ea typeface="Arial"/>
              <a:cs typeface="Arial"/>
              <a:sym typeface="Arial"/>
            </a:endParaRPr>
          </a:p>
        </p:txBody>
      </p:sp>
      <p:sp>
        <p:nvSpPr>
          <p:cNvPr id="544" name="Google Shape;544;p14"/>
          <p:cNvSpPr txBox="1"/>
          <p:nvPr/>
        </p:nvSpPr>
        <p:spPr>
          <a:xfrm>
            <a:off x="6227763" y="1664804"/>
            <a:ext cx="2518318"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Why tool calling matters:</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6227763" y="3237364"/>
            <a:ext cx="5700712"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Ensures safety and governance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Only approved tools can be called; every action is logged and controlled</a:t>
            </a:r>
            <a:endParaRPr b="0" i="0" sz="1400" u="none" cap="none" strike="noStrike">
              <a:solidFill>
                <a:srgbClr val="000000"/>
              </a:solidFill>
              <a:latin typeface="Arial"/>
              <a:ea typeface="Arial"/>
              <a:cs typeface="Arial"/>
              <a:sym typeface="Arial"/>
            </a:endParaRPr>
          </a:p>
        </p:txBody>
      </p:sp>
      <p:sp>
        <p:nvSpPr>
          <p:cNvPr id="546" name="Google Shape;546;p14"/>
          <p:cNvSpPr/>
          <p:nvPr/>
        </p:nvSpPr>
        <p:spPr>
          <a:xfrm>
            <a:off x="6227763" y="4305290"/>
            <a:ext cx="5700712"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Delivers reliable, auditable outputs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Combines LLM reasoning with deterministic, traceable functions</a:t>
            </a:r>
            <a:endParaRPr b="0" i="0" sz="1400" u="none" cap="none" strike="noStrike">
              <a:solidFill>
                <a:srgbClr val="000000"/>
              </a:solidFill>
              <a:latin typeface="Arial"/>
              <a:ea typeface="Arial"/>
              <a:cs typeface="Arial"/>
              <a:sym typeface="Arial"/>
            </a:endParaRPr>
          </a:p>
        </p:txBody>
      </p:sp>
      <p:sp>
        <p:nvSpPr>
          <p:cNvPr id="547" name="Google Shape;547;p14"/>
          <p:cNvSpPr/>
          <p:nvPr/>
        </p:nvSpPr>
        <p:spPr>
          <a:xfrm>
            <a:off x="6227763" y="5373216"/>
            <a:ext cx="5700712"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Scales across teams and workflows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Reusable tool libraries let multiple teams build and deploy agents safely</a:t>
            </a:r>
            <a:endParaRPr b="0" i="0" sz="1400" u="none" cap="none" strike="noStrike">
              <a:solidFill>
                <a:srgbClr val="000000"/>
              </a:solidFill>
              <a:latin typeface="Arial"/>
              <a:ea typeface="Arial"/>
              <a:cs typeface="Arial"/>
              <a:sym typeface="Arial"/>
            </a:endParaRPr>
          </a:p>
        </p:txBody>
      </p:sp>
      <p:sp>
        <p:nvSpPr>
          <p:cNvPr id="548" name="Google Shape;548;p14"/>
          <p:cNvSpPr/>
          <p:nvPr/>
        </p:nvSpPr>
        <p:spPr>
          <a:xfrm>
            <a:off x="263526" y="2169438"/>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Human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“What is 2 multiplied by 3”</a:t>
            </a:r>
            <a:endParaRPr b="0" i="0" sz="1400" u="none" cap="none" strike="noStrike">
              <a:solidFill>
                <a:srgbClr val="000000"/>
              </a:solidFill>
              <a:latin typeface="Arial"/>
              <a:ea typeface="Arial"/>
              <a:cs typeface="Arial"/>
              <a:sym typeface="Arial"/>
            </a:endParaRPr>
          </a:p>
        </p:txBody>
      </p:sp>
      <p:sp>
        <p:nvSpPr>
          <p:cNvPr id="549" name="Google Shape;549;p14"/>
          <p:cNvSpPr/>
          <p:nvPr/>
        </p:nvSpPr>
        <p:spPr>
          <a:xfrm>
            <a:off x="263526" y="3593852"/>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Do I need a tool?</a:t>
            </a:r>
            <a:endParaRPr b="0" i="0" sz="1400" u="none" cap="none" strike="noStrike">
              <a:solidFill>
                <a:srgbClr val="000000"/>
              </a:solidFill>
              <a:latin typeface="Arial"/>
              <a:ea typeface="Arial"/>
              <a:cs typeface="Arial"/>
              <a:sym typeface="Arial"/>
            </a:endParaRPr>
          </a:p>
        </p:txBody>
      </p:sp>
      <p:sp>
        <p:nvSpPr>
          <p:cNvPr id="550" name="Google Shape;550;p14"/>
          <p:cNvSpPr/>
          <p:nvPr/>
        </p:nvSpPr>
        <p:spPr>
          <a:xfrm>
            <a:off x="263526" y="5018265"/>
            <a:ext cx="2586831" cy="1156272"/>
          </a:xfrm>
          <a:prstGeom prst="roundRect">
            <a:avLst>
              <a:gd fmla="val 4038"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Def multiply (2,3): return 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Give: 6</a:t>
            </a:r>
            <a:endParaRPr b="0" i="0" sz="1400" u="none" cap="none" strike="noStrike">
              <a:solidFill>
                <a:srgbClr val="000000"/>
              </a:solidFill>
              <a:latin typeface="Arial"/>
              <a:ea typeface="Arial"/>
              <a:cs typeface="Arial"/>
              <a:sym typeface="Arial"/>
            </a:endParaRPr>
          </a:p>
        </p:txBody>
      </p:sp>
      <p:sp>
        <p:nvSpPr>
          <p:cNvPr id="551" name="Google Shape;551;p14"/>
          <p:cNvSpPr/>
          <p:nvPr/>
        </p:nvSpPr>
        <p:spPr>
          <a:xfrm>
            <a:off x="3377407" y="3593851"/>
            <a:ext cx="2586831" cy="2580685"/>
          </a:xfrm>
          <a:prstGeom prst="roundRect">
            <a:avLst>
              <a:gd fmla="val 1731" name="adj"/>
            </a:avLst>
          </a:prstGeom>
          <a:solidFill>
            <a:schemeClr val="dk2">
              <a:alpha val="10196"/>
            </a:schemeClr>
          </a:solidFill>
          <a:ln cap="flat" cmpd="sng" w="9525">
            <a:solidFill>
              <a:schemeClr val="dk1">
                <a:alpha val="10196"/>
              </a:schemeClr>
            </a:solidFill>
            <a:prstDash val="solid"/>
            <a:round/>
            <a:headEnd len="sm" w="sm" type="none"/>
            <a:tailEnd len="sm" w="sm" type="none"/>
          </a:ln>
        </p:spPr>
        <p:txBody>
          <a:bodyPr anchorCtr="0" anchor="t" bIns="72000" lIns="144000" spcFirstLastPara="1" rIns="144000" wrap="square" tIns="144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Tool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1. Tool_name: multiply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2. CRM data lookup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3. BI dashboards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4. Policy checkers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5. Ticket systems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6. Email / Calander</a:t>
            </a:r>
            <a:endParaRPr b="0" i="0" sz="1400" u="none" cap="none" strike="noStrike">
              <a:solidFill>
                <a:srgbClr val="000000"/>
              </a:solidFill>
              <a:latin typeface="Arial"/>
              <a:ea typeface="Arial"/>
              <a:cs typeface="Arial"/>
              <a:sym typeface="Arial"/>
            </a:endParaRPr>
          </a:p>
        </p:txBody>
      </p:sp>
      <p:cxnSp>
        <p:nvCxnSpPr>
          <p:cNvPr id="552" name="Google Shape;552;p14"/>
          <p:cNvCxnSpPr>
            <a:stCxn id="549" idx="3"/>
          </p:cNvCxnSpPr>
          <p:nvPr/>
        </p:nvCxnSpPr>
        <p:spPr>
          <a:xfrm>
            <a:off x="2850357" y="4171988"/>
            <a:ext cx="527100" cy="0"/>
          </a:xfrm>
          <a:prstGeom prst="straightConnector1">
            <a:avLst/>
          </a:prstGeom>
          <a:noFill/>
          <a:ln cap="flat" cmpd="sng" w="12700">
            <a:solidFill>
              <a:srgbClr val="DF5325"/>
            </a:solidFill>
            <a:prstDash val="solid"/>
            <a:miter lim="80"/>
            <a:headEnd len="med" w="med" type="triangle"/>
            <a:tailEnd len="med" w="med" type="triangle"/>
          </a:ln>
        </p:spPr>
      </p:cxnSp>
      <p:cxnSp>
        <p:nvCxnSpPr>
          <p:cNvPr id="553" name="Google Shape;553;p14"/>
          <p:cNvCxnSpPr>
            <a:stCxn id="548" idx="2"/>
            <a:endCxn id="549" idx="0"/>
          </p:cNvCxnSpPr>
          <p:nvPr/>
        </p:nvCxnSpPr>
        <p:spPr>
          <a:xfrm>
            <a:off x="1556942" y="3325710"/>
            <a:ext cx="0" cy="268200"/>
          </a:xfrm>
          <a:prstGeom prst="straightConnector1">
            <a:avLst/>
          </a:prstGeom>
          <a:noFill/>
          <a:ln cap="flat" cmpd="sng" w="12700">
            <a:solidFill>
              <a:srgbClr val="DF5325"/>
            </a:solidFill>
            <a:prstDash val="solid"/>
            <a:miter lim="80"/>
            <a:headEnd len="sm" w="sm" type="none"/>
            <a:tailEnd len="med" w="med" type="triangle"/>
          </a:ln>
        </p:spPr>
      </p:cxnSp>
      <p:cxnSp>
        <p:nvCxnSpPr>
          <p:cNvPr id="554" name="Google Shape;554;p14"/>
          <p:cNvCxnSpPr>
            <a:stCxn id="549" idx="2"/>
            <a:endCxn id="550" idx="0"/>
          </p:cNvCxnSpPr>
          <p:nvPr/>
        </p:nvCxnSpPr>
        <p:spPr>
          <a:xfrm>
            <a:off x="1556942" y="4750124"/>
            <a:ext cx="0" cy="268200"/>
          </a:xfrm>
          <a:prstGeom prst="straightConnector1">
            <a:avLst/>
          </a:prstGeom>
          <a:noFill/>
          <a:ln cap="flat" cmpd="sng" w="12700">
            <a:solidFill>
              <a:srgbClr val="DF5325"/>
            </a:solidFill>
            <a:prstDash val="solid"/>
            <a:miter lim="80"/>
            <a:headEnd len="sm" w="sm" type="none"/>
            <a:tailEnd len="med" w="med" type="triangle"/>
          </a:ln>
        </p:spPr>
      </p:cxnSp>
      <p:sp>
        <p:nvSpPr>
          <p:cNvPr id="555" name="Google Shape;555;p14"/>
          <p:cNvSpPr txBox="1"/>
          <p:nvPr/>
        </p:nvSpPr>
        <p:spPr>
          <a:xfrm>
            <a:off x="2996061" y="3887180"/>
            <a:ext cx="235642" cy="153888"/>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15"/>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562" name="Google Shape;562;p15"/>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563" name="Google Shape;563;p15"/>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564" name="Google Shape;564;p1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Understanding the key parameters for effective prompting</a:t>
            </a:r>
            <a:endParaRPr/>
          </a:p>
        </p:txBody>
      </p:sp>
      <p:sp>
        <p:nvSpPr>
          <p:cNvPr id="565" name="Google Shape;565;p15"/>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566" name="Google Shape;566;p1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567" name="Google Shape;567;p1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568" name="Google Shape;568;p15"/>
          <p:cNvSpPr txBox="1"/>
          <p:nvPr>
            <p:ph idx="12" type="sldNum"/>
          </p:nvPr>
        </p:nvSpPr>
        <p:spPr>
          <a:xfrm>
            <a:off x="12012147" y="6673964"/>
            <a:ext cx="96180"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569" name="Google Shape;569;p15"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570" name="Google Shape;570;p15"/>
          <p:cNvGrpSpPr/>
          <p:nvPr/>
        </p:nvGrpSpPr>
        <p:grpSpPr>
          <a:xfrm>
            <a:off x="7701525" y="2877580"/>
            <a:ext cx="1032341" cy="222257"/>
            <a:chOff x="7666290" y="2850435"/>
            <a:chExt cx="1032341" cy="222257"/>
          </a:xfrm>
        </p:grpSpPr>
        <p:sp>
          <p:nvSpPr>
            <p:cNvPr id="571" name="Google Shape;571;p15"/>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572" name="Google Shape;572;p15"/>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573" name="Google Shape;573;p15"/>
          <p:cNvGrpSpPr/>
          <p:nvPr/>
        </p:nvGrpSpPr>
        <p:grpSpPr>
          <a:xfrm>
            <a:off x="6590913" y="2877580"/>
            <a:ext cx="1043832" cy="222257"/>
            <a:chOff x="6567424" y="2850435"/>
            <a:chExt cx="1043832" cy="222257"/>
          </a:xfrm>
        </p:grpSpPr>
        <p:sp>
          <p:nvSpPr>
            <p:cNvPr id="574" name="Google Shape;574;p15"/>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575" name="Google Shape;575;p15"/>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576" name="Google Shape;576;p15"/>
          <p:cNvGrpSpPr/>
          <p:nvPr/>
        </p:nvGrpSpPr>
        <p:grpSpPr>
          <a:xfrm>
            <a:off x="5369381" y="2877580"/>
            <a:ext cx="1154752" cy="222257"/>
            <a:chOff x="5357636" y="2850435"/>
            <a:chExt cx="1154752" cy="222257"/>
          </a:xfrm>
        </p:grpSpPr>
        <p:sp>
          <p:nvSpPr>
            <p:cNvPr id="577" name="Google Shape;577;p15"/>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578" name="Google Shape;578;p15"/>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579" name="Google Shape;579;p15"/>
          <p:cNvGrpSpPr/>
          <p:nvPr/>
        </p:nvGrpSpPr>
        <p:grpSpPr>
          <a:xfrm>
            <a:off x="3774515" y="2877580"/>
            <a:ext cx="1528086" cy="222257"/>
            <a:chOff x="3774515" y="2850435"/>
            <a:chExt cx="1528086" cy="222257"/>
          </a:xfrm>
        </p:grpSpPr>
        <p:sp>
          <p:nvSpPr>
            <p:cNvPr id="580" name="Google Shape;580;p15"/>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581" name="Google Shape;581;p15"/>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582" name="Google Shape;582;p15"/>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583" name="Google Shape;583;p15"/>
          <p:cNvGrpSpPr/>
          <p:nvPr/>
        </p:nvGrpSpPr>
        <p:grpSpPr>
          <a:xfrm>
            <a:off x="8800646" y="2877580"/>
            <a:ext cx="615485" cy="222257"/>
            <a:chOff x="3774515" y="3143990"/>
            <a:chExt cx="615485" cy="222257"/>
          </a:xfrm>
        </p:grpSpPr>
        <p:sp>
          <p:nvSpPr>
            <p:cNvPr id="584" name="Google Shape;584;p15"/>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585" name="Google Shape;585;p15"/>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586" name="Google Shape;586;p15"/>
          <p:cNvGrpSpPr/>
          <p:nvPr/>
        </p:nvGrpSpPr>
        <p:grpSpPr>
          <a:xfrm>
            <a:off x="9482913" y="2877580"/>
            <a:ext cx="637271" cy="222257"/>
            <a:chOff x="5325634" y="4258824"/>
            <a:chExt cx="792014" cy="276226"/>
          </a:xfrm>
        </p:grpSpPr>
        <p:sp>
          <p:nvSpPr>
            <p:cNvPr id="587" name="Google Shape;587;p15"/>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588" name="Google Shape;588;p15"/>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589" name="Google Shape;589;p15"/>
          <p:cNvGrpSpPr/>
          <p:nvPr/>
        </p:nvGrpSpPr>
        <p:grpSpPr>
          <a:xfrm>
            <a:off x="3774515" y="3171138"/>
            <a:ext cx="1751394" cy="222257"/>
            <a:chOff x="6146845" y="4521895"/>
            <a:chExt cx="2176671" cy="276226"/>
          </a:xfrm>
        </p:grpSpPr>
        <p:sp>
          <p:nvSpPr>
            <p:cNvPr id="590" name="Google Shape;590;p15"/>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591" name="Google Shape;591;p15"/>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grpSp>
        <p:nvGrpSpPr>
          <p:cNvPr id="592" name="Google Shape;592;p15"/>
          <p:cNvGrpSpPr/>
          <p:nvPr/>
        </p:nvGrpSpPr>
        <p:grpSpPr>
          <a:xfrm>
            <a:off x="5590467" y="3171138"/>
            <a:ext cx="767596" cy="222257"/>
            <a:chOff x="8524017" y="4258824"/>
            <a:chExt cx="953984" cy="276226"/>
          </a:xfrm>
        </p:grpSpPr>
        <p:sp>
          <p:nvSpPr>
            <p:cNvPr id="593" name="Google Shape;593;p15"/>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594" name="Google Shape;594;p15"/>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595" name="Google Shape;595;p15"/>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596" name="Google Shape;596;p15"/>
          <p:cNvGrpSpPr/>
          <p:nvPr/>
        </p:nvGrpSpPr>
        <p:grpSpPr>
          <a:xfrm>
            <a:off x="6418352" y="3171135"/>
            <a:ext cx="1216393" cy="223041"/>
            <a:chOff x="9408088" y="4258824"/>
            <a:chExt cx="1511760" cy="277200"/>
          </a:xfrm>
        </p:grpSpPr>
        <p:sp>
          <p:nvSpPr>
            <p:cNvPr id="597" name="Google Shape;597;p15"/>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598" name="Google Shape;598;p15"/>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599" name="Google Shape;599;p15"/>
          <p:cNvGrpSpPr/>
          <p:nvPr/>
        </p:nvGrpSpPr>
        <p:grpSpPr>
          <a:xfrm>
            <a:off x="7701525" y="3171135"/>
            <a:ext cx="1160028" cy="215551"/>
            <a:chOff x="3788021" y="3437546"/>
            <a:chExt cx="1160028" cy="215551"/>
          </a:xfrm>
        </p:grpSpPr>
        <p:sp>
          <p:nvSpPr>
            <p:cNvPr id="600" name="Google Shape;600;p15"/>
            <p:cNvSpPr/>
            <p:nvPr/>
          </p:nvSpPr>
          <p:spPr>
            <a:xfrm>
              <a:off x="3788021" y="3437546"/>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601" name="Google Shape;601;p15"/>
            <p:cNvSpPr/>
            <p:nvPr/>
          </p:nvSpPr>
          <p:spPr>
            <a:xfrm>
              <a:off x="4635915" y="3458422"/>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16"/>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608" name="Google Shape;608;p16"/>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609" name="Google Shape;609;p16"/>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610" name="Google Shape;610;p16"/>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Model</a:t>
            </a:r>
            <a:endParaRPr/>
          </a:p>
        </p:txBody>
      </p:sp>
      <p:sp>
        <p:nvSpPr>
          <p:cNvPr id="611" name="Google Shape;611;p1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612" name="Google Shape;612;p1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613" name="Google Shape;613;p1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614" name="Google Shape;614;p16"/>
          <p:cNvSpPr txBox="1"/>
          <p:nvPr>
            <p:ph idx="12" type="sldNum"/>
          </p:nvPr>
        </p:nvSpPr>
        <p:spPr>
          <a:xfrm>
            <a:off x="12018559" y="6673964"/>
            <a:ext cx="8335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615" name="Google Shape;615;p16"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616" name="Google Shape;616;p16"/>
          <p:cNvGrpSpPr/>
          <p:nvPr/>
        </p:nvGrpSpPr>
        <p:grpSpPr>
          <a:xfrm>
            <a:off x="7701525" y="2877580"/>
            <a:ext cx="1032341" cy="222257"/>
            <a:chOff x="7666290" y="2850435"/>
            <a:chExt cx="1032341" cy="222257"/>
          </a:xfrm>
        </p:grpSpPr>
        <p:sp>
          <p:nvSpPr>
            <p:cNvPr id="617" name="Google Shape;617;p16"/>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618" name="Google Shape;618;p16"/>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619" name="Google Shape;619;p16"/>
          <p:cNvGrpSpPr/>
          <p:nvPr/>
        </p:nvGrpSpPr>
        <p:grpSpPr>
          <a:xfrm>
            <a:off x="6590913" y="2877580"/>
            <a:ext cx="1043832" cy="222257"/>
            <a:chOff x="6567424" y="2850435"/>
            <a:chExt cx="1043832" cy="222257"/>
          </a:xfrm>
        </p:grpSpPr>
        <p:sp>
          <p:nvSpPr>
            <p:cNvPr id="620" name="Google Shape;620;p16"/>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621" name="Google Shape;621;p16"/>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622" name="Google Shape;622;p16"/>
          <p:cNvGrpSpPr/>
          <p:nvPr/>
        </p:nvGrpSpPr>
        <p:grpSpPr>
          <a:xfrm>
            <a:off x="5369381" y="2877580"/>
            <a:ext cx="1154752" cy="222257"/>
            <a:chOff x="5357636" y="2850435"/>
            <a:chExt cx="1154752" cy="222257"/>
          </a:xfrm>
        </p:grpSpPr>
        <p:sp>
          <p:nvSpPr>
            <p:cNvPr id="623" name="Google Shape;623;p16"/>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624" name="Google Shape;624;p16"/>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625" name="Google Shape;625;p16"/>
          <p:cNvGrpSpPr/>
          <p:nvPr/>
        </p:nvGrpSpPr>
        <p:grpSpPr>
          <a:xfrm>
            <a:off x="3774515" y="2877580"/>
            <a:ext cx="1528086" cy="222257"/>
            <a:chOff x="3774515" y="2850435"/>
            <a:chExt cx="1528086" cy="222257"/>
          </a:xfrm>
        </p:grpSpPr>
        <p:sp>
          <p:nvSpPr>
            <p:cNvPr id="626" name="Google Shape;626;p16"/>
            <p:cNvSpPr/>
            <p:nvPr/>
          </p:nvSpPr>
          <p:spPr>
            <a:xfrm>
              <a:off x="3774515" y="2850435"/>
              <a:ext cx="1528086" cy="222257"/>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627" name="Google Shape;627;p16"/>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628" name="Google Shape;628;p16"/>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629" name="Google Shape;629;p16"/>
          <p:cNvGrpSpPr/>
          <p:nvPr/>
        </p:nvGrpSpPr>
        <p:grpSpPr>
          <a:xfrm>
            <a:off x="8800646" y="2877580"/>
            <a:ext cx="615485" cy="222257"/>
            <a:chOff x="3774515" y="3143990"/>
            <a:chExt cx="615485" cy="222257"/>
          </a:xfrm>
        </p:grpSpPr>
        <p:sp>
          <p:nvSpPr>
            <p:cNvPr id="630" name="Google Shape;630;p16"/>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631" name="Google Shape;631;p16"/>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632" name="Google Shape;632;p16"/>
          <p:cNvGrpSpPr/>
          <p:nvPr/>
        </p:nvGrpSpPr>
        <p:grpSpPr>
          <a:xfrm>
            <a:off x="9482913" y="2877580"/>
            <a:ext cx="637271" cy="222257"/>
            <a:chOff x="5325634" y="4258824"/>
            <a:chExt cx="792014" cy="276226"/>
          </a:xfrm>
        </p:grpSpPr>
        <p:sp>
          <p:nvSpPr>
            <p:cNvPr id="633" name="Google Shape;633;p16"/>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634" name="Google Shape;634;p16"/>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635" name="Google Shape;635;p16"/>
          <p:cNvGrpSpPr/>
          <p:nvPr/>
        </p:nvGrpSpPr>
        <p:grpSpPr>
          <a:xfrm>
            <a:off x="3774515" y="3171138"/>
            <a:ext cx="1751394" cy="222257"/>
            <a:chOff x="6146845" y="4521895"/>
            <a:chExt cx="2176671" cy="276226"/>
          </a:xfrm>
        </p:grpSpPr>
        <p:sp>
          <p:nvSpPr>
            <p:cNvPr id="636" name="Google Shape;636;p16"/>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637" name="Google Shape;637;p16"/>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grpSp>
        <p:nvGrpSpPr>
          <p:cNvPr id="638" name="Google Shape;638;p16"/>
          <p:cNvGrpSpPr/>
          <p:nvPr/>
        </p:nvGrpSpPr>
        <p:grpSpPr>
          <a:xfrm>
            <a:off x="5590467" y="3171138"/>
            <a:ext cx="767596" cy="222257"/>
            <a:chOff x="8524017" y="4258824"/>
            <a:chExt cx="953984" cy="276226"/>
          </a:xfrm>
        </p:grpSpPr>
        <p:sp>
          <p:nvSpPr>
            <p:cNvPr id="639" name="Google Shape;639;p16"/>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640" name="Google Shape;640;p16"/>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641" name="Google Shape;641;p16"/>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sp>
        <p:nvSpPr>
          <p:cNvPr id="642" name="Google Shape;642;p16"/>
          <p:cNvSpPr txBox="1"/>
          <p:nvPr/>
        </p:nvSpPr>
        <p:spPr>
          <a:xfrm>
            <a:off x="3492947" y="3583858"/>
            <a:ext cx="8435527" cy="1699678"/>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The name/version of the LLM used (e.g., claude-sonnet-5.5, gpt-6.1-sol, gemini-3.8-flash)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Determines capabilities, latency, and price</a:t>
            </a:r>
            <a:endParaRPr b="0" i="0" sz="1400" u="none" cap="none" strike="noStrike">
              <a:solidFill>
                <a:srgbClr val="000000"/>
              </a:solidFill>
              <a:latin typeface="Arial"/>
              <a:ea typeface="Arial"/>
              <a:cs typeface="Arial"/>
              <a:sym typeface="Arial"/>
            </a:endParaRPr>
          </a:p>
        </p:txBody>
      </p:sp>
      <p:grpSp>
        <p:nvGrpSpPr>
          <p:cNvPr id="643" name="Google Shape;643;p16"/>
          <p:cNvGrpSpPr/>
          <p:nvPr/>
        </p:nvGrpSpPr>
        <p:grpSpPr>
          <a:xfrm>
            <a:off x="6418352" y="3171135"/>
            <a:ext cx="1216393" cy="223041"/>
            <a:chOff x="9408088" y="4258824"/>
            <a:chExt cx="1511760" cy="277200"/>
          </a:xfrm>
        </p:grpSpPr>
        <p:sp>
          <p:nvSpPr>
            <p:cNvPr id="644" name="Google Shape;644;p16"/>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645" name="Google Shape;645;p16"/>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646" name="Google Shape;646;p16"/>
          <p:cNvGrpSpPr/>
          <p:nvPr/>
        </p:nvGrpSpPr>
        <p:grpSpPr>
          <a:xfrm>
            <a:off x="7701525" y="3171135"/>
            <a:ext cx="1160028" cy="215551"/>
            <a:chOff x="3788021" y="3437546"/>
            <a:chExt cx="1160028" cy="215551"/>
          </a:xfrm>
        </p:grpSpPr>
        <p:sp>
          <p:nvSpPr>
            <p:cNvPr id="647" name="Google Shape;647;p16"/>
            <p:cNvSpPr/>
            <p:nvPr/>
          </p:nvSpPr>
          <p:spPr>
            <a:xfrm>
              <a:off x="3788021" y="3437546"/>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648" name="Google Shape;648;p16"/>
            <p:cNvSpPr/>
            <p:nvPr/>
          </p:nvSpPr>
          <p:spPr>
            <a:xfrm>
              <a:off x="4635915" y="3458422"/>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1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Backup: most common models (October 2026)</a:t>
            </a:r>
            <a:endParaRPr/>
          </a:p>
        </p:txBody>
      </p:sp>
      <p:sp>
        <p:nvSpPr>
          <p:cNvPr id="655" name="Google Shape;655;p1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656" name="Google Shape;656;p1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657" name="Google Shape;657;p1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658" name="Google Shape;658;p17"/>
          <p:cNvSpPr txBox="1"/>
          <p:nvPr>
            <p:ph idx="12" type="sldNum"/>
          </p:nvPr>
        </p:nvSpPr>
        <p:spPr>
          <a:xfrm>
            <a:off x="12013750" y="6673964"/>
            <a:ext cx="92974"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aphicFrame>
        <p:nvGraphicFramePr>
          <p:cNvPr id="659" name="Google Shape;659;p17"/>
          <p:cNvGraphicFramePr/>
          <p:nvPr/>
        </p:nvGraphicFramePr>
        <p:xfrm>
          <a:off x="263349" y="1665289"/>
          <a:ext cx="3000000" cy="3000000"/>
        </p:xfrm>
        <a:graphic>
          <a:graphicData uri="http://schemas.openxmlformats.org/drawingml/2006/table">
            <a:tbl>
              <a:tblPr bandRow="1" firstRow="1">
                <a:noFill/>
                <a:tableStyleId>{DEFAD970-CCD4-4778-8618-83184D9DF701}</a:tableStyleId>
              </a:tblPr>
              <a:tblGrid>
                <a:gridCol w="2916275"/>
                <a:gridCol w="2916275"/>
                <a:gridCol w="2916275"/>
                <a:gridCol w="2916275"/>
              </a:tblGrid>
              <a:tr h="5625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Model</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Main Strength</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Trade-off</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Best Use</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GPT-6 Astra (OpenAI)</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Top-tier reasoning, coding and computer use; 1M+ token context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Premium price, slower for high-volume use</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Hardest long-running agent tasks, research</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GPT-6.1 Sol (OpenAI)</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Near-flagship quality for coding and professional work at a fraction of the cost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Below Astra on the hardest reasoning</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Default for enterprise agents and workflows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Claude Opus 5.5 (Anthropic)</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Leading scores on complex coding and agentic work</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Higher cost than Sonnet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Complex agents, legal, analytical or technical documents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Claude Sonnet 5.5 (Anthropic)</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Best balance of intelligence, speed and cost; 1M token context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Re-test prompts when upgrading from older Sonnet versions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General enterprise use, knowledge management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Claude Haiku 4.5 (Anthropic)</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Fast, low-latency and low-cost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Older generation; Haiku 5.5 announced, plan a migration</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Real-time chat, classification, routing</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Gemini 3.1 Pro (Google)</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Strong multimodal reasoning and Google ecosystem integration</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Still in preview; Gemini 4 Argon announced with limited access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Data analysis, cross-media applications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Gemini 3.8 Flash (Google)</a:t>
                      </a:r>
                      <a:endParaRPr sz="1400" u="none" cap="none" strike="noStrike"/>
                    </a:p>
                  </a:txBody>
                  <a:tcPr marT="36000" marB="36000" marR="108000" marL="540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Fast, multimodal, 1M token context, very cost-efficient; EU hosting via Vertex</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Introductory pricing ends January 2027</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Real-time assistants, high-volume extraction</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bl>
          </a:graphicData>
        </a:graphic>
      </p:graphicFrame>
      <p:pic>
        <p:nvPicPr>
          <p:cNvPr id="660" name="Google Shape;660;p17"/>
          <p:cNvPicPr preferRelativeResize="0"/>
          <p:nvPr/>
        </p:nvPicPr>
        <p:blipFill rotWithShape="1">
          <a:blip r:embed="rId3">
            <a:alphaModFix/>
          </a:blip>
          <a:srcRect b="0" l="0" r="0" t="0"/>
          <a:stretch/>
        </p:blipFill>
        <p:spPr>
          <a:xfrm>
            <a:off x="386921" y="2376809"/>
            <a:ext cx="256886" cy="264672"/>
          </a:xfrm>
          <a:prstGeom prst="rect">
            <a:avLst/>
          </a:prstGeom>
          <a:noFill/>
          <a:ln>
            <a:noFill/>
          </a:ln>
        </p:spPr>
      </p:pic>
      <p:pic>
        <p:nvPicPr>
          <p:cNvPr id="661" name="Google Shape;661;p17"/>
          <p:cNvPicPr preferRelativeResize="0"/>
          <p:nvPr/>
        </p:nvPicPr>
        <p:blipFill rotWithShape="1">
          <a:blip r:embed="rId4">
            <a:alphaModFix/>
          </a:blip>
          <a:srcRect b="0" l="0" r="0" t="0"/>
          <a:stretch/>
        </p:blipFill>
        <p:spPr>
          <a:xfrm>
            <a:off x="383028" y="3543911"/>
            <a:ext cx="264672" cy="180752"/>
          </a:xfrm>
          <a:prstGeom prst="rect">
            <a:avLst/>
          </a:prstGeom>
          <a:noFill/>
          <a:ln>
            <a:noFill/>
          </a:ln>
        </p:spPr>
      </p:pic>
      <p:pic>
        <p:nvPicPr>
          <p:cNvPr id="662" name="Google Shape;662;p17"/>
          <p:cNvPicPr preferRelativeResize="0"/>
          <p:nvPr/>
        </p:nvPicPr>
        <p:blipFill rotWithShape="1">
          <a:blip r:embed="rId5">
            <a:alphaModFix/>
          </a:blip>
          <a:srcRect b="0" l="0" r="0" t="0"/>
          <a:stretch/>
        </p:blipFill>
        <p:spPr>
          <a:xfrm>
            <a:off x="383028" y="5189664"/>
            <a:ext cx="264672" cy="264672"/>
          </a:xfrm>
          <a:prstGeom prst="rect">
            <a:avLst/>
          </a:prstGeom>
          <a:noFill/>
          <a:ln>
            <a:noFill/>
          </a:ln>
        </p:spPr>
      </p:pic>
      <p:pic>
        <p:nvPicPr>
          <p:cNvPr id="663" name="Google Shape;663;p17"/>
          <p:cNvPicPr preferRelativeResize="0"/>
          <p:nvPr/>
        </p:nvPicPr>
        <p:blipFill rotWithShape="1">
          <a:blip r:embed="rId4">
            <a:alphaModFix/>
          </a:blip>
          <a:srcRect b="0" l="0" r="0" t="0"/>
          <a:stretch/>
        </p:blipFill>
        <p:spPr>
          <a:xfrm>
            <a:off x="383028" y="4106482"/>
            <a:ext cx="264672" cy="180752"/>
          </a:xfrm>
          <a:prstGeom prst="rect">
            <a:avLst/>
          </a:prstGeom>
          <a:noFill/>
          <a:ln>
            <a:noFill/>
          </a:ln>
        </p:spPr>
      </p:pic>
      <p:pic>
        <p:nvPicPr>
          <p:cNvPr id="664" name="Google Shape;664;p17"/>
          <p:cNvPicPr preferRelativeResize="0"/>
          <p:nvPr/>
        </p:nvPicPr>
        <p:blipFill rotWithShape="1">
          <a:blip r:embed="rId4">
            <a:alphaModFix/>
          </a:blip>
          <a:srcRect b="0" l="0" r="0" t="0"/>
          <a:stretch/>
        </p:blipFill>
        <p:spPr>
          <a:xfrm>
            <a:off x="383028" y="4669053"/>
            <a:ext cx="264672" cy="180752"/>
          </a:xfrm>
          <a:prstGeom prst="rect">
            <a:avLst/>
          </a:prstGeom>
          <a:noFill/>
          <a:ln>
            <a:noFill/>
          </a:ln>
        </p:spPr>
      </p:pic>
      <p:pic>
        <p:nvPicPr>
          <p:cNvPr id="665" name="Google Shape;665;p17"/>
          <p:cNvPicPr preferRelativeResize="0"/>
          <p:nvPr/>
        </p:nvPicPr>
        <p:blipFill rotWithShape="1">
          <a:blip r:embed="rId5">
            <a:alphaModFix/>
          </a:blip>
          <a:srcRect b="0" l="0" r="0" t="0"/>
          <a:stretch/>
        </p:blipFill>
        <p:spPr>
          <a:xfrm>
            <a:off x="383028" y="5752235"/>
            <a:ext cx="264672" cy="264672"/>
          </a:xfrm>
          <a:prstGeom prst="rect">
            <a:avLst/>
          </a:prstGeom>
          <a:noFill/>
          <a:ln>
            <a:noFill/>
          </a:ln>
        </p:spPr>
      </p:pic>
      <p:pic>
        <p:nvPicPr>
          <p:cNvPr id="666" name="Google Shape;666;p17"/>
          <p:cNvPicPr preferRelativeResize="0"/>
          <p:nvPr/>
        </p:nvPicPr>
        <p:blipFill rotWithShape="1">
          <a:blip r:embed="rId3">
            <a:alphaModFix/>
          </a:blip>
          <a:srcRect b="0" l="0" r="0" t="0"/>
          <a:stretch/>
        </p:blipFill>
        <p:spPr>
          <a:xfrm>
            <a:off x="386921" y="2939380"/>
            <a:ext cx="256886" cy="26467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8"/>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Backup: open-weight and cost-efficient alternatives</a:t>
            </a:r>
            <a:endParaRPr/>
          </a:p>
        </p:txBody>
      </p:sp>
      <p:sp>
        <p:nvSpPr>
          <p:cNvPr id="673" name="Google Shape;673;p18"/>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674" name="Google Shape;674;p1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675" name="Google Shape;675;p1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676" name="Google Shape;676;p18"/>
          <p:cNvSpPr txBox="1"/>
          <p:nvPr>
            <p:ph idx="12" type="sldNum"/>
          </p:nvPr>
        </p:nvSpPr>
        <p:spPr>
          <a:xfrm>
            <a:off x="12013750" y="6673964"/>
            <a:ext cx="92974"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aphicFrame>
        <p:nvGraphicFramePr>
          <p:cNvPr id="677" name="Google Shape;677;p18"/>
          <p:cNvGraphicFramePr/>
          <p:nvPr/>
        </p:nvGraphicFramePr>
        <p:xfrm>
          <a:off x="263349" y="1665289"/>
          <a:ext cx="3000000" cy="3000000"/>
        </p:xfrm>
        <a:graphic>
          <a:graphicData uri="http://schemas.openxmlformats.org/drawingml/2006/table">
            <a:tbl>
              <a:tblPr bandRow="1" firstRow="1">
                <a:noFill/>
                <a:tableStyleId>{DEFAD970-CCD4-4778-8618-83184D9DF701}</a:tableStyleId>
              </a:tblPr>
              <a:tblGrid>
                <a:gridCol w="2916275"/>
                <a:gridCol w="2916275"/>
                <a:gridCol w="2916275"/>
                <a:gridCol w="2916275"/>
              </a:tblGrid>
              <a:tr h="5625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Model</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Main Strength</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Trade-off</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solidFill>
                            <a:schemeClr val="accent1"/>
                          </a:solidFill>
                          <a:latin typeface="Arial"/>
                          <a:ea typeface="Arial"/>
                          <a:cs typeface="Arial"/>
                          <a:sym typeface="Arial"/>
                        </a:rPr>
                        <a:t>Best Use</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DeepSeek V4 Pro (DeepSeek)</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Strong reasoning and coding at very low cost; 1M token context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Chinese provider: use EU/US hosts (e.g. Baseten, Nebius) for data residency</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Budget reasoning, coding agents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Qwen 3.8 (Alibaba)</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Open-weight Flash tier with text, image and video input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Licence and hosting differ per version</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Cheap multimodal extraction</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Mistral Medium 3.5 / Small 4 (Mistral)</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European provider; Small 4 is Apache 2.0 and multimodal</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Smaller capability envelope than US frontier models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EU sovereignty requirements, self-hosting</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Kimi K3 (Moonshot AI)</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Frontier-level long-context reasoning; 1M token context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Premium price for an open-line model</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Long-document analysis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GLM-5.3 (Z.ai)</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Long-horizon engineering tasks; around 1M token context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Price and quality vary by host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Engineering and coding agents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MiniMax M3 (MiniMax)</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Open weight, natively multimodal and efficient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Younger ecosystem, fewer hosts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Efficient multimodal agents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62575">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Llama 4 Scout / Maverick (Meta)</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Broad hosting and fine-tuning ecosystem; Scout up to 10M context</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Oldest model in this set by frontier standards</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000"/>
                        <a:buFont typeface="Arial"/>
                        <a:buNone/>
                      </a:pPr>
                      <a:r>
                        <a:rPr b="0" lang="en-US" sz="1000" u="none" cap="none" strike="noStrike">
                          <a:solidFill>
                            <a:schemeClr val="dk1"/>
                          </a:solidFill>
                          <a:latin typeface="Arial"/>
                          <a:ea typeface="Arial"/>
                          <a:cs typeface="Arial"/>
                          <a:sym typeface="Arial"/>
                        </a:rPr>
                        <a:t>Self-hosting, fine-tuning</a:t>
                      </a:r>
                      <a:endParaRPr sz="14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19"/>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684" name="Google Shape;684;p19"/>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685" name="Google Shape;685;p19"/>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686" name="Google Shape;686;p1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Max Tokens</a:t>
            </a:r>
            <a:endParaRPr/>
          </a:p>
        </p:txBody>
      </p:sp>
      <p:sp>
        <p:nvSpPr>
          <p:cNvPr id="687" name="Google Shape;687;p19"/>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688" name="Google Shape;688;p1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689" name="Google Shape;689;p1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690" name="Google Shape;690;p19"/>
          <p:cNvSpPr txBox="1"/>
          <p:nvPr>
            <p:ph idx="12" type="sldNum"/>
          </p:nvPr>
        </p:nvSpPr>
        <p:spPr>
          <a:xfrm>
            <a:off x="12012948" y="6673964"/>
            <a:ext cx="9457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691" name="Google Shape;691;p19"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692" name="Google Shape;692;p19"/>
          <p:cNvGrpSpPr/>
          <p:nvPr/>
        </p:nvGrpSpPr>
        <p:grpSpPr>
          <a:xfrm>
            <a:off x="7701525" y="2877580"/>
            <a:ext cx="1032341" cy="222257"/>
            <a:chOff x="7666290" y="2850435"/>
            <a:chExt cx="1032341" cy="222257"/>
          </a:xfrm>
        </p:grpSpPr>
        <p:sp>
          <p:nvSpPr>
            <p:cNvPr id="693" name="Google Shape;693;p19"/>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694" name="Google Shape;694;p19"/>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695" name="Google Shape;695;p19"/>
          <p:cNvGrpSpPr/>
          <p:nvPr/>
        </p:nvGrpSpPr>
        <p:grpSpPr>
          <a:xfrm>
            <a:off x="6590913" y="2877580"/>
            <a:ext cx="1043832" cy="222257"/>
            <a:chOff x="6567424" y="2850435"/>
            <a:chExt cx="1043832" cy="222257"/>
          </a:xfrm>
        </p:grpSpPr>
        <p:sp>
          <p:nvSpPr>
            <p:cNvPr id="696" name="Google Shape;696;p19"/>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697" name="Google Shape;697;p19"/>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698" name="Google Shape;698;p19"/>
          <p:cNvGrpSpPr/>
          <p:nvPr/>
        </p:nvGrpSpPr>
        <p:grpSpPr>
          <a:xfrm>
            <a:off x="5369381" y="2877580"/>
            <a:ext cx="1154752" cy="222257"/>
            <a:chOff x="5357636" y="2850435"/>
            <a:chExt cx="1154752" cy="222257"/>
          </a:xfrm>
        </p:grpSpPr>
        <p:sp>
          <p:nvSpPr>
            <p:cNvPr id="699" name="Google Shape;699;p19"/>
            <p:cNvSpPr/>
            <p:nvPr/>
          </p:nvSpPr>
          <p:spPr>
            <a:xfrm>
              <a:off x="5357636" y="2850435"/>
              <a:ext cx="1154752" cy="222257"/>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700" name="Google Shape;700;p19"/>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701" name="Google Shape;701;p19"/>
          <p:cNvGrpSpPr/>
          <p:nvPr/>
        </p:nvGrpSpPr>
        <p:grpSpPr>
          <a:xfrm>
            <a:off x="3774515" y="2877580"/>
            <a:ext cx="1528086" cy="222257"/>
            <a:chOff x="3774515" y="2850435"/>
            <a:chExt cx="1528086" cy="222257"/>
          </a:xfrm>
        </p:grpSpPr>
        <p:sp>
          <p:nvSpPr>
            <p:cNvPr id="702" name="Google Shape;702;p19"/>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703" name="Google Shape;703;p19"/>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704" name="Google Shape;704;p19"/>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705" name="Google Shape;705;p19"/>
          <p:cNvGrpSpPr/>
          <p:nvPr/>
        </p:nvGrpSpPr>
        <p:grpSpPr>
          <a:xfrm>
            <a:off x="8800646" y="2877580"/>
            <a:ext cx="615485" cy="222257"/>
            <a:chOff x="3774515" y="3143990"/>
            <a:chExt cx="615485" cy="222257"/>
          </a:xfrm>
        </p:grpSpPr>
        <p:sp>
          <p:nvSpPr>
            <p:cNvPr id="706" name="Google Shape;706;p19"/>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707" name="Google Shape;707;p19"/>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08" name="Google Shape;708;p19"/>
          <p:cNvGrpSpPr/>
          <p:nvPr/>
        </p:nvGrpSpPr>
        <p:grpSpPr>
          <a:xfrm>
            <a:off x="9482913" y="2877580"/>
            <a:ext cx="637271" cy="222257"/>
            <a:chOff x="5325634" y="4258824"/>
            <a:chExt cx="792014" cy="276226"/>
          </a:xfrm>
        </p:grpSpPr>
        <p:sp>
          <p:nvSpPr>
            <p:cNvPr id="709" name="Google Shape;709;p19"/>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710" name="Google Shape;710;p19"/>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11" name="Google Shape;711;p19"/>
          <p:cNvGrpSpPr/>
          <p:nvPr/>
        </p:nvGrpSpPr>
        <p:grpSpPr>
          <a:xfrm>
            <a:off x="3774515" y="3171138"/>
            <a:ext cx="1751394" cy="222257"/>
            <a:chOff x="6146845" y="4521895"/>
            <a:chExt cx="2176671" cy="276226"/>
          </a:xfrm>
        </p:grpSpPr>
        <p:sp>
          <p:nvSpPr>
            <p:cNvPr id="712" name="Google Shape;712;p19"/>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713" name="Google Shape;713;p19"/>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714" name="Google Shape;714;p19"/>
          <p:cNvSpPr txBox="1"/>
          <p:nvPr/>
        </p:nvSpPr>
        <p:spPr>
          <a:xfrm>
            <a:off x="3492947" y="3583858"/>
            <a:ext cx="8435527" cy="1930510"/>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Sets the limit on how much text or context the model can process and generate in one run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Higher tokens → deeper reasoning, longer responses, higher cost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Lower tokens → faster output, less context and analysis</a:t>
            </a:r>
            <a:endParaRPr b="0" i="0" sz="1400" u="none" cap="none" strike="noStrike">
              <a:solidFill>
                <a:srgbClr val="000000"/>
              </a:solidFill>
              <a:latin typeface="Arial"/>
              <a:ea typeface="Arial"/>
              <a:cs typeface="Arial"/>
              <a:sym typeface="Arial"/>
            </a:endParaRPr>
          </a:p>
        </p:txBody>
      </p:sp>
      <p:grpSp>
        <p:nvGrpSpPr>
          <p:cNvPr id="715" name="Google Shape;715;p19"/>
          <p:cNvGrpSpPr/>
          <p:nvPr/>
        </p:nvGrpSpPr>
        <p:grpSpPr>
          <a:xfrm>
            <a:off x="7281794" y="3171138"/>
            <a:ext cx="767596" cy="222257"/>
            <a:chOff x="8524017" y="4258824"/>
            <a:chExt cx="953984" cy="276226"/>
          </a:xfrm>
        </p:grpSpPr>
        <p:sp>
          <p:nvSpPr>
            <p:cNvPr id="716" name="Google Shape;716;p19"/>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717" name="Google Shape;717;p19"/>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18" name="Google Shape;718;p19"/>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719" name="Google Shape;719;p19"/>
          <p:cNvGrpSpPr/>
          <p:nvPr/>
        </p:nvGrpSpPr>
        <p:grpSpPr>
          <a:xfrm>
            <a:off x="8109679" y="3171135"/>
            <a:ext cx="1216393" cy="223041"/>
            <a:chOff x="9408088" y="4258824"/>
            <a:chExt cx="1511760" cy="277200"/>
          </a:xfrm>
        </p:grpSpPr>
        <p:sp>
          <p:nvSpPr>
            <p:cNvPr id="720" name="Google Shape;720;p19"/>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721" name="Google Shape;721;p19"/>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22" name="Google Shape;722;p19"/>
          <p:cNvGrpSpPr/>
          <p:nvPr/>
        </p:nvGrpSpPr>
        <p:grpSpPr>
          <a:xfrm>
            <a:off x="5590467" y="3171135"/>
            <a:ext cx="1624547" cy="222257"/>
            <a:chOff x="6304492" y="4521895"/>
            <a:chExt cx="2019023" cy="276226"/>
          </a:xfrm>
        </p:grpSpPr>
        <p:sp>
          <p:nvSpPr>
            <p:cNvPr id="723" name="Google Shape;723;p19"/>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724" name="Google Shape;724;p19"/>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grpSp>
        <p:nvGrpSpPr>
          <p:cNvPr id="725" name="Google Shape;725;p19"/>
          <p:cNvGrpSpPr/>
          <p:nvPr/>
        </p:nvGrpSpPr>
        <p:grpSpPr>
          <a:xfrm>
            <a:off x="9392852" y="3171135"/>
            <a:ext cx="1160028" cy="215551"/>
            <a:chOff x="9392852" y="3171135"/>
            <a:chExt cx="1160028" cy="215551"/>
          </a:xfrm>
        </p:grpSpPr>
        <p:sp>
          <p:nvSpPr>
            <p:cNvPr id="726" name="Google Shape;726;p19"/>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727" name="Google Shape;727;p19"/>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20"/>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734" name="Google Shape;734;p20"/>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735" name="Google Shape;735;p20"/>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736" name="Google Shape;736;p20"/>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Budget Tokens</a:t>
            </a:r>
            <a:endParaRPr/>
          </a:p>
        </p:txBody>
      </p:sp>
      <p:sp>
        <p:nvSpPr>
          <p:cNvPr id="737" name="Google Shape;737;p2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738" name="Google Shape;738;p2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739" name="Google Shape;739;p2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740" name="Google Shape;740;p20"/>
          <p:cNvSpPr txBox="1"/>
          <p:nvPr>
            <p:ph idx="12" type="sldNum"/>
          </p:nvPr>
        </p:nvSpPr>
        <p:spPr>
          <a:xfrm>
            <a:off x="12012948" y="6673964"/>
            <a:ext cx="9457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741" name="Google Shape;741;p20"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742" name="Google Shape;742;p20"/>
          <p:cNvGrpSpPr/>
          <p:nvPr/>
        </p:nvGrpSpPr>
        <p:grpSpPr>
          <a:xfrm>
            <a:off x="7701525" y="2877580"/>
            <a:ext cx="1032341" cy="222257"/>
            <a:chOff x="7666290" y="2850435"/>
            <a:chExt cx="1032341" cy="222257"/>
          </a:xfrm>
        </p:grpSpPr>
        <p:sp>
          <p:nvSpPr>
            <p:cNvPr id="743" name="Google Shape;743;p20"/>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744" name="Google Shape;744;p20"/>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745" name="Google Shape;745;p20"/>
          <p:cNvGrpSpPr/>
          <p:nvPr/>
        </p:nvGrpSpPr>
        <p:grpSpPr>
          <a:xfrm>
            <a:off x="6590913" y="2877580"/>
            <a:ext cx="1043832" cy="222257"/>
            <a:chOff x="6567424" y="2850435"/>
            <a:chExt cx="1043832" cy="222257"/>
          </a:xfrm>
        </p:grpSpPr>
        <p:sp>
          <p:nvSpPr>
            <p:cNvPr id="746" name="Google Shape;746;p20"/>
            <p:cNvSpPr/>
            <p:nvPr/>
          </p:nvSpPr>
          <p:spPr>
            <a:xfrm>
              <a:off x="6567424" y="2850435"/>
              <a:ext cx="1043832" cy="222257"/>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747" name="Google Shape;747;p20"/>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48" name="Google Shape;748;p20"/>
          <p:cNvGrpSpPr/>
          <p:nvPr/>
        </p:nvGrpSpPr>
        <p:grpSpPr>
          <a:xfrm>
            <a:off x="5369381" y="2877580"/>
            <a:ext cx="1154752" cy="222257"/>
            <a:chOff x="5357636" y="2850435"/>
            <a:chExt cx="1154752" cy="222257"/>
          </a:xfrm>
        </p:grpSpPr>
        <p:sp>
          <p:nvSpPr>
            <p:cNvPr id="749" name="Google Shape;749;p20"/>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750" name="Google Shape;750;p20"/>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751" name="Google Shape;751;p20"/>
          <p:cNvGrpSpPr/>
          <p:nvPr/>
        </p:nvGrpSpPr>
        <p:grpSpPr>
          <a:xfrm>
            <a:off x="3774515" y="2877580"/>
            <a:ext cx="1528086" cy="222257"/>
            <a:chOff x="3774515" y="2850435"/>
            <a:chExt cx="1528086" cy="222257"/>
          </a:xfrm>
        </p:grpSpPr>
        <p:sp>
          <p:nvSpPr>
            <p:cNvPr id="752" name="Google Shape;752;p20"/>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753" name="Google Shape;753;p20"/>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754" name="Google Shape;754;p20"/>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755" name="Google Shape;755;p20"/>
          <p:cNvGrpSpPr/>
          <p:nvPr/>
        </p:nvGrpSpPr>
        <p:grpSpPr>
          <a:xfrm>
            <a:off x="8800646" y="2877580"/>
            <a:ext cx="615485" cy="222257"/>
            <a:chOff x="3774515" y="3143990"/>
            <a:chExt cx="615485" cy="222257"/>
          </a:xfrm>
        </p:grpSpPr>
        <p:sp>
          <p:nvSpPr>
            <p:cNvPr id="756" name="Google Shape;756;p20"/>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757" name="Google Shape;757;p20"/>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58" name="Google Shape;758;p20"/>
          <p:cNvGrpSpPr/>
          <p:nvPr/>
        </p:nvGrpSpPr>
        <p:grpSpPr>
          <a:xfrm>
            <a:off x="9482913" y="2877580"/>
            <a:ext cx="637271" cy="222257"/>
            <a:chOff x="5325634" y="4258824"/>
            <a:chExt cx="792014" cy="276226"/>
          </a:xfrm>
        </p:grpSpPr>
        <p:sp>
          <p:nvSpPr>
            <p:cNvPr id="759" name="Google Shape;759;p20"/>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760" name="Google Shape;760;p20"/>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61" name="Google Shape;761;p20"/>
          <p:cNvGrpSpPr/>
          <p:nvPr/>
        </p:nvGrpSpPr>
        <p:grpSpPr>
          <a:xfrm>
            <a:off x="3774515" y="3171138"/>
            <a:ext cx="1751394" cy="222257"/>
            <a:chOff x="6146845" y="4521895"/>
            <a:chExt cx="2176671" cy="276226"/>
          </a:xfrm>
        </p:grpSpPr>
        <p:sp>
          <p:nvSpPr>
            <p:cNvPr id="762" name="Google Shape;762;p20"/>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763" name="Google Shape;763;p20"/>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764" name="Google Shape;764;p20"/>
          <p:cNvSpPr txBox="1"/>
          <p:nvPr/>
        </p:nvSpPr>
        <p:spPr>
          <a:xfrm>
            <a:off x="3492947" y="3583858"/>
            <a:ext cx="8435527" cy="1699678"/>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Token limit set to control cost and response length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A value of 0 means no limit, the model can use tokens freely up to the max tokens limit</a:t>
            </a:r>
            <a:endParaRPr b="0" i="0" sz="1400" u="none" cap="none" strike="noStrike">
              <a:solidFill>
                <a:srgbClr val="000000"/>
              </a:solidFill>
              <a:latin typeface="Arial"/>
              <a:ea typeface="Arial"/>
              <a:cs typeface="Arial"/>
              <a:sym typeface="Arial"/>
            </a:endParaRPr>
          </a:p>
        </p:txBody>
      </p:sp>
      <p:grpSp>
        <p:nvGrpSpPr>
          <p:cNvPr id="765" name="Google Shape;765;p20"/>
          <p:cNvGrpSpPr/>
          <p:nvPr/>
        </p:nvGrpSpPr>
        <p:grpSpPr>
          <a:xfrm>
            <a:off x="7281794" y="3171138"/>
            <a:ext cx="767596" cy="222257"/>
            <a:chOff x="8524017" y="4258824"/>
            <a:chExt cx="953984" cy="276226"/>
          </a:xfrm>
        </p:grpSpPr>
        <p:sp>
          <p:nvSpPr>
            <p:cNvPr id="766" name="Google Shape;766;p20"/>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767" name="Google Shape;767;p20"/>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768" name="Google Shape;768;p20"/>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769" name="Google Shape;769;p20"/>
          <p:cNvGrpSpPr/>
          <p:nvPr/>
        </p:nvGrpSpPr>
        <p:grpSpPr>
          <a:xfrm>
            <a:off x="8109679" y="3171135"/>
            <a:ext cx="1216393" cy="223041"/>
            <a:chOff x="9408088" y="4258824"/>
            <a:chExt cx="1511760" cy="277200"/>
          </a:xfrm>
        </p:grpSpPr>
        <p:sp>
          <p:nvSpPr>
            <p:cNvPr id="770" name="Google Shape;770;p20"/>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771" name="Google Shape;771;p20"/>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72" name="Google Shape;772;p20"/>
          <p:cNvGrpSpPr/>
          <p:nvPr/>
        </p:nvGrpSpPr>
        <p:grpSpPr>
          <a:xfrm>
            <a:off x="5590467" y="3171135"/>
            <a:ext cx="1624547" cy="222257"/>
            <a:chOff x="6304492" y="4521895"/>
            <a:chExt cx="2019023" cy="276226"/>
          </a:xfrm>
        </p:grpSpPr>
        <p:sp>
          <p:nvSpPr>
            <p:cNvPr id="773" name="Google Shape;773;p20"/>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774" name="Google Shape;774;p20"/>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grpSp>
        <p:nvGrpSpPr>
          <p:cNvPr id="775" name="Google Shape;775;p20"/>
          <p:cNvGrpSpPr/>
          <p:nvPr/>
        </p:nvGrpSpPr>
        <p:grpSpPr>
          <a:xfrm>
            <a:off x="9392852" y="3171135"/>
            <a:ext cx="1160028" cy="215551"/>
            <a:chOff x="9392852" y="3171135"/>
            <a:chExt cx="1160028" cy="215551"/>
          </a:xfrm>
        </p:grpSpPr>
        <p:sp>
          <p:nvSpPr>
            <p:cNvPr id="776" name="Google Shape;776;p20"/>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777" name="Google Shape;777;p20"/>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21"/>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784" name="Google Shape;784;p21"/>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785" name="Google Shape;785;p21"/>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786" name="Google Shape;786;p2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Temperature</a:t>
            </a:r>
            <a:endParaRPr/>
          </a:p>
        </p:txBody>
      </p:sp>
      <p:sp>
        <p:nvSpPr>
          <p:cNvPr id="787" name="Google Shape;787;p21"/>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788" name="Google Shape;788;p2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789" name="Google Shape;789;p2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790" name="Google Shape;790;p21"/>
          <p:cNvSpPr txBox="1"/>
          <p:nvPr>
            <p:ph idx="12" type="sldNum"/>
          </p:nvPr>
        </p:nvSpPr>
        <p:spPr>
          <a:xfrm>
            <a:off x="12012948" y="6673964"/>
            <a:ext cx="9457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791" name="Google Shape;791;p21"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792" name="Google Shape;792;p21"/>
          <p:cNvGrpSpPr/>
          <p:nvPr/>
        </p:nvGrpSpPr>
        <p:grpSpPr>
          <a:xfrm>
            <a:off x="7701525" y="2877580"/>
            <a:ext cx="1032341" cy="222257"/>
            <a:chOff x="7666290" y="2850435"/>
            <a:chExt cx="1032341" cy="222257"/>
          </a:xfrm>
        </p:grpSpPr>
        <p:sp>
          <p:nvSpPr>
            <p:cNvPr id="793" name="Google Shape;793;p21"/>
            <p:cNvSpPr/>
            <p:nvPr/>
          </p:nvSpPr>
          <p:spPr>
            <a:xfrm>
              <a:off x="7666290" y="2850435"/>
              <a:ext cx="1032341" cy="222257"/>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794" name="Google Shape;794;p21"/>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795" name="Google Shape;795;p21"/>
          <p:cNvGrpSpPr/>
          <p:nvPr/>
        </p:nvGrpSpPr>
        <p:grpSpPr>
          <a:xfrm>
            <a:off x="6590913" y="2877580"/>
            <a:ext cx="1043832" cy="222257"/>
            <a:chOff x="6567424" y="2850435"/>
            <a:chExt cx="1043832" cy="222257"/>
          </a:xfrm>
        </p:grpSpPr>
        <p:sp>
          <p:nvSpPr>
            <p:cNvPr id="796" name="Google Shape;796;p21"/>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797" name="Google Shape;797;p21"/>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798" name="Google Shape;798;p21"/>
          <p:cNvGrpSpPr/>
          <p:nvPr/>
        </p:nvGrpSpPr>
        <p:grpSpPr>
          <a:xfrm>
            <a:off x="5369381" y="2877580"/>
            <a:ext cx="1154752" cy="222257"/>
            <a:chOff x="5357636" y="2850435"/>
            <a:chExt cx="1154752" cy="222257"/>
          </a:xfrm>
        </p:grpSpPr>
        <p:sp>
          <p:nvSpPr>
            <p:cNvPr id="799" name="Google Shape;799;p21"/>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800" name="Google Shape;800;p21"/>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801" name="Google Shape;801;p21"/>
          <p:cNvGrpSpPr/>
          <p:nvPr/>
        </p:nvGrpSpPr>
        <p:grpSpPr>
          <a:xfrm>
            <a:off x="3774515" y="2877580"/>
            <a:ext cx="1528086" cy="222257"/>
            <a:chOff x="3774515" y="2850435"/>
            <a:chExt cx="1528086" cy="222257"/>
          </a:xfrm>
        </p:grpSpPr>
        <p:sp>
          <p:nvSpPr>
            <p:cNvPr id="802" name="Google Shape;802;p21"/>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803" name="Google Shape;803;p21"/>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804" name="Google Shape;804;p21"/>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805" name="Google Shape;805;p21"/>
          <p:cNvGrpSpPr/>
          <p:nvPr/>
        </p:nvGrpSpPr>
        <p:grpSpPr>
          <a:xfrm>
            <a:off x="8800646" y="2877580"/>
            <a:ext cx="615485" cy="222257"/>
            <a:chOff x="3774515" y="3143990"/>
            <a:chExt cx="615485" cy="222257"/>
          </a:xfrm>
        </p:grpSpPr>
        <p:sp>
          <p:nvSpPr>
            <p:cNvPr id="806" name="Google Shape;806;p21"/>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807" name="Google Shape;807;p21"/>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08" name="Google Shape;808;p21"/>
          <p:cNvGrpSpPr/>
          <p:nvPr/>
        </p:nvGrpSpPr>
        <p:grpSpPr>
          <a:xfrm>
            <a:off x="9482913" y="2877580"/>
            <a:ext cx="637271" cy="222257"/>
            <a:chOff x="5325634" y="4258824"/>
            <a:chExt cx="792014" cy="276226"/>
          </a:xfrm>
        </p:grpSpPr>
        <p:sp>
          <p:nvSpPr>
            <p:cNvPr id="809" name="Google Shape;809;p21"/>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810" name="Google Shape;810;p21"/>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11" name="Google Shape;811;p21"/>
          <p:cNvGrpSpPr/>
          <p:nvPr/>
        </p:nvGrpSpPr>
        <p:grpSpPr>
          <a:xfrm>
            <a:off x="3774515" y="3171138"/>
            <a:ext cx="1751394" cy="222257"/>
            <a:chOff x="6146845" y="4521895"/>
            <a:chExt cx="2176671" cy="276226"/>
          </a:xfrm>
        </p:grpSpPr>
        <p:sp>
          <p:nvSpPr>
            <p:cNvPr id="812" name="Google Shape;812;p21"/>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813" name="Google Shape;813;p21"/>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814" name="Google Shape;814;p21"/>
          <p:cNvSpPr txBox="1"/>
          <p:nvPr/>
        </p:nvSpPr>
        <p:spPr>
          <a:xfrm>
            <a:off x="3492947" y="3583858"/>
            <a:ext cx="8435527" cy="2161343"/>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Controls how creative or deterministic the model is when generating 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Low (0.0–0.3): Precise and repeatable responses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Medium (0.4–0.7): Balanced mix of accuracy and variety</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High (0.8–1.0+): Creative, original, but less reliable</a:t>
            </a:r>
            <a:endParaRPr b="0" i="0" sz="1400" u="none" cap="none" strike="noStrike">
              <a:solidFill>
                <a:srgbClr val="000000"/>
              </a:solidFill>
              <a:latin typeface="Arial"/>
              <a:ea typeface="Arial"/>
              <a:cs typeface="Arial"/>
              <a:sym typeface="Arial"/>
            </a:endParaRPr>
          </a:p>
        </p:txBody>
      </p:sp>
      <p:grpSp>
        <p:nvGrpSpPr>
          <p:cNvPr id="815" name="Google Shape;815;p21"/>
          <p:cNvGrpSpPr/>
          <p:nvPr/>
        </p:nvGrpSpPr>
        <p:grpSpPr>
          <a:xfrm>
            <a:off x="7281794" y="3171138"/>
            <a:ext cx="767596" cy="222257"/>
            <a:chOff x="8524017" y="4258824"/>
            <a:chExt cx="953984" cy="276226"/>
          </a:xfrm>
        </p:grpSpPr>
        <p:sp>
          <p:nvSpPr>
            <p:cNvPr id="816" name="Google Shape;816;p21"/>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817" name="Google Shape;817;p21"/>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818" name="Google Shape;818;p21"/>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819" name="Google Shape;819;p21"/>
          <p:cNvGrpSpPr/>
          <p:nvPr/>
        </p:nvGrpSpPr>
        <p:grpSpPr>
          <a:xfrm>
            <a:off x="8109679" y="3171135"/>
            <a:ext cx="1216393" cy="223041"/>
            <a:chOff x="9408088" y="4258824"/>
            <a:chExt cx="1511760" cy="277200"/>
          </a:xfrm>
        </p:grpSpPr>
        <p:sp>
          <p:nvSpPr>
            <p:cNvPr id="820" name="Google Shape;820;p21"/>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821" name="Google Shape;821;p21"/>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22" name="Google Shape;822;p21"/>
          <p:cNvGrpSpPr/>
          <p:nvPr/>
        </p:nvGrpSpPr>
        <p:grpSpPr>
          <a:xfrm>
            <a:off x="5590467" y="3171135"/>
            <a:ext cx="1624547" cy="222257"/>
            <a:chOff x="6304492" y="4521895"/>
            <a:chExt cx="2019023" cy="276226"/>
          </a:xfrm>
        </p:grpSpPr>
        <p:sp>
          <p:nvSpPr>
            <p:cNvPr id="823" name="Google Shape;823;p21"/>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824" name="Google Shape;824;p21"/>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grpSp>
        <p:nvGrpSpPr>
          <p:cNvPr id="825" name="Google Shape;825;p21"/>
          <p:cNvGrpSpPr/>
          <p:nvPr/>
        </p:nvGrpSpPr>
        <p:grpSpPr>
          <a:xfrm>
            <a:off x="9392852" y="3171135"/>
            <a:ext cx="1160028" cy="215551"/>
            <a:chOff x="9392852" y="3171135"/>
            <a:chExt cx="1160028" cy="215551"/>
          </a:xfrm>
        </p:grpSpPr>
        <p:sp>
          <p:nvSpPr>
            <p:cNvPr id="826" name="Google Shape;826;p21"/>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827" name="Google Shape;827;p21"/>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22"/>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834" name="Google Shape;834;p22"/>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835" name="Google Shape;835;p22"/>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836" name="Google Shape;836;p2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Top P/K</a:t>
            </a:r>
            <a:endParaRPr/>
          </a:p>
        </p:txBody>
      </p:sp>
      <p:sp>
        <p:nvSpPr>
          <p:cNvPr id="837" name="Google Shape;837;p22"/>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838" name="Google Shape;838;p2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839" name="Google Shape;839;p2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840" name="Google Shape;840;p22"/>
          <p:cNvSpPr txBox="1"/>
          <p:nvPr>
            <p:ph idx="12" type="sldNum"/>
          </p:nvPr>
        </p:nvSpPr>
        <p:spPr>
          <a:xfrm>
            <a:off x="12012948" y="6673964"/>
            <a:ext cx="9457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841" name="Google Shape;841;p22"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842" name="Google Shape;842;p22"/>
          <p:cNvGrpSpPr/>
          <p:nvPr/>
        </p:nvGrpSpPr>
        <p:grpSpPr>
          <a:xfrm>
            <a:off x="7701525" y="2877580"/>
            <a:ext cx="1032341" cy="222257"/>
            <a:chOff x="7666290" y="2850435"/>
            <a:chExt cx="1032341" cy="222257"/>
          </a:xfrm>
        </p:grpSpPr>
        <p:sp>
          <p:nvSpPr>
            <p:cNvPr id="843" name="Google Shape;843;p22"/>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844" name="Google Shape;844;p22"/>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845" name="Google Shape;845;p22"/>
          <p:cNvGrpSpPr/>
          <p:nvPr/>
        </p:nvGrpSpPr>
        <p:grpSpPr>
          <a:xfrm>
            <a:off x="6590913" y="2877580"/>
            <a:ext cx="1043832" cy="222257"/>
            <a:chOff x="6567424" y="2850435"/>
            <a:chExt cx="1043832" cy="222257"/>
          </a:xfrm>
        </p:grpSpPr>
        <p:sp>
          <p:nvSpPr>
            <p:cNvPr id="846" name="Google Shape;846;p22"/>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847" name="Google Shape;847;p22"/>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48" name="Google Shape;848;p22"/>
          <p:cNvGrpSpPr/>
          <p:nvPr/>
        </p:nvGrpSpPr>
        <p:grpSpPr>
          <a:xfrm>
            <a:off x="5369381" y="2877580"/>
            <a:ext cx="1154752" cy="222257"/>
            <a:chOff x="5357636" y="2850435"/>
            <a:chExt cx="1154752" cy="222257"/>
          </a:xfrm>
        </p:grpSpPr>
        <p:sp>
          <p:nvSpPr>
            <p:cNvPr id="849" name="Google Shape;849;p22"/>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850" name="Google Shape;850;p22"/>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851" name="Google Shape;851;p22"/>
          <p:cNvGrpSpPr/>
          <p:nvPr/>
        </p:nvGrpSpPr>
        <p:grpSpPr>
          <a:xfrm>
            <a:off x="3774515" y="2877580"/>
            <a:ext cx="1528086" cy="222257"/>
            <a:chOff x="3774515" y="2850435"/>
            <a:chExt cx="1528086" cy="222257"/>
          </a:xfrm>
        </p:grpSpPr>
        <p:sp>
          <p:nvSpPr>
            <p:cNvPr id="852" name="Google Shape;852;p22"/>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853" name="Google Shape;853;p22"/>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854" name="Google Shape;854;p22"/>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855" name="Google Shape;855;p22"/>
          <p:cNvGrpSpPr/>
          <p:nvPr/>
        </p:nvGrpSpPr>
        <p:grpSpPr>
          <a:xfrm>
            <a:off x="8800646" y="2877580"/>
            <a:ext cx="615485" cy="222257"/>
            <a:chOff x="3774515" y="3143990"/>
            <a:chExt cx="615485" cy="222257"/>
          </a:xfrm>
        </p:grpSpPr>
        <p:sp>
          <p:nvSpPr>
            <p:cNvPr id="856" name="Google Shape;856;p22"/>
            <p:cNvSpPr/>
            <p:nvPr/>
          </p:nvSpPr>
          <p:spPr>
            <a:xfrm>
              <a:off x="3774515" y="3143990"/>
              <a:ext cx="615485" cy="222257"/>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857" name="Google Shape;857;p22"/>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58" name="Google Shape;858;p22"/>
          <p:cNvGrpSpPr/>
          <p:nvPr/>
        </p:nvGrpSpPr>
        <p:grpSpPr>
          <a:xfrm>
            <a:off x="9482913" y="2877580"/>
            <a:ext cx="637271" cy="222257"/>
            <a:chOff x="5325634" y="4258824"/>
            <a:chExt cx="792014" cy="276226"/>
          </a:xfrm>
        </p:grpSpPr>
        <p:sp>
          <p:nvSpPr>
            <p:cNvPr id="859" name="Google Shape;859;p22"/>
            <p:cNvSpPr/>
            <p:nvPr/>
          </p:nvSpPr>
          <p:spPr>
            <a:xfrm>
              <a:off x="5325634" y="4258824"/>
              <a:ext cx="792014" cy="276226"/>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860" name="Google Shape;860;p22"/>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61" name="Google Shape;861;p22"/>
          <p:cNvGrpSpPr/>
          <p:nvPr/>
        </p:nvGrpSpPr>
        <p:grpSpPr>
          <a:xfrm>
            <a:off x="3774515" y="3171138"/>
            <a:ext cx="1751394" cy="222257"/>
            <a:chOff x="6146845" y="4521895"/>
            <a:chExt cx="2176671" cy="276226"/>
          </a:xfrm>
        </p:grpSpPr>
        <p:sp>
          <p:nvSpPr>
            <p:cNvPr id="862" name="Google Shape;862;p22"/>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863" name="Google Shape;863;p22"/>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864" name="Google Shape;864;p22"/>
          <p:cNvSpPr txBox="1"/>
          <p:nvPr/>
        </p:nvSpPr>
        <p:spPr>
          <a:xfrm>
            <a:off x="3492947" y="3583858"/>
            <a:ext cx="8435527" cy="2392175"/>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Top P, Top 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Control how random or focused the model’s word choices are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Off (0): full freedom</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Medium (0.7): balanced creativity and focus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High (1.0): wide variety, less consistent</a:t>
            </a:r>
            <a:endParaRPr b="0" i="0" sz="1400" u="none" cap="none" strike="noStrike">
              <a:solidFill>
                <a:srgbClr val="000000"/>
              </a:solidFill>
              <a:latin typeface="Arial"/>
              <a:ea typeface="Arial"/>
              <a:cs typeface="Arial"/>
              <a:sym typeface="Arial"/>
            </a:endParaRPr>
          </a:p>
        </p:txBody>
      </p:sp>
      <p:sp>
        <p:nvSpPr>
          <p:cNvPr id="865" name="Google Shape;865;p22"/>
          <p:cNvSpPr txBox="1"/>
          <p:nvPr/>
        </p:nvSpPr>
        <p:spPr>
          <a:xfrm>
            <a:off x="6786844" y="4984241"/>
            <a:ext cx="4027604" cy="991792"/>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Off (0): full freedom</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Medium (40): balanced randomness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High (100+): more diverse, less predictable</a:t>
            </a:r>
            <a:endParaRPr b="0" i="0" sz="1400" u="none" cap="none" strike="noStrike">
              <a:solidFill>
                <a:srgbClr val="000000"/>
              </a:solidFill>
              <a:latin typeface="Arial"/>
              <a:ea typeface="Arial"/>
              <a:cs typeface="Arial"/>
              <a:sym typeface="Arial"/>
            </a:endParaRPr>
          </a:p>
        </p:txBody>
      </p:sp>
      <p:grpSp>
        <p:nvGrpSpPr>
          <p:cNvPr id="866" name="Google Shape;866;p22"/>
          <p:cNvGrpSpPr/>
          <p:nvPr/>
        </p:nvGrpSpPr>
        <p:grpSpPr>
          <a:xfrm>
            <a:off x="7281794" y="3171138"/>
            <a:ext cx="767596" cy="222257"/>
            <a:chOff x="8524017" y="4258824"/>
            <a:chExt cx="953984" cy="276226"/>
          </a:xfrm>
        </p:grpSpPr>
        <p:sp>
          <p:nvSpPr>
            <p:cNvPr id="867" name="Google Shape;867;p22"/>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868" name="Google Shape;868;p22"/>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869" name="Google Shape;869;p22"/>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870" name="Google Shape;870;p22"/>
          <p:cNvGrpSpPr/>
          <p:nvPr/>
        </p:nvGrpSpPr>
        <p:grpSpPr>
          <a:xfrm>
            <a:off x="8109679" y="3171135"/>
            <a:ext cx="1216393" cy="223041"/>
            <a:chOff x="9408088" y="4258824"/>
            <a:chExt cx="1511760" cy="277200"/>
          </a:xfrm>
        </p:grpSpPr>
        <p:sp>
          <p:nvSpPr>
            <p:cNvPr id="871" name="Google Shape;871;p22"/>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872" name="Google Shape;872;p22"/>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73" name="Google Shape;873;p22"/>
          <p:cNvGrpSpPr/>
          <p:nvPr/>
        </p:nvGrpSpPr>
        <p:grpSpPr>
          <a:xfrm>
            <a:off x="5590467" y="3171135"/>
            <a:ext cx="1624547" cy="222257"/>
            <a:chOff x="6304492" y="4521895"/>
            <a:chExt cx="2019023" cy="276226"/>
          </a:xfrm>
        </p:grpSpPr>
        <p:sp>
          <p:nvSpPr>
            <p:cNvPr id="874" name="Google Shape;874;p22"/>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875" name="Google Shape;875;p22"/>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grpSp>
        <p:nvGrpSpPr>
          <p:cNvPr id="876" name="Google Shape;876;p22"/>
          <p:cNvGrpSpPr/>
          <p:nvPr/>
        </p:nvGrpSpPr>
        <p:grpSpPr>
          <a:xfrm>
            <a:off x="9392852" y="3171135"/>
            <a:ext cx="1160028" cy="215551"/>
            <a:chOff x="9392852" y="3171135"/>
            <a:chExt cx="1160028" cy="215551"/>
          </a:xfrm>
        </p:grpSpPr>
        <p:sp>
          <p:nvSpPr>
            <p:cNvPr id="877" name="Google Shape;877;p22"/>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878" name="Google Shape;878;p22"/>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23"/>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885" name="Google Shape;885;p23"/>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886" name="Google Shape;886;p23"/>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887" name="Google Shape;887;p23"/>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Response Format</a:t>
            </a:r>
            <a:endParaRPr/>
          </a:p>
        </p:txBody>
      </p:sp>
      <p:sp>
        <p:nvSpPr>
          <p:cNvPr id="888" name="Google Shape;888;p23"/>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889" name="Google Shape;889;p2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890" name="Google Shape;890;p2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891" name="Google Shape;891;p23"/>
          <p:cNvSpPr txBox="1"/>
          <p:nvPr>
            <p:ph idx="12" type="sldNum"/>
          </p:nvPr>
        </p:nvSpPr>
        <p:spPr>
          <a:xfrm>
            <a:off x="12015353" y="6673964"/>
            <a:ext cx="8976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892" name="Google Shape;892;p23"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893" name="Google Shape;893;p23"/>
          <p:cNvGrpSpPr/>
          <p:nvPr/>
        </p:nvGrpSpPr>
        <p:grpSpPr>
          <a:xfrm>
            <a:off x="7701525" y="2877580"/>
            <a:ext cx="1032341" cy="222257"/>
            <a:chOff x="7666290" y="2850435"/>
            <a:chExt cx="1032341" cy="222257"/>
          </a:xfrm>
        </p:grpSpPr>
        <p:sp>
          <p:nvSpPr>
            <p:cNvPr id="894" name="Google Shape;894;p23"/>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895" name="Google Shape;895;p23"/>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896" name="Google Shape;896;p23"/>
          <p:cNvGrpSpPr/>
          <p:nvPr/>
        </p:nvGrpSpPr>
        <p:grpSpPr>
          <a:xfrm>
            <a:off x="6590913" y="2877580"/>
            <a:ext cx="1043832" cy="222257"/>
            <a:chOff x="6567424" y="2850435"/>
            <a:chExt cx="1043832" cy="222257"/>
          </a:xfrm>
        </p:grpSpPr>
        <p:sp>
          <p:nvSpPr>
            <p:cNvPr id="897" name="Google Shape;897;p23"/>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898" name="Google Shape;898;p23"/>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899" name="Google Shape;899;p23"/>
          <p:cNvGrpSpPr/>
          <p:nvPr/>
        </p:nvGrpSpPr>
        <p:grpSpPr>
          <a:xfrm>
            <a:off x="5369381" y="2877580"/>
            <a:ext cx="1154752" cy="222257"/>
            <a:chOff x="5357636" y="2850435"/>
            <a:chExt cx="1154752" cy="222257"/>
          </a:xfrm>
        </p:grpSpPr>
        <p:sp>
          <p:nvSpPr>
            <p:cNvPr id="900" name="Google Shape;900;p23"/>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901" name="Google Shape;901;p23"/>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902" name="Google Shape;902;p23"/>
          <p:cNvGrpSpPr/>
          <p:nvPr/>
        </p:nvGrpSpPr>
        <p:grpSpPr>
          <a:xfrm>
            <a:off x="3774515" y="2877580"/>
            <a:ext cx="1528086" cy="222257"/>
            <a:chOff x="3774515" y="2850435"/>
            <a:chExt cx="1528086" cy="222257"/>
          </a:xfrm>
        </p:grpSpPr>
        <p:sp>
          <p:nvSpPr>
            <p:cNvPr id="903" name="Google Shape;903;p23"/>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904" name="Google Shape;904;p23"/>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905" name="Google Shape;905;p23"/>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906" name="Google Shape;906;p23"/>
          <p:cNvGrpSpPr/>
          <p:nvPr/>
        </p:nvGrpSpPr>
        <p:grpSpPr>
          <a:xfrm>
            <a:off x="8800646" y="2877580"/>
            <a:ext cx="615485" cy="222257"/>
            <a:chOff x="3774515" y="3143990"/>
            <a:chExt cx="615485" cy="222257"/>
          </a:xfrm>
        </p:grpSpPr>
        <p:sp>
          <p:nvSpPr>
            <p:cNvPr id="907" name="Google Shape;907;p23"/>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908" name="Google Shape;908;p23"/>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09" name="Google Shape;909;p23"/>
          <p:cNvGrpSpPr/>
          <p:nvPr/>
        </p:nvGrpSpPr>
        <p:grpSpPr>
          <a:xfrm>
            <a:off x="9482913" y="2877580"/>
            <a:ext cx="637271" cy="222257"/>
            <a:chOff x="5325634" y="4258824"/>
            <a:chExt cx="792014" cy="276226"/>
          </a:xfrm>
        </p:grpSpPr>
        <p:sp>
          <p:nvSpPr>
            <p:cNvPr id="910" name="Google Shape;910;p23"/>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911" name="Google Shape;911;p23"/>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12" name="Google Shape;912;p23"/>
          <p:cNvGrpSpPr/>
          <p:nvPr/>
        </p:nvGrpSpPr>
        <p:grpSpPr>
          <a:xfrm>
            <a:off x="3774515" y="3171138"/>
            <a:ext cx="1751394" cy="222257"/>
            <a:chOff x="6146845" y="4521895"/>
            <a:chExt cx="2176671" cy="276226"/>
          </a:xfrm>
        </p:grpSpPr>
        <p:sp>
          <p:nvSpPr>
            <p:cNvPr id="913" name="Google Shape;913;p23"/>
            <p:cNvSpPr/>
            <p:nvPr/>
          </p:nvSpPr>
          <p:spPr>
            <a:xfrm>
              <a:off x="6146845" y="4521895"/>
              <a:ext cx="2176671" cy="276226"/>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914" name="Google Shape;914;p23"/>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915" name="Google Shape;915;p23"/>
          <p:cNvSpPr txBox="1"/>
          <p:nvPr/>
        </p:nvSpPr>
        <p:spPr>
          <a:xfrm>
            <a:off x="3492947" y="3583858"/>
            <a:ext cx="8435527" cy="1930510"/>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Defines how the model structures its output (e.g., plain text or JSON)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Structured formats like JSON improve consistency and automation</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Plain text allows flexible, natural responses</a:t>
            </a:r>
            <a:endParaRPr b="0" i="0" sz="1400" u="none" cap="none" strike="noStrike">
              <a:solidFill>
                <a:srgbClr val="000000"/>
              </a:solidFill>
              <a:latin typeface="Arial"/>
              <a:ea typeface="Arial"/>
              <a:cs typeface="Arial"/>
              <a:sym typeface="Arial"/>
            </a:endParaRPr>
          </a:p>
        </p:txBody>
      </p:sp>
      <p:grpSp>
        <p:nvGrpSpPr>
          <p:cNvPr id="916" name="Google Shape;916;p23"/>
          <p:cNvGrpSpPr/>
          <p:nvPr/>
        </p:nvGrpSpPr>
        <p:grpSpPr>
          <a:xfrm>
            <a:off x="7281794" y="3171138"/>
            <a:ext cx="767596" cy="222257"/>
            <a:chOff x="8524017" y="4258824"/>
            <a:chExt cx="953984" cy="276226"/>
          </a:xfrm>
        </p:grpSpPr>
        <p:sp>
          <p:nvSpPr>
            <p:cNvPr id="917" name="Google Shape;917;p23"/>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918" name="Google Shape;918;p23"/>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919" name="Google Shape;919;p23"/>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920" name="Google Shape;920;p23"/>
          <p:cNvGrpSpPr/>
          <p:nvPr/>
        </p:nvGrpSpPr>
        <p:grpSpPr>
          <a:xfrm>
            <a:off x="8109679" y="3171135"/>
            <a:ext cx="1216393" cy="223041"/>
            <a:chOff x="9408088" y="4258824"/>
            <a:chExt cx="1511760" cy="277200"/>
          </a:xfrm>
        </p:grpSpPr>
        <p:sp>
          <p:nvSpPr>
            <p:cNvPr id="921" name="Google Shape;921;p23"/>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922" name="Google Shape;922;p23"/>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23" name="Google Shape;923;p23"/>
          <p:cNvGrpSpPr/>
          <p:nvPr/>
        </p:nvGrpSpPr>
        <p:grpSpPr>
          <a:xfrm>
            <a:off x="5590467" y="3171135"/>
            <a:ext cx="1624547" cy="222257"/>
            <a:chOff x="6304492" y="4521895"/>
            <a:chExt cx="2019023" cy="276226"/>
          </a:xfrm>
        </p:grpSpPr>
        <p:sp>
          <p:nvSpPr>
            <p:cNvPr id="924" name="Google Shape;924;p23"/>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925" name="Google Shape;925;p23"/>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grpSp>
        <p:nvGrpSpPr>
          <p:cNvPr id="926" name="Google Shape;926;p23"/>
          <p:cNvGrpSpPr/>
          <p:nvPr/>
        </p:nvGrpSpPr>
        <p:grpSpPr>
          <a:xfrm>
            <a:off x="9392852" y="3171135"/>
            <a:ext cx="1160028" cy="215551"/>
            <a:chOff x="9392852" y="3171135"/>
            <a:chExt cx="1160028" cy="215551"/>
          </a:xfrm>
        </p:grpSpPr>
        <p:sp>
          <p:nvSpPr>
            <p:cNvPr id="927" name="Google Shape;927;p23"/>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928" name="Google Shape;928;p23"/>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24"/>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935" name="Google Shape;935;p24"/>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936" name="Google Shape;936;p24"/>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937" name="Google Shape;937;p2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Schema</a:t>
            </a:r>
            <a:endParaRPr/>
          </a:p>
        </p:txBody>
      </p:sp>
      <p:sp>
        <p:nvSpPr>
          <p:cNvPr id="938" name="Google Shape;938;p24"/>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939" name="Google Shape;939;p2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940" name="Google Shape;940;p2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941" name="Google Shape;941;p24"/>
          <p:cNvSpPr txBox="1"/>
          <p:nvPr>
            <p:ph idx="12" type="sldNum"/>
          </p:nvPr>
        </p:nvSpPr>
        <p:spPr>
          <a:xfrm>
            <a:off x="12015353" y="6673964"/>
            <a:ext cx="8976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942" name="Google Shape;942;p24"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943" name="Google Shape;943;p24"/>
          <p:cNvGrpSpPr/>
          <p:nvPr/>
        </p:nvGrpSpPr>
        <p:grpSpPr>
          <a:xfrm>
            <a:off x="7701525" y="2877580"/>
            <a:ext cx="1032341" cy="222257"/>
            <a:chOff x="7666290" y="2850435"/>
            <a:chExt cx="1032341" cy="222257"/>
          </a:xfrm>
        </p:grpSpPr>
        <p:sp>
          <p:nvSpPr>
            <p:cNvPr id="944" name="Google Shape;944;p24"/>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945" name="Google Shape;945;p24"/>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946" name="Google Shape;946;p24"/>
          <p:cNvGrpSpPr/>
          <p:nvPr/>
        </p:nvGrpSpPr>
        <p:grpSpPr>
          <a:xfrm>
            <a:off x="6590913" y="2877580"/>
            <a:ext cx="1043832" cy="222257"/>
            <a:chOff x="6567424" y="2850435"/>
            <a:chExt cx="1043832" cy="222257"/>
          </a:xfrm>
        </p:grpSpPr>
        <p:sp>
          <p:nvSpPr>
            <p:cNvPr id="947" name="Google Shape;947;p24"/>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948" name="Google Shape;948;p24"/>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49" name="Google Shape;949;p24"/>
          <p:cNvGrpSpPr/>
          <p:nvPr/>
        </p:nvGrpSpPr>
        <p:grpSpPr>
          <a:xfrm>
            <a:off x="5369381" y="2877580"/>
            <a:ext cx="1154752" cy="222257"/>
            <a:chOff x="5357636" y="2850435"/>
            <a:chExt cx="1154752" cy="222257"/>
          </a:xfrm>
        </p:grpSpPr>
        <p:sp>
          <p:nvSpPr>
            <p:cNvPr id="950" name="Google Shape;950;p24"/>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951" name="Google Shape;951;p24"/>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952" name="Google Shape;952;p24"/>
          <p:cNvGrpSpPr/>
          <p:nvPr/>
        </p:nvGrpSpPr>
        <p:grpSpPr>
          <a:xfrm>
            <a:off x="3774515" y="2877580"/>
            <a:ext cx="1528086" cy="222257"/>
            <a:chOff x="3774515" y="2850435"/>
            <a:chExt cx="1528086" cy="222257"/>
          </a:xfrm>
        </p:grpSpPr>
        <p:sp>
          <p:nvSpPr>
            <p:cNvPr id="953" name="Google Shape;953;p24"/>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954" name="Google Shape;954;p24"/>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955" name="Google Shape;955;p24"/>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956" name="Google Shape;956;p24"/>
          <p:cNvGrpSpPr/>
          <p:nvPr/>
        </p:nvGrpSpPr>
        <p:grpSpPr>
          <a:xfrm>
            <a:off x="8800646" y="2877580"/>
            <a:ext cx="615485" cy="222257"/>
            <a:chOff x="3774515" y="3143990"/>
            <a:chExt cx="615485" cy="222257"/>
          </a:xfrm>
        </p:grpSpPr>
        <p:sp>
          <p:nvSpPr>
            <p:cNvPr id="957" name="Google Shape;957;p24"/>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958" name="Google Shape;958;p24"/>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59" name="Google Shape;959;p24"/>
          <p:cNvGrpSpPr/>
          <p:nvPr/>
        </p:nvGrpSpPr>
        <p:grpSpPr>
          <a:xfrm>
            <a:off x="9482913" y="2877580"/>
            <a:ext cx="637271" cy="222257"/>
            <a:chOff x="5325634" y="4258824"/>
            <a:chExt cx="792014" cy="276226"/>
          </a:xfrm>
        </p:grpSpPr>
        <p:sp>
          <p:nvSpPr>
            <p:cNvPr id="960" name="Google Shape;960;p24"/>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961" name="Google Shape;961;p24"/>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62" name="Google Shape;962;p24"/>
          <p:cNvGrpSpPr/>
          <p:nvPr/>
        </p:nvGrpSpPr>
        <p:grpSpPr>
          <a:xfrm>
            <a:off x="3774515" y="3171138"/>
            <a:ext cx="1751394" cy="222257"/>
            <a:chOff x="6146845" y="4521895"/>
            <a:chExt cx="2176671" cy="276226"/>
          </a:xfrm>
        </p:grpSpPr>
        <p:sp>
          <p:nvSpPr>
            <p:cNvPr id="963" name="Google Shape;963;p24"/>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964" name="Google Shape;964;p24"/>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965" name="Google Shape;965;p24"/>
          <p:cNvSpPr txBox="1"/>
          <p:nvPr/>
        </p:nvSpPr>
        <p:spPr>
          <a:xfrm>
            <a:off x="3492947" y="3583858"/>
            <a:ext cx="8435527" cy="1930510"/>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Menu extraction array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Defines the schema or structure the model should follow when extracting data (e.g., from menus or documents)</a:t>
            </a:r>
            <a:endParaRPr b="0" i="0" sz="1000" u="none" cap="none" strike="noStrike">
              <a:solidFill>
                <a:schemeClr val="dk2"/>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Ensures consistent, structured output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Reduces errors in data extraction and improves automation</a:t>
            </a:r>
            <a:endParaRPr b="0" i="0" sz="1400" u="none" cap="none" strike="noStrike">
              <a:solidFill>
                <a:srgbClr val="000000"/>
              </a:solidFill>
              <a:latin typeface="Arial"/>
              <a:ea typeface="Arial"/>
              <a:cs typeface="Arial"/>
              <a:sym typeface="Arial"/>
            </a:endParaRPr>
          </a:p>
        </p:txBody>
      </p:sp>
      <p:grpSp>
        <p:nvGrpSpPr>
          <p:cNvPr id="966" name="Google Shape;966;p24"/>
          <p:cNvGrpSpPr/>
          <p:nvPr/>
        </p:nvGrpSpPr>
        <p:grpSpPr>
          <a:xfrm>
            <a:off x="7281794" y="3171138"/>
            <a:ext cx="767596" cy="222257"/>
            <a:chOff x="8524017" y="4258824"/>
            <a:chExt cx="953984" cy="276226"/>
          </a:xfrm>
        </p:grpSpPr>
        <p:sp>
          <p:nvSpPr>
            <p:cNvPr id="967" name="Google Shape;967;p24"/>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968" name="Google Shape;968;p24"/>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969" name="Google Shape;969;p24"/>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970" name="Google Shape;970;p24"/>
          <p:cNvGrpSpPr/>
          <p:nvPr/>
        </p:nvGrpSpPr>
        <p:grpSpPr>
          <a:xfrm>
            <a:off x="8109679" y="3171135"/>
            <a:ext cx="1216393" cy="223041"/>
            <a:chOff x="9408088" y="4258824"/>
            <a:chExt cx="1511760" cy="277200"/>
          </a:xfrm>
        </p:grpSpPr>
        <p:sp>
          <p:nvSpPr>
            <p:cNvPr id="971" name="Google Shape;971;p24"/>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972" name="Google Shape;972;p24"/>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73" name="Google Shape;973;p24"/>
          <p:cNvGrpSpPr/>
          <p:nvPr/>
        </p:nvGrpSpPr>
        <p:grpSpPr>
          <a:xfrm>
            <a:off x="9392852" y="3171135"/>
            <a:ext cx="1160028" cy="215551"/>
            <a:chOff x="9392852" y="3171135"/>
            <a:chExt cx="1160028" cy="215551"/>
          </a:xfrm>
        </p:grpSpPr>
        <p:sp>
          <p:nvSpPr>
            <p:cNvPr id="974" name="Google Shape;974;p24"/>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975" name="Google Shape;975;p24"/>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976" name="Google Shape;976;p24"/>
          <p:cNvGrpSpPr/>
          <p:nvPr/>
        </p:nvGrpSpPr>
        <p:grpSpPr>
          <a:xfrm>
            <a:off x="5590467" y="3171135"/>
            <a:ext cx="1624547" cy="222257"/>
            <a:chOff x="6304492" y="4521895"/>
            <a:chExt cx="2019023" cy="276226"/>
          </a:xfrm>
        </p:grpSpPr>
        <p:sp>
          <p:nvSpPr>
            <p:cNvPr id="977" name="Google Shape;977;p24"/>
            <p:cNvSpPr/>
            <p:nvPr/>
          </p:nvSpPr>
          <p:spPr>
            <a:xfrm>
              <a:off x="6304492" y="4521895"/>
              <a:ext cx="2019023" cy="276226"/>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700" u="none" cap="none" strike="noStrike">
                <a:solidFill>
                  <a:schemeClr val="dk1"/>
                </a:solidFill>
                <a:latin typeface="Arial"/>
                <a:ea typeface="Arial"/>
                <a:cs typeface="Arial"/>
                <a:sym typeface="Arial"/>
              </a:endParaRPr>
            </a:p>
          </p:txBody>
        </p:sp>
        <p:sp>
          <p:nvSpPr>
            <p:cNvPr id="978" name="Google Shape;978;p24"/>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25"/>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985" name="Google Shape;985;p25"/>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986" name="Google Shape;986;p25"/>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987" name="Google Shape;987;p2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History</a:t>
            </a:r>
            <a:endParaRPr/>
          </a:p>
        </p:txBody>
      </p:sp>
      <p:sp>
        <p:nvSpPr>
          <p:cNvPr id="988" name="Google Shape;988;p25"/>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989" name="Google Shape;989;p2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990" name="Google Shape;990;p2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991" name="Google Shape;991;p25"/>
          <p:cNvSpPr txBox="1"/>
          <p:nvPr>
            <p:ph idx="12" type="sldNum"/>
          </p:nvPr>
        </p:nvSpPr>
        <p:spPr>
          <a:xfrm>
            <a:off x="12012147" y="6673964"/>
            <a:ext cx="96180"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992" name="Google Shape;992;p25"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993" name="Google Shape;993;p25"/>
          <p:cNvGrpSpPr/>
          <p:nvPr/>
        </p:nvGrpSpPr>
        <p:grpSpPr>
          <a:xfrm>
            <a:off x="7701525" y="2877580"/>
            <a:ext cx="1032341" cy="222257"/>
            <a:chOff x="7666290" y="2850435"/>
            <a:chExt cx="1032341" cy="222257"/>
          </a:xfrm>
        </p:grpSpPr>
        <p:sp>
          <p:nvSpPr>
            <p:cNvPr id="994" name="Google Shape;994;p25"/>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995" name="Google Shape;995;p25"/>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996" name="Google Shape;996;p25"/>
          <p:cNvGrpSpPr/>
          <p:nvPr/>
        </p:nvGrpSpPr>
        <p:grpSpPr>
          <a:xfrm>
            <a:off x="6590913" y="2877580"/>
            <a:ext cx="1043832" cy="222257"/>
            <a:chOff x="6567424" y="2850435"/>
            <a:chExt cx="1043832" cy="222257"/>
          </a:xfrm>
        </p:grpSpPr>
        <p:sp>
          <p:nvSpPr>
            <p:cNvPr id="997" name="Google Shape;997;p25"/>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998" name="Google Shape;998;p25"/>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999" name="Google Shape;999;p25"/>
          <p:cNvGrpSpPr/>
          <p:nvPr/>
        </p:nvGrpSpPr>
        <p:grpSpPr>
          <a:xfrm>
            <a:off x="5369381" y="2877580"/>
            <a:ext cx="1154752" cy="222257"/>
            <a:chOff x="5357636" y="2850435"/>
            <a:chExt cx="1154752" cy="222257"/>
          </a:xfrm>
        </p:grpSpPr>
        <p:sp>
          <p:nvSpPr>
            <p:cNvPr id="1000" name="Google Shape;1000;p25"/>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1001" name="Google Shape;1001;p25"/>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1002" name="Google Shape;1002;p25"/>
          <p:cNvGrpSpPr/>
          <p:nvPr/>
        </p:nvGrpSpPr>
        <p:grpSpPr>
          <a:xfrm>
            <a:off x="3774515" y="2877580"/>
            <a:ext cx="1528086" cy="222257"/>
            <a:chOff x="3774515" y="2850435"/>
            <a:chExt cx="1528086" cy="222257"/>
          </a:xfrm>
        </p:grpSpPr>
        <p:sp>
          <p:nvSpPr>
            <p:cNvPr id="1003" name="Google Shape;1003;p25"/>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1004" name="Google Shape;1004;p25"/>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1005" name="Google Shape;1005;p25"/>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1006" name="Google Shape;1006;p25"/>
          <p:cNvGrpSpPr/>
          <p:nvPr/>
        </p:nvGrpSpPr>
        <p:grpSpPr>
          <a:xfrm>
            <a:off x="8800646" y="2877580"/>
            <a:ext cx="615485" cy="222257"/>
            <a:chOff x="3774515" y="3143990"/>
            <a:chExt cx="615485" cy="222257"/>
          </a:xfrm>
        </p:grpSpPr>
        <p:sp>
          <p:nvSpPr>
            <p:cNvPr id="1007" name="Google Shape;1007;p25"/>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1008" name="Google Shape;1008;p25"/>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09" name="Google Shape;1009;p25"/>
          <p:cNvGrpSpPr/>
          <p:nvPr/>
        </p:nvGrpSpPr>
        <p:grpSpPr>
          <a:xfrm>
            <a:off x="9482913" y="2877580"/>
            <a:ext cx="637271" cy="222257"/>
            <a:chOff x="5325634" y="4258824"/>
            <a:chExt cx="792014" cy="276226"/>
          </a:xfrm>
        </p:grpSpPr>
        <p:sp>
          <p:nvSpPr>
            <p:cNvPr id="1010" name="Google Shape;1010;p25"/>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1011" name="Google Shape;1011;p25"/>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12" name="Google Shape;1012;p25"/>
          <p:cNvGrpSpPr/>
          <p:nvPr/>
        </p:nvGrpSpPr>
        <p:grpSpPr>
          <a:xfrm>
            <a:off x="3774515" y="3171138"/>
            <a:ext cx="1751394" cy="222257"/>
            <a:chOff x="6146845" y="4521895"/>
            <a:chExt cx="2176671" cy="276226"/>
          </a:xfrm>
        </p:grpSpPr>
        <p:sp>
          <p:nvSpPr>
            <p:cNvPr id="1013" name="Google Shape;1013;p25"/>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1014" name="Google Shape;1014;p25"/>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1015" name="Google Shape;1015;p25"/>
          <p:cNvSpPr txBox="1"/>
          <p:nvPr/>
        </p:nvSpPr>
        <p:spPr>
          <a:xfrm>
            <a:off x="3492947" y="3583858"/>
            <a:ext cx="8435527" cy="1930510"/>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Controls whether the model remembers previous interactions within a session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History on → enables context-aware, continuous conversations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2"/>
                </a:solidFill>
                <a:latin typeface="Arial"/>
                <a:ea typeface="Arial"/>
                <a:cs typeface="Arial"/>
                <a:sym typeface="Arial"/>
              </a:rPr>
              <a:t>History off (0) → each prompt is treated independently</a:t>
            </a:r>
            <a:endParaRPr b="0" i="0" sz="1400" u="none" cap="none" strike="noStrike">
              <a:solidFill>
                <a:srgbClr val="000000"/>
              </a:solidFill>
              <a:latin typeface="Arial"/>
              <a:ea typeface="Arial"/>
              <a:cs typeface="Arial"/>
              <a:sym typeface="Arial"/>
            </a:endParaRPr>
          </a:p>
        </p:txBody>
      </p:sp>
      <p:grpSp>
        <p:nvGrpSpPr>
          <p:cNvPr id="1016" name="Google Shape;1016;p25"/>
          <p:cNvGrpSpPr/>
          <p:nvPr/>
        </p:nvGrpSpPr>
        <p:grpSpPr>
          <a:xfrm>
            <a:off x="7281794" y="3171138"/>
            <a:ext cx="767596" cy="222257"/>
            <a:chOff x="8524017" y="4258824"/>
            <a:chExt cx="953984" cy="276226"/>
          </a:xfrm>
        </p:grpSpPr>
        <p:sp>
          <p:nvSpPr>
            <p:cNvPr id="1017" name="Google Shape;1017;p25"/>
            <p:cNvSpPr/>
            <p:nvPr/>
          </p:nvSpPr>
          <p:spPr>
            <a:xfrm>
              <a:off x="8524017" y="4258824"/>
              <a:ext cx="953984" cy="276226"/>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700" u="none" cap="none" strike="noStrike">
                <a:solidFill>
                  <a:schemeClr val="dk1"/>
                </a:solidFill>
                <a:latin typeface="Arial"/>
                <a:ea typeface="Arial"/>
                <a:cs typeface="Arial"/>
                <a:sym typeface="Arial"/>
              </a:endParaRPr>
            </a:p>
          </p:txBody>
        </p:sp>
        <p:sp>
          <p:nvSpPr>
            <p:cNvPr id="1018" name="Google Shape;1018;p25"/>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019" name="Google Shape;1019;p25"/>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1020" name="Google Shape;1020;p25"/>
          <p:cNvGrpSpPr/>
          <p:nvPr/>
        </p:nvGrpSpPr>
        <p:grpSpPr>
          <a:xfrm>
            <a:off x="8109679" y="3171135"/>
            <a:ext cx="1216393" cy="223041"/>
            <a:chOff x="9408088" y="4258824"/>
            <a:chExt cx="1511760" cy="277200"/>
          </a:xfrm>
        </p:grpSpPr>
        <p:sp>
          <p:nvSpPr>
            <p:cNvPr id="1021" name="Google Shape;1021;p25"/>
            <p:cNvSpPr/>
            <p:nvPr/>
          </p:nvSpPr>
          <p:spPr>
            <a:xfrm>
              <a:off x="9408088" y="4258824"/>
              <a:ext cx="1511760" cy="277200"/>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1022" name="Google Shape;1022;p25"/>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23" name="Google Shape;1023;p25"/>
          <p:cNvGrpSpPr/>
          <p:nvPr/>
        </p:nvGrpSpPr>
        <p:grpSpPr>
          <a:xfrm>
            <a:off x="9392852" y="3171135"/>
            <a:ext cx="1160028" cy="215551"/>
            <a:chOff x="9392852" y="3171135"/>
            <a:chExt cx="1160028" cy="215551"/>
          </a:xfrm>
        </p:grpSpPr>
        <p:sp>
          <p:nvSpPr>
            <p:cNvPr id="1024" name="Google Shape;1024;p25"/>
            <p:cNvSpPr/>
            <p:nvPr/>
          </p:nvSpPr>
          <p:spPr>
            <a:xfrm>
              <a:off x="9392852" y="3171135"/>
              <a:ext cx="1160028" cy="215551"/>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1025" name="Google Shape;1025;p25"/>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1026" name="Google Shape;1026;p25"/>
          <p:cNvGrpSpPr/>
          <p:nvPr/>
        </p:nvGrpSpPr>
        <p:grpSpPr>
          <a:xfrm>
            <a:off x="5590467" y="3171135"/>
            <a:ext cx="1624547" cy="222257"/>
            <a:chOff x="6304492" y="4521895"/>
            <a:chExt cx="2019023" cy="276226"/>
          </a:xfrm>
        </p:grpSpPr>
        <p:sp>
          <p:nvSpPr>
            <p:cNvPr id="1027" name="Google Shape;1027;p25"/>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1028" name="Google Shape;1028;p25"/>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26"/>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Parameters</a:t>
            </a:r>
            <a:endParaRPr b="0" i="0" sz="1400" u="none" cap="none" strike="noStrike">
              <a:solidFill>
                <a:srgbClr val="000000"/>
              </a:solidFill>
              <a:latin typeface="Arial"/>
              <a:ea typeface="Arial"/>
              <a:cs typeface="Arial"/>
              <a:sym typeface="Arial"/>
            </a:endParaRPr>
          </a:p>
        </p:txBody>
      </p:sp>
      <p:pic>
        <p:nvPicPr>
          <p:cNvPr id="1035" name="Google Shape;1035;p26"/>
          <p:cNvPicPr preferRelativeResize="0"/>
          <p:nvPr/>
        </p:nvPicPr>
        <p:blipFill rotWithShape="1">
          <a:blip r:embed="rId3">
            <a:alphaModFix/>
          </a:blip>
          <a:srcRect b="13857" l="0" r="0" t="0"/>
          <a:stretch/>
        </p:blipFill>
        <p:spPr>
          <a:xfrm>
            <a:off x="3673923" y="2132856"/>
            <a:ext cx="8073578" cy="1363757"/>
          </a:xfrm>
          <a:prstGeom prst="roundRect">
            <a:avLst>
              <a:gd fmla="val 2682" name="adj"/>
            </a:avLst>
          </a:prstGeom>
          <a:noFill/>
          <a:ln>
            <a:noFill/>
          </a:ln>
        </p:spPr>
      </p:pic>
      <p:sp>
        <p:nvSpPr>
          <p:cNvPr id="1036" name="Google Shape;1036;p26"/>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Prompt Screen</a:t>
            </a:r>
            <a:endParaRPr b="0" i="0" sz="1400" u="none" cap="none" strike="noStrike">
              <a:solidFill>
                <a:srgbClr val="000000"/>
              </a:solidFill>
              <a:latin typeface="Arial"/>
              <a:ea typeface="Arial"/>
              <a:cs typeface="Arial"/>
              <a:sym typeface="Arial"/>
            </a:endParaRPr>
          </a:p>
        </p:txBody>
      </p:sp>
      <p:sp>
        <p:nvSpPr>
          <p:cNvPr id="1037" name="Google Shape;1037;p26"/>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Parameter: Frequency / Presence penalty</a:t>
            </a:r>
            <a:endParaRPr/>
          </a:p>
        </p:txBody>
      </p:sp>
      <p:sp>
        <p:nvSpPr>
          <p:cNvPr id="1038" name="Google Shape;1038;p2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1039" name="Google Shape;1039;p2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040" name="Google Shape;1040;p2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041" name="Google Shape;1041;p26"/>
          <p:cNvSpPr txBox="1"/>
          <p:nvPr>
            <p:ph idx="12" type="sldNum"/>
          </p:nvPr>
        </p:nvSpPr>
        <p:spPr>
          <a:xfrm>
            <a:off x="12012948" y="6673964"/>
            <a:ext cx="9457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042" name="Google Shape;1042;p26" title="Screenshot 2025-08-29 at 14.05.33.png"/>
          <p:cNvPicPr preferRelativeResize="0"/>
          <p:nvPr/>
        </p:nvPicPr>
        <p:blipFill rotWithShape="1">
          <a:blip r:embed="rId4">
            <a:alphaModFix/>
          </a:blip>
          <a:srcRect b="0" l="55492" r="1" t="0"/>
          <a:stretch/>
        </p:blipFill>
        <p:spPr>
          <a:xfrm>
            <a:off x="444500" y="2132856"/>
            <a:ext cx="2686499" cy="3852019"/>
          </a:xfrm>
          <a:prstGeom prst="roundRect">
            <a:avLst>
              <a:gd fmla="val 2682" name="adj"/>
            </a:avLst>
          </a:prstGeom>
          <a:noFill/>
          <a:ln>
            <a:noFill/>
          </a:ln>
        </p:spPr>
      </p:pic>
      <p:grpSp>
        <p:nvGrpSpPr>
          <p:cNvPr id="1043" name="Google Shape;1043;p26"/>
          <p:cNvGrpSpPr/>
          <p:nvPr/>
        </p:nvGrpSpPr>
        <p:grpSpPr>
          <a:xfrm>
            <a:off x="7701525" y="2877580"/>
            <a:ext cx="1032341" cy="222257"/>
            <a:chOff x="7666290" y="2850435"/>
            <a:chExt cx="1032341" cy="222257"/>
          </a:xfrm>
        </p:grpSpPr>
        <p:sp>
          <p:nvSpPr>
            <p:cNvPr id="1044" name="Google Shape;1044;p26"/>
            <p:cNvSpPr/>
            <p:nvPr/>
          </p:nvSpPr>
          <p:spPr>
            <a:xfrm>
              <a:off x="7666290" y="2850435"/>
              <a:ext cx="1032341"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Temperature</a:t>
              </a:r>
              <a:endParaRPr b="0" i="0" sz="1400" u="none" cap="none" strike="noStrike">
                <a:solidFill>
                  <a:srgbClr val="000000"/>
                </a:solidFill>
                <a:latin typeface="Arial"/>
                <a:ea typeface="Arial"/>
                <a:cs typeface="Arial"/>
                <a:sym typeface="Arial"/>
              </a:endParaRPr>
            </a:p>
          </p:txBody>
        </p:sp>
        <p:sp>
          <p:nvSpPr>
            <p:cNvPr id="1045" name="Google Shape;1045;p26"/>
            <p:cNvSpPr/>
            <p:nvPr/>
          </p:nvSpPr>
          <p:spPr>
            <a:xfrm>
              <a:off x="8383976" y="2874664"/>
              <a:ext cx="291662" cy="173798"/>
            </a:xfrm>
            <a:prstGeom prst="roundRect">
              <a:avLst>
                <a:gd fmla="val 16667" name="adj"/>
              </a:avLst>
            </a:prstGeom>
            <a:solidFill>
              <a:schemeClr val="lt1"/>
            </a:solidFill>
            <a:ln>
              <a:noFill/>
            </a:ln>
          </p:spPr>
          <p:txBody>
            <a:bodyPr anchorCtr="0" anchor="ctr" bIns="72000" lIns="36000" spcFirstLastPara="1" rIns="36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1046" name="Google Shape;1046;p26"/>
          <p:cNvGrpSpPr/>
          <p:nvPr/>
        </p:nvGrpSpPr>
        <p:grpSpPr>
          <a:xfrm>
            <a:off x="6590913" y="2877580"/>
            <a:ext cx="1043832" cy="222257"/>
            <a:chOff x="6567424" y="2850435"/>
            <a:chExt cx="1043832" cy="222257"/>
          </a:xfrm>
        </p:grpSpPr>
        <p:sp>
          <p:nvSpPr>
            <p:cNvPr id="1047" name="Google Shape;1047;p26"/>
            <p:cNvSpPr/>
            <p:nvPr/>
          </p:nvSpPr>
          <p:spPr>
            <a:xfrm>
              <a:off x="6567424" y="2850435"/>
              <a:ext cx="104383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Budget Tokens</a:t>
              </a:r>
              <a:endParaRPr b="0" i="0" sz="1400" u="none" cap="none" strike="noStrike">
                <a:solidFill>
                  <a:srgbClr val="000000"/>
                </a:solidFill>
                <a:latin typeface="Arial"/>
                <a:ea typeface="Arial"/>
                <a:cs typeface="Arial"/>
                <a:sym typeface="Arial"/>
              </a:endParaRPr>
            </a:p>
          </p:txBody>
        </p:sp>
        <p:sp>
          <p:nvSpPr>
            <p:cNvPr id="1048" name="Google Shape;1048;p26"/>
            <p:cNvSpPr/>
            <p:nvPr/>
          </p:nvSpPr>
          <p:spPr>
            <a:xfrm>
              <a:off x="7375603" y="2874664"/>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49" name="Google Shape;1049;p26"/>
          <p:cNvGrpSpPr/>
          <p:nvPr/>
        </p:nvGrpSpPr>
        <p:grpSpPr>
          <a:xfrm>
            <a:off x="5369381" y="2877580"/>
            <a:ext cx="1154752" cy="222257"/>
            <a:chOff x="5357636" y="2850435"/>
            <a:chExt cx="1154752" cy="222257"/>
          </a:xfrm>
        </p:grpSpPr>
        <p:sp>
          <p:nvSpPr>
            <p:cNvPr id="1050" name="Google Shape;1050;p26"/>
            <p:cNvSpPr/>
            <p:nvPr/>
          </p:nvSpPr>
          <p:spPr>
            <a:xfrm>
              <a:off x="5357636" y="2850435"/>
              <a:ext cx="1154752"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Max Tokens</a:t>
              </a:r>
              <a:endParaRPr b="0" i="0" sz="1400" u="none" cap="none" strike="noStrike">
                <a:solidFill>
                  <a:srgbClr val="000000"/>
                </a:solidFill>
                <a:latin typeface="Arial"/>
                <a:ea typeface="Arial"/>
                <a:cs typeface="Arial"/>
                <a:sym typeface="Arial"/>
              </a:endParaRPr>
            </a:p>
          </p:txBody>
        </p:sp>
        <p:sp>
          <p:nvSpPr>
            <p:cNvPr id="1051" name="Google Shape;1051;p26"/>
            <p:cNvSpPr/>
            <p:nvPr/>
          </p:nvSpPr>
          <p:spPr>
            <a:xfrm>
              <a:off x="6110781" y="2874664"/>
              <a:ext cx="378616"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10000</a:t>
              </a:r>
              <a:endParaRPr b="0" i="0" sz="1400" u="none" cap="none" strike="noStrike">
                <a:solidFill>
                  <a:srgbClr val="000000"/>
                </a:solidFill>
                <a:latin typeface="Arial"/>
                <a:ea typeface="Arial"/>
                <a:cs typeface="Arial"/>
                <a:sym typeface="Arial"/>
              </a:endParaRPr>
            </a:p>
          </p:txBody>
        </p:sp>
      </p:grpSp>
      <p:grpSp>
        <p:nvGrpSpPr>
          <p:cNvPr id="1052" name="Google Shape;1052;p26"/>
          <p:cNvGrpSpPr/>
          <p:nvPr/>
        </p:nvGrpSpPr>
        <p:grpSpPr>
          <a:xfrm>
            <a:off x="3774515" y="2877580"/>
            <a:ext cx="1528086" cy="222257"/>
            <a:chOff x="3774515" y="2850435"/>
            <a:chExt cx="1528086" cy="222257"/>
          </a:xfrm>
        </p:grpSpPr>
        <p:sp>
          <p:nvSpPr>
            <p:cNvPr id="1053" name="Google Shape;1053;p26"/>
            <p:cNvSpPr/>
            <p:nvPr/>
          </p:nvSpPr>
          <p:spPr>
            <a:xfrm>
              <a:off x="3774515" y="2850435"/>
              <a:ext cx="1528086"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Model</a:t>
              </a:r>
              <a:endParaRPr b="0" i="0" sz="1400" u="none" cap="none" strike="noStrike">
                <a:solidFill>
                  <a:srgbClr val="000000"/>
                </a:solidFill>
                <a:latin typeface="Arial"/>
                <a:ea typeface="Arial"/>
                <a:cs typeface="Arial"/>
                <a:sym typeface="Arial"/>
              </a:endParaRPr>
            </a:p>
          </p:txBody>
        </p:sp>
        <p:sp>
          <p:nvSpPr>
            <p:cNvPr id="1054" name="Google Shape;1054;p26"/>
            <p:cNvSpPr/>
            <p:nvPr/>
          </p:nvSpPr>
          <p:spPr>
            <a:xfrm>
              <a:off x="4182631" y="2874664"/>
              <a:ext cx="1096979" cy="173798"/>
            </a:xfrm>
            <a:prstGeom prst="roundRect">
              <a:avLst>
                <a:gd fmla="val 16667" name="adj"/>
              </a:avLst>
            </a:prstGeom>
            <a:solidFill>
              <a:schemeClr val="lt1"/>
            </a:solidFill>
            <a:ln>
              <a:noFill/>
            </a:ln>
          </p:spPr>
          <p:txBody>
            <a:bodyPr anchorCtr="0" anchor="ctr" bIns="72000" lIns="182875"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Gemini-3.8-flash</a:t>
              </a:r>
              <a:endParaRPr b="0" i="0" sz="1400" u="none" cap="none" strike="noStrike">
                <a:solidFill>
                  <a:srgbClr val="000000"/>
                </a:solidFill>
                <a:latin typeface="Arial"/>
                <a:ea typeface="Arial"/>
                <a:cs typeface="Arial"/>
                <a:sym typeface="Arial"/>
              </a:endParaRPr>
            </a:p>
          </p:txBody>
        </p:sp>
        <p:pic>
          <p:nvPicPr>
            <p:cNvPr descr="Google Gemini Logo, symbol, meaning, history, PNG, brand" id="1055" name="Google Shape;1055;p26"/>
            <p:cNvPicPr preferRelativeResize="0"/>
            <p:nvPr/>
          </p:nvPicPr>
          <p:blipFill rotWithShape="1">
            <a:blip r:embed="rId5">
              <a:alphaModFix/>
            </a:blip>
            <a:srcRect b="27477" l="0" r="75350" t="27477"/>
            <a:stretch/>
          </p:blipFill>
          <p:spPr>
            <a:xfrm>
              <a:off x="4216772" y="2888215"/>
              <a:ext cx="150236" cy="146697"/>
            </a:xfrm>
            <a:prstGeom prst="rect">
              <a:avLst/>
            </a:prstGeom>
            <a:noFill/>
            <a:ln>
              <a:noFill/>
            </a:ln>
          </p:spPr>
        </p:pic>
      </p:grpSp>
      <p:grpSp>
        <p:nvGrpSpPr>
          <p:cNvPr id="1056" name="Google Shape;1056;p26"/>
          <p:cNvGrpSpPr/>
          <p:nvPr/>
        </p:nvGrpSpPr>
        <p:grpSpPr>
          <a:xfrm>
            <a:off x="8800646" y="2877580"/>
            <a:ext cx="615485" cy="222257"/>
            <a:chOff x="3774515" y="3143990"/>
            <a:chExt cx="615485" cy="222257"/>
          </a:xfrm>
        </p:grpSpPr>
        <p:sp>
          <p:nvSpPr>
            <p:cNvPr id="1057" name="Google Shape;1057;p26"/>
            <p:cNvSpPr/>
            <p:nvPr/>
          </p:nvSpPr>
          <p:spPr>
            <a:xfrm>
              <a:off x="3774515" y="3143990"/>
              <a:ext cx="615485" cy="222257"/>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P</a:t>
              </a:r>
              <a:endParaRPr b="0" i="0" sz="1400" u="none" cap="none" strike="noStrike">
                <a:solidFill>
                  <a:srgbClr val="000000"/>
                </a:solidFill>
                <a:latin typeface="Arial"/>
                <a:ea typeface="Arial"/>
                <a:cs typeface="Arial"/>
                <a:sym typeface="Arial"/>
              </a:endParaRPr>
            </a:p>
          </p:txBody>
        </p:sp>
        <p:sp>
          <p:nvSpPr>
            <p:cNvPr id="1058" name="Google Shape;1058;p26"/>
            <p:cNvSpPr/>
            <p:nvPr/>
          </p:nvSpPr>
          <p:spPr>
            <a:xfrm>
              <a:off x="4154347" y="3168220"/>
              <a:ext cx="212661" cy="173798"/>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59" name="Google Shape;1059;p26"/>
          <p:cNvGrpSpPr/>
          <p:nvPr/>
        </p:nvGrpSpPr>
        <p:grpSpPr>
          <a:xfrm>
            <a:off x="9482913" y="2877580"/>
            <a:ext cx="637271" cy="222257"/>
            <a:chOff x="5325634" y="4258824"/>
            <a:chExt cx="792014" cy="276226"/>
          </a:xfrm>
        </p:grpSpPr>
        <p:sp>
          <p:nvSpPr>
            <p:cNvPr id="1060" name="Google Shape;1060;p26"/>
            <p:cNvSpPr/>
            <p:nvPr/>
          </p:nvSpPr>
          <p:spPr>
            <a:xfrm>
              <a:off x="5325634" y="4258824"/>
              <a:ext cx="79201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Top K</a:t>
              </a:r>
              <a:endParaRPr b="0" i="0" sz="1400" u="none" cap="none" strike="noStrike">
                <a:solidFill>
                  <a:srgbClr val="000000"/>
                </a:solidFill>
                <a:latin typeface="Arial"/>
                <a:ea typeface="Arial"/>
                <a:cs typeface="Arial"/>
                <a:sym typeface="Arial"/>
              </a:endParaRPr>
            </a:p>
          </p:txBody>
        </p:sp>
        <p:sp>
          <p:nvSpPr>
            <p:cNvPr id="1061" name="Google Shape;1061;p26"/>
            <p:cNvSpPr/>
            <p:nvPr/>
          </p:nvSpPr>
          <p:spPr>
            <a:xfrm>
              <a:off x="582427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62" name="Google Shape;1062;p26"/>
          <p:cNvGrpSpPr/>
          <p:nvPr/>
        </p:nvGrpSpPr>
        <p:grpSpPr>
          <a:xfrm>
            <a:off x="3774515" y="3171138"/>
            <a:ext cx="1751394" cy="222257"/>
            <a:chOff x="6146845" y="4521895"/>
            <a:chExt cx="2176671" cy="276226"/>
          </a:xfrm>
        </p:grpSpPr>
        <p:sp>
          <p:nvSpPr>
            <p:cNvPr id="1063" name="Google Shape;1063;p26"/>
            <p:cNvSpPr/>
            <p:nvPr/>
          </p:nvSpPr>
          <p:spPr>
            <a:xfrm>
              <a:off x="6146845" y="4521895"/>
              <a:ext cx="2176671"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Response Format</a:t>
              </a:r>
              <a:endParaRPr b="0" i="0" sz="1400" u="none" cap="none" strike="noStrike">
                <a:solidFill>
                  <a:srgbClr val="000000"/>
                </a:solidFill>
                <a:latin typeface="Arial"/>
                <a:ea typeface="Arial"/>
                <a:cs typeface="Arial"/>
                <a:sym typeface="Arial"/>
              </a:endParaRPr>
            </a:p>
          </p:txBody>
        </p:sp>
        <p:sp>
          <p:nvSpPr>
            <p:cNvPr id="1064" name="Google Shape;1064;p26"/>
            <p:cNvSpPr/>
            <p:nvPr/>
          </p:nvSpPr>
          <p:spPr>
            <a:xfrm>
              <a:off x="7255993" y="4552007"/>
              <a:ext cx="1038947"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JSON Schema</a:t>
              </a:r>
              <a:endParaRPr b="0" i="0" sz="1400" u="none" cap="none" strike="noStrike">
                <a:solidFill>
                  <a:srgbClr val="000000"/>
                </a:solidFill>
                <a:latin typeface="Arial"/>
                <a:ea typeface="Arial"/>
                <a:cs typeface="Arial"/>
                <a:sym typeface="Arial"/>
              </a:endParaRPr>
            </a:p>
          </p:txBody>
        </p:sp>
      </p:grpSp>
      <p:sp>
        <p:nvSpPr>
          <p:cNvPr id="1065" name="Google Shape;1065;p26"/>
          <p:cNvSpPr txBox="1"/>
          <p:nvPr/>
        </p:nvSpPr>
        <p:spPr>
          <a:xfrm>
            <a:off x="3492947" y="3583858"/>
            <a:ext cx="8435527" cy="2238287"/>
          </a:xfrm>
          <a:prstGeom prst="rect">
            <a:avLst/>
          </a:prstGeom>
          <a:solidFill>
            <a:schemeClr val="lt1">
              <a:alpha val="5098"/>
            </a:schemeClr>
          </a:solidFill>
          <a:ln>
            <a:noFill/>
          </a:ln>
        </p:spPr>
        <p:txBody>
          <a:bodyPr anchorCtr="0" anchor="t" bIns="72000" lIns="180000" spcFirstLastPara="1" rIns="144000" wrap="square" tIns="7200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Parameter:</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Frequency / Presence penalty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Description:</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These parameters control how repetitive or exploratory the model’s output 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Typical Impact: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1"/>
                </a:solidFill>
                <a:latin typeface="Arial"/>
                <a:ea typeface="Arial"/>
                <a:cs typeface="Arial"/>
                <a:sym typeface="Arial"/>
              </a:rPr>
              <a:t>Frequency Penalty:</a:t>
            </a:r>
            <a:br>
              <a:rPr b="0" i="0" lang="en-US" sz="1000" u="none" cap="none" strike="noStrike">
                <a:solidFill>
                  <a:schemeClr val="dk2"/>
                </a:solidFill>
                <a:latin typeface="Arial"/>
                <a:ea typeface="Arial"/>
                <a:cs typeface="Arial"/>
                <a:sym typeface="Arial"/>
              </a:rPr>
            </a:br>
            <a:r>
              <a:rPr b="0" i="0" lang="en-US" sz="1000" u="none" cap="none" strike="noStrike">
                <a:solidFill>
                  <a:schemeClr val="dk2"/>
                </a:solidFill>
                <a:latin typeface="Arial"/>
                <a:ea typeface="Arial"/>
                <a:cs typeface="Arial"/>
                <a:sym typeface="Arial"/>
              </a:rPr>
              <a:t>reduces repetition of words or phrases already used</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000"/>
              <a:buFont typeface="Arial"/>
              <a:buChar char="•"/>
            </a:pPr>
            <a:r>
              <a:rPr b="0" i="0" lang="en-US" sz="1000" u="none" cap="none" strike="noStrike">
                <a:solidFill>
                  <a:schemeClr val="dk1"/>
                </a:solidFill>
                <a:latin typeface="Arial"/>
                <a:ea typeface="Arial"/>
                <a:cs typeface="Arial"/>
                <a:sym typeface="Arial"/>
              </a:rPr>
              <a:t>Presence Penalty:</a:t>
            </a:r>
            <a:br>
              <a:rPr b="0" i="0" lang="en-US" sz="1000" u="none" cap="none" strike="noStrike">
                <a:solidFill>
                  <a:schemeClr val="dk2"/>
                </a:solidFill>
                <a:latin typeface="Arial"/>
                <a:ea typeface="Arial"/>
                <a:cs typeface="Arial"/>
                <a:sym typeface="Arial"/>
              </a:rPr>
            </a:br>
            <a:r>
              <a:rPr b="0" i="0" lang="en-US" sz="1000" u="none" cap="none" strike="noStrike">
                <a:solidFill>
                  <a:schemeClr val="dk2"/>
                </a:solidFill>
                <a:latin typeface="Arial"/>
                <a:ea typeface="Arial"/>
                <a:cs typeface="Arial"/>
                <a:sym typeface="Arial"/>
              </a:rPr>
              <a:t>encourages the model to introduce new topics or wording</a:t>
            </a:r>
            <a:endParaRPr b="0" i="0" sz="1400" u="none" cap="none" strike="noStrike">
              <a:solidFill>
                <a:srgbClr val="000000"/>
              </a:solidFill>
              <a:latin typeface="Arial"/>
              <a:ea typeface="Arial"/>
              <a:cs typeface="Arial"/>
              <a:sym typeface="Arial"/>
            </a:endParaRPr>
          </a:p>
        </p:txBody>
      </p:sp>
      <p:grpSp>
        <p:nvGrpSpPr>
          <p:cNvPr id="1066" name="Google Shape;1066;p26"/>
          <p:cNvGrpSpPr/>
          <p:nvPr/>
        </p:nvGrpSpPr>
        <p:grpSpPr>
          <a:xfrm>
            <a:off x="7281794" y="3171138"/>
            <a:ext cx="767596" cy="222257"/>
            <a:chOff x="8524017" y="4258824"/>
            <a:chExt cx="953984" cy="276226"/>
          </a:xfrm>
        </p:grpSpPr>
        <p:sp>
          <p:nvSpPr>
            <p:cNvPr id="1067" name="Google Shape;1067;p26"/>
            <p:cNvSpPr/>
            <p:nvPr/>
          </p:nvSpPr>
          <p:spPr>
            <a:xfrm>
              <a:off x="8524017" y="4258824"/>
              <a:ext cx="953984"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182875"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History</a:t>
              </a:r>
              <a:endParaRPr b="0" i="0" sz="1400" u="none" cap="none" strike="noStrike">
                <a:solidFill>
                  <a:srgbClr val="000000"/>
                </a:solidFill>
                <a:latin typeface="Arial"/>
                <a:ea typeface="Arial"/>
                <a:cs typeface="Arial"/>
                <a:sym typeface="Arial"/>
              </a:endParaRPr>
            </a:p>
          </p:txBody>
        </p:sp>
        <p:sp>
          <p:nvSpPr>
            <p:cNvPr id="1068" name="Google Shape;1068;p26"/>
            <p:cNvSpPr/>
            <p:nvPr/>
          </p:nvSpPr>
          <p:spPr>
            <a:xfrm>
              <a:off x="9185127" y="4288937"/>
              <a:ext cx="264299"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sp>
          <p:nvSpPr>
            <p:cNvPr id="1069" name="Google Shape;1069;p26"/>
            <p:cNvSpPr/>
            <p:nvPr/>
          </p:nvSpPr>
          <p:spPr>
            <a:xfrm>
              <a:off x="8576203" y="4342919"/>
              <a:ext cx="108854" cy="108036"/>
            </a:xfrm>
            <a:prstGeom prst="ellipse">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p:txBody>
        </p:sp>
      </p:grpSp>
      <p:grpSp>
        <p:nvGrpSpPr>
          <p:cNvPr id="1070" name="Google Shape;1070;p26"/>
          <p:cNvGrpSpPr/>
          <p:nvPr/>
        </p:nvGrpSpPr>
        <p:grpSpPr>
          <a:xfrm>
            <a:off x="8109679" y="3171135"/>
            <a:ext cx="1216393" cy="223041"/>
            <a:chOff x="9408088" y="4258824"/>
            <a:chExt cx="1511760" cy="277200"/>
          </a:xfrm>
        </p:grpSpPr>
        <p:sp>
          <p:nvSpPr>
            <p:cNvPr id="1071" name="Google Shape;1071;p26"/>
            <p:cNvSpPr/>
            <p:nvPr/>
          </p:nvSpPr>
          <p:spPr>
            <a:xfrm>
              <a:off x="9408088" y="4258824"/>
              <a:ext cx="1511760" cy="277200"/>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Frequency Penalty</a:t>
              </a:r>
              <a:endParaRPr b="0" i="0" sz="1400" u="none" cap="none" strike="noStrike">
                <a:solidFill>
                  <a:srgbClr val="000000"/>
                </a:solidFill>
                <a:latin typeface="Arial"/>
                <a:ea typeface="Arial"/>
                <a:cs typeface="Arial"/>
                <a:sym typeface="Arial"/>
              </a:endParaRPr>
            </a:p>
          </p:txBody>
        </p:sp>
        <p:sp>
          <p:nvSpPr>
            <p:cNvPr id="1072" name="Google Shape;1072;p26"/>
            <p:cNvSpPr/>
            <p:nvPr/>
          </p:nvSpPr>
          <p:spPr>
            <a:xfrm>
              <a:off x="10636875" y="4288937"/>
              <a:ext cx="254398" cy="216000"/>
            </a:xfrm>
            <a:prstGeom prst="roundRect">
              <a:avLst>
                <a:gd fmla="val 16667" name="adj"/>
              </a:avLst>
            </a:prstGeom>
            <a:solidFill>
              <a:schemeClr val="l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a:t>
              </a:r>
              <a:endParaRPr b="0" i="0" sz="1400" u="none" cap="none" strike="noStrike">
                <a:solidFill>
                  <a:srgbClr val="000000"/>
                </a:solidFill>
                <a:latin typeface="Arial"/>
                <a:ea typeface="Arial"/>
                <a:cs typeface="Arial"/>
                <a:sym typeface="Arial"/>
              </a:endParaRPr>
            </a:p>
          </p:txBody>
        </p:sp>
      </p:grpSp>
      <p:grpSp>
        <p:nvGrpSpPr>
          <p:cNvPr id="1073" name="Google Shape;1073;p26"/>
          <p:cNvGrpSpPr/>
          <p:nvPr/>
        </p:nvGrpSpPr>
        <p:grpSpPr>
          <a:xfrm>
            <a:off x="9392852" y="3171135"/>
            <a:ext cx="1160028" cy="215551"/>
            <a:chOff x="9392852" y="3171135"/>
            <a:chExt cx="1160028" cy="215551"/>
          </a:xfrm>
        </p:grpSpPr>
        <p:sp>
          <p:nvSpPr>
            <p:cNvPr id="1074" name="Google Shape;1074;p26"/>
            <p:cNvSpPr/>
            <p:nvPr/>
          </p:nvSpPr>
          <p:spPr>
            <a:xfrm>
              <a:off x="9392852" y="3171135"/>
              <a:ext cx="1160028" cy="215551"/>
            </a:xfrm>
            <a:prstGeom prst="roundRect">
              <a:avLst>
                <a:gd fmla="val 16667" name="adj"/>
              </a:avLst>
            </a:prstGeom>
            <a:solidFill>
              <a:srgbClr val="F5F6F6"/>
            </a:solidFill>
            <a:ln cap="flat" cmpd="sng" w="12700">
              <a:solidFill>
                <a:schemeClr val="accent1"/>
              </a:solidFill>
              <a:prstDash val="dash"/>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Presence Penalty</a:t>
              </a:r>
              <a:endParaRPr b="0" i="0" sz="1400" u="none" cap="none" strike="noStrike">
                <a:solidFill>
                  <a:srgbClr val="000000"/>
                </a:solidFill>
                <a:latin typeface="Arial"/>
                <a:ea typeface="Arial"/>
                <a:cs typeface="Arial"/>
                <a:sym typeface="Arial"/>
              </a:endParaRPr>
            </a:p>
          </p:txBody>
        </p:sp>
        <p:sp>
          <p:nvSpPr>
            <p:cNvPr id="1075" name="Google Shape;1075;p26"/>
            <p:cNvSpPr/>
            <p:nvPr/>
          </p:nvSpPr>
          <p:spPr>
            <a:xfrm>
              <a:off x="10325194" y="3192011"/>
              <a:ext cx="204694" cy="173798"/>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chemeClr val="dk1"/>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grpSp>
      <p:grpSp>
        <p:nvGrpSpPr>
          <p:cNvPr id="1076" name="Google Shape;1076;p26"/>
          <p:cNvGrpSpPr/>
          <p:nvPr/>
        </p:nvGrpSpPr>
        <p:grpSpPr>
          <a:xfrm>
            <a:off x="5590467" y="3171135"/>
            <a:ext cx="1624547" cy="222257"/>
            <a:chOff x="6304492" y="4521895"/>
            <a:chExt cx="2019023" cy="276226"/>
          </a:xfrm>
        </p:grpSpPr>
        <p:sp>
          <p:nvSpPr>
            <p:cNvPr id="1077" name="Google Shape;1077;p26"/>
            <p:cNvSpPr/>
            <p:nvPr/>
          </p:nvSpPr>
          <p:spPr>
            <a:xfrm>
              <a:off x="6304492" y="4521895"/>
              <a:ext cx="2019023" cy="276226"/>
            </a:xfrm>
            <a:prstGeom prst="roundRect">
              <a:avLst>
                <a:gd fmla="val 16667" name="adj"/>
              </a:avLst>
            </a:prstGeom>
            <a:solidFill>
              <a:srgbClr val="F5F6F6"/>
            </a:solidFill>
            <a:ln cap="flat" cmpd="sng" w="9525">
              <a:solidFill>
                <a:srgbClr val="A5A5A5"/>
              </a:solidFill>
              <a:prstDash val="solid"/>
              <a:miter lim="80"/>
              <a:headEnd len="sm" w="sm" type="none"/>
              <a:tailEnd len="sm" w="sm" type="none"/>
            </a:ln>
          </p:spPr>
          <p:txBody>
            <a:bodyPr anchorCtr="0" anchor="ctr" bIns="72000" lIns="45700" spcFirstLastPara="1" rIns="72000" wrap="square" tIns="7200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Schema</a:t>
              </a:r>
              <a:endParaRPr b="0" i="0" sz="1400" u="none" cap="none" strike="noStrike">
                <a:solidFill>
                  <a:srgbClr val="000000"/>
                </a:solidFill>
                <a:latin typeface="Arial"/>
                <a:ea typeface="Arial"/>
                <a:cs typeface="Arial"/>
                <a:sym typeface="Arial"/>
              </a:endParaRPr>
            </a:p>
          </p:txBody>
        </p:sp>
        <p:sp>
          <p:nvSpPr>
            <p:cNvPr id="1078" name="Google Shape;1078;p26"/>
            <p:cNvSpPr/>
            <p:nvPr/>
          </p:nvSpPr>
          <p:spPr>
            <a:xfrm>
              <a:off x="6909372" y="4552007"/>
              <a:ext cx="1385568" cy="216000"/>
            </a:xfrm>
            <a:prstGeom prst="roundRect">
              <a:avLst>
                <a:gd fmla="val 16667" name="adj"/>
              </a:avLst>
            </a:prstGeom>
            <a:solidFill>
              <a:schemeClr val="lt1"/>
            </a:solidFill>
            <a:ln>
              <a:noFill/>
            </a:ln>
          </p:spPr>
          <p:txBody>
            <a:bodyPr anchorCtr="0" anchor="ctr" bIns="72000" lIns="0" spcFirstLastPara="1" rIns="0" wrap="square" tIns="72000">
              <a:noAutofit/>
            </a:bodyPr>
            <a:lstStyle/>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menu_extraction_array</a:t>
              </a:r>
              <a:endParaRPr b="0" i="0" sz="700" u="none" cap="none" strike="noStrike">
                <a:solidFill>
                  <a:schemeClr val="dk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2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Backup: which parameters matter most</a:t>
            </a:r>
            <a:endParaRPr/>
          </a:p>
        </p:txBody>
      </p:sp>
      <p:sp>
        <p:nvSpPr>
          <p:cNvPr id="1085" name="Google Shape;1085;p2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1086" name="Google Shape;1086;p2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087" name="Google Shape;1087;p2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088" name="Google Shape;1088;p27"/>
          <p:cNvSpPr txBox="1"/>
          <p:nvPr>
            <p:ph idx="12" type="sldNum"/>
          </p:nvPr>
        </p:nvSpPr>
        <p:spPr>
          <a:xfrm>
            <a:off x="12007338" y="6673964"/>
            <a:ext cx="10579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aphicFrame>
        <p:nvGraphicFramePr>
          <p:cNvPr id="1089" name="Google Shape;1089;p27"/>
          <p:cNvGraphicFramePr/>
          <p:nvPr/>
        </p:nvGraphicFramePr>
        <p:xfrm>
          <a:off x="263349" y="1665289"/>
          <a:ext cx="3000000" cy="3000000"/>
        </p:xfrm>
        <a:graphic>
          <a:graphicData uri="http://schemas.openxmlformats.org/drawingml/2006/table">
            <a:tbl>
              <a:tblPr bandRow="1" firstRow="1">
                <a:noFill/>
                <a:tableStyleId>{DEFAD970-CCD4-4778-8618-83184D9DF701}</a:tableStyleId>
              </a:tblPr>
              <a:tblGrid>
                <a:gridCol w="2412275"/>
                <a:gridCol w="4626425"/>
                <a:gridCol w="4626425"/>
              </a:tblGrid>
              <a:tr h="500050">
                <a:tc>
                  <a:txBody>
                    <a:bodyPr/>
                    <a:lstStyle/>
                    <a:p>
                      <a:pPr indent="0" lvl="0" marL="0" marR="0" rtl="0" algn="l">
                        <a:lnSpc>
                          <a:spcPct val="100000"/>
                        </a:lnSpc>
                        <a:spcBef>
                          <a:spcPts val="0"/>
                        </a:spcBef>
                        <a:spcAft>
                          <a:spcPts val="0"/>
                        </a:spcAft>
                        <a:buClr>
                          <a:srgbClr val="000000"/>
                        </a:buClr>
                        <a:buSzPts val="1000"/>
                        <a:buFont typeface="Arial"/>
                        <a:buNone/>
                      </a:pPr>
                      <a:r>
                        <a:rPr b="0" lang="en-US" u="none" cap="none" strike="noStrike">
                          <a:solidFill>
                            <a:schemeClr val="accent1"/>
                          </a:solidFill>
                          <a:latin typeface="Arial"/>
                          <a:ea typeface="Arial"/>
                          <a:cs typeface="Arial"/>
                          <a:sym typeface="Arial"/>
                        </a:rPr>
                        <a:t>Parameter</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u="none" cap="none" strike="noStrike">
                          <a:solidFill>
                            <a:schemeClr val="accent1"/>
                          </a:solidFill>
                          <a:latin typeface="Arial"/>
                          <a:ea typeface="Arial"/>
                          <a:cs typeface="Arial"/>
                          <a:sym typeface="Arial"/>
                        </a:rPr>
                        <a:t>Impact on output</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lang="en-US" u="none" cap="none" strike="noStrike">
                          <a:solidFill>
                            <a:schemeClr val="accent1"/>
                          </a:solidFill>
                          <a:latin typeface="Arial"/>
                          <a:ea typeface="Arial"/>
                          <a:cs typeface="Arial"/>
                          <a:sym typeface="Arial"/>
                        </a:rPr>
                        <a:t>How often it is tuned</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Model</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1"/>
                        </a:buClr>
                        <a:buSzPts val="1000"/>
                        <a:buFont typeface="Arial"/>
                        <a:buNone/>
                      </a:pPr>
                      <a:r>
                        <a:rPr b="0" i="0" lang="en-US" u="none" cap="none" strike="noStrike">
                          <a:solidFill>
                            <a:schemeClr val="accent1"/>
                          </a:solidFill>
                          <a:latin typeface="Arial"/>
                          <a:ea typeface="Arial"/>
                          <a:cs typeface="Arial"/>
                          <a:sym typeface="Arial"/>
                        </a:rPr>
                        <a:t>Very High</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quality, reasoning ability, latency, cost</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F2B9A6"/>
                        </a:buClr>
                        <a:buSzPts val="1000"/>
                        <a:buFont typeface="Arial"/>
                        <a:buNone/>
                      </a:pPr>
                      <a:r>
                        <a:rPr b="0" i="0" lang="en-US" u="none" cap="none" strike="noStrike">
                          <a:solidFill>
                            <a:srgbClr val="F2B9A6"/>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chosen per use-case, revisited as models improve</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Temperature</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EC967A"/>
                        </a:buClr>
                        <a:buSzPts val="1000"/>
                        <a:buFont typeface="Arial"/>
                        <a:buNone/>
                      </a:pPr>
                      <a:r>
                        <a:rPr lang="en-US" u="none" cap="none" strike="noStrike">
                          <a:solidFill>
                            <a:srgbClr val="EC967A"/>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creativity vs. determinism</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EC967A"/>
                        </a:buClr>
                        <a:buSzPts val="1000"/>
                        <a:buFont typeface="Arial"/>
                        <a:buNone/>
                      </a:pPr>
                      <a:r>
                        <a:rPr lang="en-US" u="none" cap="none" strike="noStrike">
                          <a:solidFill>
                            <a:srgbClr val="EC967A"/>
                          </a:solidFill>
                          <a:latin typeface="Arial"/>
                          <a:ea typeface="Arial"/>
                          <a:cs typeface="Arial"/>
                          <a:sym typeface="Arial"/>
                        </a:rPr>
                        <a:t>Low</a:t>
                      </a:r>
                      <a:br>
                        <a:rPr b="0" i="0" lang="en-US" u="none" cap="none" strike="noStrike">
                          <a:solidFill>
                            <a:schemeClr val="dk1"/>
                          </a:solidFill>
                          <a:latin typeface="Arial"/>
                          <a:ea typeface="Arial"/>
                          <a:cs typeface="Arial"/>
                          <a:sym typeface="Arial"/>
                        </a:rPr>
                      </a:br>
                      <a:r>
                        <a:rPr lang="en-US" u="none" cap="none" strike="noStrike">
                          <a:latin typeface="Arial"/>
                          <a:ea typeface="Arial"/>
                          <a:cs typeface="Arial"/>
                          <a:sym typeface="Arial"/>
                        </a:rPr>
                        <a:t>Sometimes</a:t>
                      </a:r>
                      <a:r>
                        <a:rPr b="0" i="0" lang="en-US" u="none" cap="none" strike="noStrike">
                          <a:solidFill>
                            <a:schemeClr val="dk1"/>
                          </a:solidFill>
                          <a:latin typeface="Arial"/>
                          <a:ea typeface="Arial"/>
                          <a:cs typeface="Arial"/>
                          <a:sym typeface="Arial"/>
                        </a:rPr>
                        <a:t> tuned for tone/precision</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Max Tokens</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EC967A"/>
                        </a:buClr>
                        <a:buSzPts val="1000"/>
                        <a:buFont typeface="Arial"/>
                        <a:buNone/>
                      </a:pPr>
                      <a:r>
                        <a:rPr b="0" i="0" lang="en-US" u="none" cap="none" strike="noStrike">
                          <a:solidFill>
                            <a:srgbClr val="EC967A"/>
                          </a:solidFill>
                          <a:latin typeface="Arial"/>
                          <a:ea typeface="Arial"/>
                          <a:cs typeface="Arial"/>
                          <a:sym typeface="Arial"/>
                        </a:rPr>
                        <a:t>High</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controls response length/detail</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F2B9A6"/>
                        </a:buClr>
                        <a:buSzPts val="1000"/>
                        <a:buFont typeface="Arial"/>
                        <a:buNone/>
                      </a:pPr>
                      <a:r>
                        <a:rPr b="0" i="0" lang="en-US" u="none" cap="none" strike="noStrike">
                          <a:solidFill>
                            <a:srgbClr val="F2B9A6"/>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tuned to balance depth vs. cost/time</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Response Format</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EC967A"/>
                        </a:buClr>
                        <a:buSzPts val="1000"/>
                        <a:buFont typeface="Arial"/>
                        <a:buNone/>
                      </a:pPr>
                      <a:r>
                        <a:rPr b="0" i="0" lang="en-US" u="none" cap="none" strike="noStrike">
                          <a:solidFill>
                            <a:srgbClr val="EC967A"/>
                          </a:solidFill>
                          <a:latin typeface="Arial"/>
                          <a:ea typeface="Arial"/>
                          <a:cs typeface="Arial"/>
                          <a:sym typeface="Arial"/>
                        </a:rPr>
                        <a:t>High</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dictates output structure (JSON/text)</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2"/>
                        </a:buClr>
                        <a:buSzPts val="1000"/>
                        <a:buFont typeface="Arial"/>
                        <a:buNone/>
                      </a:pPr>
                      <a:r>
                        <a:rPr b="0" i="0" lang="en-US" u="none" cap="none" strike="noStrike">
                          <a:solidFill>
                            <a:schemeClr val="dk2"/>
                          </a:solidFill>
                          <a:latin typeface="Arial"/>
                          <a:ea typeface="Arial"/>
                          <a:cs typeface="Arial"/>
                          <a:sym typeface="Arial"/>
                        </a:rPr>
                        <a:t>Low</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fixed per use case</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History</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EC967A"/>
                        </a:buClr>
                        <a:buSzPts val="1000"/>
                        <a:buFont typeface="Arial"/>
                        <a:buNone/>
                      </a:pPr>
                      <a:r>
                        <a:rPr b="0" i="0" lang="en-US" u="none" cap="none" strike="noStrike">
                          <a:solidFill>
                            <a:srgbClr val="EC967A"/>
                          </a:solidFill>
                          <a:latin typeface="Arial"/>
                          <a:ea typeface="Arial"/>
                          <a:cs typeface="Arial"/>
                          <a:sym typeface="Arial"/>
                        </a:rPr>
                        <a:t>High</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governs use of prior turns/context</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2"/>
                        </a:buClr>
                        <a:buSzPts val="1000"/>
                        <a:buFont typeface="Arial"/>
                        <a:buNone/>
                      </a:pPr>
                      <a:r>
                        <a:rPr b="0" i="0" lang="en-US" u="none" cap="none" strike="noStrike">
                          <a:solidFill>
                            <a:schemeClr val="dk2"/>
                          </a:solidFill>
                          <a:latin typeface="Arial"/>
                          <a:ea typeface="Arial"/>
                          <a:cs typeface="Arial"/>
                          <a:sym typeface="Arial"/>
                        </a:rPr>
                        <a:t>Low</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depends on task (on/off)</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Top P / K</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F2B9A6"/>
                        </a:buClr>
                        <a:buSzPts val="1000"/>
                        <a:buFont typeface="Arial"/>
                        <a:buNone/>
                      </a:pPr>
                      <a:r>
                        <a:rPr b="0" i="0" lang="en-US" u="none" cap="none" strike="noStrike">
                          <a:solidFill>
                            <a:srgbClr val="F2B9A6"/>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balance output diversity and focus</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F2B9A6"/>
                        </a:buClr>
                        <a:buSzPts val="1000"/>
                        <a:buFont typeface="Arial"/>
                        <a:buNone/>
                      </a:pPr>
                      <a:r>
                        <a:rPr lang="en-US" u="none" cap="none" strike="noStrike">
                          <a:solidFill>
                            <a:srgbClr val="F2B9A6"/>
                          </a:solidFill>
                          <a:latin typeface="Arial"/>
                          <a:ea typeface="Arial"/>
                          <a:cs typeface="Arial"/>
                          <a:sym typeface="Arial"/>
                        </a:rPr>
                        <a:t>Low</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tuned together with temperature for precision or creativity</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b="0" i="0" lang="en-US" u="none" cap="none" strike="noStrike">
                          <a:solidFill>
                            <a:schemeClr val="dk1"/>
                          </a:solidFill>
                          <a:latin typeface="Arial"/>
                          <a:ea typeface="Arial"/>
                          <a:cs typeface="Arial"/>
                          <a:sym typeface="Arial"/>
                        </a:rPr>
                        <a:t>Frequency / Presence Penalty</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F2B9A6"/>
                        </a:buClr>
                        <a:buSzPts val="1000"/>
                        <a:buFont typeface="Arial"/>
                        <a:buNone/>
                      </a:pPr>
                      <a:r>
                        <a:rPr b="0" i="0" lang="en-US" u="none" cap="none" strike="noStrike">
                          <a:solidFill>
                            <a:srgbClr val="F2B9A6"/>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adjusts repetition and topic variety for more natural or diverse output</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2"/>
                        </a:buClr>
                        <a:buSzPts val="1000"/>
                        <a:buFont typeface="Arial"/>
                        <a:buNone/>
                      </a:pPr>
                      <a:r>
                        <a:rPr b="0" i="0" lang="en-US" u="none" cap="none" strike="noStrike">
                          <a:solidFill>
                            <a:schemeClr val="dk2"/>
                          </a:solidFill>
                          <a:latin typeface="Arial"/>
                          <a:ea typeface="Arial"/>
                          <a:cs typeface="Arial"/>
                          <a:sym typeface="Arial"/>
                        </a:rPr>
                        <a:t>Low</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fine-tuned only for creative or conversational use cases</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r h="500050">
                <a:tc>
                  <a:txBody>
                    <a:bodyPr/>
                    <a:lstStyle/>
                    <a:p>
                      <a:pPr indent="0" lvl="0" marL="0" marR="0" rtl="0" algn="l">
                        <a:lnSpc>
                          <a:spcPct val="100000"/>
                        </a:lnSpc>
                        <a:spcBef>
                          <a:spcPts val="0"/>
                        </a:spcBef>
                        <a:spcAft>
                          <a:spcPts val="0"/>
                        </a:spcAft>
                        <a:buClr>
                          <a:schemeClr val="dk1"/>
                        </a:buClr>
                        <a:buSzPts val="1000"/>
                        <a:buFont typeface="Arial"/>
                        <a:buNone/>
                      </a:pPr>
                      <a:r>
                        <a:rPr lang="en-US" u="none" cap="none" strike="noStrike">
                          <a:latin typeface="Arial"/>
                          <a:ea typeface="Arial"/>
                          <a:cs typeface="Arial"/>
                          <a:sym typeface="Arial"/>
                        </a:rPr>
                        <a:t>Reasoning Budget/Level</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2"/>
                        </a:buClr>
                        <a:buSzPts val="1000"/>
                        <a:buFont typeface="Arial"/>
                        <a:buNone/>
                      </a:pPr>
                      <a:r>
                        <a:rPr lang="en-US" u="none" cap="none" strike="noStrike">
                          <a:solidFill>
                            <a:srgbClr val="F2B9A6"/>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caps context/compute used in a run</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2"/>
                        </a:buClr>
                        <a:buSzPts val="1000"/>
                        <a:buFont typeface="Arial"/>
                        <a:buNone/>
                      </a:pPr>
                      <a:r>
                        <a:rPr lang="en-US" u="none" cap="none" strike="noStrike">
                          <a:solidFill>
                            <a:schemeClr val="dk2"/>
                          </a:solidFill>
                          <a:latin typeface="Arial"/>
                          <a:ea typeface="Arial"/>
                          <a:cs typeface="Arial"/>
                          <a:sym typeface="Arial"/>
                        </a:rPr>
                        <a:t>Medium</a:t>
                      </a:r>
                      <a:br>
                        <a:rPr b="0" i="0" lang="en-US" u="none" cap="none" strike="noStrike">
                          <a:solidFill>
                            <a:schemeClr val="dk1"/>
                          </a:solidFill>
                          <a:latin typeface="Arial"/>
                          <a:ea typeface="Arial"/>
                          <a:cs typeface="Arial"/>
                          <a:sym typeface="Arial"/>
                        </a:rPr>
                      </a:br>
                      <a:r>
                        <a:rPr lang="en-US" u="none" cap="none" strike="noStrike">
                          <a:latin typeface="Arial"/>
                          <a:ea typeface="Arial"/>
                          <a:cs typeface="Arial"/>
                          <a:sym typeface="Arial"/>
                        </a:rPr>
                        <a:t>Low, Medium, High, xHigh, Ultrahigh, very high, etc. or a specific token nr (e.g. 5k).</a:t>
                      </a:r>
                      <a:endParaRPr sz="1800" u="none" cap="none" strike="noStrike"/>
                    </a:p>
                  </a:txBody>
                  <a:tcPr marT="36000" marB="36000" marR="108000" marL="108000" anchor="ctr">
                    <a:lnL cap="flat" cmpd="sng" w="12700">
                      <a:solidFill>
                        <a:srgbClr val="E7E7E7"/>
                      </a:solidFill>
                      <a:prstDash val="solid"/>
                      <a:round/>
                      <a:headEnd len="sm" w="sm" type="none"/>
                      <a:tailEnd len="sm" w="sm" type="none"/>
                    </a:lnL>
                    <a:lnR cap="flat" cmpd="sng" w="12700">
                      <a:solidFill>
                        <a:srgbClr val="E7E7E7"/>
                      </a:solidFill>
                      <a:prstDash val="solid"/>
                      <a:round/>
                      <a:headEnd len="sm" w="sm" type="none"/>
                      <a:tailEnd len="sm" w="sm" type="none"/>
                    </a:lnR>
                    <a:lnT cap="flat" cmpd="sng" w="12700">
                      <a:solidFill>
                        <a:srgbClr val="E7E7E7"/>
                      </a:solidFill>
                      <a:prstDash val="solid"/>
                      <a:round/>
                      <a:headEnd len="sm" w="sm" type="none"/>
                      <a:tailEnd len="sm" w="sm" type="none"/>
                    </a:lnT>
                    <a:lnB cap="flat" cmpd="sng" w="12700">
                      <a:solidFill>
                        <a:srgbClr val="E7E7E7"/>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28"/>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Coffee Break</a:t>
            </a:r>
            <a:br>
              <a:rPr lang="en-US"/>
            </a:br>
            <a:r>
              <a:rPr lang="en-US"/>
              <a:t>15 min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4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Examples of use cases</a:t>
            </a:r>
            <a:endParaRPr/>
          </a:p>
        </p:txBody>
      </p:sp>
      <p:sp>
        <p:nvSpPr>
          <p:cNvPr id="1102" name="Google Shape;1102;p4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103" name="Google Shape;1103;p4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104" name="Google Shape;1104;p49"/>
          <p:cNvSpPr txBox="1"/>
          <p:nvPr>
            <p:ph idx="12" type="sldNum"/>
          </p:nvPr>
        </p:nvSpPr>
        <p:spPr>
          <a:xfrm>
            <a:off x="12012948" y="6673964"/>
            <a:ext cx="9457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105" name="Google Shape;1105;p49"/>
          <p:cNvPicPr preferRelativeResize="0"/>
          <p:nvPr/>
        </p:nvPicPr>
        <p:blipFill rotWithShape="1">
          <a:blip r:embed="rId3">
            <a:alphaModFix/>
          </a:blip>
          <a:srcRect b="0" l="0" r="0" t="0"/>
          <a:stretch/>
        </p:blipFill>
        <p:spPr>
          <a:xfrm>
            <a:off x="263525" y="260350"/>
            <a:ext cx="3987692" cy="216000"/>
          </a:xfrm>
          <a:prstGeom prst="rect">
            <a:avLst/>
          </a:prstGeom>
          <a:noFill/>
          <a:ln>
            <a:noFill/>
          </a:ln>
        </p:spPr>
      </p:pic>
      <p:sp>
        <p:nvSpPr>
          <p:cNvPr id="1106" name="Google Shape;1106;p49"/>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Automated Reporting</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in Knowledge base</a:t>
            </a:r>
            <a:endParaRPr b="0" i="0" sz="1200" u="none" cap="none" strike="noStrike">
              <a:solidFill>
                <a:schemeClr val="dk1"/>
              </a:solidFill>
              <a:latin typeface="Arial"/>
              <a:ea typeface="Arial"/>
              <a:cs typeface="Arial"/>
              <a:sym typeface="Arial"/>
            </a:endParaRPr>
          </a:p>
        </p:txBody>
      </p:sp>
      <p:sp>
        <p:nvSpPr>
          <p:cNvPr id="1107" name="Google Shape;1107;p49"/>
          <p:cNvSpPr/>
          <p:nvPr/>
        </p:nvSpPr>
        <p:spPr>
          <a:xfrm>
            <a:off x="6329437" y="3068960"/>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108" name="Google Shape;1108;p49"/>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Frequently Asked</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Questions Chatbot</a:t>
            </a:r>
            <a:endParaRPr b="0" i="0" sz="1200" u="none" cap="none" strike="noStrike">
              <a:solidFill>
                <a:schemeClr val="dk1"/>
              </a:solidFill>
              <a:latin typeface="Arial"/>
              <a:ea typeface="Arial"/>
              <a:cs typeface="Arial"/>
              <a:sym typeface="Arial"/>
            </a:endParaRPr>
          </a:p>
        </p:txBody>
      </p:sp>
      <p:sp>
        <p:nvSpPr>
          <p:cNvPr id="1109" name="Google Shape;1109;p49"/>
          <p:cNvSpPr/>
          <p:nvPr/>
        </p:nvSpPr>
        <p:spPr>
          <a:xfrm>
            <a:off x="433848" y="3068960"/>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110" name="Google Shape;1110;p49"/>
          <p:cNvSpPr txBox="1"/>
          <p:nvPr/>
        </p:nvSpPr>
        <p:spPr>
          <a:xfrm>
            <a:off x="7023037" y="3068960"/>
            <a:ext cx="4617579" cy="6001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Goal:</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Automatically generate standardized client reports based on meeting transcripts or daily notes</a:t>
            </a:r>
            <a:endParaRPr b="0" i="0" sz="1400" u="none" cap="none" strike="noStrike">
              <a:solidFill>
                <a:srgbClr val="000000"/>
              </a:solidFill>
              <a:latin typeface="Arial"/>
              <a:ea typeface="Arial"/>
              <a:cs typeface="Arial"/>
              <a:sym typeface="Arial"/>
            </a:endParaRPr>
          </a:p>
        </p:txBody>
      </p:sp>
      <p:sp>
        <p:nvSpPr>
          <p:cNvPr id="1111" name="Google Shape;1111;p49"/>
          <p:cNvSpPr txBox="1"/>
          <p:nvPr/>
        </p:nvSpPr>
        <p:spPr>
          <a:xfrm>
            <a:off x="1127448" y="3068960"/>
            <a:ext cx="4617579" cy="7848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Goal: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Create a chatbot that can answer recurring customer questions using your internal documentation and knowledge base</a:t>
            </a:r>
            <a:endParaRPr b="0" i="0" sz="1400" u="none" cap="none" strike="noStrike">
              <a:solidFill>
                <a:srgbClr val="000000"/>
              </a:solidFill>
              <a:latin typeface="Arial"/>
              <a:ea typeface="Arial"/>
              <a:cs typeface="Arial"/>
              <a:sym typeface="Arial"/>
            </a:endParaRPr>
          </a:p>
        </p:txBody>
      </p:sp>
      <p:sp>
        <p:nvSpPr>
          <p:cNvPr id="1112" name="Google Shape;1112;p49"/>
          <p:cNvSpPr txBox="1"/>
          <p:nvPr/>
        </p:nvSpPr>
        <p:spPr>
          <a:xfrm>
            <a:off x="6338501" y="4113076"/>
            <a:ext cx="541058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Steps:</a:t>
            </a:r>
            <a:endParaRPr b="0" i="0" sz="1400" u="none" cap="none" strike="noStrike">
              <a:solidFill>
                <a:srgbClr val="000000"/>
              </a:solidFill>
              <a:latin typeface="Arial"/>
              <a:ea typeface="Arial"/>
              <a:cs typeface="Arial"/>
              <a:sym typeface="Arial"/>
            </a:endParaRPr>
          </a:p>
        </p:txBody>
      </p:sp>
      <p:sp>
        <p:nvSpPr>
          <p:cNvPr id="1113" name="Google Shape;1113;p49"/>
          <p:cNvSpPr txBox="1"/>
          <p:nvPr/>
        </p:nvSpPr>
        <p:spPr>
          <a:xfrm>
            <a:off x="442912" y="4113076"/>
            <a:ext cx="5410588" cy="1538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Steps:</a:t>
            </a:r>
            <a:endParaRPr b="0" i="0" sz="1400" u="none" cap="none" strike="noStrike">
              <a:solidFill>
                <a:srgbClr val="000000"/>
              </a:solidFill>
              <a:latin typeface="Arial"/>
              <a:ea typeface="Arial"/>
              <a:cs typeface="Arial"/>
              <a:sym typeface="Arial"/>
            </a:endParaRPr>
          </a:p>
        </p:txBody>
      </p:sp>
      <p:pic>
        <p:nvPicPr>
          <p:cNvPr id="1114" name="Google Shape;1114;p49"/>
          <p:cNvPicPr preferRelativeResize="0"/>
          <p:nvPr/>
        </p:nvPicPr>
        <p:blipFill rotWithShape="1">
          <a:blip r:embed="rId4">
            <a:alphaModFix/>
          </a:blip>
          <a:srcRect b="0" l="0" r="0" t="0"/>
          <a:stretch/>
        </p:blipFill>
        <p:spPr>
          <a:xfrm>
            <a:off x="559848" y="3194960"/>
            <a:ext cx="252000" cy="252000"/>
          </a:xfrm>
          <a:prstGeom prst="rect">
            <a:avLst/>
          </a:prstGeom>
          <a:noFill/>
          <a:ln>
            <a:noFill/>
          </a:ln>
        </p:spPr>
      </p:pic>
      <p:pic>
        <p:nvPicPr>
          <p:cNvPr id="1115" name="Google Shape;1115;p49"/>
          <p:cNvPicPr preferRelativeResize="0"/>
          <p:nvPr/>
        </p:nvPicPr>
        <p:blipFill rotWithShape="1">
          <a:blip r:embed="rId4">
            <a:alphaModFix/>
          </a:blip>
          <a:srcRect b="0" l="0" r="0" t="0"/>
          <a:stretch/>
        </p:blipFill>
        <p:spPr>
          <a:xfrm>
            <a:off x="6455437" y="3194960"/>
            <a:ext cx="252000" cy="252000"/>
          </a:xfrm>
          <a:prstGeom prst="rect">
            <a:avLst/>
          </a:prstGeom>
          <a:noFill/>
          <a:ln>
            <a:noFill/>
          </a:ln>
        </p:spPr>
      </p:pic>
      <p:pic>
        <p:nvPicPr>
          <p:cNvPr id="1116" name="Google Shape;1116;p49"/>
          <p:cNvPicPr preferRelativeResize="0"/>
          <p:nvPr/>
        </p:nvPicPr>
        <p:blipFill rotWithShape="1">
          <a:blip r:embed="rId5">
            <a:alphaModFix/>
          </a:blip>
          <a:srcRect b="0" l="0" r="0" t="0"/>
          <a:stretch/>
        </p:blipFill>
        <p:spPr>
          <a:xfrm>
            <a:off x="1144417" y="4782029"/>
            <a:ext cx="252000" cy="252000"/>
          </a:xfrm>
          <a:prstGeom prst="rect">
            <a:avLst/>
          </a:prstGeom>
          <a:noFill/>
          <a:ln>
            <a:noFill/>
          </a:ln>
        </p:spPr>
      </p:pic>
      <p:sp>
        <p:nvSpPr>
          <p:cNvPr id="1117" name="Google Shape;1117;p49"/>
          <p:cNvSpPr txBox="1"/>
          <p:nvPr/>
        </p:nvSpPr>
        <p:spPr>
          <a:xfrm>
            <a:off x="433847" y="5246620"/>
            <a:ext cx="1673141"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Upload your</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internal files to the knowledge base</a:t>
            </a:r>
            <a:endParaRPr b="0" i="0" sz="1400" u="none" cap="none" strike="noStrike">
              <a:solidFill>
                <a:srgbClr val="000000"/>
              </a:solidFill>
              <a:latin typeface="Arial"/>
              <a:ea typeface="Arial"/>
              <a:cs typeface="Arial"/>
              <a:sym typeface="Arial"/>
            </a:endParaRPr>
          </a:p>
        </p:txBody>
      </p:sp>
      <p:sp>
        <p:nvSpPr>
          <p:cNvPr id="1118" name="Google Shape;1118;p49"/>
          <p:cNvSpPr txBox="1"/>
          <p:nvPr/>
        </p:nvSpPr>
        <p:spPr>
          <a:xfrm>
            <a:off x="2277311" y="5246620"/>
            <a:ext cx="1673141" cy="73866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Write a prompt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that defines how</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model should</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answer a question</a:t>
            </a:r>
            <a:endParaRPr b="0" i="0" sz="1400" u="none" cap="none" strike="noStrike">
              <a:solidFill>
                <a:srgbClr val="000000"/>
              </a:solidFill>
              <a:latin typeface="Arial"/>
              <a:ea typeface="Arial"/>
              <a:cs typeface="Arial"/>
              <a:sym typeface="Arial"/>
            </a:endParaRPr>
          </a:p>
        </p:txBody>
      </p:sp>
      <p:sp>
        <p:nvSpPr>
          <p:cNvPr id="1119" name="Google Shape;1119;p49"/>
          <p:cNvSpPr txBox="1"/>
          <p:nvPr/>
        </p:nvSpPr>
        <p:spPr>
          <a:xfrm>
            <a:off x="4120774" y="5246620"/>
            <a:ext cx="1673141"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Add your knowledge base to the chatbot configuration</a:t>
            </a:r>
            <a:endParaRPr b="0" i="0" sz="1400" u="none" cap="none" strike="noStrike">
              <a:solidFill>
                <a:srgbClr val="000000"/>
              </a:solidFill>
              <a:latin typeface="Arial"/>
              <a:ea typeface="Arial"/>
              <a:cs typeface="Arial"/>
              <a:sym typeface="Arial"/>
            </a:endParaRPr>
          </a:p>
        </p:txBody>
      </p:sp>
      <p:pic>
        <p:nvPicPr>
          <p:cNvPr id="1120" name="Google Shape;1120;p49"/>
          <p:cNvPicPr preferRelativeResize="0"/>
          <p:nvPr/>
        </p:nvPicPr>
        <p:blipFill rotWithShape="1">
          <a:blip r:embed="rId5">
            <a:alphaModFix/>
          </a:blip>
          <a:srcRect b="0" l="0" r="0" t="0"/>
          <a:stretch/>
        </p:blipFill>
        <p:spPr>
          <a:xfrm>
            <a:off x="2987881" y="4782029"/>
            <a:ext cx="252000" cy="252000"/>
          </a:xfrm>
          <a:prstGeom prst="rect">
            <a:avLst/>
          </a:prstGeom>
          <a:noFill/>
          <a:ln>
            <a:noFill/>
          </a:ln>
        </p:spPr>
      </p:pic>
      <p:pic>
        <p:nvPicPr>
          <p:cNvPr id="1121" name="Google Shape;1121;p49"/>
          <p:cNvPicPr preferRelativeResize="0"/>
          <p:nvPr/>
        </p:nvPicPr>
        <p:blipFill rotWithShape="1">
          <a:blip r:embed="rId5">
            <a:alphaModFix/>
          </a:blip>
          <a:srcRect b="0" l="0" r="0" t="0"/>
          <a:stretch/>
        </p:blipFill>
        <p:spPr>
          <a:xfrm>
            <a:off x="4831344" y="4782029"/>
            <a:ext cx="252000" cy="252000"/>
          </a:xfrm>
          <a:prstGeom prst="rect">
            <a:avLst/>
          </a:prstGeom>
          <a:noFill/>
          <a:ln>
            <a:noFill/>
          </a:ln>
        </p:spPr>
      </p:pic>
      <p:pic>
        <p:nvPicPr>
          <p:cNvPr id="1122" name="Google Shape;1122;p49"/>
          <p:cNvPicPr preferRelativeResize="0"/>
          <p:nvPr/>
        </p:nvPicPr>
        <p:blipFill rotWithShape="1">
          <a:blip r:embed="rId5">
            <a:alphaModFix/>
          </a:blip>
          <a:srcRect b="0" l="0" r="0" t="0"/>
          <a:stretch/>
        </p:blipFill>
        <p:spPr>
          <a:xfrm>
            <a:off x="7108655" y="4782029"/>
            <a:ext cx="252000" cy="252000"/>
          </a:xfrm>
          <a:prstGeom prst="rect">
            <a:avLst/>
          </a:prstGeom>
          <a:noFill/>
          <a:ln>
            <a:noFill/>
          </a:ln>
        </p:spPr>
      </p:pic>
      <p:sp>
        <p:nvSpPr>
          <p:cNvPr id="1123" name="Google Shape;1123;p49"/>
          <p:cNvSpPr txBox="1"/>
          <p:nvPr/>
        </p:nvSpPr>
        <p:spPr>
          <a:xfrm>
            <a:off x="6398085" y="5246620"/>
            <a:ext cx="1673141"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Write a prompt that generates reports in your preferred format</a:t>
            </a:r>
            <a:endParaRPr b="0" i="0" sz="1400" u="none" cap="none" strike="noStrike">
              <a:solidFill>
                <a:srgbClr val="000000"/>
              </a:solidFill>
              <a:latin typeface="Arial"/>
              <a:ea typeface="Arial"/>
              <a:cs typeface="Arial"/>
              <a:sym typeface="Arial"/>
            </a:endParaRPr>
          </a:p>
        </p:txBody>
      </p:sp>
      <p:sp>
        <p:nvSpPr>
          <p:cNvPr id="1124" name="Google Shape;1124;p49"/>
          <p:cNvSpPr txBox="1"/>
          <p:nvPr/>
        </p:nvSpPr>
        <p:spPr>
          <a:xfrm>
            <a:off x="8241549" y="5246620"/>
            <a:ext cx="1673141"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Create a variable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for the transcript input</a:t>
            </a:r>
            <a:endParaRPr b="0" i="0" sz="1400" u="none" cap="none" strike="noStrike">
              <a:solidFill>
                <a:srgbClr val="000000"/>
              </a:solidFill>
              <a:latin typeface="Arial"/>
              <a:ea typeface="Arial"/>
              <a:cs typeface="Arial"/>
              <a:sym typeface="Arial"/>
            </a:endParaRPr>
          </a:p>
        </p:txBody>
      </p:sp>
      <p:sp>
        <p:nvSpPr>
          <p:cNvPr id="1125" name="Google Shape;1125;p49"/>
          <p:cNvSpPr txBox="1"/>
          <p:nvPr/>
        </p:nvSpPr>
        <p:spPr>
          <a:xfrm>
            <a:off x="10085012" y="5246620"/>
            <a:ext cx="1673141"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Upload the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transcript to the variable</a:t>
            </a:r>
            <a:endParaRPr b="0" i="0" sz="1400" u="none" cap="none" strike="noStrike">
              <a:solidFill>
                <a:srgbClr val="000000"/>
              </a:solidFill>
              <a:latin typeface="Arial"/>
              <a:ea typeface="Arial"/>
              <a:cs typeface="Arial"/>
              <a:sym typeface="Arial"/>
            </a:endParaRPr>
          </a:p>
        </p:txBody>
      </p:sp>
      <p:pic>
        <p:nvPicPr>
          <p:cNvPr id="1126" name="Google Shape;1126;p49"/>
          <p:cNvPicPr preferRelativeResize="0"/>
          <p:nvPr/>
        </p:nvPicPr>
        <p:blipFill rotWithShape="1">
          <a:blip r:embed="rId5">
            <a:alphaModFix/>
          </a:blip>
          <a:srcRect b="0" l="0" r="0" t="0"/>
          <a:stretch/>
        </p:blipFill>
        <p:spPr>
          <a:xfrm>
            <a:off x="8952119" y="4782029"/>
            <a:ext cx="252000" cy="252000"/>
          </a:xfrm>
          <a:prstGeom prst="rect">
            <a:avLst/>
          </a:prstGeom>
          <a:noFill/>
          <a:ln>
            <a:noFill/>
          </a:ln>
        </p:spPr>
      </p:pic>
      <p:pic>
        <p:nvPicPr>
          <p:cNvPr id="1127" name="Google Shape;1127;p49"/>
          <p:cNvPicPr preferRelativeResize="0"/>
          <p:nvPr/>
        </p:nvPicPr>
        <p:blipFill rotWithShape="1">
          <a:blip r:embed="rId5">
            <a:alphaModFix/>
          </a:blip>
          <a:srcRect b="0" l="0" r="0" t="0"/>
          <a:stretch/>
        </p:blipFill>
        <p:spPr>
          <a:xfrm>
            <a:off x="10795582" y="4782029"/>
            <a:ext cx="252000" cy="252000"/>
          </a:xfrm>
          <a:prstGeom prst="rect">
            <a:avLst/>
          </a:prstGeom>
          <a:noFill/>
          <a:ln>
            <a:noFill/>
          </a:ln>
        </p:spPr>
      </p:pic>
      <p:grpSp>
        <p:nvGrpSpPr>
          <p:cNvPr id="1128" name="Google Shape;1128;p49"/>
          <p:cNvGrpSpPr/>
          <p:nvPr/>
        </p:nvGrpSpPr>
        <p:grpSpPr>
          <a:xfrm>
            <a:off x="433847" y="4473116"/>
            <a:ext cx="5360068" cy="76200"/>
            <a:chOff x="433847" y="4545124"/>
            <a:chExt cx="5360068" cy="76200"/>
          </a:xfrm>
        </p:grpSpPr>
        <p:cxnSp>
          <p:nvCxnSpPr>
            <p:cNvPr id="1129" name="Google Shape;1129;p49"/>
            <p:cNvCxnSpPr/>
            <p:nvPr/>
          </p:nvCxnSpPr>
          <p:spPr>
            <a:xfrm>
              <a:off x="433847" y="4583224"/>
              <a:ext cx="5360068" cy="0"/>
            </a:xfrm>
            <a:prstGeom prst="straightConnector1">
              <a:avLst/>
            </a:prstGeom>
            <a:noFill/>
            <a:ln cap="flat" cmpd="sng" w="12700">
              <a:solidFill>
                <a:schemeClr val="dk1">
                  <a:alpha val="10196"/>
                </a:schemeClr>
              </a:solidFill>
              <a:prstDash val="solid"/>
              <a:miter lim="80"/>
              <a:headEnd len="sm" w="sm" type="none"/>
              <a:tailEnd len="med" w="med" type="triangle"/>
            </a:ln>
          </p:spPr>
        </p:cxnSp>
        <p:sp>
          <p:nvSpPr>
            <p:cNvPr id="1130" name="Google Shape;1130;p49"/>
            <p:cNvSpPr/>
            <p:nvPr/>
          </p:nvSpPr>
          <p:spPr>
            <a:xfrm>
              <a:off x="1232317" y="4545124"/>
              <a:ext cx="76200" cy="76200"/>
            </a:xfrm>
            <a:prstGeom prst="ellipse">
              <a:avLst/>
            </a:prstGeom>
            <a:solidFill>
              <a:schemeClr val="lt1"/>
            </a:solidFill>
            <a:ln cap="flat" cmpd="sng" w="12700">
              <a:solidFill>
                <a:schemeClr val="dk1">
                  <a:alpha val="10196"/>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1" name="Google Shape;1131;p49"/>
            <p:cNvSpPr/>
            <p:nvPr/>
          </p:nvSpPr>
          <p:spPr>
            <a:xfrm>
              <a:off x="4919244" y="4545124"/>
              <a:ext cx="76200" cy="76200"/>
            </a:xfrm>
            <a:prstGeom prst="ellipse">
              <a:avLst/>
            </a:prstGeom>
            <a:solidFill>
              <a:schemeClr val="lt1"/>
            </a:solidFill>
            <a:ln cap="flat" cmpd="sng" w="12700">
              <a:solidFill>
                <a:schemeClr val="dk1">
                  <a:alpha val="10196"/>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2" name="Google Shape;1132;p49"/>
            <p:cNvSpPr/>
            <p:nvPr/>
          </p:nvSpPr>
          <p:spPr>
            <a:xfrm>
              <a:off x="3075781" y="4545124"/>
              <a:ext cx="76200" cy="76200"/>
            </a:xfrm>
            <a:prstGeom prst="ellipse">
              <a:avLst/>
            </a:prstGeom>
            <a:solidFill>
              <a:schemeClr val="lt1"/>
            </a:solidFill>
            <a:ln cap="flat" cmpd="sng" w="12700">
              <a:solidFill>
                <a:schemeClr val="dk1">
                  <a:alpha val="10196"/>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133" name="Google Shape;1133;p49"/>
          <p:cNvGrpSpPr/>
          <p:nvPr/>
        </p:nvGrpSpPr>
        <p:grpSpPr>
          <a:xfrm>
            <a:off x="6363760" y="4473116"/>
            <a:ext cx="5360068" cy="76200"/>
            <a:chOff x="433847" y="4545124"/>
            <a:chExt cx="5360068" cy="76200"/>
          </a:xfrm>
        </p:grpSpPr>
        <p:cxnSp>
          <p:nvCxnSpPr>
            <p:cNvPr id="1134" name="Google Shape;1134;p49"/>
            <p:cNvCxnSpPr/>
            <p:nvPr/>
          </p:nvCxnSpPr>
          <p:spPr>
            <a:xfrm>
              <a:off x="433847" y="4583224"/>
              <a:ext cx="5360068" cy="0"/>
            </a:xfrm>
            <a:prstGeom prst="straightConnector1">
              <a:avLst/>
            </a:prstGeom>
            <a:noFill/>
            <a:ln cap="flat" cmpd="sng" w="12700">
              <a:solidFill>
                <a:schemeClr val="dk1">
                  <a:alpha val="10196"/>
                </a:schemeClr>
              </a:solidFill>
              <a:prstDash val="solid"/>
              <a:miter lim="80"/>
              <a:headEnd len="sm" w="sm" type="none"/>
              <a:tailEnd len="med" w="med" type="triangle"/>
            </a:ln>
          </p:spPr>
        </p:cxnSp>
        <p:sp>
          <p:nvSpPr>
            <p:cNvPr id="1135" name="Google Shape;1135;p49"/>
            <p:cNvSpPr/>
            <p:nvPr/>
          </p:nvSpPr>
          <p:spPr>
            <a:xfrm>
              <a:off x="1232317" y="4545124"/>
              <a:ext cx="76200" cy="76200"/>
            </a:xfrm>
            <a:prstGeom prst="ellipse">
              <a:avLst/>
            </a:prstGeom>
            <a:solidFill>
              <a:schemeClr val="lt1"/>
            </a:solidFill>
            <a:ln cap="flat" cmpd="sng" w="12700">
              <a:solidFill>
                <a:schemeClr val="dk1">
                  <a:alpha val="10196"/>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6" name="Google Shape;1136;p49"/>
            <p:cNvSpPr/>
            <p:nvPr/>
          </p:nvSpPr>
          <p:spPr>
            <a:xfrm>
              <a:off x="4919244" y="4545124"/>
              <a:ext cx="76200" cy="76200"/>
            </a:xfrm>
            <a:prstGeom prst="ellipse">
              <a:avLst/>
            </a:prstGeom>
            <a:solidFill>
              <a:schemeClr val="lt1"/>
            </a:solidFill>
            <a:ln cap="flat" cmpd="sng" w="12700">
              <a:solidFill>
                <a:schemeClr val="dk1">
                  <a:alpha val="10196"/>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7" name="Google Shape;1137;p49"/>
            <p:cNvSpPr/>
            <p:nvPr/>
          </p:nvSpPr>
          <p:spPr>
            <a:xfrm>
              <a:off x="3075781" y="4545124"/>
              <a:ext cx="76200" cy="76200"/>
            </a:xfrm>
            <a:prstGeom prst="ellipse">
              <a:avLst/>
            </a:prstGeom>
            <a:solidFill>
              <a:schemeClr val="lt1"/>
            </a:solidFill>
            <a:ln cap="flat" cmpd="sng" w="12700">
              <a:solidFill>
                <a:schemeClr val="dk1">
                  <a:alpha val="10196"/>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2" name="Shape 1142"/>
        <p:cNvGrpSpPr/>
        <p:nvPr/>
      </p:nvGrpSpPr>
      <p:grpSpPr>
        <a:xfrm>
          <a:off x="0" y="0"/>
          <a:ext cx="0" cy="0"/>
          <a:chOff x="0" y="0"/>
          <a:chExt cx="0" cy="0"/>
        </a:xfrm>
      </p:grpSpPr>
      <p:sp>
        <p:nvSpPr>
          <p:cNvPr id="1143" name="Google Shape;1143;p50"/>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2: Build</a:t>
            </a:r>
            <a:endParaRPr/>
          </a:p>
        </p:txBody>
      </p:sp>
      <p:sp>
        <p:nvSpPr>
          <p:cNvPr id="1144" name="Google Shape;1144;p5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1145" name="Google Shape;1145;p5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146" name="Google Shape;1146;p5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147" name="Google Shape;1147;p5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1148" name="Google Shape;1148;p50"/>
          <p:cNvGrpSpPr/>
          <p:nvPr/>
        </p:nvGrpSpPr>
        <p:grpSpPr>
          <a:xfrm>
            <a:off x="263352" y="3719207"/>
            <a:ext cx="11665296" cy="404488"/>
            <a:chOff x="385750" y="3723383"/>
            <a:chExt cx="11420499" cy="396000"/>
          </a:xfrm>
        </p:grpSpPr>
        <p:sp>
          <p:nvSpPr>
            <p:cNvPr id="1149" name="Google Shape;1149;p50"/>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50" name="Google Shape;1150;p50"/>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151" name="Google Shape;1151;p50"/>
            <p:cNvCxnSpPr>
              <a:stCxn id="1150" idx="0"/>
              <a:endCxn id="1149" idx="0"/>
            </p:cNvCxnSpPr>
            <p:nvPr/>
          </p:nvCxnSpPr>
          <p:spPr>
            <a:xfrm rot="5400000">
              <a:off x="6082028" y="-1005067"/>
              <a:ext cx="600" cy="9457500"/>
            </a:xfrm>
            <a:prstGeom prst="bentConnector3">
              <a:avLst>
                <a:gd fmla="val -171063695" name="adj1"/>
              </a:avLst>
            </a:prstGeom>
            <a:noFill/>
            <a:ln cap="flat" cmpd="sng" w="12700">
              <a:solidFill>
                <a:srgbClr val="DF5325"/>
              </a:solidFill>
              <a:prstDash val="lgDash"/>
              <a:miter lim="80"/>
              <a:headEnd len="sm" w="sm" type="none"/>
              <a:tailEnd len="med" w="med" type="triangle"/>
            </a:ln>
          </p:spPr>
        </p:cxnSp>
        <p:sp>
          <p:nvSpPr>
            <p:cNvPr id="1152" name="Google Shape;1152;p50"/>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1153" name="Google Shape;1153;p50"/>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1154" name="Google Shape;1154;p50"/>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1155" name="Google Shape;1155;p50"/>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1156" name="Google Shape;1156;p50"/>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1157" name="Google Shape;1157;p50"/>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1158" name="Google Shape;1158;p50"/>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1159" name="Google Shape;1159;p50"/>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1160" name="Google Shape;1160;p50"/>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1161" name="Google Shape;1161;p50"/>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5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Build: Turning your GenAI plan into a working prototype</a:t>
            </a:r>
            <a:endParaRPr/>
          </a:p>
        </p:txBody>
      </p:sp>
      <p:sp>
        <p:nvSpPr>
          <p:cNvPr id="1168" name="Google Shape;1168;p5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169" name="Google Shape;1169;p5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170" name="Google Shape;1170;p51"/>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171" name="Google Shape;1171;p51"/>
          <p:cNvSpPr/>
          <p:nvPr/>
        </p:nvSpPr>
        <p:spPr>
          <a:xfrm>
            <a:off x="263351" y="2287916"/>
            <a:ext cx="11665123" cy="801321"/>
          </a:xfrm>
          <a:prstGeom prst="roundRect">
            <a:avLst>
              <a:gd fmla="val 560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Prompt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Design and test prompts systematically to ensure consistent and predictable model behavior across use cases</a:t>
            </a:r>
            <a:endParaRPr b="0" i="0" sz="1400" u="none" cap="none" strike="noStrike">
              <a:solidFill>
                <a:srgbClr val="000000"/>
              </a:solidFill>
              <a:latin typeface="Arial"/>
              <a:ea typeface="Arial"/>
              <a:cs typeface="Arial"/>
              <a:sym typeface="Arial"/>
            </a:endParaRPr>
          </a:p>
        </p:txBody>
      </p:sp>
      <p:sp>
        <p:nvSpPr>
          <p:cNvPr id="1172" name="Google Shape;1172;p51"/>
          <p:cNvSpPr/>
          <p:nvPr/>
        </p:nvSpPr>
        <p:spPr>
          <a:xfrm>
            <a:off x="263351" y="3316349"/>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Model selection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Choose the most suitable model based on accuracy, speed, cost, and task complexity, balancing performance with efficiency</a:t>
            </a:r>
            <a:endParaRPr b="0" i="0" sz="1400" u="none" cap="none" strike="noStrike">
              <a:solidFill>
                <a:srgbClr val="000000"/>
              </a:solidFill>
              <a:latin typeface="Arial"/>
              <a:ea typeface="Arial"/>
              <a:cs typeface="Arial"/>
              <a:sym typeface="Arial"/>
            </a:endParaRPr>
          </a:p>
        </p:txBody>
      </p:sp>
      <p:sp>
        <p:nvSpPr>
          <p:cNvPr id="1173" name="Google Shape;1173;p51"/>
          <p:cNvSpPr/>
          <p:nvPr/>
        </p:nvSpPr>
        <p:spPr>
          <a:xfrm>
            <a:off x="263351" y="4344782"/>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Data injection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Integrate real-time or static data into prompts to give the model relevant context and improve output precision</a:t>
            </a:r>
            <a:endParaRPr b="0" i="0" sz="1400" u="none" cap="none" strike="noStrike">
              <a:solidFill>
                <a:srgbClr val="000000"/>
              </a:solidFill>
              <a:latin typeface="Arial"/>
              <a:ea typeface="Arial"/>
              <a:cs typeface="Arial"/>
              <a:sym typeface="Arial"/>
            </a:endParaRPr>
          </a:p>
        </p:txBody>
      </p:sp>
      <p:sp>
        <p:nvSpPr>
          <p:cNvPr id="1174" name="Google Shape;1174;p51"/>
          <p:cNvSpPr/>
          <p:nvPr/>
        </p:nvSpPr>
        <p:spPr>
          <a:xfrm>
            <a:off x="263351" y="5373216"/>
            <a:ext cx="11665123"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Responsible:</a:t>
            </a:r>
            <a:endParaRPr b="0" i="0" sz="1400" u="none" cap="none" strike="noStrike">
              <a:solidFill>
                <a:srgbClr val="000000"/>
              </a:solidFill>
              <a:latin typeface="Arial"/>
              <a:ea typeface="Arial"/>
              <a:cs typeface="Arial"/>
              <a:sym typeface="Arial"/>
            </a:endParaRPr>
          </a:p>
        </p:txBody>
      </p:sp>
      <p:sp>
        <p:nvSpPr>
          <p:cNvPr id="1175" name="Google Shape;1175;p51"/>
          <p:cNvSpPr/>
          <p:nvPr/>
        </p:nvSpPr>
        <p:spPr>
          <a:xfrm>
            <a:off x="1595500" y="5654695"/>
            <a:ext cx="1473165" cy="272415"/>
          </a:xfrm>
          <a:prstGeom prst="roundRect">
            <a:avLst>
              <a:gd fmla="val 16667" name="adj"/>
            </a:avLst>
          </a:prstGeom>
          <a:solidFill>
            <a:schemeClr val="l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pic>
        <p:nvPicPr>
          <p:cNvPr id="1176" name="Google Shape;1176;p51"/>
          <p:cNvPicPr preferRelativeResize="0"/>
          <p:nvPr/>
        </p:nvPicPr>
        <p:blipFill rotWithShape="1">
          <a:blip r:embed="rId3">
            <a:alphaModFix/>
          </a:blip>
          <a:srcRect b="0" l="0" r="0" t="0"/>
          <a:stretch/>
        </p:blipFill>
        <p:spPr>
          <a:xfrm>
            <a:off x="263525" y="260350"/>
            <a:ext cx="3946030" cy="216000"/>
          </a:xfrm>
          <a:prstGeom prst="rect">
            <a:avLst/>
          </a:prstGeom>
          <a:noFill/>
          <a:ln>
            <a:noFill/>
          </a:ln>
        </p:spPr>
      </p:pic>
      <p:grpSp>
        <p:nvGrpSpPr>
          <p:cNvPr id="1177" name="Google Shape;1177;p51"/>
          <p:cNvGrpSpPr/>
          <p:nvPr/>
        </p:nvGrpSpPr>
        <p:grpSpPr>
          <a:xfrm>
            <a:off x="263352" y="1664804"/>
            <a:ext cx="2033005" cy="404488"/>
            <a:chOff x="2671425" y="5136527"/>
            <a:chExt cx="2033005" cy="404488"/>
          </a:xfrm>
        </p:grpSpPr>
        <p:sp>
          <p:nvSpPr>
            <p:cNvPr id="1178" name="Google Shape;1178;p51"/>
            <p:cNvSpPr/>
            <p:nvPr/>
          </p:nvSpPr>
          <p:spPr>
            <a:xfrm>
              <a:off x="2671425" y="513652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pic>
          <p:nvPicPr>
            <p:cNvPr id="1179" name="Google Shape;1179;p51"/>
            <p:cNvPicPr preferRelativeResize="0"/>
            <p:nvPr/>
          </p:nvPicPr>
          <p:blipFill rotWithShape="1">
            <a:blip r:embed="rId4">
              <a:alphaModFix/>
            </a:blip>
            <a:srcRect b="0" l="0" r="0" t="0"/>
            <a:stretch/>
          </p:blipFill>
          <p:spPr>
            <a:xfrm>
              <a:off x="2785835" y="5210070"/>
              <a:ext cx="305069" cy="257401"/>
            </a:xfrm>
            <a:prstGeom prst="rect">
              <a:avLst/>
            </a:prstGeom>
            <a:noFill/>
            <a:ln>
              <a:noFill/>
            </a:ln>
          </p:spPr>
        </p:pic>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5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Prompt Engineering: Do’s and Don’ts</a:t>
            </a:r>
            <a:endParaRPr/>
          </a:p>
        </p:txBody>
      </p:sp>
      <p:sp>
        <p:nvSpPr>
          <p:cNvPr id="1186" name="Google Shape;1186;p5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187" name="Google Shape;1187;p5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188" name="Google Shape;1188;p52"/>
          <p:cNvSpPr txBox="1"/>
          <p:nvPr>
            <p:ph idx="12" type="sldNum"/>
          </p:nvPr>
        </p:nvSpPr>
        <p:spPr>
          <a:xfrm>
            <a:off x="12007338" y="6673964"/>
            <a:ext cx="10579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189" name="Google Shape;1189;p52"/>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Avoid vague instructions (“analyze this text”) → leads to inconsistent results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overload a prompt with too many tasks at once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Avoid leading examples that bias the model towards one outcome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rely on temperature randomness for stability-critical tasks</a:t>
            </a:r>
            <a:endParaRPr b="0" i="0" sz="1400" u="none" cap="none" strike="noStrike">
              <a:solidFill>
                <a:srgbClr val="000000"/>
              </a:solidFill>
              <a:latin typeface="Arial"/>
              <a:ea typeface="Arial"/>
              <a:cs typeface="Arial"/>
              <a:sym typeface="Arial"/>
            </a:endParaRPr>
          </a:p>
        </p:txBody>
      </p:sp>
      <p:sp>
        <p:nvSpPr>
          <p:cNvPr id="1190" name="Google Shape;1190;p52"/>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191" name="Google Shape;1191;p52"/>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Write clear and specific instructions (who, what, how, format)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Break complex tasks into smaller, sequential prompts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Use few-shot examples to guide desired output style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Explicitly define output format (JSON, list, bullet points, etc.)</a:t>
            </a:r>
            <a:endParaRPr b="0" i="0" sz="1400" u="none" cap="none" strike="noStrike">
              <a:solidFill>
                <a:srgbClr val="000000"/>
              </a:solidFill>
              <a:latin typeface="Arial"/>
              <a:ea typeface="Arial"/>
              <a:cs typeface="Arial"/>
              <a:sym typeface="Arial"/>
            </a:endParaRPr>
          </a:p>
        </p:txBody>
      </p:sp>
      <p:sp>
        <p:nvSpPr>
          <p:cNvPr id="1192" name="Google Shape;1192;p52"/>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193" name="Google Shape;1193;p52"/>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1194" name="Google Shape;1194;p52"/>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1195" name="Google Shape;1195;p52"/>
          <p:cNvPicPr preferRelativeResize="0"/>
          <p:nvPr/>
        </p:nvPicPr>
        <p:blipFill rotWithShape="1">
          <a:blip r:embed="rId5">
            <a:alphaModFix/>
          </a:blip>
          <a:srcRect b="0" l="0" r="0" t="0"/>
          <a:stretch/>
        </p:blipFill>
        <p:spPr>
          <a:xfrm>
            <a:off x="263525" y="260350"/>
            <a:ext cx="3946030" cy="216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53"/>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Build: Do’s and Don’ts</a:t>
            </a:r>
            <a:endParaRPr/>
          </a:p>
        </p:txBody>
      </p:sp>
      <p:sp>
        <p:nvSpPr>
          <p:cNvPr id="1202" name="Google Shape;1202;p5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203" name="Google Shape;1203;p5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204" name="Google Shape;1204;p53"/>
          <p:cNvSpPr txBox="1"/>
          <p:nvPr>
            <p:ph idx="12" type="sldNum"/>
          </p:nvPr>
        </p:nvSpPr>
        <p:spPr>
          <a:xfrm>
            <a:off x="12007338" y="6673964"/>
            <a:ext cx="10579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205" name="Google Shape;1205;p53"/>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Avoid vague instructions (“analyze this text”) → leads to inconsistent results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overload a prompt with too many tasks at once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Avoid leading examples that bias the model towards one outcome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rely on temperature randomness for stability-critical tasks</a:t>
            </a:r>
            <a:endParaRPr b="0" i="0" sz="1400" u="none" cap="none" strike="noStrike">
              <a:solidFill>
                <a:srgbClr val="000000"/>
              </a:solidFill>
              <a:latin typeface="Arial"/>
              <a:ea typeface="Arial"/>
              <a:cs typeface="Arial"/>
              <a:sym typeface="Arial"/>
            </a:endParaRPr>
          </a:p>
        </p:txBody>
      </p:sp>
      <p:sp>
        <p:nvSpPr>
          <p:cNvPr id="1206" name="Google Shape;1206;p53"/>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207" name="Google Shape;1207;p53"/>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Write clear and specific instructions (who, what, how, format)</a:t>
            </a:r>
            <a:endParaRPr b="0" i="0" sz="1200" u="none" cap="none" strike="noStrike">
              <a:solidFill>
                <a:schemeClr val="dk2"/>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Break complex tasks into smaller, sequential prompts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Use few-shot examples to guide desired output style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Explicitly define output format (JSON, list, bullet points, etc.)</a:t>
            </a:r>
            <a:endParaRPr b="0" i="0" sz="1400" u="none" cap="none" strike="noStrike">
              <a:solidFill>
                <a:srgbClr val="000000"/>
              </a:solidFill>
              <a:latin typeface="Arial"/>
              <a:ea typeface="Arial"/>
              <a:cs typeface="Arial"/>
              <a:sym typeface="Arial"/>
            </a:endParaRPr>
          </a:p>
        </p:txBody>
      </p:sp>
      <p:sp>
        <p:nvSpPr>
          <p:cNvPr id="1208" name="Google Shape;1208;p53"/>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209" name="Google Shape;1209;p53"/>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1210" name="Google Shape;1210;p53"/>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1211" name="Google Shape;1211;p53"/>
          <p:cNvPicPr preferRelativeResize="0"/>
          <p:nvPr/>
        </p:nvPicPr>
        <p:blipFill rotWithShape="1">
          <a:blip r:embed="rId5">
            <a:alphaModFix/>
          </a:blip>
          <a:srcRect b="0" l="0" r="0" t="0"/>
          <a:stretch/>
        </p:blipFill>
        <p:spPr>
          <a:xfrm>
            <a:off x="263525" y="260350"/>
            <a:ext cx="3946030" cy="216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5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basics of prompting</a:t>
            </a:r>
            <a:endParaRPr/>
          </a:p>
        </p:txBody>
      </p:sp>
      <p:sp>
        <p:nvSpPr>
          <p:cNvPr id="1218" name="Google Shape;1218;p5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219" name="Google Shape;1219;p5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1220" name="Google Shape;1220;p54"/>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221" name="Google Shape;1221;p54"/>
          <p:cNvPicPr preferRelativeResize="0"/>
          <p:nvPr/>
        </p:nvPicPr>
        <p:blipFill rotWithShape="1">
          <a:blip r:embed="rId3">
            <a:alphaModFix/>
          </a:blip>
          <a:srcRect b="0" l="0" r="0" t="0"/>
          <a:stretch/>
        </p:blipFill>
        <p:spPr>
          <a:xfrm>
            <a:off x="263525" y="260350"/>
            <a:ext cx="3946030" cy="216000"/>
          </a:xfrm>
          <a:prstGeom prst="rect">
            <a:avLst/>
          </a:prstGeom>
          <a:noFill/>
          <a:ln>
            <a:noFill/>
          </a:ln>
        </p:spPr>
      </p:pic>
      <p:sp>
        <p:nvSpPr>
          <p:cNvPr id="1222" name="Google Shape;1222;p54"/>
          <p:cNvSpPr/>
          <p:nvPr/>
        </p:nvSpPr>
        <p:spPr>
          <a:xfrm>
            <a:off x="1179768" y="1664803"/>
            <a:ext cx="534003" cy="534003"/>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23" name="Google Shape;1223;p54"/>
          <p:cNvSpPr/>
          <p:nvPr/>
        </p:nvSpPr>
        <p:spPr>
          <a:xfrm>
            <a:off x="1179769" y="24593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24" name="Google Shape;1224;p54"/>
          <p:cNvSpPr/>
          <p:nvPr/>
        </p:nvSpPr>
        <p:spPr>
          <a:xfrm>
            <a:off x="1179769" y="32526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225" name="Google Shape;1225;p54"/>
          <p:cNvSpPr/>
          <p:nvPr/>
        </p:nvSpPr>
        <p:spPr>
          <a:xfrm>
            <a:off x="1179769" y="40459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226" name="Google Shape;1226;p54"/>
          <p:cNvSpPr/>
          <p:nvPr/>
        </p:nvSpPr>
        <p:spPr>
          <a:xfrm>
            <a:off x="1179769" y="48392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227" name="Google Shape;1227;p54"/>
          <p:cNvSpPr/>
          <p:nvPr/>
        </p:nvSpPr>
        <p:spPr>
          <a:xfrm>
            <a:off x="1973068" y="1664803"/>
            <a:ext cx="9038985" cy="534003"/>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See a LLM as a </a:t>
            </a:r>
            <a:r>
              <a:rPr b="0" i="0" lang="en-US" sz="1200" u="none" cap="none" strike="noStrike">
                <a:solidFill>
                  <a:schemeClr val="dk1"/>
                </a:solidFill>
                <a:latin typeface="Arial"/>
                <a:ea typeface="Arial"/>
                <a:cs typeface="Arial"/>
                <a:sym typeface="Arial"/>
              </a:rPr>
              <a:t>smart intern</a:t>
            </a:r>
            <a:r>
              <a:rPr b="0" i="0" lang="en-US" sz="1200" u="none" cap="none" strike="noStrike">
                <a:solidFill>
                  <a:schemeClr val="dk2"/>
                </a:solidFill>
                <a:latin typeface="Arial"/>
                <a:ea typeface="Arial"/>
                <a:cs typeface="Arial"/>
                <a:sym typeface="Arial"/>
              </a:rPr>
              <a:t>, say clearly what he must do or cannot do</a:t>
            </a:r>
            <a:endParaRPr b="0" i="0" sz="1400" u="none" cap="none" strike="noStrike">
              <a:solidFill>
                <a:srgbClr val="000000"/>
              </a:solidFill>
              <a:latin typeface="Arial"/>
              <a:ea typeface="Arial"/>
              <a:cs typeface="Arial"/>
              <a:sym typeface="Arial"/>
            </a:endParaRPr>
          </a:p>
        </p:txBody>
      </p:sp>
      <p:sp>
        <p:nvSpPr>
          <p:cNvPr id="1228" name="Google Shape;1228;p54"/>
          <p:cNvSpPr/>
          <p:nvPr/>
        </p:nvSpPr>
        <p:spPr>
          <a:xfrm>
            <a:off x="1973068" y="2459306"/>
            <a:ext cx="90389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Start with </a:t>
            </a:r>
            <a:r>
              <a:rPr b="0" i="0" lang="en-US" sz="1200" u="none" cap="none" strike="noStrike">
                <a:solidFill>
                  <a:schemeClr val="dk1"/>
                </a:solidFill>
                <a:latin typeface="Arial"/>
                <a:ea typeface="Arial"/>
                <a:cs typeface="Arial"/>
                <a:sym typeface="Arial"/>
              </a:rPr>
              <a:t>'you are a ... and your task is to ...'</a:t>
            </a:r>
            <a:endParaRPr b="0" i="0" sz="1400" u="none" cap="none" strike="noStrike">
              <a:solidFill>
                <a:srgbClr val="000000"/>
              </a:solidFill>
              <a:latin typeface="Arial"/>
              <a:ea typeface="Arial"/>
              <a:cs typeface="Arial"/>
              <a:sym typeface="Arial"/>
            </a:endParaRPr>
          </a:p>
        </p:txBody>
      </p:sp>
      <p:sp>
        <p:nvSpPr>
          <p:cNvPr id="1229" name="Google Shape;1229;p54"/>
          <p:cNvSpPr/>
          <p:nvPr/>
        </p:nvSpPr>
        <p:spPr>
          <a:xfrm>
            <a:off x="1973068" y="3252606"/>
            <a:ext cx="90389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Break complex things down into </a:t>
            </a:r>
            <a:r>
              <a:rPr b="0" i="0" lang="en-US" sz="1200" u="none" cap="none" strike="noStrike">
                <a:solidFill>
                  <a:schemeClr val="dk1"/>
                </a:solidFill>
                <a:latin typeface="Arial"/>
                <a:ea typeface="Arial"/>
                <a:cs typeface="Arial"/>
                <a:sym typeface="Arial"/>
              </a:rPr>
              <a:t>small steps</a:t>
            </a:r>
            <a:endParaRPr b="0" i="0" sz="1400" u="none" cap="none" strike="noStrike">
              <a:solidFill>
                <a:srgbClr val="000000"/>
              </a:solidFill>
              <a:latin typeface="Arial"/>
              <a:ea typeface="Arial"/>
              <a:cs typeface="Arial"/>
              <a:sym typeface="Arial"/>
            </a:endParaRPr>
          </a:p>
        </p:txBody>
      </p:sp>
      <p:sp>
        <p:nvSpPr>
          <p:cNvPr id="1230" name="Google Shape;1230;p54"/>
          <p:cNvSpPr/>
          <p:nvPr/>
        </p:nvSpPr>
        <p:spPr>
          <a:xfrm>
            <a:off x="1973068" y="4045906"/>
            <a:ext cx="90389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Language models are not up-to-date, so </a:t>
            </a:r>
            <a:r>
              <a:rPr b="0" i="0" lang="en-US" sz="1200" u="none" cap="none" strike="noStrike">
                <a:solidFill>
                  <a:schemeClr val="dk1"/>
                </a:solidFill>
                <a:latin typeface="Arial"/>
                <a:ea typeface="Arial"/>
                <a:cs typeface="Arial"/>
                <a:sym typeface="Arial"/>
              </a:rPr>
              <a:t>provide them with the necessary context</a:t>
            </a:r>
            <a:endParaRPr b="0" i="0" sz="1400" u="none" cap="none" strike="noStrike">
              <a:solidFill>
                <a:srgbClr val="000000"/>
              </a:solidFill>
              <a:latin typeface="Arial"/>
              <a:ea typeface="Arial"/>
              <a:cs typeface="Arial"/>
              <a:sym typeface="Arial"/>
            </a:endParaRPr>
          </a:p>
        </p:txBody>
      </p:sp>
      <p:sp>
        <p:nvSpPr>
          <p:cNvPr id="1231" name="Google Shape;1231;p54"/>
          <p:cNvSpPr/>
          <p:nvPr/>
        </p:nvSpPr>
        <p:spPr>
          <a:xfrm>
            <a:off x="1973068" y="4839206"/>
            <a:ext cx="90389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2"/>
              </a:buClr>
              <a:buSzPts val="1200"/>
              <a:buFont typeface="Arial"/>
              <a:buNone/>
            </a:pPr>
            <a:r>
              <a:rPr b="0" i="0" lang="en-US" sz="1200" u="none" cap="none" strike="noStrike">
                <a:solidFill>
                  <a:schemeClr val="dk2"/>
                </a:solidFill>
                <a:latin typeface="Arial"/>
                <a:ea typeface="Arial"/>
                <a:cs typeface="Arial"/>
                <a:sym typeface="Arial"/>
              </a:rPr>
              <a:t>Ask for </a:t>
            </a:r>
            <a:r>
              <a:rPr b="0" i="0" lang="en-US" sz="1200" u="none" cap="none" strike="noStrike">
                <a:solidFill>
                  <a:schemeClr val="dk1"/>
                </a:solidFill>
                <a:latin typeface="Arial"/>
                <a:ea typeface="Arial"/>
                <a:cs typeface="Arial"/>
                <a:sym typeface="Arial"/>
              </a:rPr>
              <a:t>explanation and reasoning </a:t>
            </a:r>
            <a:r>
              <a:rPr b="0" i="0" lang="en-US" sz="1200" u="none" cap="none" strike="noStrike">
                <a:solidFill>
                  <a:schemeClr val="dk2"/>
                </a:solidFill>
                <a:latin typeface="Arial"/>
                <a:ea typeface="Arial"/>
                <a:cs typeface="Arial"/>
                <a:sym typeface="Arial"/>
              </a:rPr>
              <a:t>behind the answer</a:t>
            </a:r>
            <a:endParaRPr b="0" i="0" sz="1400" u="none" cap="none" strike="noStrike">
              <a:solidFill>
                <a:srgbClr val="000000"/>
              </a:solidFill>
              <a:latin typeface="Arial"/>
              <a:ea typeface="Arial"/>
              <a:cs typeface="Arial"/>
              <a:sym typeface="Arial"/>
            </a:endParaRPr>
          </a:p>
        </p:txBody>
      </p:sp>
      <p:sp>
        <p:nvSpPr>
          <p:cNvPr id="1232" name="Google Shape;1232;p54"/>
          <p:cNvSpPr/>
          <p:nvPr/>
        </p:nvSpPr>
        <p:spPr>
          <a:xfrm>
            <a:off x="1179769" y="5632504"/>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6</a:t>
            </a:r>
            <a:endParaRPr b="0" i="0" sz="1200" u="none" cap="none" strike="noStrike">
              <a:solidFill>
                <a:schemeClr val="dk1"/>
              </a:solidFill>
              <a:latin typeface="Arial"/>
              <a:ea typeface="Arial"/>
              <a:cs typeface="Arial"/>
              <a:sym typeface="Arial"/>
            </a:endParaRPr>
          </a:p>
        </p:txBody>
      </p:sp>
      <p:sp>
        <p:nvSpPr>
          <p:cNvPr id="1233" name="Google Shape;1233;p54"/>
          <p:cNvSpPr/>
          <p:nvPr/>
        </p:nvSpPr>
        <p:spPr>
          <a:xfrm>
            <a:off x="1973068" y="5632504"/>
            <a:ext cx="90389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Iterate</a:t>
            </a:r>
            <a:r>
              <a:rPr b="0" i="0" lang="en-US" sz="1200" u="none" cap="none" strike="noStrike">
                <a:solidFill>
                  <a:schemeClr val="dk2"/>
                </a:solidFill>
                <a:latin typeface="Arial"/>
                <a:ea typeface="Arial"/>
                <a:cs typeface="Arial"/>
                <a:sym typeface="Arial"/>
              </a:rPr>
              <a:t>, refine your prompt after each run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55"/>
          <p:cNvSpPr/>
          <p:nvPr/>
        </p:nvSpPr>
        <p:spPr>
          <a:xfrm>
            <a:off x="263525"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1. </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Task</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You are an AI career coach named Joe created by AdAstra Careers. Your job is to give career advice to users on the AdAstra website</a:t>
            </a:r>
            <a:endParaRPr b="0" i="0" sz="1400" u="none" cap="none" strike="noStrike">
              <a:solidFill>
                <a:srgbClr val="000000"/>
              </a:solidFill>
              <a:latin typeface="Arial"/>
              <a:ea typeface="Arial"/>
              <a:cs typeface="Arial"/>
              <a:sym typeface="Arial"/>
            </a:endParaRPr>
          </a:p>
        </p:txBody>
      </p:sp>
      <p:sp>
        <p:nvSpPr>
          <p:cNvPr id="1240" name="Google Shape;1240;p55"/>
          <p:cNvSpPr/>
          <p:nvPr/>
        </p:nvSpPr>
        <p:spPr>
          <a:xfrm>
            <a:off x="1573669"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2.</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Tone</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Maintain a friendly, helpful, and professional customer service tone</a:t>
            </a:r>
            <a:endParaRPr b="0" i="0" sz="1400" u="none" cap="none" strike="noStrike">
              <a:solidFill>
                <a:srgbClr val="000000"/>
              </a:solidFill>
              <a:latin typeface="Arial"/>
              <a:ea typeface="Arial"/>
              <a:cs typeface="Arial"/>
              <a:sym typeface="Arial"/>
            </a:endParaRPr>
          </a:p>
        </p:txBody>
      </p:sp>
      <p:sp>
        <p:nvSpPr>
          <p:cNvPr id="1241" name="Google Shape;1241;p55"/>
          <p:cNvSpPr/>
          <p:nvPr/>
        </p:nvSpPr>
        <p:spPr>
          <a:xfrm>
            <a:off x="2883813"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3.</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Back-ground data</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Use the provided career guidance document: {{DOCUMENT}}</a:t>
            </a:r>
            <a:endParaRPr b="0" i="0" sz="1400" u="none" cap="none" strike="noStrike">
              <a:solidFill>
                <a:srgbClr val="000000"/>
              </a:solidFill>
              <a:latin typeface="Arial"/>
              <a:ea typeface="Arial"/>
              <a:cs typeface="Arial"/>
              <a:sym typeface="Arial"/>
            </a:endParaRPr>
          </a:p>
        </p:txBody>
      </p:sp>
      <p:sp>
        <p:nvSpPr>
          <p:cNvPr id="1242" name="Google Shape;1242;p55"/>
          <p:cNvSpPr/>
          <p:nvPr/>
        </p:nvSpPr>
        <p:spPr>
          <a:xfrm>
            <a:off x="4193957"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4. </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Detailed task description &amp; rules</a:t>
            </a: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Stay in character</a:t>
            </a:r>
            <a:br>
              <a:rPr b="0" i="0" lang="en-US" sz="900" u="none" cap="none" strike="noStrike">
                <a:solidFill>
                  <a:schemeClr val="dk2"/>
                </a:solidFill>
                <a:latin typeface="Arial"/>
                <a:ea typeface="Arial"/>
                <a:cs typeface="Arial"/>
                <a:sym typeface="Arial"/>
              </a:rPr>
            </a:br>
            <a:r>
              <a:rPr b="0" i="0" lang="en-US" sz="900" u="none" cap="none" strike="noStrike">
                <a:solidFill>
                  <a:schemeClr val="dk2"/>
                </a:solidFill>
                <a:latin typeface="Arial"/>
                <a:ea typeface="Arial"/>
                <a:cs typeface="Arial"/>
                <a:sym typeface="Arial"/>
              </a:rPr>
              <a:t>as Joe</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If unsure: </a:t>
            </a:r>
            <a:r>
              <a:rPr b="0" i="0" lang="en-US" sz="900" u="none" cap="none" strike="noStrike">
                <a:solidFill>
                  <a:schemeClr val="dk2"/>
                </a:solidFill>
                <a:latin typeface="Arial"/>
                <a:ea typeface="Arial"/>
                <a:cs typeface="Arial"/>
                <a:sym typeface="Arial"/>
              </a:rPr>
              <a:t>“Sorry, I didn’t understand—could you repeat that?”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If irrelevant: </a:t>
            </a:r>
            <a:r>
              <a:rPr b="0" i="0" lang="en-US" sz="900" u="none" cap="none" strike="noStrike">
                <a:solidFill>
                  <a:schemeClr val="dk2"/>
                </a:solidFill>
                <a:latin typeface="Arial"/>
                <a:ea typeface="Arial"/>
                <a:cs typeface="Arial"/>
                <a:sym typeface="Arial"/>
              </a:rPr>
              <a:t>“I’m Joe and I give career advice—do you have a career question?”</a:t>
            </a:r>
            <a:endParaRPr b="0" i="0" sz="1400" u="none" cap="none" strike="noStrike">
              <a:solidFill>
                <a:srgbClr val="000000"/>
              </a:solidFill>
              <a:latin typeface="Arial"/>
              <a:ea typeface="Arial"/>
              <a:cs typeface="Arial"/>
              <a:sym typeface="Arial"/>
            </a:endParaRPr>
          </a:p>
        </p:txBody>
      </p:sp>
      <p:sp>
        <p:nvSpPr>
          <p:cNvPr id="1243" name="Google Shape;1243;p55"/>
          <p:cNvSpPr/>
          <p:nvPr/>
        </p:nvSpPr>
        <p:spPr>
          <a:xfrm>
            <a:off x="5504101"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5.</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Example response</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User: </a:t>
            </a:r>
            <a:br>
              <a:rPr b="0" i="0" lang="en-US" sz="900" u="none" cap="none" strike="noStrike">
                <a:solidFill>
                  <a:schemeClr val="dk2"/>
                </a:solidFill>
                <a:latin typeface="Arial"/>
                <a:ea typeface="Arial"/>
                <a:cs typeface="Arial"/>
                <a:sym typeface="Arial"/>
              </a:rPr>
            </a:br>
            <a:r>
              <a:rPr b="0" i="0" lang="en-US" sz="900" u="none" cap="none" strike="noStrike">
                <a:solidFill>
                  <a:schemeClr val="dk2"/>
                </a:solidFill>
                <a:latin typeface="Arial"/>
                <a:ea typeface="Arial"/>
                <a:cs typeface="Arial"/>
                <a:sym typeface="Arial"/>
              </a:rPr>
              <a:t>“How were you created?”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Joe:</a:t>
            </a:r>
            <a:br>
              <a:rPr b="0" i="0" lang="en-US" sz="900" u="none" cap="none" strike="noStrike">
                <a:solidFill>
                  <a:schemeClr val="dk2"/>
                </a:solidFill>
                <a:latin typeface="Arial"/>
                <a:ea typeface="Arial"/>
                <a:cs typeface="Arial"/>
                <a:sym typeface="Arial"/>
              </a:rPr>
            </a:br>
            <a:r>
              <a:rPr b="0" i="0" lang="en-US" sz="900" u="none" cap="none" strike="noStrike">
                <a:solidFill>
                  <a:schemeClr val="dk2"/>
                </a:solidFill>
                <a:latin typeface="Arial"/>
                <a:ea typeface="Arial"/>
                <a:cs typeface="Arial"/>
                <a:sym typeface="Arial"/>
              </a:rPr>
              <a:t>“Hi! I’m Joe, AdAstra’s AI career coach. I was created to help users with career advice. How can I assist you today?”</a:t>
            </a:r>
            <a:endParaRPr b="0" i="0" sz="1400" u="none" cap="none" strike="noStrike">
              <a:solidFill>
                <a:srgbClr val="000000"/>
              </a:solidFill>
              <a:latin typeface="Arial"/>
              <a:ea typeface="Arial"/>
              <a:cs typeface="Arial"/>
              <a:sym typeface="Arial"/>
            </a:endParaRPr>
          </a:p>
        </p:txBody>
      </p:sp>
      <p:sp>
        <p:nvSpPr>
          <p:cNvPr id="1244" name="Google Shape;1244;p55"/>
          <p:cNvSpPr/>
          <p:nvPr/>
        </p:nvSpPr>
        <p:spPr>
          <a:xfrm>
            <a:off x="6814245"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6.</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Conver-sation history</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Previous messages </a:t>
            </a:r>
            <a:br>
              <a:rPr b="0" i="0" lang="en-US" sz="900" u="none" cap="none" strike="noStrike">
                <a:solidFill>
                  <a:schemeClr val="dk2"/>
                </a:solidFill>
                <a:latin typeface="Arial"/>
                <a:ea typeface="Arial"/>
                <a:cs typeface="Arial"/>
                <a:sym typeface="Arial"/>
              </a:rPr>
            </a:br>
            <a:r>
              <a:rPr b="0" i="0" lang="en-US" sz="900" u="none" cap="none" strike="noStrike">
                <a:solidFill>
                  <a:schemeClr val="dk2"/>
                </a:solidFill>
                <a:latin typeface="Arial"/>
                <a:ea typeface="Arial"/>
                <a:cs typeface="Arial"/>
                <a:sym typeface="Arial"/>
              </a:rPr>
              <a:t>(if any): {{HISTORY}}</a:t>
            </a:r>
            <a:endParaRPr b="0" i="0" sz="1400" u="none" cap="none" strike="noStrike">
              <a:solidFill>
                <a:srgbClr val="000000"/>
              </a:solidFill>
              <a:latin typeface="Arial"/>
              <a:ea typeface="Arial"/>
              <a:cs typeface="Arial"/>
              <a:sym typeface="Arial"/>
            </a:endParaRPr>
          </a:p>
        </p:txBody>
      </p:sp>
      <p:sp>
        <p:nvSpPr>
          <p:cNvPr id="1245" name="Google Shape;1245;p55"/>
          <p:cNvSpPr/>
          <p:nvPr/>
        </p:nvSpPr>
        <p:spPr>
          <a:xfrm>
            <a:off x="8124389"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7. </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Immediate task description</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Current user question: {{QUESTION}}</a:t>
            </a:r>
            <a:endParaRPr b="0" i="0" sz="1400" u="none" cap="none" strike="noStrike">
              <a:solidFill>
                <a:srgbClr val="000000"/>
              </a:solidFill>
              <a:latin typeface="Arial"/>
              <a:ea typeface="Arial"/>
              <a:cs typeface="Arial"/>
              <a:sym typeface="Arial"/>
            </a:endParaRPr>
          </a:p>
        </p:txBody>
      </p:sp>
      <p:sp>
        <p:nvSpPr>
          <p:cNvPr id="1246" name="Google Shape;1246;p55"/>
          <p:cNvSpPr/>
          <p:nvPr/>
        </p:nvSpPr>
        <p:spPr>
          <a:xfrm>
            <a:off x="9434533"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8.</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Push for thinking</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Think through your answer before responding. Provide a clear and helpful reply</a:t>
            </a:r>
            <a:endParaRPr b="0" i="0" sz="1400" u="none" cap="none" strike="noStrike">
              <a:solidFill>
                <a:srgbClr val="000000"/>
              </a:solidFill>
              <a:latin typeface="Arial"/>
              <a:ea typeface="Arial"/>
              <a:cs typeface="Arial"/>
              <a:sym typeface="Arial"/>
            </a:endParaRPr>
          </a:p>
        </p:txBody>
      </p:sp>
      <p:sp>
        <p:nvSpPr>
          <p:cNvPr id="1247" name="Google Shape;1247;p55"/>
          <p:cNvSpPr/>
          <p:nvPr/>
        </p:nvSpPr>
        <p:spPr>
          <a:xfrm>
            <a:off x="10744677" y="1665288"/>
            <a:ext cx="1183971" cy="4500015"/>
          </a:xfrm>
          <a:custGeom>
            <a:rect b="b" l="l" r="r" t="t"/>
            <a:pathLst>
              <a:path extrusionOk="0" h="4500015" w="1183971">
                <a:moveTo>
                  <a:pt x="61602" y="0"/>
                </a:moveTo>
                <a:lnTo>
                  <a:pt x="1122369" y="0"/>
                </a:lnTo>
                <a:cubicBezTo>
                  <a:pt x="1156391" y="0"/>
                  <a:pt x="1183971" y="27580"/>
                  <a:pt x="1183971" y="61602"/>
                </a:cubicBezTo>
                <a:lnTo>
                  <a:pt x="1183971" y="546674"/>
                </a:lnTo>
                <a:lnTo>
                  <a:pt x="1183971" y="4273313"/>
                </a:lnTo>
                <a:lnTo>
                  <a:pt x="1183971" y="4438413"/>
                </a:lnTo>
                <a:cubicBezTo>
                  <a:pt x="1183971" y="4472435"/>
                  <a:pt x="1156391" y="4500015"/>
                  <a:pt x="1122369" y="4500015"/>
                </a:cubicBezTo>
                <a:lnTo>
                  <a:pt x="61602" y="4500015"/>
                </a:lnTo>
                <a:cubicBezTo>
                  <a:pt x="27580" y="4500015"/>
                  <a:pt x="0" y="4472435"/>
                  <a:pt x="0" y="4438413"/>
                </a:cubicBezTo>
                <a:lnTo>
                  <a:pt x="0" y="4273313"/>
                </a:lnTo>
                <a:lnTo>
                  <a:pt x="0" y="546674"/>
                </a:lnTo>
                <a:lnTo>
                  <a:pt x="0" y="61602"/>
                </a:lnTo>
                <a:cubicBezTo>
                  <a:pt x="0" y="27580"/>
                  <a:pt x="27580" y="0"/>
                  <a:pt x="61602" y="0"/>
                </a:cubicBezTo>
                <a:close/>
              </a:path>
            </a:pathLst>
          </a:custGeom>
          <a:solidFill>
            <a:schemeClr val="lt2"/>
          </a:solidFill>
          <a:ln>
            <a:noFill/>
          </a:ln>
        </p:spPr>
        <p:txBody>
          <a:bodyPr anchorCtr="0" anchor="t" bIns="144000" lIns="180000" spcFirstLastPara="1" rIns="144000" wrap="square" tIns="180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9.</a:t>
            </a:r>
            <a:br>
              <a:rPr b="0" i="0" lang="en-US" sz="1000" u="none" cap="none" strike="noStrike">
                <a:solidFill>
                  <a:schemeClr val="accent1"/>
                </a:solidFill>
                <a:latin typeface="Arial"/>
                <a:ea typeface="Arial"/>
                <a:cs typeface="Arial"/>
                <a:sym typeface="Arial"/>
              </a:rPr>
            </a:br>
            <a:r>
              <a:rPr b="0" i="0" lang="en-US" sz="1200" u="none" cap="none" strike="noStrike">
                <a:solidFill>
                  <a:schemeClr val="accent1"/>
                </a:solidFill>
                <a:latin typeface="Arial"/>
                <a:ea typeface="Arial"/>
                <a:cs typeface="Arial"/>
                <a:sym typeface="Arial"/>
              </a:rPr>
              <a:t>Output format</a:t>
            </a: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br>
              <a:rPr b="0" i="0" lang="en-US" sz="1200" u="none" cap="none" strike="noStrike">
                <a:solidFill>
                  <a:schemeClr val="accent1"/>
                </a:solidFill>
                <a:latin typeface="Arial"/>
                <a:ea typeface="Arial"/>
                <a:cs typeface="Arial"/>
                <a:sym typeface="Arial"/>
              </a:rPr>
            </a:br>
            <a:endParaRPr b="0" i="0" sz="12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900"/>
              <a:buFont typeface="Arial"/>
              <a:buNone/>
            </a:pPr>
            <a:r>
              <a:rPr b="0" i="0" lang="en-US" sz="900" u="none" cap="none" strike="noStrike">
                <a:solidFill>
                  <a:schemeClr val="dk2"/>
                </a:solidFill>
                <a:latin typeface="Arial"/>
                <a:ea typeface="Arial"/>
                <a:cs typeface="Arial"/>
                <a:sym typeface="Arial"/>
              </a:rPr>
              <a:t>Wrap your answer in &lt;response&gt;...</a:t>
            </a:r>
            <a:br>
              <a:rPr b="0" i="0" lang="en-US" sz="900" u="none" cap="none" strike="noStrike">
                <a:solidFill>
                  <a:schemeClr val="dk2"/>
                </a:solidFill>
                <a:latin typeface="Arial"/>
                <a:ea typeface="Arial"/>
                <a:cs typeface="Arial"/>
                <a:sym typeface="Arial"/>
              </a:rPr>
            </a:br>
            <a:r>
              <a:rPr b="0" i="0" lang="en-US" sz="900" u="none" cap="none" strike="noStrike">
                <a:solidFill>
                  <a:schemeClr val="dk2"/>
                </a:solidFill>
                <a:latin typeface="Arial"/>
                <a:ea typeface="Arial"/>
                <a:cs typeface="Arial"/>
                <a:sym typeface="Arial"/>
              </a:rPr>
              <a:t>&lt;/response&gt; tags</a:t>
            </a:r>
            <a:endParaRPr b="0" i="0" sz="1400" u="none" cap="none" strike="noStrike">
              <a:solidFill>
                <a:srgbClr val="000000"/>
              </a:solidFill>
              <a:latin typeface="Arial"/>
              <a:ea typeface="Arial"/>
              <a:cs typeface="Arial"/>
              <a:sym typeface="Arial"/>
            </a:endParaRPr>
          </a:p>
        </p:txBody>
      </p:sp>
      <p:sp>
        <p:nvSpPr>
          <p:cNvPr id="1248" name="Google Shape;1248;p5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Prompt building blueprint</a:t>
            </a:r>
            <a:endParaRPr/>
          </a:p>
        </p:txBody>
      </p:sp>
      <p:sp>
        <p:nvSpPr>
          <p:cNvPr id="1249" name="Google Shape;1249;p5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250" name="Google Shape;1250;p5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1251" name="Google Shape;1251;p55"/>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252" name="Google Shape;1252;p55"/>
          <p:cNvPicPr preferRelativeResize="0"/>
          <p:nvPr/>
        </p:nvPicPr>
        <p:blipFill rotWithShape="1">
          <a:blip r:embed="rId3">
            <a:alphaModFix/>
          </a:blip>
          <a:srcRect b="0" l="0" r="0" t="0"/>
          <a:stretch/>
        </p:blipFill>
        <p:spPr>
          <a:xfrm>
            <a:off x="263525" y="260350"/>
            <a:ext cx="3946030" cy="216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56"/>
          <p:cNvSpPr/>
          <p:nvPr/>
        </p:nvSpPr>
        <p:spPr>
          <a:xfrm>
            <a:off x="7844971" y="2294874"/>
            <a:ext cx="4083503" cy="2817452"/>
          </a:xfrm>
          <a:prstGeom prst="chevron">
            <a:avLst>
              <a:gd fmla="val 17246" name="adj"/>
            </a:avLst>
          </a:prstGeom>
          <a:solidFill>
            <a:srgbClr val="FAF7F4"/>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8A898C"/>
              </a:solidFill>
              <a:latin typeface="Arial"/>
              <a:ea typeface="Arial"/>
              <a:cs typeface="Arial"/>
              <a:sym typeface="Arial"/>
            </a:endParaRPr>
          </a:p>
        </p:txBody>
      </p:sp>
      <p:sp>
        <p:nvSpPr>
          <p:cNvPr id="1259" name="Google Shape;1259;p56"/>
          <p:cNvSpPr/>
          <p:nvPr/>
        </p:nvSpPr>
        <p:spPr>
          <a:xfrm>
            <a:off x="3925400" y="2294874"/>
            <a:ext cx="4068000" cy="2817452"/>
          </a:xfrm>
          <a:prstGeom prst="chevron">
            <a:avLst>
              <a:gd fmla="val 17246" name="adj"/>
            </a:avLst>
          </a:prstGeom>
          <a:solidFill>
            <a:srgbClr val="FAF7F4"/>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8A898C"/>
              </a:solidFill>
              <a:latin typeface="Arial"/>
              <a:ea typeface="Arial"/>
              <a:cs typeface="Arial"/>
              <a:sym typeface="Arial"/>
            </a:endParaRPr>
          </a:p>
        </p:txBody>
      </p:sp>
      <p:sp>
        <p:nvSpPr>
          <p:cNvPr id="1260" name="Google Shape;1260;p56"/>
          <p:cNvSpPr/>
          <p:nvPr/>
        </p:nvSpPr>
        <p:spPr>
          <a:xfrm>
            <a:off x="263525" y="2294874"/>
            <a:ext cx="3804163" cy="2817452"/>
          </a:xfrm>
          <a:prstGeom prst="homePlate">
            <a:avLst>
              <a:gd fmla="val 16414" name="adj"/>
            </a:avLst>
          </a:prstGeom>
          <a:solidFill>
            <a:srgbClr val="FAF7F4"/>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8A898C"/>
              </a:solidFill>
              <a:latin typeface="Arial"/>
              <a:ea typeface="Arial"/>
              <a:cs typeface="Arial"/>
              <a:sym typeface="Arial"/>
            </a:endParaRPr>
          </a:p>
        </p:txBody>
      </p:sp>
      <p:sp>
        <p:nvSpPr>
          <p:cNvPr id="1261" name="Google Shape;1261;p56"/>
          <p:cNvSpPr txBox="1"/>
          <p:nvPr/>
        </p:nvSpPr>
        <p:spPr>
          <a:xfrm>
            <a:off x="8124311" y="2294874"/>
            <a:ext cx="3804163" cy="2665052"/>
          </a:xfrm>
          <a:prstGeom prst="rect">
            <a:avLst/>
          </a:prstGeom>
          <a:no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rgbClr val="DF5325"/>
              </a:buClr>
              <a:buSzPts val="1200"/>
              <a:buFont typeface="Arial"/>
              <a:buNone/>
            </a:pPr>
            <a:r>
              <a:rPr b="1" i="0" lang="en-US" sz="1200" u="none" cap="none" strike="noStrike">
                <a:solidFill>
                  <a:srgbClr val="DF5325"/>
                </a:solidFill>
                <a:latin typeface="Arial"/>
                <a:ea typeface="Arial"/>
                <a:cs typeface="Arial"/>
                <a:sym typeface="Arial"/>
              </a:rPr>
              <a:t>3  Publish by environment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DF5325"/>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Tags: develop, acceptance, production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Applications call prompt-key@production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Promotion and rollback are a re-tag</a:t>
            </a:r>
            <a:endParaRPr b="0" i="0" sz="1400" u="none" cap="none" strike="noStrike">
              <a:solidFill>
                <a:srgbClr val="000000"/>
              </a:solidFill>
              <a:latin typeface="Arial"/>
              <a:ea typeface="Arial"/>
              <a:cs typeface="Arial"/>
              <a:sym typeface="Arial"/>
            </a:endParaRPr>
          </a:p>
        </p:txBody>
      </p:sp>
      <p:sp>
        <p:nvSpPr>
          <p:cNvPr id="1262" name="Google Shape;1262;p56"/>
          <p:cNvSpPr txBox="1"/>
          <p:nvPr/>
        </p:nvSpPr>
        <p:spPr>
          <a:xfrm>
            <a:off x="263525" y="2294873"/>
            <a:ext cx="3804163" cy="2665053"/>
          </a:xfrm>
          <a:prstGeom prst="rect">
            <a:avLst/>
          </a:prstGeom>
          <a:no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rgbClr val="DF5325"/>
              </a:buClr>
              <a:buSzPts val="1200"/>
              <a:buFont typeface="Arial"/>
              <a:buNone/>
            </a:pPr>
            <a:r>
              <a:rPr b="1" i="0" lang="en-US" sz="1200" u="none" cap="none" strike="noStrike">
                <a:solidFill>
                  <a:srgbClr val="DF5325"/>
                </a:solidFill>
                <a:latin typeface="Arial"/>
                <a:ea typeface="Arial"/>
                <a:cs typeface="Arial"/>
                <a:sym typeface="Arial"/>
              </a:rPr>
              <a:t>1  Author and version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DF5325"/>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Each save commits with author + note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Draft commits without publishing</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Compare Changes gives a JSON diff</a:t>
            </a:r>
            <a:endParaRPr b="0" i="0" sz="1400" u="none" cap="none" strike="noStrike">
              <a:solidFill>
                <a:srgbClr val="000000"/>
              </a:solidFill>
              <a:latin typeface="Arial"/>
              <a:ea typeface="Arial"/>
              <a:cs typeface="Arial"/>
              <a:sym typeface="Arial"/>
            </a:endParaRPr>
          </a:p>
        </p:txBody>
      </p:sp>
      <p:sp>
        <p:nvSpPr>
          <p:cNvPr id="1263" name="Google Shape;1263;p56"/>
          <p:cNvSpPr txBox="1"/>
          <p:nvPr/>
        </p:nvSpPr>
        <p:spPr>
          <a:xfrm>
            <a:off x="4193918" y="2294873"/>
            <a:ext cx="3804163" cy="2817453"/>
          </a:xfrm>
          <a:prstGeom prst="rect">
            <a:avLst/>
          </a:prstGeom>
          <a:no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rgbClr val="DF5325"/>
              </a:buClr>
              <a:buSzPts val="1200"/>
              <a:buFont typeface="Arial"/>
              <a:buNone/>
            </a:pPr>
            <a:r>
              <a:rPr b="1" i="0" lang="en-US" sz="1200" u="none" cap="none" strike="noStrike">
                <a:solidFill>
                  <a:srgbClr val="DF5325"/>
                </a:solidFill>
                <a:latin typeface="Arial"/>
                <a:ea typeface="Arial"/>
                <a:cs typeface="Arial"/>
                <a:sym typeface="Arial"/>
              </a:rPr>
              <a:t>2  Test before release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DF5325"/>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Playgrounds compare models side by side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Evaluators to give data driven quality checks</a:t>
            </a:r>
            <a:endParaRPr b="0" i="0" sz="1200" u="none" cap="none" strike="noStrike">
              <a:solidFill>
                <a:srgbClr val="8A898C"/>
              </a:solidFill>
              <a:latin typeface="Arial"/>
              <a:ea typeface="Arial"/>
              <a:cs typeface="Arial"/>
              <a:sym typeface="Arial"/>
            </a:endParaRPr>
          </a:p>
          <a:p>
            <a:pPr indent="-171450" lvl="0" marL="171450" marR="0" rtl="0" algn="l">
              <a:lnSpc>
                <a:spcPct val="100000"/>
              </a:lnSpc>
              <a:spcBef>
                <a:spcPts val="600"/>
              </a:spcBef>
              <a:spcAft>
                <a:spcPts val="0"/>
              </a:spcAft>
              <a:buClr>
                <a:srgbClr val="8A898C"/>
              </a:buClr>
              <a:buSzPts val="1200"/>
              <a:buFont typeface="Arial"/>
              <a:buChar char="•"/>
            </a:pPr>
            <a:r>
              <a:rPr b="0" i="0" lang="en-US" sz="1200" u="none" cap="none" strike="noStrike">
                <a:solidFill>
                  <a:srgbClr val="8A898C"/>
                </a:solidFill>
                <a:latin typeface="Arial"/>
                <a:ea typeface="Arial"/>
                <a:cs typeface="Arial"/>
                <a:sym typeface="Arial"/>
              </a:rPr>
              <a:t>Experiments run a dataset to A/B test prompts</a:t>
            </a:r>
            <a:endParaRPr b="0" i="0" sz="1400" u="none" cap="none" strike="noStrike">
              <a:solidFill>
                <a:srgbClr val="000000"/>
              </a:solidFill>
              <a:latin typeface="Arial"/>
              <a:ea typeface="Arial"/>
              <a:cs typeface="Arial"/>
              <a:sym typeface="Arial"/>
            </a:endParaRPr>
          </a:p>
        </p:txBody>
      </p:sp>
      <p:sp>
        <p:nvSpPr>
          <p:cNvPr id="1264" name="Google Shape;1264;p56"/>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Prompt management in three steps: author, test, publish </a:t>
            </a:r>
            <a:endParaRPr/>
          </a:p>
        </p:txBody>
      </p:sp>
      <p:sp>
        <p:nvSpPr>
          <p:cNvPr id="1265" name="Google Shape;1265;p5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PRODUCT EVIDENCE</a:t>
            </a:r>
            <a:endParaRPr/>
          </a:p>
        </p:txBody>
      </p:sp>
      <p:sp>
        <p:nvSpPr>
          <p:cNvPr id="1266" name="Google Shape;1266;p56"/>
          <p:cNvSpPr txBox="1"/>
          <p:nvPr>
            <p:ph idx="12" type="sldNum"/>
          </p:nvPr>
        </p:nvSpPr>
        <p:spPr>
          <a:xfrm>
            <a:off x="12008139" y="6673964"/>
            <a:ext cx="104195" cy="10772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sp>
        <p:nvSpPr>
          <p:cNvPr id="1267" name="Google Shape;1267;p56"/>
          <p:cNvSpPr/>
          <p:nvPr/>
        </p:nvSpPr>
        <p:spPr>
          <a:xfrm>
            <a:off x="433847" y="246519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1268" name="Google Shape;1268;p56"/>
          <p:cNvSpPr/>
          <p:nvPr/>
        </p:nvSpPr>
        <p:spPr>
          <a:xfrm>
            <a:off x="4364240" y="246519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1269" name="Google Shape;1269;p56"/>
          <p:cNvSpPr/>
          <p:nvPr/>
        </p:nvSpPr>
        <p:spPr>
          <a:xfrm>
            <a:off x="8294633" y="246519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1270" name="Google Shape;1270;p56"/>
          <p:cNvSpPr/>
          <p:nvPr/>
        </p:nvSpPr>
        <p:spPr>
          <a:xfrm>
            <a:off x="579535" y="2591199"/>
            <a:ext cx="212625"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6"/>
          <p:cNvSpPr/>
          <p:nvPr/>
        </p:nvSpPr>
        <p:spPr>
          <a:xfrm>
            <a:off x="4502053" y="2591199"/>
            <a:ext cx="228375"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6"/>
          <p:cNvSpPr/>
          <p:nvPr/>
        </p:nvSpPr>
        <p:spPr>
          <a:xfrm>
            <a:off x="8456071" y="2591199"/>
            <a:ext cx="181125"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6"/>
          <p:cNvSpPr/>
          <p:nvPr/>
        </p:nvSpPr>
        <p:spPr>
          <a:xfrm>
            <a:off x="1060000" y="2567199"/>
            <a:ext cx="1900000" cy="270000"/>
          </a:xfrm>
          <a:prstGeom prst="roundRect">
            <a:avLst>
              <a:gd fmla="val 50000" name="adj"/>
            </a:avLst>
          </a:prstGeom>
          <a:solidFill>
            <a:schemeClr val="accent1"/>
          </a:solidFill>
          <a:ln>
            <a:noFill/>
          </a:ln>
        </p:spPr>
        <p:txBody>
          <a:bodyPr anchorCtr="0" anchor="ctr" bIns="0" lIns="72000" spcFirstLastPara="1" rIns="7200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PROMPT CURATOR</a:t>
            </a:r>
            <a:endParaRPr b="0" i="0" sz="1400" u="none" cap="none" strike="noStrike">
              <a:solidFill>
                <a:srgbClr val="000000"/>
              </a:solidFill>
              <a:latin typeface="Arial"/>
              <a:ea typeface="Arial"/>
              <a:cs typeface="Arial"/>
              <a:sym typeface="Arial"/>
            </a:endParaRPr>
          </a:p>
        </p:txBody>
      </p:sp>
      <p:sp>
        <p:nvSpPr>
          <p:cNvPr id="1274" name="Google Shape;1274;p56"/>
          <p:cNvSpPr/>
          <p:nvPr/>
        </p:nvSpPr>
        <p:spPr>
          <a:xfrm>
            <a:off x="4990000" y="2567199"/>
            <a:ext cx="1900000" cy="270000"/>
          </a:xfrm>
          <a:prstGeom prst="roundRect">
            <a:avLst>
              <a:gd fmla="val 50000" name="adj"/>
            </a:avLst>
          </a:prstGeom>
          <a:solidFill>
            <a:schemeClr val="accent1"/>
          </a:solidFill>
          <a:ln>
            <a:noFill/>
          </a:ln>
        </p:spPr>
        <p:txBody>
          <a:bodyPr anchorCtr="0" anchor="ctr" bIns="0" lIns="72000" spcFirstLastPara="1" rIns="7200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CURATOR + BUILDER</a:t>
            </a:r>
            <a:endParaRPr b="0" i="0" sz="1400" u="none" cap="none" strike="noStrike">
              <a:solidFill>
                <a:srgbClr val="000000"/>
              </a:solidFill>
              <a:latin typeface="Arial"/>
              <a:ea typeface="Arial"/>
              <a:cs typeface="Arial"/>
              <a:sym typeface="Arial"/>
            </a:endParaRPr>
          </a:p>
        </p:txBody>
      </p:sp>
      <p:sp>
        <p:nvSpPr>
          <p:cNvPr id="1275" name="Google Shape;1275;p56"/>
          <p:cNvSpPr/>
          <p:nvPr/>
        </p:nvSpPr>
        <p:spPr>
          <a:xfrm>
            <a:off x="8920000" y="2567199"/>
            <a:ext cx="1900000" cy="270000"/>
          </a:xfrm>
          <a:prstGeom prst="roundRect">
            <a:avLst>
              <a:gd fmla="val 50000" name="adj"/>
            </a:avLst>
          </a:prstGeom>
          <a:solidFill>
            <a:schemeClr val="accent1"/>
          </a:solidFill>
          <a:ln>
            <a:noFill/>
          </a:ln>
        </p:spPr>
        <p:txBody>
          <a:bodyPr anchorCtr="0" anchor="ctr" bIns="0" lIns="72000" spcFirstLastPara="1" rIns="72000" wrap="square" tIns="0">
            <a:noAutofit/>
          </a:bodyPr>
          <a:lstStyle/>
          <a:p>
            <a:pPr indent="0" lvl="0" marL="0" marR="0" rtl="0" algn="ctr">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TECHNICAL BUILDER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57"/>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Create re-usable texts in one place, not in every prompt</a:t>
            </a:r>
            <a:endParaRPr/>
          </a:p>
        </p:txBody>
      </p:sp>
      <p:sp>
        <p:nvSpPr>
          <p:cNvPr id="1281" name="Google Shape;1281;p5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PRODUCT EVIDENCE - SKILL</a:t>
            </a:r>
            <a:endParaRPr/>
          </a:p>
        </p:txBody>
      </p:sp>
      <p:sp>
        <p:nvSpPr>
          <p:cNvPr id="1282" name="Google Shape;1282;p5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283" name="Google Shape;1283;p57"/>
          <p:cNvSpPr txBox="1"/>
          <p:nvPr/>
        </p:nvSpPr>
        <p:spPr>
          <a:xfrm>
            <a:off x="263351" y="1010122"/>
            <a:ext cx="11665123"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cap="none" strike="noStrike">
                <a:solidFill>
                  <a:schemeClr val="dk2"/>
                </a:solidFill>
                <a:latin typeface="Arial"/>
                <a:ea typeface="Arial"/>
                <a:cs typeface="Arial"/>
                <a:sym typeface="Arial"/>
              </a:rPr>
              <a:t>Re-used text lives centrally as a Skill and is referenced in prompts or evaluators</a:t>
            </a:r>
            <a:endParaRPr b="0" i="0" sz="2000" u="none" cap="none" strike="noStrike">
              <a:solidFill>
                <a:schemeClr val="dk2"/>
              </a:solidFill>
              <a:latin typeface="Arial"/>
              <a:ea typeface="Arial"/>
              <a:cs typeface="Arial"/>
              <a:sym typeface="Arial"/>
            </a:endParaRPr>
          </a:p>
        </p:txBody>
      </p:sp>
      <p:pic>
        <p:nvPicPr>
          <p:cNvPr descr="screenshot-1787328959959-1.jpg" id="1284" name="Google Shape;1284;p57"/>
          <p:cNvPicPr preferRelativeResize="0"/>
          <p:nvPr/>
        </p:nvPicPr>
        <p:blipFill rotWithShape="1">
          <a:blip r:embed="rId3">
            <a:alphaModFix/>
          </a:blip>
          <a:srcRect b="0" l="0" r="0" t="0"/>
          <a:stretch/>
        </p:blipFill>
        <p:spPr>
          <a:xfrm>
            <a:off x="1630500" y="1900000"/>
            <a:ext cx="8931000" cy="4400000"/>
          </a:xfrm>
          <a:prstGeom prst="rect">
            <a:avLst/>
          </a:prstGeom>
          <a:noFill/>
          <a:ln cap="flat" cmpd="sng" w="9525">
            <a:solidFill>
              <a:srgbClr val="DDDDDD"/>
            </a:solidFill>
            <a:prstDash val="solid"/>
            <a:round/>
            <a:headEnd len="sm" w="sm" type="none"/>
            <a:tailEnd len="sm" w="sm" type="none"/>
          </a:ln>
        </p:spPr>
      </p:pic>
      <p:grpSp>
        <p:nvGrpSpPr>
          <p:cNvPr id="1285" name="Google Shape;1285;p57"/>
          <p:cNvGrpSpPr/>
          <p:nvPr/>
        </p:nvGrpSpPr>
        <p:grpSpPr>
          <a:xfrm>
            <a:off x="9617524" y="142874"/>
            <a:ext cx="2383977" cy="342901"/>
            <a:chOff x="9617524" y="142874"/>
            <a:chExt cx="2383977" cy="342901"/>
          </a:xfrm>
        </p:grpSpPr>
        <p:sp>
          <p:nvSpPr>
            <p:cNvPr id="1286" name="Google Shape;1286;p57"/>
            <p:cNvSpPr/>
            <p:nvPr/>
          </p:nvSpPr>
          <p:spPr>
            <a:xfrm>
              <a:off x="9617524" y="142875"/>
              <a:ext cx="1176200" cy="3429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1. Author</a:t>
              </a:r>
              <a:endParaRPr b="0" i="0" sz="1400" u="none" cap="none" strike="noStrike">
                <a:solidFill>
                  <a:srgbClr val="000000"/>
                </a:solidFill>
                <a:latin typeface="Arial"/>
                <a:ea typeface="Arial"/>
                <a:cs typeface="Arial"/>
                <a:sym typeface="Arial"/>
              </a:endParaRPr>
            </a:p>
          </p:txBody>
        </p:sp>
        <p:sp>
          <p:nvSpPr>
            <p:cNvPr id="1287" name="Google Shape;1287;p57"/>
            <p:cNvSpPr/>
            <p:nvPr/>
          </p:nvSpPr>
          <p:spPr>
            <a:xfrm>
              <a:off x="10688000"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88" name="Google Shape;1288;p57"/>
            <p:cNvSpPr/>
            <p:nvPr/>
          </p:nvSpPr>
          <p:spPr>
            <a:xfrm>
              <a:off x="11291888"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pic>
        <p:nvPicPr>
          <p:cNvPr descr="An image displaying an interface for a customer service chatbot, featuring sections for email, chat, print, and language selection, along with placeholders for user input and optional data.&#10;&#10;AI-generated content may be incorrect." id="1293" name="Google Shape;1293;p58"/>
          <p:cNvPicPr preferRelativeResize="0"/>
          <p:nvPr/>
        </p:nvPicPr>
        <p:blipFill rotWithShape="1">
          <a:blip r:embed="rId3">
            <a:alphaModFix/>
          </a:blip>
          <a:srcRect b="7611" l="158" r="1" t="0"/>
          <a:stretch/>
        </p:blipFill>
        <p:spPr>
          <a:xfrm>
            <a:off x="1644650" y="1901425"/>
            <a:ext cx="8916850" cy="4443899"/>
          </a:xfrm>
          <a:prstGeom prst="rect">
            <a:avLst/>
          </a:prstGeom>
          <a:noFill/>
          <a:ln>
            <a:noFill/>
          </a:ln>
        </p:spPr>
      </p:pic>
      <p:sp>
        <p:nvSpPr>
          <p:cNvPr id="1294" name="Google Shape;1294;p58"/>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Prompts reference the shared registry, without manual copying</a:t>
            </a:r>
            <a:endParaRPr/>
          </a:p>
        </p:txBody>
      </p:sp>
      <p:sp>
        <p:nvSpPr>
          <p:cNvPr id="1295" name="Google Shape;1295;p58"/>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PRODUCT EVIDENCE - PROMPT</a:t>
            </a:r>
            <a:endParaRPr/>
          </a:p>
        </p:txBody>
      </p:sp>
      <p:sp>
        <p:nvSpPr>
          <p:cNvPr id="1296" name="Google Shape;1296;p58"/>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297" name="Google Shape;1297;p58"/>
          <p:cNvSpPr txBox="1"/>
          <p:nvPr/>
        </p:nvSpPr>
        <p:spPr>
          <a:xfrm>
            <a:off x="263351" y="1010122"/>
            <a:ext cx="11665123"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cap="none" strike="noStrike">
                <a:solidFill>
                  <a:schemeClr val="dk2"/>
                </a:solidFill>
                <a:latin typeface="Arial"/>
                <a:ea typeface="Arial"/>
                <a:cs typeface="Arial"/>
                <a:sym typeface="Arial"/>
              </a:rPr>
              <a:t>The house-style Skill is pulled in by reference</a:t>
            </a:r>
            <a:endParaRPr b="0" i="0" sz="1400" u="none" cap="none" strike="noStrike">
              <a:solidFill>
                <a:srgbClr val="000000"/>
              </a:solidFill>
              <a:latin typeface="Arial"/>
              <a:ea typeface="Arial"/>
              <a:cs typeface="Arial"/>
              <a:sym typeface="Arial"/>
            </a:endParaRPr>
          </a:p>
        </p:txBody>
      </p:sp>
      <p:sp>
        <p:nvSpPr>
          <p:cNvPr id="1298" name="Google Shape;1298;p58"/>
          <p:cNvSpPr/>
          <p:nvPr/>
        </p:nvSpPr>
        <p:spPr>
          <a:xfrm>
            <a:off x="6416363" y="3216882"/>
            <a:ext cx="1763231" cy="222437"/>
          </a:xfrm>
          <a:prstGeom prst="rect">
            <a:avLst/>
          </a:prstGeom>
          <a:noFill/>
          <a:ln cap="flat" cmpd="sng" w="12700">
            <a:solidFill>
              <a:schemeClr val="accent2"/>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299" name="Google Shape;1299;p58"/>
          <p:cNvGrpSpPr/>
          <p:nvPr/>
        </p:nvGrpSpPr>
        <p:grpSpPr>
          <a:xfrm>
            <a:off x="9617524" y="142874"/>
            <a:ext cx="2383977" cy="342901"/>
            <a:chOff x="9617524" y="142874"/>
            <a:chExt cx="2383977" cy="342901"/>
          </a:xfrm>
        </p:grpSpPr>
        <p:sp>
          <p:nvSpPr>
            <p:cNvPr id="1300" name="Google Shape;1300;p58"/>
            <p:cNvSpPr/>
            <p:nvPr/>
          </p:nvSpPr>
          <p:spPr>
            <a:xfrm>
              <a:off x="9617524" y="142875"/>
              <a:ext cx="1176200" cy="3429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1. Author</a:t>
              </a:r>
              <a:endParaRPr b="0" i="0" sz="1400" u="none" cap="none" strike="noStrike">
                <a:solidFill>
                  <a:srgbClr val="000000"/>
                </a:solidFill>
                <a:latin typeface="Arial"/>
                <a:ea typeface="Arial"/>
                <a:cs typeface="Arial"/>
                <a:sym typeface="Arial"/>
              </a:endParaRPr>
            </a:p>
          </p:txBody>
        </p:sp>
        <p:sp>
          <p:nvSpPr>
            <p:cNvPr id="1301" name="Google Shape;1301;p58"/>
            <p:cNvSpPr/>
            <p:nvPr/>
          </p:nvSpPr>
          <p:spPr>
            <a:xfrm>
              <a:off x="10688000"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302" name="Google Shape;1302;p58"/>
            <p:cNvSpPr/>
            <p:nvPr/>
          </p:nvSpPr>
          <p:spPr>
            <a:xfrm>
              <a:off x="11291888"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5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Every change is a version, with a reason attached</a:t>
            </a:r>
            <a:endParaRPr/>
          </a:p>
        </p:txBody>
      </p:sp>
      <p:sp>
        <p:nvSpPr>
          <p:cNvPr id="1308" name="Google Shape;1308;p59"/>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PRODUCT EVIDENCE – COMPARE CHANGES</a:t>
            </a:r>
            <a:endParaRPr/>
          </a:p>
        </p:txBody>
      </p:sp>
      <p:sp>
        <p:nvSpPr>
          <p:cNvPr id="1309" name="Google Shape;1309;p59"/>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310" name="Google Shape;1310;p59"/>
          <p:cNvSpPr txBox="1"/>
          <p:nvPr/>
        </p:nvSpPr>
        <p:spPr>
          <a:xfrm>
            <a:off x="263351" y="1010122"/>
            <a:ext cx="11665123"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cap="none" strike="noStrike">
                <a:solidFill>
                  <a:schemeClr val="dk2"/>
                </a:solidFill>
                <a:latin typeface="Arial"/>
                <a:ea typeface="Arial"/>
                <a:cs typeface="Arial"/>
                <a:sym typeface="Arial"/>
              </a:rPr>
              <a:t>Compare the changes, with a one-click restore.</a:t>
            </a:r>
            <a:endParaRPr b="0" i="0" sz="1400" u="none" cap="none" strike="noStrike">
              <a:solidFill>
                <a:srgbClr val="000000"/>
              </a:solidFill>
              <a:latin typeface="Arial"/>
              <a:ea typeface="Arial"/>
              <a:cs typeface="Arial"/>
              <a:sym typeface="Arial"/>
            </a:endParaRPr>
          </a:p>
        </p:txBody>
      </p:sp>
      <p:pic>
        <p:nvPicPr>
          <p:cNvPr descr="screenshot-1787328976239-2.jpg" id="1311" name="Google Shape;1311;p59"/>
          <p:cNvPicPr preferRelativeResize="0"/>
          <p:nvPr/>
        </p:nvPicPr>
        <p:blipFill rotWithShape="1">
          <a:blip r:embed="rId3">
            <a:alphaModFix/>
          </a:blip>
          <a:srcRect b="0" l="0" r="0" t="0"/>
          <a:stretch/>
        </p:blipFill>
        <p:spPr>
          <a:xfrm>
            <a:off x="1630500" y="2032428"/>
            <a:ext cx="8931000" cy="4135144"/>
          </a:xfrm>
          <a:prstGeom prst="rect">
            <a:avLst/>
          </a:prstGeom>
          <a:noFill/>
          <a:ln cap="flat" cmpd="sng" w="9525">
            <a:solidFill>
              <a:srgbClr val="DDDDDD"/>
            </a:solidFill>
            <a:prstDash val="solid"/>
            <a:round/>
            <a:headEnd len="sm" w="sm" type="none"/>
            <a:tailEnd len="sm" w="sm" type="none"/>
          </a:ln>
        </p:spPr>
      </p:pic>
      <p:sp>
        <p:nvSpPr>
          <p:cNvPr id="1312" name="Google Shape;1312;p59"/>
          <p:cNvSpPr/>
          <p:nvPr/>
        </p:nvSpPr>
        <p:spPr>
          <a:xfrm flipH="1">
            <a:off x="2974706" y="2408350"/>
            <a:ext cx="1355598" cy="956892"/>
          </a:xfrm>
          <a:prstGeom prst="rect">
            <a:avLst/>
          </a:prstGeom>
          <a:noFill/>
          <a:ln cap="flat" cmpd="sng" w="12700">
            <a:solidFill>
              <a:schemeClr val="accent2"/>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313" name="Google Shape;1313;p59"/>
          <p:cNvGrpSpPr/>
          <p:nvPr/>
        </p:nvGrpSpPr>
        <p:grpSpPr>
          <a:xfrm>
            <a:off x="9617524" y="142874"/>
            <a:ext cx="2383977" cy="342901"/>
            <a:chOff x="9617524" y="142874"/>
            <a:chExt cx="2383977" cy="342901"/>
          </a:xfrm>
        </p:grpSpPr>
        <p:sp>
          <p:nvSpPr>
            <p:cNvPr id="1314" name="Google Shape;1314;p59"/>
            <p:cNvSpPr/>
            <p:nvPr/>
          </p:nvSpPr>
          <p:spPr>
            <a:xfrm>
              <a:off x="9617524" y="142875"/>
              <a:ext cx="1176200" cy="342900"/>
            </a:xfrm>
            <a:prstGeom prst="homePlate">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1. Author</a:t>
              </a:r>
              <a:endParaRPr b="0" i="0" sz="1400" u="none" cap="none" strike="noStrike">
                <a:solidFill>
                  <a:srgbClr val="000000"/>
                </a:solidFill>
                <a:latin typeface="Arial"/>
                <a:ea typeface="Arial"/>
                <a:cs typeface="Arial"/>
                <a:sym typeface="Arial"/>
              </a:endParaRPr>
            </a:p>
          </p:txBody>
        </p:sp>
        <p:sp>
          <p:nvSpPr>
            <p:cNvPr id="1315" name="Google Shape;1315;p59"/>
            <p:cNvSpPr/>
            <p:nvPr/>
          </p:nvSpPr>
          <p:spPr>
            <a:xfrm>
              <a:off x="10688000"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316" name="Google Shape;1316;p59"/>
            <p:cNvSpPr/>
            <p:nvPr/>
          </p:nvSpPr>
          <p:spPr>
            <a:xfrm>
              <a:off x="11291888"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60"/>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Which version is live, and where</a:t>
            </a:r>
            <a:endParaRPr/>
          </a:p>
        </p:txBody>
      </p:sp>
      <p:sp>
        <p:nvSpPr>
          <p:cNvPr id="1322" name="Google Shape;1322;p6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PRODUCT EVIDENCE – STAGED ENVIRONMENTS</a:t>
            </a:r>
            <a:endParaRPr/>
          </a:p>
        </p:txBody>
      </p:sp>
      <p:sp>
        <p:nvSpPr>
          <p:cNvPr id="1323" name="Google Shape;1323;p6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324" name="Google Shape;1324;p60"/>
          <p:cNvSpPr txBox="1"/>
          <p:nvPr/>
        </p:nvSpPr>
        <p:spPr>
          <a:xfrm>
            <a:off x="263351" y="1010122"/>
            <a:ext cx="11665123"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cap="none" strike="noStrike">
                <a:solidFill>
                  <a:schemeClr val="dk2"/>
                </a:solidFill>
                <a:latin typeface="Arial"/>
                <a:ea typeface="Arial"/>
                <a:cs typeface="Arial"/>
                <a:sym typeface="Arial"/>
              </a:rPr>
              <a:t>The version under test and the version gating production are promoted deliberately</a:t>
            </a:r>
            <a:endParaRPr b="0" i="0" sz="1400" u="none" cap="none" strike="noStrike">
              <a:solidFill>
                <a:srgbClr val="000000"/>
              </a:solidFill>
              <a:latin typeface="Arial"/>
              <a:ea typeface="Arial"/>
              <a:cs typeface="Arial"/>
              <a:sym typeface="Arial"/>
            </a:endParaRPr>
          </a:p>
        </p:txBody>
      </p:sp>
      <p:pic>
        <p:nvPicPr>
          <p:cNvPr descr="screenshot-1787328896870-0.jpg" id="1325" name="Google Shape;1325;p60"/>
          <p:cNvPicPr preferRelativeResize="0"/>
          <p:nvPr/>
        </p:nvPicPr>
        <p:blipFill rotWithShape="1">
          <a:blip r:embed="rId3">
            <a:alphaModFix/>
          </a:blip>
          <a:srcRect b="0" l="0" r="0" t="0"/>
          <a:stretch/>
        </p:blipFill>
        <p:spPr>
          <a:xfrm>
            <a:off x="1630500" y="2032428"/>
            <a:ext cx="8931000" cy="4135144"/>
          </a:xfrm>
          <a:prstGeom prst="rect">
            <a:avLst/>
          </a:prstGeom>
          <a:noFill/>
          <a:ln cap="flat" cmpd="sng" w="9525">
            <a:solidFill>
              <a:srgbClr val="DDDDDD"/>
            </a:solidFill>
            <a:prstDash val="solid"/>
            <a:round/>
            <a:headEnd len="sm" w="sm" type="none"/>
            <a:tailEnd len="sm" w="sm" type="none"/>
          </a:ln>
        </p:spPr>
      </p:pic>
      <p:sp>
        <p:nvSpPr>
          <p:cNvPr id="1326" name="Google Shape;1326;p60"/>
          <p:cNvSpPr/>
          <p:nvPr/>
        </p:nvSpPr>
        <p:spPr>
          <a:xfrm>
            <a:off x="2951923" y="2795663"/>
            <a:ext cx="1082200" cy="717669"/>
          </a:xfrm>
          <a:prstGeom prst="rect">
            <a:avLst/>
          </a:prstGeom>
          <a:noFill/>
          <a:ln cap="flat" cmpd="sng" w="12700">
            <a:solidFill>
              <a:schemeClr val="accent2"/>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1327" name="Google Shape;1327;p60"/>
          <p:cNvGrpSpPr/>
          <p:nvPr/>
        </p:nvGrpSpPr>
        <p:grpSpPr>
          <a:xfrm>
            <a:off x="9674673" y="142874"/>
            <a:ext cx="2326829" cy="342901"/>
            <a:chOff x="9674673" y="142874"/>
            <a:chExt cx="2326829" cy="342901"/>
          </a:xfrm>
        </p:grpSpPr>
        <p:sp>
          <p:nvSpPr>
            <p:cNvPr id="1328" name="Google Shape;1328;p60"/>
            <p:cNvSpPr/>
            <p:nvPr/>
          </p:nvSpPr>
          <p:spPr>
            <a:xfrm>
              <a:off x="9674673" y="142875"/>
              <a:ext cx="684000" cy="342900"/>
            </a:xfrm>
            <a:prstGeom prst="homePlate">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329" name="Google Shape;1329;p60"/>
            <p:cNvSpPr/>
            <p:nvPr/>
          </p:nvSpPr>
          <p:spPr>
            <a:xfrm>
              <a:off x="10260924" y="142874"/>
              <a:ext cx="709613" cy="342901"/>
            </a:xfrm>
            <a:prstGeom prst="chevron">
              <a:avLst>
                <a:gd fmla="val 50000" name="adj"/>
              </a:avLst>
            </a:prstGeom>
            <a:solidFill>
              <a:srgbClr val="FAF7F4"/>
            </a:solidFill>
            <a:ln cap="flat" cmpd="sng" w="12700">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accent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330" name="Google Shape;1330;p60"/>
            <p:cNvSpPr/>
            <p:nvPr/>
          </p:nvSpPr>
          <p:spPr>
            <a:xfrm>
              <a:off x="10872788" y="142874"/>
              <a:ext cx="1128714" cy="342901"/>
            </a:xfrm>
            <a:prstGeom prst="chevron">
              <a:avLst>
                <a:gd fmla="val 50000" name="adj"/>
              </a:avLst>
            </a:prstGeom>
            <a:solidFill>
              <a:schemeClr val="accent1"/>
            </a:solidFill>
            <a:ln cap="flat" cmpd="sng" w="12700">
              <a:solidFill>
                <a:schemeClr val="accent1"/>
              </a:solidFill>
              <a:prstDash val="solid"/>
              <a:miter lim="80"/>
              <a:headEnd len="sm" w="sm" type="none"/>
              <a:tailEnd len="sm" w="sm" type="none"/>
            </a:ln>
          </p:spPr>
          <p:txBody>
            <a:bodyPr anchorCtr="0" anchor="ctr" bIns="45700" lIns="36000" spcFirstLastPara="1" rIns="0"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3 Publish</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61"/>
          <p:cNvSpPr/>
          <p:nvPr/>
        </p:nvSpPr>
        <p:spPr>
          <a:xfrm>
            <a:off x="4655840" y="260350"/>
            <a:ext cx="7272808" cy="5905500"/>
          </a:xfrm>
          <a:custGeom>
            <a:rect b="b" l="l" r="r" t="t"/>
            <a:pathLst>
              <a:path extrusionOk="0" h="5905500" w="7272808">
                <a:moveTo>
                  <a:pt x="87815" y="0"/>
                </a:moveTo>
                <a:lnTo>
                  <a:pt x="1289875" y="0"/>
                </a:lnTo>
                <a:lnTo>
                  <a:pt x="5982933" y="0"/>
                </a:lnTo>
                <a:lnTo>
                  <a:pt x="7184993" y="0"/>
                </a:lnTo>
                <a:cubicBezTo>
                  <a:pt x="7233492" y="0"/>
                  <a:pt x="7272808" y="39316"/>
                  <a:pt x="7272808" y="87815"/>
                </a:cubicBezTo>
                <a:lnTo>
                  <a:pt x="7272808" y="5817685"/>
                </a:lnTo>
                <a:cubicBezTo>
                  <a:pt x="7272808" y="5866184"/>
                  <a:pt x="7233492" y="5905500"/>
                  <a:pt x="7184993" y="5905500"/>
                </a:cubicBezTo>
                <a:lnTo>
                  <a:pt x="5982933" y="5905500"/>
                </a:lnTo>
                <a:lnTo>
                  <a:pt x="1289875" y="5905500"/>
                </a:lnTo>
                <a:lnTo>
                  <a:pt x="87815" y="5905500"/>
                </a:lnTo>
                <a:cubicBezTo>
                  <a:pt x="39316" y="5905500"/>
                  <a:pt x="0" y="5866184"/>
                  <a:pt x="0" y="5817685"/>
                </a:cubicBezTo>
                <a:lnTo>
                  <a:pt x="0" y="87815"/>
                </a:lnTo>
                <a:cubicBezTo>
                  <a:pt x="0" y="39316"/>
                  <a:pt x="39316" y="0"/>
                  <a:pt x="87815" y="0"/>
                </a:cubicBezTo>
                <a:close/>
              </a:path>
            </a:pathLst>
          </a:custGeom>
          <a:solidFill>
            <a:srgbClr val="F4F5F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7" name="Google Shape;1337;p6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338" name="Google Shape;1338;p6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1339" name="Google Shape;1339;p61"/>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340" name="Google Shape;1340;p61" title="Screenshot 2025-09-01 at 14.49.35.png"/>
          <p:cNvPicPr preferRelativeResize="0"/>
          <p:nvPr/>
        </p:nvPicPr>
        <p:blipFill rotWithShape="1">
          <a:blip r:embed="rId3">
            <a:alphaModFix/>
          </a:blip>
          <a:srcRect b="0" l="0" r="0" t="0"/>
          <a:stretch/>
        </p:blipFill>
        <p:spPr>
          <a:xfrm>
            <a:off x="5352548" y="323850"/>
            <a:ext cx="5879393" cy="5750536"/>
          </a:xfrm>
          <a:prstGeom prst="roundRect">
            <a:avLst>
              <a:gd fmla="val 1745" name="adj"/>
            </a:avLst>
          </a:prstGeom>
          <a:noFill/>
          <a:ln>
            <a:noFill/>
          </a:ln>
        </p:spPr>
      </p:pic>
      <p:sp>
        <p:nvSpPr>
          <p:cNvPr id="1341" name="Google Shape;1341;p61"/>
          <p:cNvSpPr txBox="1"/>
          <p:nvPr/>
        </p:nvSpPr>
        <p:spPr>
          <a:xfrm>
            <a:off x="263525" y="1016732"/>
            <a:ext cx="3529013"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br>
              <a:rPr b="0" i="0" lang="en-US" sz="2800" u="none" cap="none" strike="noStrike">
                <a:solidFill>
                  <a:schemeClr val="dk1"/>
                </a:solidFill>
                <a:latin typeface="Arial"/>
                <a:ea typeface="Arial"/>
                <a:cs typeface="Arial"/>
                <a:sym typeface="Arial"/>
              </a:rPr>
            </a:b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Check the Variables in the prompt: {{…}}</a:t>
            </a:r>
            <a:endParaRPr b="0" i="0" sz="1400" u="none" cap="none" strike="noStrike">
              <a:solidFill>
                <a:srgbClr val="000000"/>
              </a:solidFill>
              <a:latin typeface="Arial"/>
              <a:ea typeface="Arial"/>
              <a:cs typeface="Arial"/>
              <a:sym typeface="Arial"/>
            </a:endParaRPr>
          </a:p>
        </p:txBody>
      </p:sp>
      <p:sp>
        <p:nvSpPr>
          <p:cNvPr id="1342" name="Google Shape;1342;p61"/>
          <p:cNvSpPr/>
          <p:nvPr/>
        </p:nvSpPr>
        <p:spPr>
          <a:xfrm>
            <a:off x="263525" y="1016732"/>
            <a:ext cx="504000" cy="504000"/>
          </a:xfrm>
          <a:prstGeom prst="roundRect">
            <a:avLst>
              <a:gd fmla="val 8775" name="adj"/>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pic>
        <p:nvPicPr>
          <p:cNvPr id="1343" name="Google Shape;1343;p61"/>
          <p:cNvPicPr preferRelativeResize="0"/>
          <p:nvPr/>
        </p:nvPicPr>
        <p:blipFill rotWithShape="1">
          <a:blip r:embed="rId4">
            <a:alphaModFix/>
          </a:blip>
          <a:srcRect b="0" l="0" r="0" t="0"/>
          <a:stretch/>
        </p:blipFill>
        <p:spPr>
          <a:xfrm>
            <a:off x="263525" y="260350"/>
            <a:ext cx="3946030" cy="216000"/>
          </a:xfrm>
          <a:prstGeom prst="rect">
            <a:avLst/>
          </a:prstGeom>
          <a:noFill/>
          <a:ln>
            <a:noFill/>
          </a:ln>
        </p:spPr>
      </p:pic>
      <p:pic>
        <p:nvPicPr>
          <p:cNvPr id="1344" name="Google Shape;1344;p61"/>
          <p:cNvPicPr preferRelativeResize="0"/>
          <p:nvPr/>
        </p:nvPicPr>
        <p:blipFill rotWithShape="1">
          <a:blip r:embed="rId5">
            <a:alphaModFix/>
          </a:blip>
          <a:srcRect b="0" l="0" r="0" t="0"/>
          <a:stretch/>
        </p:blipFill>
        <p:spPr>
          <a:xfrm>
            <a:off x="386025" y="1142732"/>
            <a:ext cx="259000" cy="252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62"/>
          <p:cNvSpPr txBox="1"/>
          <p:nvPr>
            <p:ph type="title"/>
          </p:nvPr>
        </p:nvSpPr>
        <p:spPr>
          <a:xfrm>
            <a:off x="5519936" y="2047211"/>
            <a:ext cx="6408538" cy="276998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10 min to build your first prompts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4" name="Shape 1354"/>
        <p:cNvGrpSpPr/>
        <p:nvPr/>
      </p:nvGrpSpPr>
      <p:grpSpPr>
        <a:xfrm>
          <a:off x="0" y="0"/>
          <a:ext cx="0" cy="0"/>
          <a:chOff x="0" y="0"/>
          <a:chExt cx="0" cy="0"/>
        </a:xfrm>
      </p:grpSpPr>
      <p:sp>
        <p:nvSpPr>
          <p:cNvPr id="1355" name="Google Shape;1355;p63"/>
          <p:cNvSpPr/>
          <p:nvPr/>
        </p:nvSpPr>
        <p:spPr>
          <a:xfrm>
            <a:off x="4655840" y="260350"/>
            <a:ext cx="7272808" cy="5905500"/>
          </a:xfrm>
          <a:custGeom>
            <a:rect b="b" l="l" r="r" t="t"/>
            <a:pathLst>
              <a:path extrusionOk="0" h="5905500" w="7272808">
                <a:moveTo>
                  <a:pt x="87815" y="0"/>
                </a:moveTo>
                <a:lnTo>
                  <a:pt x="1289875" y="0"/>
                </a:lnTo>
                <a:lnTo>
                  <a:pt x="5982933" y="0"/>
                </a:lnTo>
                <a:lnTo>
                  <a:pt x="7184993" y="0"/>
                </a:lnTo>
                <a:cubicBezTo>
                  <a:pt x="7233492" y="0"/>
                  <a:pt x="7272808" y="39316"/>
                  <a:pt x="7272808" y="87815"/>
                </a:cubicBezTo>
                <a:lnTo>
                  <a:pt x="7272808" y="5817685"/>
                </a:lnTo>
                <a:cubicBezTo>
                  <a:pt x="7272808" y="5866184"/>
                  <a:pt x="7233492" y="5905500"/>
                  <a:pt x="7184993" y="5905500"/>
                </a:cubicBezTo>
                <a:lnTo>
                  <a:pt x="5982933" y="5905500"/>
                </a:lnTo>
                <a:lnTo>
                  <a:pt x="1289875" y="5905500"/>
                </a:lnTo>
                <a:lnTo>
                  <a:pt x="87815" y="5905500"/>
                </a:lnTo>
                <a:cubicBezTo>
                  <a:pt x="39316" y="5905500"/>
                  <a:pt x="0" y="5866184"/>
                  <a:pt x="0" y="5817685"/>
                </a:cubicBezTo>
                <a:lnTo>
                  <a:pt x="0" y="87815"/>
                </a:lnTo>
                <a:cubicBezTo>
                  <a:pt x="0" y="39316"/>
                  <a:pt x="39316" y="0"/>
                  <a:pt x="87815" y="0"/>
                </a:cubicBezTo>
                <a:close/>
              </a:path>
            </a:pathLst>
          </a:custGeom>
          <a:solidFill>
            <a:srgbClr val="F4F5F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6" name="Google Shape;1356;p6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357" name="Google Shape;1357;p6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1358" name="Google Shape;1358;p63"/>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359" name="Google Shape;1359;p63"/>
          <p:cNvSpPr txBox="1"/>
          <p:nvPr/>
        </p:nvSpPr>
        <p:spPr>
          <a:xfrm>
            <a:off x="263525" y="1016732"/>
            <a:ext cx="3529013"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br>
              <a:rPr b="0" i="0" lang="en-US" sz="2800" u="none" cap="none" strike="noStrike">
                <a:solidFill>
                  <a:schemeClr val="dk1"/>
                </a:solidFill>
                <a:latin typeface="Arial"/>
                <a:ea typeface="Arial"/>
                <a:cs typeface="Arial"/>
                <a:sym typeface="Arial"/>
              </a:rPr>
            </a:b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Check the Variables in the prompt: {{…}}</a:t>
            </a:r>
            <a:endParaRPr b="0" i="0" sz="1400" u="none" cap="none" strike="noStrike">
              <a:solidFill>
                <a:srgbClr val="000000"/>
              </a:solidFill>
              <a:latin typeface="Arial"/>
              <a:ea typeface="Arial"/>
              <a:cs typeface="Arial"/>
              <a:sym typeface="Arial"/>
            </a:endParaRPr>
          </a:p>
        </p:txBody>
      </p:sp>
      <p:sp>
        <p:nvSpPr>
          <p:cNvPr id="1360" name="Google Shape;1360;p63"/>
          <p:cNvSpPr/>
          <p:nvPr/>
        </p:nvSpPr>
        <p:spPr>
          <a:xfrm>
            <a:off x="263525" y="1016732"/>
            <a:ext cx="504000" cy="504000"/>
          </a:xfrm>
          <a:prstGeom prst="roundRect">
            <a:avLst>
              <a:gd fmla="val 8775" name="adj"/>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pic>
        <p:nvPicPr>
          <p:cNvPr id="1361" name="Google Shape;1361;p63"/>
          <p:cNvPicPr preferRelativeResize="0"/>
          <p:nvPr/>
        </p:nvPicPr>
        <p:blipFill rotWithShape="1">
          <a:blip r:embed="rId3">
            <a:alphaModFix/>
          </a:blip>
          <a:srcRect b="0" l="0" r="0" t="0"/>
          <a:stretch/>
        </p:blipFill>
        <p:spPr>
          <a:xfrm>
            <a:off x="263525" y="260350"/>
            <a:ext cx="3946030" cy="216000"/>
          </a:xfrm>
          <a:prstGeom prst="rect">
            <a:avLst/>
          </a:prstGeom>
          <a:noFill/>
          <a:ln>
            <a:noFill/>
          </a:ln>
        </p:spPr>
      </p:pic>
      <p:pic>
        <p:nvPicPr>
          <p:cNvPr id="1362" name="Google Shape;1362;p63"/>
          <p:cNvPicPr preferRelativeResize="0"/>
          <p:nvPr/>
        </p:nvPicPr>
        <p:blipFill rotWithShape="1">
          <a:blip r:embed="rId4">
            <a:alphaModFix/>
          </a:blip>
          <a:srcRect b="0" l="0" r="0" t="0"/>
          <a:stretch/>
        </p:blipFill>
        <p:spPr>
          <a:xfrm>
            <a:off x="386025" y="1142732"/>
            <a:ext cx="259000" cy="252000"/>
          </a:xfrm>
          <a:prstGeom prst="rect">
            <a:avLst/>
          </a:prstGeom>
          <a:noFill/>
          <a:ln>
            <a:noFill/>
          </a:ln>
        </p:spPr>
      </p:pic>
      <p:pic>
        <p:nvPicPr>
          <p:cNvPr id="1363" name="Google Shape;1363;p63"/>
          <p:cNvPicPr preferRelativeResize="0"/>
          <p:nvPr/>
        </p:nvPicPr>
        <p:blipFill rotWithShape="1">
          <a:blip r:embed="rId5">
            <a:alphaModFix/>
          </a:blip>
          <a:srcRect b="-4528" l="0" r="0" t="-4528"/>
          <a:stretch/>
        </p:blipFill>
        <p:spPr>
          <a:xfrm>
            <a:off x="4835400" y="441325"/>
            <a:ext cx="6913688" cy="5543550"/>
          </a:xfrm>
          <a:prstGeom prst="roundRect">
            <a:avLst>
              <a:gd fmla="val 1745" name="adj"/>
            </a:avLst>
          </a:prstGeom>
          <a:solidFill>
            <a:schemeClr val="lt1"/>
          </a:solid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64"/>
          <p:cNvSpPr/>
          <p:nvPr/>
        </p:nvSpPr>
        <p:spPr>
          <a:xfrm>
            <a:off x="4655840" y="260350"/>
            <a:ext cx="7272808" cy="5905500"/>
          </a:xfrm>
          <a:custGeom>
            <a:rect b="b" l="l" r="r" t="t"/>
            <a:pathLst>
              <a:path extrusionOk="0" h="5905500" w="7272808">
                <a:moveTo>
                  <a:pt x="87815" y="0"/>
                </a:moveTo>
                <a:lnTo>
                  <a:pt x="1289875" y="0"/>
                </a:lnTo>
                <a:lnTo>
                  <a:pt x="5982933" y="0"/>
                </a:lnTo>
                <a:lnTo>
                  <a:pt x="7184993" y="0"/>
                </a:lnTo>
                <a:cubicBezTo>
                  <a:pt x="7233492" y="0"/>
                  <a:pt x="7272808" y="39316"/>
                  <a:pt x="7272808" y="87815"/>
                </a:cubicBezTo>
                <a:lnTo>
                  <a:pt x="7272808" y="5817685"/>
                </a:lnTo>
                <a:cubicBezTo>
                  <a:pt x="7272808" y="5866184"/>
                  <a:pt x="7233492" y="5905500"/>
                  <a:pt x="7184993" y="5905500"/>
                </a:cubicBezTo>
                <a:lnTo>
                  <a:pt x="5982933" y="5905500"/>
                </a:lnTo>
                <a:lnTo>
                  <a:pt x="1289875" y="5905500"/>
                </a:lnTo>
                <a:lnTo>
                  <a:pt x="87815" y="5905500"/>
                </a:lnTo>
                <a:cubicBezTo>
                  <a:pt x="39316" y="5905500"/>
                  <a:pt x="0" y="5866184"/>
                  <a:pt x="0" y="5817685"/>
                </a:cubicBezTo>
                <a:lnTo>
                  <a:pt x="0" y="87815"/>
                </a:lnTo>
                <a:cubicBezTo>
                  <a:pt x="0" y="39316"/>
                  <a:pt x="39316" y="0"/>
                  <a:pt x="87815" y="0"/>
                </a:cubicBezTo>
                <a:close/>
              </a:path>
            </a:pathLst>
          </a:custGeom>
          <a:solidFill>
            <a:srgbClr val="F4F5F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0" name="Google Shape;1370;p6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371" name="Google Shape;1371;p6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1372" name="Google Shape;1372;p64"/>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373" name="Google Shape;1373;p64"/>
          <p:cNvSpPr txBox="1"/>
          <p:nvPr/>
        </p:nvSpPr>
        <p:spPr>
          <a:xfrm>
            <a:off x="263525" y="1016732"/>
            <a:ext cx="3529013"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br>
              <a:rPr b="0" i="0" lang="en-US" sz="2800" u="none" cap="none" strike="noStrike">
                <a:solidFill>
                  <a:schemeClr val="dk1"/>
                </a:solidFill>
                <a:latin typeface="Arial"/>
                <a:ea typeface="Arial"/>
                <a:cs typeface="Arial"/>
                <a:sym typeface="Arial"/>
              </a:rPr>
            </a:b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Simply power your models with your own data</a:t>
            </a:r>
            <a:endParaRPr b="0" i="0" sz="1400" u="none" cap="none" strike="noStrike">
              <a:solidFill>
                <a:srgbClr val="000000"/>
              </a:solidFill>
              <a:latin typeface="Arial"/>
              <a:ea typeface="Arial"/>
              <a:cs typeface="Arial"/>
              <a:sym typeface="Arial"/>
            </a:endParaRPr>
          </a:p>
        </p:txBody>
      </p:sp>
      <p:sp>
        <p:nvSpPr>
          <p:cNvPr id="1374" name="Google Shape;1374;p64"/>
          <p:cNvSpPr/>
          <p:nvPr/>
        </p:nvSpPr>
        <p:spPr>
          <a:xfrm>
            <a:off x="263525" y="1016732"/>
            <a:ext cx="504000" cy="504000"/>
          </a:xfrm>
          <a:prstGeom prst="roundRect">
            <a:avLst>
              <a:gd fmla="val 8775" name="adj"/>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pic>
        <p:nvPicPr>
          <p:cNvPr id="1375" name="Google Shape;1375;p64"/>
          <p:cNvPicPr preferRelativeResize="0"/>
          <p:nvPr/>
        </p:nvPicPr>
        <p:blipFill rotWithShape="1">
          <a:blip r:embed="rId3">
            <a:alphaModFix/>
          </a:blip>
          <a:srcRect b="0" l="0" r="0" t="0"/>
          <a:stretch/>
        </p:blipFill>
        <p:spPr>
          <a:xfrm>
            <a:off x="263525" y="260350"/>
            <a:ext cx="3946030" cy="216000"/>
          </a:xfrm>
          <a:prstGeom prst="rect">
            <a:avLst/>
          </a:prstGeom>
          <a:noFill/>
          <a:ln>
            <a:noFill/>
          </a:ln>
        </p:spPr>
      </p:pic>
      <p:pic>
        <p:nvPicPr>
          <p:cNvPr descr="A screenshot of a computer&#10;&#10;AI-generated content may be incorrect." id="1376" name="Google Shape;1376;p64"/>
          <p:cNvPicPr preferRelativeResize="0"/>
          <p:nvPr/>
        </p:nvPicPr>
        <p:blipFill rotWithShape="1">
          <a:blip r:embed="rId4">
            <a:alphaModFix/>
          </a:blip>
          <a:srcRect b="0" l="0" r="345" t="0"/>
          <a:stretch/>
        </p:blipFill>
        <p:spPr>
          <a:xfrm>
            <a:off x="4835400" y="797447"/>
            <a:ext cx="6913688" cy="4831308"/>
          </a:xfrm>
          <a:prstGeom prst="roundRect">
            <a:avLst>
              <a:gd fmla="val 1745" name="adj"/>
            </a:avLst>
          </a:prstGeom>
          <a:noFill/>
          <a:ln>
            <a:noFill/>
          </a:ln>
        </p:spPr>
      </p:pic>
      <p:sp>
        <p:nvSpPr>
          <p:cNvPr id="1377" name="Google Shape;1377;p64"/>
          <p:cNvSpPr txBox="1"/>
          <p:nvPr/>
        </p:nvSpPr>
        <p:spPr>
          <a:xfrm>
            <a:off x="263525" y="3537012"/>
            <a:ext cx="3529013" cy="1338828"/>
          </a:xfrm>
          <a:prstGeom prst="rect">
            <a:avLst/>
          </a:prstGeom>
          <a:noFill/>
          <a:ln>
            <a:noFill/>
          </a:ln>
        </p:spPr>
        <p:txBody>
          <a:bodyPr anchorCtr="0" anchor="t" bIns="0" lIns="0" spcFirstLastPara="1" rIns="0" wrap="square" tIns="0">
            <a:spAutoFit/>
          </a:bodyPr>
          <a:lstStyle/>
          <a:p>
            <a:pPr indent="-128588" lvl="1" marL="128588" marR="0" rtl="0" algn="l">
              <a:lnSpc>
                <a:spcPct val="100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RAG (retrieval augmented generation) </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Lets your models use your own proprietary data</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Upload files, Orq handles embedding and chunking</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More accurate and context-aware answers</a:t>
            </a:r>
            <a:endParaRPr b="0" i="0" sz="1400" u="none" cap="none" strike="noStrike">
              <a:solidFill>
                <a:srgbClr val="000000"/>
              </a:solidFill>
              <a:latin typeface="Arial"/>
              <a:ea typeface="Arial"/>
              <a:cs typeface="Arial"/>
              <a:sym typeface="Arial"/>
            </a:endParaRPr>
          </a:p>
        </p:txBody>
      </p:sp>
      <p:pic>
        <p:nvPicPr>
          <p:cNvPr id="1378" name="Google Shape;1378;p64"/>
          <p:cNvPicPr preferRelativeResize="0"/>
          <p:nvPr/>
        </p:nvPicPr>
        <p:blipFill rotWithShape="1">
          <a:blip r:embed="rId5">
            <a:alphaModFix/>
          </a:blip>
          <a:srcRect b="0" l="0" r="0" t="0"/>
          <a:stretch/>
        </p:blipFill>
        <p:spPr>
          <a:xfrm>
            <a:off x="401338" y="1142732"/>
            <a:ext cx="228375" cy="2520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6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3: Experiment</a:t>
            </a:r>
            <a:endParaRPr/>
          </a:p>
        </p:txBody>
      </p:sp>
      <p:sp>
        <p:nvSpPr>
          <p:cNvPr id="1385" name="Google Shape;1385;p65"/>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1386" name="Google Shape;1386;p6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387" name="Google Shape;1387;p6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388" name="Google Shape;1388;p65"/>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1389" name="Google Shape;1389;p65"/>
          <p:cNvGrpSpPr/>
          <p:nvPr/>
        </p:nvGrpSpPr>
        <p:grpSpPr>
          <a:xfrm>
            <a:off x="263352" y="3719207"/>
            <a:ext cx="11665296" cy="404488"/>
            <a:chOff x="385750" y="3723383"/>
            <a:chExt cx="11420499" cy="396000"/>
          </a:xfrm>
        </p:grpSpPr>
        <p:sp>
          <p:nvSpPr>
            <p:cNvPr id="1390" name="Google Shape;1390;p65"/>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391" name="Google Shape;1391;p65"/>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392" name="Google Shape;1392;p65"/>
            <p:cNvCxnSpPr>
              <a:stCxn id="1391" idx="0"/>
              <a:endCxn id="1390" idx="0"/>
            </p:cNvCxnSpPr>
            <p:nvPr/>
          </p:nvCxnSpPr>
          <p:spPr>
            <a:xfrm rot="5400000">
              <a:off x="6082028" y="-1005067"/>
              <a:ext cx="600" cy="9457500"/>
            </a:xfrm>
            <a:prstGeom prst="bentConnector3">
              <a:avLst>
                <a:gd fmla="val -216885697" name="adj1"/>
              </a:avLst>
            </a:prstGeom>
            <a:noFill/>
            <a:ln cap="flat" cmpd="sng" w="12700">
              <a:solidFill>
                <a:srgbClr val="DF5325"/>
              </a:solidFill>
              <a:prstDash val="lgDash"/>
              <a:miter lim="80"/>
              <a:headEnd len="sm" w="sm" type="none"/>
              <a:tailEnd len="med" w="med" type="triangle"/>
            </a:ln>
          </p:spPr>
        </p:cxnSp>
        <p:sp>
          <p:nvSpPr>
            <p:cNvPr id="1393" name="Google Shape;1393;p65"/>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1394" name="Google Shape;1394;p65"/>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1395" name="Google Shape;1395;p65"/>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1396" name="Google Shape;1396;p65"/>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1397" name="Google Shape;1397;p65"/>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1398" name="Google Shape;1398;p65"/>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1399" name="Google Shape;1399;p65"/>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1400" name="Google Shape;1400;p65"/>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1401" name="Google Shape;1401;p65"/>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1402" name="Google Shape;1402;p65"/>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66"/>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Experiment: Ensuring quality and reliability before deployment</a:t>
            </a:r>
            <a:endParaRPr/>
          </a:p>
        </p:txBody>
      </p:sp>
      <p:sp>
        <p:nvSpPr>
          <p:cNvPr id="1409" name="Google Shape;1409;p6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410" name="Google Shape;1410;p6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411" name="Google Shape;1411;p66"/>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412" name="Google Shape;1412;p66"/>
          <p:cNvSpPr/>
          <p:nvPr/>
        </p:nvSpPr>
        <p:spPr>
          <a:xfrm>
            <a:off x="263351" y="2287916"/>
            <a:ext cx="11665123" cy="801321"/>
          </a:xfrm>
          <a:prstGeom prst="roundRect">
            <a:avLst>
              <a:gd fmla="val 560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AB &amp; Regression Testing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Compare multiple prompt or model versions side by side to measure which produces the most accurate or efficient results</a:t>
            </a:r>
            <a:endParaRPr b="0" i="0" sz="1400" u="none" cap="none" strike="noStrike">
              <a:solidFill>
                <a:srgbClr val="000000"/>
              </a:solidFill>
              <a:latin typeface="Arial"/>
              <a:ea typeface="Arial"/>
              <a:cs typeface="Arial"/>
              <a:sym typeface="Arial"/>
            </a:endParaRPr>
          </a:p>
        </p:txBody>
      </p:sp>
      <p:sp>
        <p:nvSpPr>
          <p:cNvPr id="1413" name="Google Shape;1413;p66"/>
          <p:cNvSpPr/>
          <p:nvPr/>
        </p:nvSpPr>
        <p:spPr>
          <a:xfrm>
            <a:off x="263351" y="3316349"/>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Evals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Define evaluation criteria (accuracy, tone, compliance) and automate testing to ensure performance aligns with quality goals</a:t>
            </a:r>
            <a:endParaRPr b="0" i="0" sz="1400" u="none" cap="none" strike="noStrike">
              <a:solidFill>
                <a:srgbClr val="000000"/>
              </a:solidFill>
              <a:latin typeface="Arial"/>
              <a:ea typeface="Arial"/>
              <a:cs typeface="Arial"/>
              <a:sym typeface="Arial"/>
            </a:endParaRPr>
          </a:p>
        </p:txBody>
      </p:sp>
      <p:sp>
        <p:nvSpPr>
          <p:cNvPr id="1414" name="Google Shape;1414;p66"/>
          <p:cNvSpPr/>
          <p:nvPr/>
        </p:nvSpPr>
        <p:spPr>
          <a:xfrm>
            <a:off x="263351" y="4344782"/>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Implement safety and compliance checks that prevent unwanted behavior or sensitive outputs before deployment</a:t>
            </a:r>
            <a:endParaRPr b="0" i="0" sz="1400" u="none" cap="none" strike="noStrike">
              <a:solidFill>
                <a:srgbClr val="000000"/>
              </a:solidFill>
              <a:latin typeface="Arial"/>
              <a:ea typeface="Arial"/>
              <a:cs typeface="Arial"/>
              <a:sym typeface="Arial"/>
            </a:endParaRPr>
          </a:p>
        </p:txBody>
      </p:sp>
      <p:sp>
        <p:nvSpPr>
          <p:cNvPr id="1415" name="Google Shape;1415;p66"/>
          <p:cNvSpPr/>
          <p:nvPr/>
        </p:nvSpPr>
        <p:spPr>
          <a:xfrm>
            <a:off x="263351" y="5373216"/>
            <a:ext cx="11665123"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Responsible:</a:t>
            </a:r>
            <a:endParaRPr b="0" i="0" sz="1400" u="none" cap="none" strike="noStrike">
              <a:solidFill>
                <a:srgbClr val="000000"/>
              </a:solidFill>
              <a:latin typeface="Arial"/>
              <a:ea typeface="Arial"/>
              <a:cs typeface="Arial"/>
              <a:sym typeface="Arial"/>
            </a:endParaRPr>
          </a:p>
        </p:txBody>
      </p:sp>
      <p:sp>
        <p:nvSpPr>
          <p:cNvPr id="1416" name="Google Shape;1416;p66"/>
          <p:cNvSpPr/>
          <p:nvPr/>
        </p:nvSpPr>
        <p:spPr>
          <a:xfrm>
            <a:off x="1595500" y="5654695"/>
            <a:ext cx="2502534" cy="272415"/>
          </a:xfrm>
          <a:prstGeom prst="roundRect">
            <a:avLst>
              <a:gd fmla="val 16667" name="adj"/>
            </a:avLst>
          </a:prstGeom>
          <a:solidFill>
            <a:schemeClr val="l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PM, SME, Data Scientist, QA</a:t>
            </a:r>
            <a:endParaRPr b="0" i="0" sz="1400" u="none" cap="none" strike="noStrike">
              <a:solidFill>
                <a:srgbClr val="000000"/>
              </a:solidFill>
              <a:latin typeface="Arial"/>
              <a:ea typeface="Arial"/>
              <a:cs typeface="Arial"/>
              <a:sym typeface="Arial"/>
            </a:endParaRPr>
          </a:p>
        </p:txBody>
      </p:sp>
      <p:grpSp>
        <p:nvGrpSpPr>
          <p:cNvPr id="1417" name="Google Shape;1417;p66"/>
          <p:cNvGrpSpPr/>
          <p:nvPr/>
        </p:nvGrpSpPr>
        <p:grpSpPr>
          <a:xfrm>
            <a:off x="263352" y="1664804"/>
            <a:ext cx="2033005" cy="404488"/>
            <a:chOff x="5079497" y="3719207"/>
            <a:chExt cx="2033005" cy="404488"/>
          </a:xfrm>
        </p:grpSpPr>
        <p:sp>
          <p:nvSpPr>
            <p:cNvPr id="1418" name="Google Shape;1418;p66"/>
            <p:cNvSpPr/>
            <p:nvPr/>
          </p:nvSpPr>
          <p:spPr>
            <a:xfrm>
              <a:off x="5079497"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pic>
          <p:nvPicPr>
            <p:cNvPr id="1419" name="Google Shape;1419;p66"/>
            <p:cNvPicPr preferRelativeResize="0"/>
            <p:nvPr/>
          </p:nvPicPr>
          <p:blipFill rotWithShape="1">
            <a:blip r:embed="rId3">
              <a:alphaModFix/>
            </a:blip>
            <a:srcRect b="0" l="0" r="0" t="0"/>
            <a:stretch/>
          </p:blipFill>
          <p:spPr>
            <a:xfrm>
              <a:off x="5200902" y="3792750"/>
              <a:ext cx="233270" cy="257401"/>
            </a:xfrm>
            <a:prstGeom prst="rect">
              <a:avLst/>
            </a:prstGeom>
            <a:noFill/>
            <a:ln>
              <a:noFill/>
            </a:ln>
          </p:spPr>
        </p:pic>
      </p:grpSp>
      <p:pic>
        <p:nvPicPr>
          <p:cNvPr id="1420" name="Google Shape;1420;p66"/>
          <p:cNvPicPr preferRelativeResize="0"/>
          <p:nvPr/>
        </p:nvPicPr>
        <p:blipFill rotWithShape="1">
          <a:blip r:embed="rId4">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6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Before go-live: a testing pyramid, four layers, one gate</a:t>
            </a:r>
            <a:endParaRPr/>
          </a:p>
        </p:txBody>
      </p:sp>
      <p:sp>
        <p:nvSpPr>
          <p:cNvPr id="1427" name="Google Shape;1427;p6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EXPERIMENT  ·  VALIDATE BEFORE GO-LIVE</a:t>
            </a:r>
            <a:endParaRPr/>
          </a:p>
        </p:txBody>
      </p:sp>
      <p:sp>
        <p:nvSpPr>
          <p:cNvPr id="1428" name="Google Shape;1428;p67"/>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429" name="Google Shape;1429;p67"/>
          <p:cNvSpPr/>
          <p:nvPr/>
        </p:nvSpPr>
        <p:spPr>
          <a:xfrm>
            <a:off x="2552832" y="1690204"/>
            <a:ext cx="1320535" cy="876300"/>
          </a:xfrm>
          <a:custGeom>
            <a:rect b="b" l="l" r="r" t="t"/>
            <a:pathLst>
              <a:path extrusionOk="0" h="876300" w="1320535">
                <a:moveTo>
                  <a:pt x="660268" y="0"/>
                </a:moveTo>
                <a:lnTo>
                  <a:pt x="1320535" y="876300"/>
                </a:lnTo>
                <a:lnTo>
                  <a:pt x="0" y="876300"/>
                </a:lnTo>
                <a:close/>
              </a:path>
            </a:pathLst>
          </a:custGeom>
          <a:solidFill>
            <a:srgbClr val="DF532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0" name="Google Shape;1430;p67"/>
          <p:cNvSpPr/>
          <p:nvPr/>
        </p:nvSpPr>
        <p:spPr>
          <a:xfrm>
            <a:off x="2747169" y="2287104"/>
            <a:ext cx="931863" cy="177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HUMAN TESTING</a:t>
            </a:r>
            <a:endParaRPr b="0" i="0" sz="1400" u="none" cap="none" strike="noStrike">
              <a:solidFill>
                <a:srgbClr val="000000"/>
              </a:solidFill>
              <a:latin typeface="Arial"/>
              <a:ea typeface="Arial"/>
              <a:cs typeface="Arial"/>
              <a:sym typeface="Arial"/>
            </a:endParaRPr>
          </a:p>
        </p:txBody>
      </p:sp>
      <p:sp>
        <p:nvSpPr>
          <p:cNvPr id="1431" name="Google Shape;1431;p67"/>
          <p:cNvSpPr/>
          <p:nvPr/>
        </p:nvSpPr>
        <p:spPr>
          <a:xfrm>
            <a:off x="1854288" y="2617304"/>
            <a:ext cx="2717624" cy="876300"/>
          </a:xfrm>
          <a:custGeom>
            <a:rect b="b" l="l" r="r" t="t"/>
            <a:pathLst>
              <a:path extrusionOk="0" h="876300" w="2717624">
                <a:moveTo>
                  <a:pt x="660268" y="0"/>
                </a:moveTo>
                <a:lnTo>
                  <a:pt x="2057356" y="0"/>
                </a:lnTo>
                <a:lnTo>
                  <a:pt x="2717624" y="876300"/>
                </a:lnTo>
                <a:lnTo>
                  <a:pt x="0" y="876300"/>
                </a:lnTo>
                <a:close/>
              </a:path>
            </a:pathLst>
          </a:custGeom>
          <a:solidFill>
            <a:srgbClr val="14131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2" name="Google Shape;1432;p67"/>
          <p:cNvSpPr/>
          <p:nvPr/>
        </p:nvSpPr>
        <p:spPr>
          <a:xfrm>
            <a:off x="2177807" y="3042754"/>
            <a:ext cx="2070585" cy="177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RED-TEAMING</a:t>
            </a:r>
            <a:endParaRPr b="0" i="0" sz="1400" u="none" cap="none" strike="noStrike">
              <a:solidFill>
                <a:srgbClr val="000000"/>
              </a:solidFill>
              <a:latin typeface="Arial"/>
              <a:ea typeface="Arial"/>
              <a:cs typeface="Arial"/>
              <a:sym typeface="Arial"/>
            </a:endParaRPr>
          </a:p>
        </p:txBody>
      </p:sp>
      <p:sp>
        <p:nvSpPr>
          <p:cNvPr id="1433" name="Google Shape;1433;p67"/>
          <p:cNvSpPr/>
          <p:nvPr/>
        </p:nvSpPr>
        <p:spPr>
          <a:xfrm>
            <a:off x="1155744" y="3544404"/>
            <a:ext cx="4114712" cy="876300"/>
          </a:xfrm>
          <a:custGeom>
            <a:rect b="b" l="l" r="r" t="t"/>
            <a:pathLst>
              <a:path extrusionOk="0" h="876300" w="4114712">
                <a:moveTo>
                  <a:pt x="660268" y="0"/>
                </a:moveTo>
                <a:lnTo>
                  <a:pt x="3454444" y="0"/>
                </a:lnTo>
                <a:lnTo>
                  <a:pt x="4114712" y="876300"/>
                </a:lnTo>
                <a:lnTo>
                  <a:pt x="0" y="876300"/>
                </a:lnTo>
                <a:close/>
              </a:path>
            </a:pathLst>
          </a:custGeom>
          <a:solidFill>
            <a:srgbClr val="3A39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4" name="Google Shape;1434;p67"/>
          <p:cNvSpPr/>
          <p:nvPr/>
        </p:nvSpPr>
        <p:spPr>
          <a:xfrm>
            <a:off x="1479263" y="3969854"/>
            <a:ext cx="3467673" cy="177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AGENT SIMULATIONS</a:t>
            </a:r>
            <a:endParaRPr b="0" i="0" sz="1400" u="none" cap="none" strike="noStrike">
              <a:solidFill>
                <a:srgbClr val="000000"/>
              </a:solidFill>
              <a:latin typeface="Arial"/>
              <a:ea typeface="Arial"/>
              <a:cs typeface="Arial"/>
              <a:sym typeface="Arial"/>
            </a:endParaRPr>
          </a:p>
        </p:txBody>
      </p:sp>
      <p:sp>
        <p:nvSpPr>
          <p:cNvPr id="1435" name="Google Shape;1435;p67"/>
          <p:cNvSpPr/>
          <p:nvPr/>
        </p:nvSpPr>
        <p:spPr>
          <a:xfrm>
            <a:off x="457200" y="4471504"/>
            <a:ext cx="5511800" cy="876300"/>
          </a:xfrm>
          <a:custGeom>
            <a:rect b="b" l="l" r="r" t="t"/>
            <a:pathLst>
              <a:path extrusionOk="0" h="876300" w="5511800">
                <a:moveTo>
                  <a:pt x="660268" y="0"/>
                </a:moveTo>
                <a:lnTo>
                  <a:pt x="4851532" y="0"/>
                </a:lnTo>
                <a:lnTo>
                  <a:pt x="5511800" y="876300"/>
                </a:lnTo>
                <a:lnTo>
                  <a:pt x="0" y="876300"/>
                </a:lnTo>
                <a:close/>
              </a:path>
            </a:pathLst>
          </a:custGeom>
          <a:solidFill>
            <a:srgbClr val="5F5E6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6" name="Google Shape;1436;p67"/>
          <p:cNvSpPr/>
          <p:nvPr/>
        </p:nvSpPr>
        <p:spPr>
          <a:xfrm>
            <a:off x="780719" y="4896954"/>
            <a:ext cx="4864761" cy="177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1" i="0" lang="en-US" sz="1000" u="none" cap="none" strike="noStrike">
                <a:solidFill>
                  <a:srgbClr val="FFFFFF"/>
                </a:solidFill>
                <a:latin typeface="Arial"/>
                <a:ea typeface="Arial"/>
                <a:cs typeface="Arial"/>
                <a:sym typeface="Arial"/>
              </a:rPr>
              <a:t>EXPERIMENT ANALYSIS</a:t>
            </a:r>
            <a:endParaRPr b="0" i="0" sz="1400" u="none" cap="none" strike="noStrike">
              <a:solidFill>
                <a:srgbClr val="000000"/>
              </a:solidFill>
              <a:latin typeface="Arial"/>
              <a:ea typeface="Arial"/>
              <a:cs typeface="Arial"/>
              <a:sym typeface="Arial"/>
            </a:endParaRPr>
          </a:p>
        </p:txBody>
      </p:sp>
      <p:sp>
        <p:nvSpPr>
          <p:cNvPr id="1437" name="Google Shape;1437;p67"/>
          <p:cNvSpPr/>
          <p:nvPr/>
        </p:nvSpPr>
        <p:spPr>
          <a:xfrm>
            <a:off x="6223000" y="1664804"/>
            <a:ext cx="5486400" cy="9144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8" name="Google Shape;1438;p67"/>
          <p:cNvSpPr/>
          <p:nvPr/>
        </p:nvSpPr>
        <p:spPr>
          <a:xfrm>
            <a:off x="6223000" y="1766404"/>
            <a:ext cx="63500" cy="711200"/>
          </a:xfrm>
          <a:prstGeom prst="rect">
            <a:avLst/>
          </a:prstGeom>
          <a:solidFill>
            <a:srgbClr val="DF53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9" name="Google Shape;1439;p67"/>
          <p:cNvSpPr/>
          <p:nvPr/>
        </p:nvSpPr>
        <p:spPr>
          <a:xfrm>
            <a:off x="7061200" y="1766404"/>
            <a:ext cx="45212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300"/>
              <a:buFont typeface="Arial"/>
              <a:buNone/>
            </a:pPr>
            <a:r>
              <a:rPr b="1" i="0" lang="en-US" sz="1300" u="none" cap="none" strike="noStrike">
                <a:solidFill>
                  <a:srgbClr val="141319"/>
                </a:solidFill>
                <a:latin typeface="Arial"/>
                <a:ea typeface="Arial"/>
                <a:cs typeface="Arial"/>
                <a:sym typeface="Arial"/>
              </a:rPr>
              <a:t>Human testing</a:t>
            </a:r>
            <a:endParaRPr b="0" i="0" sz="1400" u="none" cap="none" strike="noStrike">
              <a:solidFill>
                <a:srgbClr val="000000"/>
              </a:solidFill>
              <a:latin typeface="Arial"/>
              <a:ea typeface="Arial"/>
              <a:cs typeface="Arial"/>
              <a:sym typeface="Arial"/>
            </a:endParaRPr>
          </a:p>
        </p:txBody>
      </p:sp>
      <p:sp>
        <p:nvSpPr>
          <p:cNvPr id="1440" name="Google Shape;1440;p67"/>
          <p:cNvSpPr/>
          <p:nvPr/>
        </p:nvSpPr>
        <p:spPr>
          <a:xfrm>
            <a:off x="7061200" y="2033104"/>
            <a:ext cx="4521200" cy="20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100"/>
              <a:buFont typeface="Arial"/>
              <a:buNone/>
            </a:pPr>
            <a:r>
              <a:rPr b="0" i="1" lang="en-US" sz="1100" u="none" cap="none" strike="noStrike">
                <a:solidFill>
                  <a:srgbClr val="4A4A4D"/>
                </a:solidFill>
                <a:latin typeface="Arial"/>
                <a:ea typeface="Arial"/>
                <a:cs typeface="Arial"/>
                <a:sym typeface="Arial"/>
              </a:rPr>
              <a:t>“Would we put our name on it?”</a:t>
            </a:r>
            <a:endParaRPr b="0" i="0" sz="1400" u="none" cap="none" strike="noStrike">
              <a:solidFill>
                <a:srgbClr val="000000"/>
              </a:solidFill>
              <a:latin typeface="Arial"/>
              <a:ea typeface="Arial"/>
              <a:cs typeface="Arial"/>
              <a:sym typeface="Arial"/>
            </a:endParaRPr>
          </a:p>
        </p:txBody>
      </p:sp>
      <p:sp>
        <p:nvSpPr>
          <p:cNvPr id="1441" name="Google Shape;1441;p67"/>
          <p:cNvSpPr/>
          <p:nvPr/>
        </p:nvSpPr>
        <p:spPr>
          <a:xfrm>
            <a:off x="7061200" y="2274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Tone</a:t>
            </a:r>
            <a:endParaRPr b="0" i="0" sz="1400" u="none" cap="none" strike="noStrike">
              <a:solidFill>
                <a:srgbClr val="000000"/>
              </a:solidFill>
              <a:latin typeface="Arial"/>
              <a:ea typeface="Arial"/>
              <a:cs typeface="Arial"/>
              <a:sym typeface="Arial"/>
            </a:endParaRPr>
          </a:p>
        </p:txBody>
      </p:sp>
      <p:sp>
        <p:nvSpPr>
          <p:cNvPr id="1442" name="Google Shape;1442;p67"/>
          <p:cNvSpPr/>
          <p:nvPr/>
        </p:nvSpPr>
        <p:spPr>
          <a:xfrm>
            <a:off x="8593667" y="2274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Fairness</a:t>
            </a:r>
            <a:endParaRPr b="0" i="0" sz="1400" u="none" cap="none" strike="noStrike">
              <a:solidFill>
                <a:srgbClr val="000000"/>
              </a:solidFill>
              <a:latin typeface="Arial"/>
              <a:ea typeface="Arial"/>
              <a:cs typeface="Arial"/>
              <a:sym typeface="Arial"/>
            </a:endParaRPr>
          </a:p>
        </p:txBody>
      </p:sp>
      <p:sp>
        <p:nvSpPr>
          <p:cNvPr id="1443" name="Google Shape;1443;p67"/>
          <p:cNvSpPr/>
          <p:nvPr/>
        </p:nvSpPr>
        <p:spPr>
          <a:xfrm>
            <a:off x="10126133" y="2274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Fit</a:t>
            </a:r>
            <a:endParaRPr b="0" i="0" sz="1400" u="none" cap="none" strike="noStrike">
              <a:solidFill>
                <a:srgbClr val="000000"/>
              </a:solidFill>
              <a:latin typeface="Arial"/>
              <a:ea typeface="Arial"/>
              <a:cs typeface="Arial"/>
              <a:sym typeface="Arial"/>
            </a:endParaRPr>
          </a:p>
        </p:txBody>
      </p:sp>
      <p:sp>
        <p:nvSpPr>
          <p:cNvPr id="1444" name="Google Shape;1444;p67"/>
          <p:cNvSpPr/>
          <p:nvPr/>
        </p:nvSpPr>
        <p:spPr>
          <a:xfrm>
            <a:off x="6223000" y="2680804"/>
            <a:ext cx="5486400" cy="9144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5" name="Google Shape;1445;p67"/>
          <p:cNvSpPr/>
          <p:nvPr/>
        </p:nvSpPr>
        <p:spPr>
          <a:xfrm>
            <a:off x="6223000" y="2782404"/>
            <a:ext cx="63500" cy="711200"/>
          </a:xfrm>
          <a:prstGeom prst="rect">
            <a:avLst/>
          </a:prstGeom>
          <a:solidFill>
            <a:srgbClr val="14131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6" name="Google Shape;1446;p67"/>
          <p:cNvSpPr/>
          <p:nvPr/>
        </p:nvSpPr>
        <p:spPr>
          <a:xfrm>
            <a:off x="7061200" y="2782404"/>
            <a:ext cx="45212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300"/>
              <a:buFont typeface="Arial"/>
              <a:buNone/>
            </a:pPr>
            <a:r>
              <a:rPr b="1" i="0" lang="en-US" sz="1300" u="none" cap="none" strike="noStrike">
                <a:solidFill>
                  <a:srgbClr val="141319"/>
                </a:solidFill>
                <a:latin typeface="Arial"/>
                <a:ea typeface="Arial"/>
                <a:cs typeface="Arial"/>
                <a:sym typeface="Arial"/>
              </a:rPr>
              <a:t>Red-teaming</a:t>
            </a:r>
            <a:endParaRPr b="0" i="0" sz="1400" u="none" cap="none" strike="noStrike">
              <a:solidFill>
                <a:srgbClr val="000000"/>
              </a:solidFill>
              <a:latin typeface="Arial"/>
              <a:ea typeface="Arial"/>
              <a:cs typeface="Arial"/>
              <a:sym typeface="Arial"/>
            </a:endParaRPr>
          </a:p>
        </p:txBody>
      </p:sp>
      <p:sp>
        <p:nvSpPr>
          <p:cNvPr id="1447" name="Google Shape;1447;p67"/>
          <p:cNvSpPr/>
          <p:nvPr/>
        </p:nvSpPr>
        <p:spPr>
          <a:xfrm>
            <a:off x="7061200" y="3049104"/>
            <a:ext cx="4521200" cy="20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100"/>
              <a:buFont typeface="Arial"/>
              <a:buNone/>
            </a:pPr>
            <a:r>
              <a:rPr b="0" i="1" lang="en-US" sz="1100" u="none" cap="none" strike="noStrike">
                <a:solidFill>
                  <a:srgbClr val="4A4A4D"/>
                </a:solidFill>
                <a:latin typeface="Arial"/>
                <a:ea typeface="Arial"/>
                <a:cs typeface="Arial"/>
                <a:sym typeface="Arial"/>
              </a:rPr>
              <a:t>“Can someone make it misbehave?”</a:t>
            </a:r>
            <a:endParaRPr b="0" i="0" sz="1400" u="none" cap="none" strike="noStrike">
              <a:solidFill>
                <a:srgbClr val="000000"/>
              </a:solidFill>
              <a:latin typeface="Arial"/>
              <a:ea typeface="Arial"/>
              <a:cs typeface="Arial"/>
              <a:sym typeface="Arial"/>
            </a:endParaRPr>
          </a:p>
        </p:txBody>
      </p:sp>
      <p:sp>
        <p:nvSpPr>
          <p:cNvPr id="1448" name="Google Shape;1448;p67"/>
          <p:cNvSpPr/>
          <p:nvPr/>
        </p:nvSpPr>
        <p:spPr>
          <a:xfrm>
            <a:off x="7061200" y="3290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Injection</a:t>
            </a:r>
            <a:endParaRPr b="0" i="0" sz="1400" u="none" cap="none" strike="noStrike">
              <a:solidFill>
                <a:srgbClr val="000000"/>
              </a:solidFill>
              <a:latin typeface="Arial"/>
              <a:ea typeface="Arial"/>
              <a:cs typeface="Arial"/>
              <a:sym typeface="Arial"/>
            </a:endParaRPr>
          </a:p>
        </p:txBody>
      </p:sp>
      <p:sp>
        <p:nvSpPr>
          <p:cNvPr id="1449" name="Google Shape;1449;p67"/>
          <p:cNvSpPr/>
          <p:nvPr/>
        </p:nvSpPr>
        <p:spPr>
          <a:xfrm>
            <a:off x="8593667" y="3290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Data leaks</a:t>
            </a:r>
            <a:endParaRPr b="0" i="0" sz="1400" u="none" cap="none" strike="noStrike">
              <a:solidFill>
                <a:srgbClr val="000000"/>
              </a:solidFill>
              <a:latin typeface="Arial"/>
              <a:ea typeface="Arial"/>
              <a:cs typeface="Arial"/>
              <a:sym typeface="Arial"/>
            </a:endParaRPr>
          </a:p>
        </p:txBody>
      </p:sp>
      <p:sp>
        <p:nvSpPr>
          <p:cNvPr id="1450" name="Google Shape;1450;p67"/>
          <p:cNvSpPr/>
          <p:nvPr/>
        </p:nvSpPr>
        <p:spPr>
          <a:xfrm>
            <a:off x="10126133" y="3290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Hijacked goals</a:t>
            </a:r>
            <a:endParaRPr b="0" i="0" sz="1400" u="none" cap="none" strike="noStrike">
              <a:solidFill>
                <a:srgbClr val="000000"/>
              </a:solidFill>
              <a:latin typeface="Arial"/>
              <a:ea typeface="Arial"/>
              <a:cs typeface="Arial"/>
              <a:sym typeface="Arial"/>
            </a:endParaRPr>
          </a:p>
        </p:txBody>
      </p:sp>
      <p:sp>
        <p:nvSpPr>
          <p:cNvPr id="1451" name="Google Shape;1451;p67"/>
          <p:cNvSpPr/>
          <p:nvPr/>
        </p:nvSpPr>
        <p:spPr>
          <a:xfrm>
            <a:off x="6223000" y="3696804"/>
            <a:ext cx="5486400" cy="9144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2" name="Google Shape;1452;p67"/>
          <p:cNvSpPr/>
          <p:nvPr/>
        </p:nvSpPr>
        <p:spPr>
          <a:xfrm>
            <a:off x="6223000" y="3798404"/>
            <a:ext cx="63500" cy="711200"/>
          </a:xfrm>
          <a:prstGeom prst="rect">
            <a:avLst/>
          </a:prstGeom>
          <a:solidFill>
            <a:srgbClr val="3A393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3" name="Google Shape;1453;p67"/>
          <p:cNvSpPr/>
          <p:nvPr/>
        </p:nvSpPr>
        <p:spPr>
          <a:xfrm>
            <a:off x="7061200" y="3798404"/>
            <a:ext cx="45212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300"/>
              <a:buFont typeface="Arial"/>
              <a:buNone/>
            </a:pPr>
            <a:r>
              <a:rPr b="1" i="0" lang="en-US" sz="1300" u="none" cap="none" strike="noStrike">
                <a:solidFill>
                  <a:srgbClr val="141319"/>
                </a:solidFill>
                <a:latin typeface="Arial"/>
                <a:ea typeface="Arial"/>
                <a:cs typeface="Arial"/>
                <a:sym typeface="Arial"/>
              </a:rPr>
              <a:t>Agent simulations</a:t>
            </a:r>
            <a:endParaRPr b="0" i="0" sz="1400" u="none" cap="none" strike="noStrike">
              <a:solidFill>
                <a:srgbClr val="000000"/>
              </a:solidFill>
              <a:latin typeface="Arial"/>
              <a:ea typeface="Arial"/>
              <a:cs typeface="Arial"/>
              <a:sym typeface="Arial"/>
            </a:endParaRPr>
          </a:p>
        </p:txBody>
      </p:sp>
      <p:sp>
        <p:nvSpPr>
          <p:cNvPr id="1454" name="Google Shape;1454;p67"/>
          <p:cNvSpPr/>
          <p:nvPr/>
        </p:nvSpPr>
        <p:spPr>
          <a:xfrm>
            <a:off x="7061200" y="4065104"/>
            <a:ext cx="4521200" cy="20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100"/>
              <a:buFont typeface="Arial"/>
              <a:buNone/>
            </a:pPr>
            <a:r>
              <a:rPr b="0" i="1" lang="en-US" sz="1100" u="none" cap="none" strike="noStrike">
                <a:solidFill>
                  <a:srgbClr val="4A4A4D"/>
                </a:solidFill>
                <a:latin typeface="Arial"/>
                <a:ea typeface="Arial"/>
                <a:cs typeface="Arial"/>
                <a:sym typeface="Arial"/>
              </a:rPr>
              <a:t>“Does it hold up over a whole conversation?”</a:t>
            </a:r>
            <a:endParaRPr b="0" i="0" sz="1400" u="none" cap="none" strike="noStrike">
              <a:solidFill>
                <a:srgbClr val="000000"/>
              </a:solidFill>
              <a:latin typeface="Arial"/>
              <a:ea typeface="Arial"/>
              <a:cs typeface="Arial"/>
              <a:sym typeface="Arial"/>
            </a:endParaRPr>
          </a:p>
        </p:txBody>
      </p:sp>
      <p:sp>
        <p:nvSpPr>
          <p:cNvPr id="1455" name="Google Shape;1455;p67"/>
          <p:cNvSpPr/>
          <p:nvPr/>
        </p:nvSpPr>
        <p:spPr>
          <a:xfrm>
            <a:off x="7061200" y="4306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Goal drift</a:t>
            </a:r>
            <a:endParaRPr b="0" i="0" sz="1400" u="none" cap="none" strike="noStrike">
              <a:solidFill>
                <a:srgbClr val="000000"/>
              </a:solidFill>
              <a:latin typeface="Arial"/>
              <a:ea typeface="Arial"/>
              <a:cs typeface="Arial"/>
              <a:sym typeface="Arial"/>
            </a:endParaRPr>
          </a:p>
        </p:txBody>
      </p:sp>
      <p:sp>
        <p:nvSpPr>
          <p:cNvPr id="1456" name="Google Shape;1456;p67"/>
          <p:cNvSpPr/>
          <p:nvPr/>
        </p:nvSpPr>
        <p:spPr>
          <a:xfrm>
            <a:off x="8593667" y="4306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Loops</a:t>
            </a:r>
            <a:endParaRPr b="0" i="0" sz="1400" u="none" cap="none" strike="noStrike">
              <a:solidFill>
                <a:srgbClr val="000000"/>
              </a:solidFill>
              <a:latin typeface="Arial"/>
              <a:ea typeface="Arial"/>
              <a:cs typeface="Arial"/>
              <a:sym typeface="Arial"/>
            </a:endParaRPr>
          </a:p>
        </p:txBody>
      </p:sp>
      <p:sp>
        <p:nvSpPr>
          <p:cNvPr id="1457" name="Google Shape;1457;p67"/>
          <p:cNvSpPr/>
          <p:nvPr/>
        </p:nvSpPr>
        <p:spPr>
          <a:xfrm>
            <a:off x="10126133" y="4306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Wrong actions</a:t>
            </a:r>
            <a:endParaRPr b="0" i="0" sz="1400" u="none" cap="none" strike="noStrike">
              <a:solidFill>
                <a:srgbClr val="000000"/>
              </a:solidFill>
              <a:latin typeface="Arial"/>
              <a:ea typeface="Arial"/>
              <a:cs typeface="Arial"/>
              <a:sym typeface="Arial"/>
            </a:endParaRPr>
          </a:p>
        </p:txBody>
      </p:sp>
      <p:sp>
        <p:nvSpPr>
          <p:cNvPr id="1458" name="Google Shape;1458;p67"/>
          <p:cNvSpPr/>
          <p:nvPr/>
        </p:nvSpPr>
        <p:spPr>
          <a:xfrm>
            <a:off x="6223000" y="4712804"/>
            <a:ext cx="5486400" cy="9144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9" name="Google Shape;1459;p67"/>
          <p:cNvSpPr/>
          <p:nvPr/>
        </p:nvSpPr>
        <p:spPr>
          <a:xfrm>
            <a:off x="6223000" y="4814404"/>
            <a:ext cx="63500" cy="711200"/>
          </a:xfrm>
          <a:prstGeom prst="rect">
            <a:avLst/>
          </a:prstGeom>
          <a:solidFill>
            <a:srgbClr val="5F5E6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60" name="Google Shape;1460;p67"/>
          <p:cNvSpPr/>
          <p:nvPr/>
        </p:nvSpPr>
        <p:spPr>
          <a:xfrm>
            <a:off x="7061200" y="4814404"/>
            <a:ext cx="45212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300"/>
              <a:buFont typeface="Arial"/>
              <a:buNone/>
            </a:pPr>
            <a:r>
              <a:rPr b="1" i="0" lang="en-US" sz="1300" u="none" cap="none" strike="noStrike">
                <a:solidFill>
                  <a:srgbClr val="141319"/>
                </a:solidFill>
                <a:latin typeface="Arial"/>
                <a:ea typeface="Arial"/>
                <a:cs typeface="Arial"/>
                <a:sym typeface="Arial"/>
              </a:rPr>
              <a:t>Experiment analysis</a:t>
            </a:r>
            <a:endParaRPr b="0" i="0" sz="1400" u="none" cap="none" strike="noStrike">
              <a:solidFill>
                <a:srgbClr val="000000"/>
              </a:solidFill>
              <a:latin typeface="Arial"/>
              <a:ea typeface="Arial"/>
              <a:cs typeface="Arial"/>
              <a:sym typeface="Arial"/>
            </a:endParaRPr>
          </a:p>
        </p:txBody>
      </p:sp>
      <p:sp>
        <p:nvSpPr>
          <p:cNvPr id="1461" name="Google Shape;1461;p67"/>
          <p:cNvSpPr/>
          <p:nvPr/>
        </p:nvSpPr>
        <p:spPr>
          <a:xfrm>
            <a:off x="7061200" y="5081104"/>
            <a:ext cx="4521200" cy="203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100"/>
              <a:buFont typeface="Arial"/>
              <a:buNone/>
            </a:pPr>
            <a:r>
              <a:rPr b="0" i="1" lang="en-US" sz="1100" u="none" cap="none" strike="noStrike">
                <a:solidFill>
                  <a:srgbClr val="4A4A4D"/>
                </a:solidFill>
                <a:latin typeface="Arial"/>
                <a:ea typeface="Arial"/>
                <a:cs typeface="Arial"/>
                <a:sym typeface="Arial"/>
              </a:rPr>
              <a:t>“Does it do the job well, on our data?”</a:t>
            </a:r>
            <a:endParaRPr b="0" i="0" sz="1400" u="none" cap="none" strike="noStrike">
              <a:solidFill>
                <a:srgbClr val="000000"/>
              </a:solidFill>
              <a:latin typeface="Arial"/>
              <a:ea typeface="Arial"/>
              <a:cs typeface="Arial"/>
              <a:sym typeface="Arial"/>
            </a:endParaRPr>
          </a:p>
        </p:txBody>
      </p:sp>
      <p:sp>
        <p:nvSpPr>
          <p:cNvPr id="1462" name="Google Shape;1462;p67"/>
          <p:cNvSpPr/>
          <p:nvPr/>
        </p:nvSpPr>
        <p:spPr>
          <a:xfrm>
            <a:off x="7061200" y="5322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Wrong answers</a:t>
            </a:r>
            <a:endParaRPr b="0" i="0" sz="1400" u="none" cap="none" strike="noStrike">
              <a:solidFill>
                <a:srgbClr val="000000"/>
              </a:solidFill>
              <a:latin typeface="Arial"/>
              <a:ea typeface="Arial"/>
              <a:cs typeface="Arial"/>
              <a:sym typeface="Arial"/>
            </a:endParaRPr>
          </a:p>
        </p:txBody>
      </p:sp>
      <p:sp>
        <p:nvSpPr>
          <p:cNvPr id="1463" name="Google Shape;1463;p67"/>
          <p:cNvSpPr/>
          <p:nvPr/>
        </p:nvSpPr>
        <p:spPr>
          <a:xfrm>
            <a:off x="8593667" y="5322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Wrong tools</a:t>
            </a:r>
            <a:endParaRPr b="0" i="0" sz="1400" u="none" cap="none" strike="noStrike">
              <a:solidFill>
                <a:srgbClr val="000000"/>
              </a:solidFill>
              <a:latin typeface="Arial"/>
              <a:ea typeface="Arial"/>
              <a:cs typeface="Arial"/>
              <a:sym typeface="Arial"/>
            </a:endParaRPr>
          </a:p>
        </p:txBody>
      </p:sp>
      <p:sp>
        <p:nvSpPr>
          <p:cNvPr id="1464" name="Google Shape;1464;p67"/>
          <p:cNvSpPr/>
          <p:nvPr/>
        </p:nvSpPr>
        <p:spPr>
          <a:xfrm>
            <a:off x="10126133" y="5322404"/>
            <a:ext cx="1456267" cy="228600"/>
          </a:xfrm>
          <a:prstGeom prst="roundRect">
            <a:avLst>
              <a:gd fmla="val 30000" name="adj"/>
            </a:avLst>
          </a:prstGeom>
          <a:solidFill>
            <a:srgbClr val="FFFFFF"/>
          </a:solidFill>
          <a:ln cap="flat" cmpd="sng" w="12700">
            <a:solidFill>
              <a:srgbClr val="DDD7D2"/>
            </a:solidFill>
            <a:prstDash val="solid"/>
            <a:round/>
            <a:headEnd len="sm" w="sm" type="none"/>
            <a:tailEnd len="sm" w="sm" type="none"/>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141319"/>
              </a:buClr>
              <a:buSzPts val="1000"/>
              <a:buFont typeface="Arial"/>
              <a:buNone/>
            </a:pPr>
            <a:r>
              <a:rPr b="1" i="0" lang="en-US" sz="1000" u="none" cap="none" strike="noStrike">
                <a:solidFill>
                  <a:srgbClr val="141319"/>
                </a:solidFill>
                <a:latin typeface="Arial"/>
                <a:ea typeface="Arial"/>
                <a:cs typeface="Arial"/>
                <a:sym typeface="Arial"/>
              </a:rPr>
              <a:t>Regressions</a:t>
            </a:r>
            <a:endParaRPr b="0" i="0" sz="1400" u="none" cap="none" strike="noStrike">
              <a:solidFill>
                <a:srgbClr val="000000"/>
              </a:solidFill>
              <a:latin typeface="Arial"/>
              <a:ea typeface="Arial"/>
              <a:cs typeface="Arial"/>
              <a:sym typeface="Arial"/>
            </a:endParaRPr>
          </a:p>
        </p:txBody>
      </p:sp>
      <p:sp>
        <p:nvSpPr>
          <p:cNvPr id="1465" name="Google Shape;1465;p67"/>
          <p:cNvSpPr/>
          <p:nvPr/>
        </p:nvSpPr>
        <p:spPr>
          <a:xfrm>
            <a:off x="6451600" y="1880704"/>
            <a:ext cx="482600" cy="48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67"/>
          <p:cNvSpPr/>
          <p:nvPr/>
        </p:nvSpPr>
        <p:spPr>
          <a:xfrm>
            <a:off x="6451600" y="2896704"/>
            <a:ext cx="482600" cy="48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7"/>
          <p:cNvSpPr/>
          <p:nvPr/>
        </p:nvSpPr>
        <p:spPr>
          <a:xfrm>
            <a:off x="6451600" y="3912704"/>
            <a:ext cx="482600" cy="48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67"/>
          <p:cNvSpPr/>
          <p:nvPr/>
        </p:nvSpPr>
        <p:spPr>
          <a:xfrm>
            <a:off x="6451600" y="4928704"/>
            <a:ext cx="482600" cy="48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2" name="Shape 1472"/>
        <p:cNvGrpSpPr/>
        <p:nvPr/>
      </p:nvGrpSpPr>
      <p:grpSpPr>
        <a:xfrm>
          <a:off x="0" y="0"/>
          <a:ext cx="0" cy="0"/>
          <a:chOff x="0" y="0"/>
          <a:chExt cx="0" cy="0"/>
        </a:xfrm>
      </p:grpSpPr>
      <p:sp>
        <p:nvSpPr>
          <p:cNvPr id="1473" name="Google Shape;1473;p68"/>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Evaluators</a:t>
            </a:r>
            <a:br>
              <a:rPr lang="en-US"/>
            </a:br>
            <a:r>
              <a:rPr lang="en-US"/>
              <a:t>&amp; Guardrails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6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Once live: stop the few, watch the many, learn from both</a:t>
            </a:r>
            <a:endParaRPr/>
          </a:p>
        </p:txBody>
      </p:sp>
      <p:sp>
        <p:nvSpPr>
          <p:cNvPr id="1480" name="Google Shape;1480;p69"/>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RUNTIME CONTROLS  ·  CONTROL AND IMPROVE</a:t>
            </a:r>
            <a:endParaRPr/>
          </a:p>
        </p:txBody>
      </p:sp>
      <p:sp>
        <p:nvSpPr>
          <p:cNvPr id="1481" name="Google Shape;1481;p69"/>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482" name="Google Shape;1482;p69"/>
          <p:cNvSpPr/>
          <p:nvPr/>
        </p:nvSpPr>
        <p:spPr>
          <a:xfrm>
            <a:off x="457200" y="1219200"/>
            <a:ext cx="11252200" cy="6858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3" name="Google Shape;1483;p69"/>
          <p:cNvSpPr/>
          <p:nvPr/>
        </p:nvSpPr>
        <p:spPr>
          <a:xfrm>
            <a:off x="736600" y="1219200"/>
            <a:ext cx="19050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THE QUESTION</a:t>
            </a:r>
            <a:endParaRPr b="0" i="0" sz="1400" u="none" cap="none" strike="noStrike">
              <a:solidFill>
                <a:srgbClr val="000000"/>
              </a:solidFill>
              <a:latin typeface="Arial"/>
              <a:ea typeface="Arial"/>
              <a:cs typeface="Arial"/>
              <a:sym typeface="Arial"/>
            </a:endParaRPr>
          </a:p>
        </p:txBody>
      </p:sp>
      <p:sp>
        <p:nvSpPr>
          <p:cNvPr id="1484" name="Google Shape;1484;p69"/>
          <p:cNvSpPr/>
          <p:nvPr/>
        </p:nvSpPr>
        <p:spPr>
          <a:xfrm>
            <a:off x="2667000" y="1219200"/>
            <a:ext cx="87630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700"/>
              <a:buFont typeface="Arial"/>
              <a:buNone/>
            </a:pPr>
            <a:r>
              <a:rPr b="1" i="0" lang="en-US" sz="1700" u="none" cap="none" strike="noStrike">
                <a:solidFill>
                  <a:srgbClr val="141319"/>
                </a:solidFill>
                <a:latin typeface="Arial"/>
                <a:ea typeface="Arial"/>
                <a:cs typeface="Arial"/>
                <a:sym typeface="Arial"/>
              </a:rPr>
              <a:t>Must this be stopped before it reaches a person, a system or a tool?</a:t>
            </a:r>
            <a:endParaRPr b="0" i="0" sz="1400" u="none" cap="none" strike="noStrike">
              <a:solidFill>
                <a:srgbClr val="000000"/>
              </a:solidFill>
              <a:latin typeface="Arial"/>
              <a:ea typeface="Arial"/>
              <a:cs typeface="Arial"/>
              <a:sym typeface="Arial"/>
            </a:endParaRPr>
          </a:p>
        </p:txBody>
      </p:sp>
      <p:sp>
        <p:nvSpPr>
          <p:cNvPr id="1485" name="Google Shape;1485;p69"/>
          <p:cNvSpPr/>
          <p:nvPr/>
        </p:nvSpPr>
        <p:spPr>
          <a:xfrm>
            <a:off x="457200" y="4597400"/>
            <a:ext cx="11252200" cy="1143000"/>
          </a:xfrm>
          <a:prstGeom prst="roundRect">
            <a:avLst>
              <a:gd fmla="val 2581" name="adj"/>
            </a:avLst>
          </a:prstGeom>
          <a:solidFill>
            <a:srgbClr val="FFFFFF"/>
          </a:solidFill>
          <a:ln cap="flat" cmpd="sng" w="12700">
            <a:solidFill>
              <a:srgbClr val="DDD7D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6" name="Google Shape;1486;p69"/>
          <p:cNvSpPr/>
          <p:nvPr/>
        </p:nvSpPr>
        <p:spPr>
          <a:xfrm>
            <a:off x="711200" y="4597400"/>
            <a:ext cx="1524000"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THE IMPROVEMENT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LOOP</a:t>
            </a:r>
            <a:endParaRPr b="0" i="0" sz="1400" u="none" cap="none" strike="noStrike">
              <a:solidFill>
                <a:srgbClr val="000000"/>
              </a:solidFill>
              <a:latin typeface="Arial"/>
              <a:ea typeface="Arial"/>
              <a:cs typeface="Arial"/>
              <a:sym typeface="Arial"/>
            </a:endParaRPr>
          </a:p>
        </p:txBody>
      </p:sp>
      <p:sp>
        <p:nvSpPr>
          <p:cNvPr id="1487" name="Google Shape;1487;p69"/>
          <p:cNvSpPr/>
          <p:nvPr/>
        </p:nvSpPr>
        <p:spPr>
          <a:xfrm>
            <a:off x="457200" y="2133600"/>
            <a:ext cx="3632200" cy="22352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8" name="Google Shape;1488;p69"/>
          <p:cNvSpPr/>
          <p:nvPr/>
        </p:nvSpPr>
        <p:spPr>
          <a:xfrm>
            <a:off x="457200" y="2362200"/>
            <a:ext cx="63500" cy="1778000"/>
          </a:xfrm>
          <a:prstGeom prst="rect">
            <a:avLst/>
          </a:prstGeom>
          <a:solidFill>
            <a:srgbClr val="DF53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89" name="Google Shape;1489;p69"/>
          <p:cNvSpPr/>
          <p:nvPr/>
        </p:nvSpPr>
        <p:spPr>
          <a:xfrm>
            <a:off x="1346200" y="2362200"/>
            <a:ext cx="2590800" cy="33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F5325"/>
              </a:buClr>
              <a:buSzPts val="2200"/>
              <a:buFont typeface="Arial"/>
              <a:buNone/>
            </a:pPr>
            <a:r>
              <a:rPr b="1" i="0" lang="en-US" sz="2200" u="none" cap="none" strike="noStrike">
                <a:solidFill>
                  <a:srgbClr val="DF5325"/>
                </a:solidFill>
                <a:latin typeface="Arial"/>
                <a:ea typeface="Arial"/>
                <a:cs typeface="Arial"/>
                <a:sym typeface="Arial"/>
              </a:rPr>
              <a:t>YES</a:t>
            </a:r>
            <a:endParaRPr b="0" i="0" sz="1400" u="none" cap="none" strike="noStrike">
              <a:solidFill>
                <a:srgbClr val="000000"/>
              </a:solidFill>
              <a:latin typeface="Arial"/>
              <a:ea typeface="Arial"/>
              <a:cs typeface="Arial"/>
              <a:sym typeface="Arial"/>
            </a:endParaRPr>
          </a:p>
        </p:txBody>
      </p:sp>
      <p:sp>
        <p:nvSpPr>
          <p:cNvPr id="1490" name="Google Shape;1490;p69"/>
          <p:cNvSpPr/>
          <p:nvPr/>
        </p:nvSpPr>
        <p:spPr>
          <a:xfrm>
            <a:off x="1346200" y="2692400"/>
            <a:ext cx="25908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500"/>
              <a:buFont typeface="Arial"/>
              <a:buNone/>
            </a:pPr>
            <a:r>
              <a:rPr b="1" i="0" lang="en-US" sz="1500" u="none" cap="none" strike="noStrike">
                <a:solidFill>
                  <a:srgbClr val="141319"/>
                </a:solidFill>
                <a:latin typeface="Arial"/>
                <a:ea typeface="Arial"/>
                <a:cs typeface="Arial"/>
                <a:sym typeface="Arial"/>
              </a:rPr>
              <a:t>→  Guardrail</a:t>
            </a:r>
            <a:endParaRPr b="0" i="0" sz="1400" u="none" cap="none" strike="noStrike">
              <a:solidFill>
                <a:srgbClr val="000000"/>
              </a:solidFill>
              <a:latin typeface="Arial"/>
              <a:ea typeface="Arial"/>
              <a:cs typeface="Arial"/>
              <a:sym typeface="Arial"/>
            </a:endParaRPr>
          </a:p>
        </p:txBody>
      </p:sp>
      <p:sp>
        <p:nvSpPr>
          <p:cNvPr id="1491" name="Google Shape;1491;p69"/>
          <p:cNvSpPr/>
          <p:nvPr/>
        </p:nvSpPr>
        <p:spPr>
          <a:xfrm>
            <a:off x="711200" y="3073400"/>
            <a:ext cx="3175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200"/>
              <a:buFont typeface="Arial"/>
              <a:buNone/>
            </a:pPr>
            <a:r>
              <a:rPr b="0" i="0" lang="en-US" sz="1200" u="none" cap="none" strike="noStrike">
                <a:solidFill>
                  <a:srgbClr val="4A4A4D"/>
                </a:solidFill>
                <a:latin typeface="Arial"/>
                <a:ea typeface="Arial"/>
                <a:cs typeface="Arial"/>
                <a:sym typeface="Arial"/>
              </a:rPr>
              <a:t>Blocks or redacts in real time</a:t>
            </a:r>
            <a:endParaRPr b="0" i="0" sz="1400" u="none" cap="none" strike="noStrike">
              <a:solidFill>
                <a:srgbClr val="000000"/>
              </a:solidFill>
              <a:latin typeface="Arial"/>
              <a:ea typeface="Arial"/>
              <a:cs typeface="Arial"/>
              <a:sym typeface="Arial"/>
            </a:endParaRPr>
          </a:p>
        </p:txBody>
      </p:sp>
      <p:sp>
        <p:nvSpPr>
          <p:cNvPr id="1492" name="Google Shape;1492;p69"/>
          <p:cNvSpPr/>
          <p:nvPr/>
        </p:nvSpPr>
        <p:spPr>
          <a:xfrm>
            <a:off x="711200" y="3429000"/>
            <a:ext cx="3175000" cy="15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CATCHES</a:t>
            </a:r>
            <a:endParaRPr b="0" i="0" sz="1400" u="none" cap="none" strike="noStrike">
              <a:solidFill>
                <a:srgbClr val="000000"/>
              </a:solidFill>
              <a:latin typeface="Arial"/>
              <a:ea typeface="Arial"/>
              <a:cs typeface="Arial"/>
              <a:sym typeface="Arial"/>
            </a:endParaRPr>
          </a:p>
        </p:txBody>
      </p:sp>
      <p:sp>
        <p:nvSpPr>
          <p:cNvPr id="1493" name="Google Shape;1493;p69"/>
          <p:cNvSpPr/>
          <p:nvPr/>
        </p:nvSpPr>
        <p:spPr>
          <a:xfrm>
            <a:off x="7112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Prompt injection</a:t>
            </a:r>
            <a:endParaRPr b="0" i="0" sz="1400" u="none" cap="none" strike="noStrike">
              <a:solidFill>
                <a:srgbClr val="000000"/>
              </a:solidFill>
              <a:latin typeface="Arial"/>
              <a:ea typeface="Arial"/>
              <a:cs typeface="Arial"/>
              <a:sym typeface="Arial"/>
            </a:endParaRPr>
          </a:p>
        </p:txBody>
      </p:sp>
      <p:sp>
        <p:nvSpPr>
          <p:cNvPr id="1494" name="Google Shape;1494;p69"/>
          <p:cNvSpPr/>
          <p:nvPr/>
        </p:nvSpPr>
        <p:spPr>
          <a:xfrm>
            <a:off x="17780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PII &amp; secrets</a:t>
            </a:r>
            <a:endParaRPr b="0" i="0" sz="1400" u="none" cap="none" strike="noStrike">
              <a:solidFill>
                <a:srgbClr val="000000"/>
              </a:solidFill>
              <a:latin typeface="Arial"/>
              <a:ea typeface="Arial"/>
              <a:cs typeface="Arial"/>
              <a:sym typeface="Arial"/>
            </a:endParaRPr>
          </a:p>
        </p:txBody>
      </p:sp>
      <p:sp>
        <p:nvSpPr>
          <p:cNvPr id="1495" name="Google Shape;1495;p69"/>
          <p:cNvSpPr/>
          <p:nvPr/>
        </p:nvSpPr>
        <p:spPr>
          <a:xfrm>
            <a:off x="28448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Forbidden tools</a:t>
            </a:r>
            <a:endParaRPr b="0" i="0" sz="1400" u="none" cap="none" strike="noStrike">
              <a:solidFill>
                <a:srgbClr val="000000"/>
              </a:solidFill>
              <a:latin typeface="Arial"/>
              <a:ea typeface="Arial"/>
              <a:cs typeface="Arial"/>
              <a:sym typeface="Arial"/>
            </a:endParaRPr>
          </a:p>
        </p:txBody>
      </p:sp>
      <p:sp>
        <p:nvSpPr>
          <p:cNvPr id="1496" name="Google Shape;1496;p69"/>
          <p:cNvSpPr/>
          <p:nvPr/>
        </p:nvSpPr>
        <p:spPr>
          <a:xfrm>
            <a:off x="4267200" y="2133600"/>
            <a:ext cx="3632200" cy="22352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97" name="Google Shape;1497;p69"/>
          <p:cNvSpPr/>
          <p:nvPr/>
        </p:nvSpPr>
        <p:spPr>
          <a:xfrm>
            <a:off x="4267200" y="2362200"/>
            <a:ext cx="63500" cy="1778000"/>
          </a:xfrm>
          <a:prstGeom prst="rect">
            <a:avLst/>
          </a:prstGeom>
          <a:solidFill>
            <a:srgbClr val="14131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98" name="Google Shape;1498;p69"/>
          <p:cNvSpPr/>
          <p:nvPr/>
        </p:nvSpPr>
        <p:spPr>
          <a:xfrm>
            <a:off x="5156200" y="2362200"/>
            <a:ext cx="2590800" cy="33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2200"/>
              <a:buFont typeface="Arial"/>
              <a:buNone/>
            </a:pPr>
            <a:r>
              <a:rPr b="1" i="0" lang="en-US" sz="2200" u="none" cap="none" strike="noStrike">
                <a:solidFill>
                  <a:srgbClr val="141319"/>
                </a:solidFill>
                <a:latin typeface="Arial"/>
                <a:ea typeface="Arial"/>
                <a:cs typeface="Arial"/>
                <a:sym typeface="Arial"/>
              </a:rPr>
              <a:t>DEPENDS</a:t>
            </a:r>
            <a:endParaRPr b="0" i="0" sz="1400" u="none" cap="none" strike="noStrike">
              <a:solidFill>
                <a:srgbClr val="000000"/>
              </a:solidFill>
              <a:latin typeface="Arial"/>
              <a:ea typeface="Arial"/>
              <a:cs typeface="Arial"/>
              <a:sym typeface="Arial"/>
            </a:endParaRPr>
          </a:p>
        </p:txBody>
      </p:sp>
      <p:sp>
        <p:nvSpPr>
          <p:cNvPr id="1499" name="Google Shape;1499;p69"/>
          <p:cNvSpPr/>
          <p:nvPr/>
        </p:nvSpPr>
        <p:spPr>
          <a:xfrm>
            <a:off x="5156200" y="2692400"/>
            <a:ext cx="25908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500"/>
              <a:buFont typeface="Arial"/>
              <a:buNone/>
            </a:pPr>
            <a:r>
              <a:rPr b="1" i="0" lang="en-US" sz="1500" u="none" cap="none" strike="noStrike">
                <a:solidFill>
                  <a:srgbClr val="141319"/>
                </a:solidFill>
                <a:latin typeface="Arial"/>
                <a:ea typeface="Arial"/>
                <a:cs typeface="Arial"/>
                <a:sym typeface="Arial"/>
              </a:rPr>
              <a:t>→  Human in the loop</a:t>
            </a:r>
            <a:endParaRPr b="0" i="0" sz="1400" u="none" cap="none" strike="noStrike">
              <a:solidFill>
                <a:srgbClr val="000000"/>
              </a:solidFill>
              <a:latin typeface="Arial"/>
              <a:ea typeface="Arial"/>
              <a:cs typeface="Arial"/>
              <a:sym typeface="Arial"/>
            </a:endParaRPr>
          </a:p>
        </p:txBody>
      </p:sp>
      <p:sp>
        <p:nvSpPr>
          <p:cNvPr id="1500" name="Google Shape;1500;p69"/>
          <p:cNvSpPr/>
          <p:nvPr/>
        </p:nvSpPr>
        <p:spPr>
          <a:xfrm>
            <a:off x="4521200" y="3073400"/>
            <a:ext cx="3175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200"/>
              <a:buFont typeface="Arial"/>
              <a:buNone/>
            </a:pPr>
            <a:r>
              <a:rPr b="0" i="0" lang="en-US" sz="1200" u="none" cap="none" strike="noStrike">
                <a:solidFill>
                  <a:srgbClr val="4A4A4D"/>
                </a:solidFill>
                <a:latin typeface="Arial"/>
                <a:ea typeface="Arial"/>
                <a:cs typeface="Arial"/>
                <a:sym typeface="Arial"/>
              </a:rPr>
              <a:t>Pauses and asks a person first</a:t>
            </a:r>
            <a:endParaRPr b="0" i="0" sz="1400" u="none" cap="none" strike="noStrike">
              <a:solidFill>
                <a:srgbClr val="000000"/>
              </a:solidFill>
              <a:latin typeface="Arial"/>
              <a:ea typeface="Arial"/>
              <a:cs typeface="Arial"/>
              <a:sym typeface="Arial"/>
            </a:endParaRPr>
          </a:p>
        </p:txBody>
      </p:sp>
      <p:sp>
        <p:nvSpPr>
          <p:cNvPr id="1501" name="Google Shape;1501;p69"/>
          <p:cNvSpPr/>
          <p:nvPr/>
        </p:nvSpPr>
        <p:spPr>
          <a:xfrm>
            <a:off x="4521200" y="3429000"/>
            <a:ext cx="3175000" cy="15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CATCHES</a:t>
            </a:r>
            <a:endParaRPr b="0" i="0" sz="1400" u="none" cap="none" strike="noStrike">
              <a:solidFill>
                <a:srgbClr val="000000"/>
              </a:solidFill>
              <a:latin typeface="Arial"/>
              <a:ea typeface="Arial"/>
              <a:cs typeface="Arial"/>
              <a:sym typeface="Arial"/>
            </a:endParaRPr>
          </a:p>
        </p:txBody>
      </p:sp>
      <p:sp>
        <p:nvSpPr>
          <p:cNvPr id="1502" name="Google Shape;1502;p69"/>
          <p:cNvSpPr/>
          <p:nvPr/>
        </p:nvSpPr>
        <p:spPr>
          <a:xfrm>
            <a:off x="45212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High-value actions</a:t>
            </a:r>
            <a:endParaRPr b="0" i="0" sz="1400" u="none" cap="none" strike="noStrike">
              <a:solidFill>
                <a:srgbClr val="000000"/>
              </a:solidFill>
              <a:latin typeface="Arial"/>
              <a:ea typeface="Arial"/>
              <a:cs typeface="Arial"/>
              <a:sym typeface="Arial"/>
            </a:endParaRPr>
          </a:p>
        </p:txBody>
      </p:sp>
      <p:sp>
        <p:nvSpPr>
          <p:cNvPr id="1503" name="Google Shape;1503;p69"/>
          <p:cNvSpPr/>
          <p:nvPr/>
        </p:nvSpPr>
        <p:spPr>
          <a:xfrm>
            <a:off x="55880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Low confidence</a:t>
            </a:r>
            <a:endParaRPr b="0" i="0" sz="1400" u="none" cap="none" strike="noStrike">
              <a:solidFill>
                <a:srgbClr val="000000"/>
              </a:solidFill>
              <a:latin typeface="Arial"/>
              <a:ea typeface="Arial"/>
              <a:cs typeface="Arial"/>
              <a:sym typeface="Arial"/>
            </a:endParaRPr>
          </a:p>
        </p:txBody>
      </p:sp>
      <p:sp>
        <p:nvSpPr>
          <p:cNvPr id="1504" name="Google Shape;1504;p69"/>
          <p:cNvSpPr/>
          <p:nvPr/>
        </p:nvSpPr>
        <p:spPr>
          <a:xfrm>
            <a:off x="66548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Sensitive cases</a:t>
            </a:r>
            <a:endParaRPr b="0" i="0" sz="1400" u="none" cap="none" strike="noStrike">
              <a:solidFill>
                <a:srgbClr val="000000"/>
              </a:solidFill>
              <a:latin typeface="Arial"/>
              <a:ea typeface="Arial"/>
              <a:cs typeface="Arial"/>
              <a:sym typeface="Arial"/>
            </a:endParaRPr>
          </a:p>
        </p:txBody>
      </p:sp>
      <p:sp>
        <p:nvSpPr>
          <p:cNvPr id="1505" name="Google Shape;1505;p69"/>
          <p:cNvSpPr/>
          <p:nvPr/>
        </p:nvSpPr>
        <p:spPr>
          <a:xfrm>
            <a:off x="8077200" y="2133600"/>
            <a:ext cx="3632200" cy="2235200"/>
          </a:xfrm>
          <a:prstGeom prst="roundRect">
            <a:avLst>
              <a:gd fmla="val 2581" name="adj"/>
            </a:avLst>
          </a:prstGeom>
          <a:solidFill>
            <a:srgbClr val="FAF7F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06" name="Google Shape;1506;p69"/>
          <p:cNvSpPr/>
          <p:nvPr/>
        </p:nvSpPr>
        <p:spPr>
          <a:xfrm>
            <a:off x="8077200" y="2362200"/>
            <a:ext cx="63500" cy="1778000"/>
          </a:xfrm>
          <a:prstGeom prst="rect">
            <a:avLst/>
          </a:prstGeom>
          <a:solidFill>
            <a:srgbClr val="00342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07" name="Google Shape;1507;p69"/>
          <p:cNvSpPr/>
          <p:nvPr/>
        </p:nvSpPr>
        <p:spPr>
          <a:xfrm>
            <a:off x="8966200" y="2362200"/>
            <a:ext cx="2590800" cy="33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342D"/>
              </a:buClr>
              <a:buSzPts val="2200"/>
              <a:buFont typeface="Arial"/>
              <a:buNone/>
            </a:pPr>
            <a:r>
              <a:rPr b="1" i="0" lang="en-US" sz="2200" u="none" cap="none" strike="noStrike">
                <a:solidFill>
                  <a:srgbClr val="00342D"/>
                </a:solidFill>
                <a:latin typeface="Arial"/>
                <a:ea typeface="Arial"/>
                <a:cs typeface="Arial"/>
                <a:sym typeface="Arial"/>
              </a:rPr>
              <a:t>NO</a:t>
            </a:r>
            <a:endParaRPr b="0" i="0" sz="1400" u="none" cap="none" strike="noStrike">
              <a:solidFill>
                <a:srgbClr val="000000"/>
              </a:solidFill>
              <a:latin typeface="Arial"/>
              <a:ea typeface="Arial"/>
              <a:cs typeface="Arial"/>
              <a:sym typeface="Arial"/>
            </a:endParaRPr>
          </a:p>
        </p:txBody>
      </p:sp>
      <p:sp>
        <p:nvSpPr>
          <p:cNvPr id="1508" name="Google Shape;1508;p69"/>
          <p:cNvSpPr/>
          <p:nvPr/>
        </p:nvSpPr>
        <p:spPr>
          <a:xfrm>
            <a:off x="8966200" y="2692400"/>
            <a:ext cx="2590800" cy="254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500"/>
              <a:buFont typeface="Arial"/>
              <a:buNone/>
            </a:pPr>
            <a:r>
              <a:rPr b="1" i="0" lang="en-US" sz="1500" u="none" cap="none" strike="noStrike">
                <a:solidFill>
                  <a:srgbClr val="141319"/>
                </a:solidFill>
                <a:latin typeface="Arial"/>
                <a:ea typeface="Arial"/>
                <a:cs typeface="Arial"/>
                <a:sym typeface="Arial"/>
              </a:rPr>
              <a:t>→  Evaluator</a:t>
            </a:r>
            <a:endParaRPr b="0" i="0" sz="1400" u="none" cap="none" strike="noStrike">
              <a:solidFill>
                <a:srgbClr val="000000"/>
              </a:solidFill>
              <a:latin typeface="Arial"/>
              <a:ea typeface="Arial"/>
              <a:cs typeface="Arial"/>
              <a:sym typeface="Arial"/>
            </a:endParaRPr>
          </a:p>
        </p:txBody>
      </p:sp>
      <p:sp>
        <p:nvSpPr>
          <p:cNvPr id="1509" name="Google Shape;1509;p69"/>
          <p:cNvSpPr/>
          <p:nvPr/>
        </p:nvSpPr>
        <p:spPr>
          <a:xfrm>
            <a:off x="8331200" y="3073400"/>
            <a:ext cx="31750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A4A4D"/>
              </a:buClr>
              <a:buSzPts val="1200"/>
              <a:buFont typeface="Arial"/>
              <a:buNone/>
            </a:pPr>
            <a:r>
              <a:rPr b="0" i="0" lang="en-US" sz="1200" u="none" cap="none" strike="noStrike">
                <a:solidFill>
                  <a:srgbClr val="4A4A4D"/>
                </a:solidFill>
                <a:latin typeface="Arial"/>
                <a:ea typeface="Arial"/>
                <a:cs typeface="Arial"/>
                <a:sym typeface="Arial"/>
              </a:rPr>
              <a:t>Scores every answer afterwards</a:t>
            </a:r>
            <a:endParaRPr b="0" i="0" sz="1400" u="none" cap="none" strike="noStrike">
              <a:solidFill>
                <a:srgbClr val="000000"/>
              </a:solidFill>
              <a:latin typeface="Arial"/>
              <a:ea typeface="Arial"/>
              <a:cs typeface="Arial"/>
              <a:sym typeface="Arial"/>
            </a:endParaRPr>
          </a:p>
        </p:txBody>
      </p:sp>
      <p:sp>
        <p:nvSpPr>
          <p:cNvPr id="1510" name="Google Shape;1510;p69"/>
          <p:cNvSpPr/>
          <p:nvPr/>
        </p:nvSpPr>
        <p:spPr>
          <a:xfrm>
            <a:off x="8331200" y="3429000"/>
            <a:ext cx="3175000" cy="15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CATCHES</a:t>
            </a:r>
            <a:endParaRPr b="0" i="0" sz="1400" u="none" cap="none" strike="noStrike">
              <a:solidFill>
                <a:srgbClr val="000000"/>
              </a:solidFill>
              <a:latin typeface="Arial"/>
              <a:ea typeface="Arial"/>
              <a:cs typeface="Arial"/>
              <a:sym typeface="Arial"/>
            </a:endParaRPr>
          </a:p>
        </p:txBody>
      </p:sp>
      <p:sp>
        <p:nvSpPr>
          <p:cNvPr id="1511" name="Google Shape;1511;p69"/>
          <p:cNvSpPr/>
          <p:nvPr/>
        </p:nvSpPr>
        <p:spPr>
          <a:xfrm>
            <a:off x="83312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Grounded answers</a:t>
            </a:r>
            <a:endParaRPr b="0" i="0" sz="1400" u="none" cap="none" strike="noStrike">
              <a:solidFill>
                <a:srgbClr val="000000"/>
              </a:solidFill>
              <a:latin typeface="Arial"/>
              <a:ea typeface="Arial"/>
              <a:cs typeface="Arial"/>
              <a:sym typeface="Arial"/>
            </a:endParaRPr>
          </a:p>
        </p:txBody>
      </p:sp>
      <p:sp>
        <p:nvSpPr>
          <p:cNvPr id="1512" name="Google Shape;1512;p69"/>
          <p:cNvSpPr/>
          <p:nvPr/>
        </p:nvSpPr>
        <p:spPr>
          <a:xfrm>
            <a:off x="93980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Right tool</a:t>
            </a:r>
            <a:endParaRPr b="0" i="0" sz="1400" u="none" cap="none" strike="noStrike">
              <a:solidFill>
                <a:srgbClr val="000000"/>
              </a:solidFill>
              <a:latin typeface="Arial"/>
              <a:ea typeface="Arial"/>
              <a:cs typeface="Arial"/>
              <a:sym typeface="Arial"/>
            </a:endParaRPr>
          </a:p>
        </p:txBody>
      </p:sp>
      <p:sp>
        <p:nvSpPr>
          <p:cNvPr id="1513" name="Google Shape;1513;p69"/>
          <p:cNvSpPr/>
          <p:nvPr/>
        </p:nvSpPr>
        <p:spPr>
          <a:xfrm>
            <a:off x="10464800" y="3657600"/>
            <a:ext cx="990600" cy="4572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38100" spcFirstLastPara="1" rIns="38100" wrap="square" tIns="0">
            <a:noAutofit/>
          </a:bodyPr>
          <a:lstStyle/>
          <a:p>
            <a:pPr indent="0" lvl="0" marL="0" marR="0" rtl="0" algn="ctr">
              <a:lnSpc>
                <a:spcPct val="100000"/>
              </a:lnSpc>
              <a:spcBef>
                <a:spcPts val="0"/>
              </a:spcBef>
              <a:spcAft>
                <a:spcPts val="0"/>
              </a:spcAft>
              <a:buClr>
                <a:srgbClr val="141319"/>
              </a:buClr>
              <a:buSzPts val="950"/>
              <a:buFont typeface="Arial"/>
              <a:buNone/>
            </a:pPr>
            <a:r>
              <a:rPr b="1" i="0" lang="en-US" sz="950" u="none" cap="none" strike="noStrike">
                <a:solidFill>
                  <a:srgbClr val="141319"/>
                </a:solidFill>
                <a:latin typeface="Arial"/>
                <a:ea typeface="Arial"/>
                <a:cs typeface="Arial"/>
                <a:sym typeface="Arial"/>
              </a:rPr>
              <a:t>Drift vs baseline</a:t>
            </a:r>
            <a:endParaRPr b="0" i="0" sz="1400" u="none" cap="none" strike="noStrike">
              <a:solidFill>
                <a:srgbClr val="000000"/>
              </a:solidFill>
              <a:latin typeface="Arial"/>
              <a:ea typeface="Arial"/>
              <a:cs typeface="Arial"/>
              <a:sym typeface="Arial"/>
            </a:endParaRPr>
          </a:p>
        </p:txBody>
      </p:sp>
      <p:sp>
        <p:nvSpPr>
          <p:cNvPr id="1514" name="Google Shape;1514;p69"/>
          <p:cNvSpPr/>
          <p:nvPr/>
        </p:nvSpPr>
        <p:spPr>
          <a:xfrm>
            <a:off x="685800" y="2413000"/>
            <a:ext cx="558800" cy="55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69"/>
          <p:cNvSpPr/>
          <p:nvPr/>
        </p:nvSpPr>
        <p:spPr>
          <a:xfrm>
            <a:off x="4495800" y="2413000"/>
            <a:ext cx="558800" cy="55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69"/>
          <p:cNvSpPr/>
          <p:nvPr/>
        </p:nvSpPr>
        <p:spPr>
          <a:xfrm>
            <a:off x="8305800" y="2413000"/>
            <a:ext cx="558800" cy="558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69"/>
          <p:cNvSpPr/>
          <p:nvPr/>
        </p:nvSpPr>
        <p:spPr>
          <a:xfrm>
            <a:off x="2336800" y="4711700"/>
            <a:ext cx="1879600" cy="4064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18" name="Google Shape;1518;p69"/>
          <p:cNvSpPr/>
          <p:nvPr/>
        </p:nvSpPr>
        <p:spPr>
          <a:xfrm>
            <a:off x="2463800" y="4813300"/>
            <a:ext cx="50800" cy="203200"/>
          </a:xfrm>
          <a:prstGeom prst="rect">
            <a:avLst/>
          </a:prstGeom>
          <a:solidFill>
            <a:srgbClr val="DF532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19" name="Google Shape;1519;p69"/>
          <p:cNvSpPr/>
          <p:nvPr/>
        </p:nvSpPr>
        <p:spPr>
          <a:xfrm>
            <a:off x="2590800" y="4711700"/>
            <a:ext cx="15494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150"/>
              <a:buFont typeface="Arial"/>
              <a:buNone/>
            </a:pPr>
            <a:r>
              <a:rPr b="1" i="0" lang="en-US" sz="1150" u="none" cap="none" strike="noStrike">
                <a:solidFill>
                  <a:srgbClr val="141319"/>
                </a:solidFill>
                <a:latin typeface="Arial"/>
                <a:ea typeface="Arial"/>
                <a:cs typeface="Arial"/>
                <a:sym typeface="Arial"/>
              </a:rPr>
              <a:t>Guardrail hits</a:t>
            </a:r>
            <a:endParaRPr b="0" i="0" sz="1400" u="none" cap="none" strike="noStrike">
              <a:solidFill>
                <a:srgbClr val="000000"/>
              </a:solidFill>
              <a:latin typeface="Arial"/>
              <a:ea typeface="Arial"/>
              <a:cs typeface="Arial"/>
              <a:sym typeface="Arial"/>
            </a:endParaRPr>
          </a:p>
        </p:txBody>
      </p:sp>
      <p:sp>
        <p:nvSpPr>
          <p:cNvPr id="1520" name="Google Shape;1520;p69"/>
          <p:cNvSpPr/>
          <p:nvPr/>
        </p:nvSpPr>
        <p:spPr>
          <a:xfrm>
            <a:off x="4318000" y="4711700"/>
            <a:ext cx="1879600" cy="4064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1" name="Google Shape;1521;p69"/>
          <p:cNvSpPr/>
          <p:nvPr/>
        </p:nvSpPr>
        <p:spPr>
          <a:xfrm>
            <a:off x="4445000" y="4813300"/>
            <a:ext cx="50800" cy="203200"/>
          </a:xfrm>
          <a:prstGeom prst="rect">
            <a:avLst/>
          </a:prstGeom>
          <a:solidFill>
            <a:srgbClr val="14131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2" name="Google Shape;1522;p69"/>
          <p:cNvSpPr/>
          <p:nvPr/>
        </p:nvSpPr>
        <p:spPr>
          <a:xfrm>
            <a:off x="4572000" y="4711700"/>
            <a:ext cx="15494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150"/>
              <a:buFont typeface="Arial"/>
              <a:buNone/>
            </a:pPr>
            <a:r>
              <a:rPr b="1" i="0" lang="en-US" sz="1150" u="none" cap="none" strike="noStrike">
                <a:solidFill>
                  <a:srgbClr val="141319"/>
                </a:solidFill>
                <a:latin typeface="Arial"/>
                <a:ea typeface="Arial"/>
                <a:cs typeface="Arial"/>
                <a:sym typeface="Arial"/>
              </a:rPr>
              <a:t>Human decisions</a:t>
            </a:r>
            <a:endParaRPr b="0" i="0" sz="1400" u="none" cap="none" strike="noStrike">
              <a:solidFill>
                <a:srgbClr val="000000"/>
              </a:solidFill>
              <a:latin typeface="Arial"/>
              <a:ea typeface="Arial"/>
              <a:cs typeface="Arial"/>
              <a:sym typeface="Arial"/>
            </a:endParaRPr>
          </a:p>
        </p:txBody>
      </p:sp>
      <p:sp>
        <p:nvSpPr>
          <p:cNvPr id="1523" name="Google Shape;1523;p69"/>
          <p:cNvSpPr/>
          <p:nvPr/>
        </p:nvSpPr>
        <p:spPr>
          <a:xfrm>
            <a:off x="2336800" y="5219700"/>
            <a:ext cx="1879600" cy="4064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4" name="Google Shape;1524;p69"/>
          <p:cNvSpPr/>
          <p:nvPr/>
        </p:nvSpPr>
        <p:spPr>
          <a:xfrm>
            <a:off x="2463800" y="5321300"/>
            <a:ext cx="50800" cy="203200"/>
          </a:xfrm>
          <a:prstGeom prst="rect">
            <a:avLst/>
          </a:prstGeom>
          <a:solidFill>
            <a:srgbClr val="00342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5" name="Google Shape;1525;p69"/>
          <p:cNvSpPr/>
          <p:nvPr/>
        </p:nvSpPr>
        <p:spPr>
          <a:xfrm>
            <a:off x="2590800" y="5219700"/>
            <a:ext cx="15494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150"/>
              <a:buFont typeface="Arial"/>
              <a:buNone/>
            </a:pPr>
            <a:r>
              <a:rPr b="1" i="0" lang="en-US" sz="1150" u="none" cap="none" strike="noStrike">
                <a:solidFill>
                  <a:srgbClr val="141319"/>
                </a:solidFill>
                <a:latin typeface="Arial"/>
                <a:ea typeface="Arial"/>
                <a:cs typeface="Arial"/>
                <a:sym typeface="Arial"/>
              </a:rPr>
              <a:t>Evaluator scores</a:t>
            </a:r>
            <a:endParaRPr b="0" i="0" sz="1400" u="none" cap="none" strike="noStrike">
              <a:solidFill>
                <a:srgbClr val="000000"/>
              </a:solidFill>
              <a:latin typeface="Arial"/>
              <a:ea typeface="Arial"/>
              <a:cs typeface="Arial"/>
              <a:sym typeface="Arial"/>
            </a:endParaRPr>
          </a:p>
        </p:txBody>
      </p:sp>
      <p:sp>
        <p:nvSpPr>
          <p:cNvPr id="1526" name="Google Shape;1526;p69"/>
          <p:cNvSpPr/>
          <p:nvPr/>
        </p:nvSpPr>
        <p:spPr>
          <a:xfrm>
            <a:off x="4318000" y="5219700"/>
            <a:ext cx="1879600" cy="4064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7" name="Google Shape;1527;p69"/>
          <p:cNvSpPr/>
          <p:nvPr/>
        </p:nvSpPr>
        <p:spPr>
          <a:xfrm>
            <a:off x="4445000" y="5321300"/>
            <a:ext cx="50800" cy="203200"/>
          </a:xfrm>
          <a:prstGeom prst="rect">
            <a:avLst/>
          </a:prstGeom>
          <a:solidFill>
            <a:srgbClr val="5F5E6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28" name="Google Shape;1528;p69"/>
          <p:cNvSpPr/>
          <p:nvPr/>
        </p:nvSpPr>
        <p:spPr>
          <a:xfrm>
            <a:off x="4572000" y="5219700"/>
            <a:ext cx="15494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150"/>
              <a:buFont typeface="Arial"/>
              <a:buNone/>
            </a:pPr>
            <a:r>
              <a:rPr b="1" i="0" lang="en-US" sz="1150" u="none" cap="none" strike="noStrike">
                <a:solidFill>
                  <a:srgbClr val="141319"/>
                </a:solidFill>
                <a:latin typeface="Arial"/>
                <a:ea typeface="Arial"/>
                <a:cs typeface="Arial"/>
                <a:sym typeface="Arial"/>
              </a:rPr>
              <a:t>Errors &amp; incidents</a:t>
            </a:r>
            <a:endParaRPr b="0" i="0" sz="1400" u="none" cap="none" strike="noStrike">
              <a:solidFill>
                <a:srgbClr val="000000"/>
              </a:solidFill>
              <a:latin typeface="Arial"/>
              <a:ea typeface="Arial"/>
              <a:cs typeface="Arial"/>
              <a:sym typeface="Arial"/>
            </a:endParaRPr>
          </a:p>
        </p:txBody>
      </p:sp>
      <p:sp>
        <p:nvSpPr>
          <p:cNvPr id="1529" name="Google Shape;1529;p69"/>
          <p:cNvSpPr/>
          <p:nvPr/>
        </p:nvSpPr>
        <p:spPr>
          <a:xfrm>
            <a:off x="8280400" y="4711700"/>
            <a:ext cx="203200" cy="914400"/>
          </a:xfrm>
          <a:prstGeom prst="rightBrace">
            <a:avLst>
              <a:gd fmla="val 30000" name="adj1"/>
              <a:gd fmla="val 50000" name="adj2"/>
            </a:avLst>
          </a:prstGeom>
          <a:noFill/>
          <a:ln cap="flat" cmpd="sng" w="12700">
            <a:solidFill>
              <a:srgbClr val="4A4A4D"/>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0" name="Google Shape;1530;p69"/>
          <p:cNvSpPr/>
          <p:nvPr/>
        </p:nvSpPr>
        <p:spPr>
          <a:xfrm>
            <a:off x="8559800" y="5016500"/>
            <a:ext cx="431800" cy="304800"/>
          </a:xfrm>
          <a:prstGeom prst="rightArrow">
            <a:avLst>
              <a:gd fmla="val 45000" name="adj1"/>
              <a:gd fmla="val 55000" name="adj2"/>
            </a:avLst>
          </a:prstGeom>
          <a:solidFill>
            <a:srgbClr val="4A4A4D"/>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1" name="Google Shape;1531;p69"/>
          <p:cNvSpPr/>
          <p:nvPr/>
        </p:nvSpPr>
        <p:spPr>
          <a:xfrm>
            <a:off x="9067800" y="4711700"/>
            <a:ext cx="2641600" cy="914400"/>
          </a:xfrm>
          <a:prstGeom prst="roundRect">
            <a:avLst>
              <a:gd fmla="val 8000" name="adj"/>
            </a:avLst>
          </a:prstGeom>
          <a:solidFill>
            <a:srgbClr val="DF532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2" name="Google Shape;1532;p69"/>
          <p:cNvSpPr/>
          <p:nvPr/>
        </p:nvSpPr>
        <p:spPr>
          <a:xfrm>
            <a:off x="9550400" y="4749800"/>
            <a:ext cx="2082800" cy="4318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NEXT RELEASE</a:t>
            </a:r>
            <a:endParaRPr b="0" i="0" sz="1400" u="none" cap="none" strike="noStrike">
              <a:solidFill>
                <a:srgbClr val="000000"/>
              </a:solidFill>
              <a:latin typeface="Arial"/>
              <a:ea typeface="Arial"/>
              <a:cs typeface="Arial"/>
              <a:sym typeface="Arial"/>
            </a:endParaRPr>
          </a:p>
        </p:txBody>
      </p:sp>
      <p:sp>
        <p:nvSpPr>
          <p:cNvPr id="1533" name="Google Shape;1533;p69"/>
          <p:cNvSpPr/>
          <p:nvPr/>
        </p:nvSpPr>
        <p:spPr>
          <a:xfrm>
            <a:off x="9550400" y="5181600"/>
            <a:ext cx="2082800" cy="40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Better prompts, better evaluator alignment, bigger test set — then re-run go-live tests</a:t>
            </a:r>
            <a:endParaRPr b="0" i="0" sz="1400" u="none" cap="none" strike="noStrike">
              <a:solidFill>
                <a:srgbClr val="000000"/>
              </a:solidFill>
              <a:latin typeface="Arial"/>
              <a:ea typeface="Arial"/>
              <a:cs typeface="Arial"/>
              <a:sym typeface="Arial"/>
            </a:endParaRPr>
          </a:p>
        </p:txBody>
      </p:sp>
      <p:sp>
        <p:nvSpPr>
          <p:cNvPr id="1534" name="Google Shape;1534;p69"/>
          <p:cNvSpPr/>
          <p:nvPr/>
        </p:nvSpPr>
        <p:spPr>
          <a:xfrm>
            <a:off x="9194800" y="4902200"/>
            <a:ext cx="330200" cy="3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69"/>
          <p:cNvSpPr/>
          <p:nvPr/>
        </p:nvSpPr>
        <p:spPr>
          <a:xfrm>
            <a:off x="6299200" y="4711700"/>
            <a:ext cx="1879600" cy="4064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6" name="Google Shape;1536;p69"/>
          <p:cNvSpPr/>
          <p:nvPr/>
        </p:nvSpPr>
        <p:spPr>
          <a:xfrm>
            <a:off x="6426200" y="4813300"/>
            <a:ext cx="50800" cy="203200"/>
          </a:xfrm>
          <a:prstGeom prst="rect">
            <a:avLst/>
          </a:prstGeom>
          <a:solidFill>
            <a:srgbClr val="14131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7" name="Google Shape;1537;p69"/>
          <p:cNvSpPr/>
          <p:nvPr/>
        </p:nvSpPr>
        <p:spPr>
          <a:xfrm>
            <a:off x="6553200" y="4711700"/>
            <a:ext cx="15494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150"/>
              <a:buFont typeface="Arial"/>
              <a:buNone/>
            </a:pPr>
            <a:r>
              <a:rPr b="1" i="0" lang="en-US" sz="1150" u="none" cap="none" strike="noStrike">
                <a:solidFill>
                  <a:srgbClr val="141319"/>
                </a:solidFill>
                <a:latin typeface="Arial"/>
                <a:ea typeface="Arial"/>
                <a:cs typeface="Arial"/>
                <a:sym typeface="Arial"/>
              </a:rPr>
              <a:t>Sentiment analysis</a:t>
            </a:r>
            <a:endParaRPr b="0" i="0" sz="1400" u="none" cap="none" strike="noStrike">
              <a:solidFill>
                <a:srgbClr val="000000"/>
              </a:solidFill>
              <a:latin typeface="Arial"/>
              <a:ea typeface="Arial"/>
              <a:cs typeface="Arial"/>
              <a:sym typeface="Arial"/>
            </a:endParaRPr>
          </a:p>
        </p:txBody>
      </p:sp>
      <p:sp>
        <p:nvSpPr>
          <p:cNvPr id="1538" name="Google Shape;1538;p69"/>
          <p:cNvSpPr/>
          <p:nvPr/>
        </p:nvSpPr>
        <p:spPr>
          <a:xfrm>
            <a:off x="6299200" y="5219700"/>
            <a:ext cx="1879600" cy="406400"/>
          </a:xfrm>
          <a:prstGeom prst="roundRect">
            <a:avLst>
              <a:gd fmla="val 20000" name="adj"/>
            </a:avLst>
          </a:prstGeom>
          <a:solidFill>
            <a:srgbClr val="FFFFFF"/>
          </a:solidFill>
          <a:ln cap="flat" cmpd="sng" w="12700">
            <a:solidFill>
              <a:srgbClr val="DDD7D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39" name="Google Shape;1539;p69"/>
          <p:cNvSpPr/>
          <p:nvPr/>
        </p:nvSpPr>
        <p:spPr>
          <a:xfrm>
            <a:off x="6426200" y="5321300"/>
            <a:ext cx="50800" cy="203200"/>
          </a:xfrm>
          <a:prstGeom prst="rect">
            <a:avLst/>
          </a:prstGeom>
          <a:solidFill>
            <a:srgbClr val="5F5E6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40" name="Google Shape;1540;p69"/>
          <p:cNvSpPr/>
          <p:nvPr/>
        </p:nvSpPr>
        <p:spPr>
          <a:xfrm>
            <a:off x="6553200" y="5219700"/>
            <a:ext cx="1549400" cy="406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150"/>
              <a:buFont typeface="Arial"/>
              <a:buNone/>
            </a:pPr>
            <a:r>
              <a:rPr b="1" i="0" lang="en-US" sz="1150" u="none" cap="none" strike="noStrike">
                <a:solidFill>
                  <a:srgbClr val="141319"/>
                </a:solidFill>
                <a:latin typeface="Arial"/>
                <a:ea typeface="Arial"/>
                <a:cs typeface="Arial"/>
                <a:sym typeface="Arial"/>
              </a:rPr>
              <a:t>Human annotations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70"/>
          <p:cNvSpPr/>
          <p:nvPr/>
        </p:nvSpPr>
        <p:spPr>
          <a:xfrm>
            <a:off x="263352" y="5661304"/>
            <a:ext cx="11665123" cy="504000"/>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ctr">
              <a:lnSpc>
                <a:spcPct val="100000"/>
              </a:lnSpc>
              <a:spcBef>
                <a:spcPts val="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Guardrails will be executed synchronously if they exists while Evaluators will be non-blocking to ensure quickest response time to the user.</a:t>
            </a:r>
            <a:endParaRPr b="0" i="0" sz="1400" u="none" cap="none" strike="noStrike">
              <a:solidFill>
                <a:srgbClr val="000000"/>
              </a:solidFill>
              <a:latin typeface="Arial"/>
              <a:ea typeface="Arial"/>
              <a:cs typeface="Arial"/>
              <a:sym typeface="Arial"/>
            </a:endParaRPr>
          </a:p>
        </p:txBody>
      </p:sp>
      <p:cxnSp>
        <p:nvCxnSpPr>
          <p:cNvPr id="1546" name="Google Shape;1546;p70"/>
          <p:cNvCxnSpPr>
            <a:stCxn id="1547" idx="3"/>
            <a:endCxn id="1548" idx="1"/>
          </p:cNvCxnSpPr>
          <p:nvPr/>
        </p:nvCxnSpPr>
        <p:spPr>
          <a:xfrm flipH="1" rot="10800000">
            <a:off x="4864897" y="2096981"/>
            <a:ext cx="1265700" cy="1428600"/>
          </a:xfrm>
          <a:prstGeom prst="bentConnector3">
            <a:avLst>
              <a:gd fmla="val 50000" name="adj1"/>
            </a:avLst>
          </a:prstGeom>
          <a:noFill/>
          <a:ln cap="flat" cmpd="sng" w="12700">
            <a:solidFill>
              <a:srgbClr val="E7E7E7"/>
            </a:solidFill>
            <a:prstDash val="dash"/>
            <a:miter lim="80"/>
            <a:headEnd len="sm" w="sm" type="none"/>
            <a:tailEnd len="med" w="med" type="triangle"/>
          </a:ln>
        </p:spPr>
      </p:cxnSp>
      <p:sp>
        <p:nvSpPr>
          <p:cNvPr id="1549" name="Google Shape;1549;p70"/>
          <p:cNvSpPr/>
          <p:nvPr/>
        </p:nvSpPr>
        <p:spPr>
          <a:xfrm>
            <a:off x="8580276" y="2913755"/>
            <a:ext cx="1183971" cy="1223652"/>
          </a:xfrm>
          <a:prstGeom prst="roundRect">
            <a:avLst>
              <a:gd fmla="val 5203" name="adj"/>
            </a:avLst>
          </a:prstGeom>
          <a:solidFill>
            <a:srgbClr val="FF8F35">
              <a:alpha val="10196"/>
            </a:srgbClr>
          </a:solidFill>
          <a:ln cap="flat" cmpd="sng" w="9525">
            <a:solidFill>
              <a:srgbClr val="E7E7E7"/>
            </a:solidFill>
            <a:prstDash val="solid"/>
            <a:round/>
            <a:headEnd len="sm" w="sm" type="none"/>
            <a:tailEnd len="sm" w="sm" type="none"/>
          </a:ln>
        </p:spPr>
        <p:txBody>
          <a:bodyPr anchorCtr="0" anchor="ctr" bIns="144000" lIns="72000" spcFirstLastPara="1" rIns="72000" wrap="square" tIns="180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Output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p:txBody>
      </p:sp>
      <p:sp>
        <p:nvSpPr>
          <p:cNvPr id="1550" name="Google Shape;1550;p70"/>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Workflow: guardrails and evaluators</a:t>
            </a:r>
            <a:endParaRPr/>
          </a:p>
        </p:txBody>
      </p:sp>
      <p:sp>
        <p:nvSpPr>
          <p:cNvPr id="1551" name="Google Shape;1551;p7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t/>
            </a:r>
            <a:endParaRPr/>
          </a:p>
        </p:txBody>
      </p:sp>
      <p:sp>
        <p:nvSpPr>
          <p:cNvPr id="1552" name="Google Shape;1552;p7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553" name="Google Shape;1553;p7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554" name="Google Shape;1554;p7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548" name="Google Shape;1548;p70"/>
          <p:cNvSpPr/>
          <p:nvPr/>
        </p:nvSpPr>
        <p:spPr>
          <a:xfrm>
            <a:off x="6130601" y="1664804"/>
            <a:ext cx="1183971" cy="864096"/>
          </a:xfrm>
          <a:prstGeom prst="roundRect">
            <a:avLst>
              <a:gd fmla="val 7297" name="adj"/>
            </a:avLst>
          </a:prstGeom>
          <a:solidFill>
            <a:schemeClr val="accent5">
              <a:alpha val="10196"/>
            </a:schemeClr>
          </a:solidFill>
          <a:ln cap="flat" cmpd="sng" w="9525">
            <a:solidFill>
              <a:srgbClr val="E7E7E7">
                <a:alpha val="90980"/>
              </a:srgbClr>
            </a:solidFill>
            <a:prstDash val="solid"/>
            <a:round/>
            <a:headEnd len="sm" w="sm" type="none"/>
            <a:tailEnd len="sm" w="sm" type="none"/>
          </a:ln>
        </p:spPr>
        <p:txBody>
          <a:bodyPr anchorCtr="0" anchor="ctr" bIns="144000" lIns="72000" spcFirstLastPara="1" rIns="72000" wrap="square" tIns="180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Input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Evaluators</a:t>
            </a:r>
            <a:endParaRPr b="0" i="0" sz="1400" u="none" cap="none" strike="noStrike">
              <a:solidFill>
                <a:srgbClr val="000000"/>
              </a:solidFill>
              <a:latin typeface="Arial"/>
              <a:ea typeface="Arial"/>
              <a:cs typeface="Arial"/>
              <a:sym typeface="Arial"/>
            </a:endParaRPr>
          </a:p>
        </p:txBody>
      </p:sp>
      <p:sp>
        <p:nvSpPr>
          <p:cNvPr id="1555" name="Google Shape;1555;p70"/>
          <p:cNvSpPr txBox="1"/>
          <p:nvPr/>
        </p:nvSpPr>
        <p:spPr>
          <a:xfrm>
            <a:off x="1727817" y="5091783"/>
            <a:ext cx="1522903" cy="184666"/>
          </a:xfrm>
          <a:prstGeom prst="rect">
            <a:avLst/>
          </a:prstGeom>
          <a:noFill/>
          <a:ln>
            <a:noFill/>
          </a:ln>
        </p:spPr>
        <p:txBody>
          <a:bodyPr anchorCtr="0" anchor="t" bIns="0" lIns="0" spcFirstLastPara="1" rIns="108000" wrap="square" tIns="0">
            <a:spAutoFit/>
          </a:bodyPr>
          <a:lstStyle/>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Success Response</a:t>
            </a:r>
            <a:endParaRPr b="0" i="0" sz="1200" u="none" cap="none" strike="noStrike">
              <a:solidFill>
                <a:schemeClr val="dk1"/>
              </a:solidFill>
              <a:latin typeface="Arial"/>
              <a:ea typeface="Arial"/>
              <a:cs typeface="Arial"/>
              <a:sym typeface="Arial"/>
            </a:endParaRPr>
          </a:p>
        </p:txBody>
      </p:sp>
      <p:sp>
        <p:nvSpPr>
          <p:cNvPr id="1556" name="Google Shape;1556;p70"/>
          <p:cNvSpPr txBox="1"/>
          <p:nvPr/>
        </p:nvSpPr>
        <p:spPr>
          <a:xfrm>
            <a:off x="1977885" y="4522262"/>
            <a:ext cx="1272835" cy="184666"/>
          </a:xfrm>
          <a:prstGeom prst="rect">
            <a:avLst/>
          </a:prstGeom>
          <a:noFill/>
          <a:ln>
            <a:noFill/>
          </a:ln>
        </p:spPr>
        <p:txBody>
          <a:bodyPr anchorCtr="0" anchor="t" bIns="0" lIns="0" spcFirstLastPara="1" rIns="108000" wrap="square" tIns="0">
            <a:spAutoFit/>
          </a:bodyPr>
          <a:lstStyle/>
          <a:p>
            <a:pPr indent="0" lvl="0" marL="0" marR="0" rtl="0" algn="r">
              <a:lnSpc>
                <a:spcPct val="100000"/>
              </a:lnSpc>
              <a:spcBef>
                <a:spcPts val="0"/>
              </a:spcBef>
              <a:spcAft>
                <a:spcPts val="0"/>
              </a:spcAft>
              <a:buClr>
                <a:schemeClr val="accent1"/>
              </a:buClr>
              <a:buSzPts val="1200"/>
              <a:buFont typeface="Arial"/>
              <a:buNone/>
            </a:pPr>
            <a:r>
              <a:rPr b="0" i="0" lang="en-US" sz="1200" u="none" cap="none" strike="noStrike">
                <a:solidFill>
                  <a:schemeClr val="accent1"/>
                </a:solidFill>
                <a:latin typeface="Arial"/>
                <a:ea typeface="Arial"/>
                <a:cs typeface="Arial"/>
                <a:sym typeface="Arial"/>
              </a:rPr>
              <a:t>Error Response</a:t>
            </a:r>
            <a:endParaRPr b="0" i="0" sz="1400" u="none" cap="none" strike="noStrike">
              <a:solidFill>
                <a:srgbClr val="000000"/>
              </a:solidFill>
              <a:latin typeface="Arial"/>
              <a:ea typeface="Arial"/>
              <a:cs typeface="Arial"/>
              <a:sym typeface="Arial"/>
            </a:endParaRPr>
          </a:p>
        </p:txBody>
      </p:sp>
      <p:sp>
        <p:nvSpPr>
          <p:cNvPr id="1557" name="Google Shape;1557;p70"/>
          <p:cNvSpPr/>
          <p:nvPr/>
        </p:nvSpPr>
        <p:spPr>
          <a:xfrm>
            <a:off x="5554537" y="1808820"/>
            <a:ext cx="464871" cy="18466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Async</a:t>
            </a:r>
            <a:endParaRPr b="0" i="0" sz="1400" u="none" cap="none" strike="noStrike">
              <a:solidFill>
                <a:srgbClr val="000000"/>
              </a:solidFill>
              <a:latin typeface="Arial"/>
              <a:ea typeface="Arial"/>
              <a:cs typeface="Arial"/>
              <a:sym typeface="Arial"/>
            </a:endParaRPr>
          </a:p>
        </p:txBody>
      </p:sp>
      <p:sp>
        <p:nvSpPr>
          <p:cNvPr id="1558" name="Google Shape;1558;p70"/>
          <p:cNvSpPr/>
          <p:nvPr/>
        </p:nvSpPr>
        <p:spPr>
          <a:xfrm>
            <a:off x="6130601" y="2913755"/>
            <a:ext cx="1183971" cy="1223652"/>
          </a:xfrm>
          <a:prstGeom prst="roundRect">
            <a:avLst>
              <a:gd fmla="val 5203" name="adj"/>
            </a:avLst>
          </a:prstGeom>
          <a:solidFill>
            <a:schemeClr val="accent2">
              <a:alpha val="10196"/>
            </a:schemeClr>
          </a:solidFill>
          <a:ln cap="flat" cmpd="sng" w="9525">
            <a:solidFill>
              <a:srgbClr val="E7E7E7"/>
            </a:solidFill>
            <a:prstDash val="solid"/>
            <a:round/>
            <a:headEnd len="sm" w="sm" type="none"/>
            <a:tailEnd len="sm" w="sm" type="none"/>
          </a:ln>
        </p:spPr>
        <p:txBody>
          <a:bodyPr anchorCtr="0" anchor="ctr" bIns="144000" lIns="72000" spcFirstLastPara="1" rIns="72000" wrap="square" tIns="180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Deployment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Model</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Generation</a:t>
            </a:r>
            <a:endParaRPr b="0" i="0" sz="1400" u="none" cap="none" strike="noStrike">
              <a:solidFill>
                <a:srgbClr val="000000"/>
              </a:solidFill>
              <a:latin typeface="Arial"/>
              <a:ea typeface="Arial"/>
              <a:cs typeface="Arial"/>
              <a:sym typeface="Arial"/>
            </a:endParaRPr>
          </a:p>
        </p:txBody>
      </p:sp>
      <p:sp>
        <p:nvSpPr>
          <p:cNvPr id="1559" name="Google Shape;1559;p70"/>
          <p:cNvSpPr/>
          <p:nvPr/>
        </p:nvSpPr>
        <p:spPr>
          <a:xfrm>
            <a:off x="4991323" y="3237549"/>
            <a:ext cx="371897" cy="18466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Pass</a:t>
            </a:r>
            <a:endParaRPr b="0" i="0" sz="1400" u="none" cap="none" strike="noStrike">
              <a:solidFill>
                <a:srgbClr val="000000"/>
              </a:solidFill>
              <a:latin typeface="Arial"/>
              <a:ea typeface="Arial"/>
              <a:cs typeface="Arial"/>
              <a:sym typeface="Arial"/>
            </a:endParaRPr>
          </a:p>
        </p:txBody>
      </p:sp>
      <p:sp>
        <p:nvSpPr>
          <p:cNvPr id="1560" name="Google Shape;1560;p70"/>
          <p:cNvSpPr/>
          <p:nvPr/>
        </p:nvSpPr>
        <p:spPr>
          <a:xfrm>
            <a:off x="8004212" y="1808820"/>
            <a:ext cx="464871" cy="184666"/>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Async</a:t>
            </a:r>
            <a:endParaRPr b="0" i="0" sz="1400" u="none" cap="none" strike="noStrike">
              <a:solidFill>
                <a:srgbClr val="000000"/>
              </a:solidFill>
              <a:latin typeface="Arial"/>
              <a:ea typeface="Arial"/>
              <a:cs typeface="Arial"/>
              <a:sym typeface="Arial"/>
            </a:endParaRPr>
          </a:p>
        </p:txBody>
      </p:sp>
      <p:sp>
        <p:nvSpPr>
          <p:cNvPr id="1561" name="Google Shape;1561;p70"/>
          <p:cNvSpPr txBox="1"/>
          <p:nvPr/>
        </p:nvSpPr>
        <p:spPr>
          <a:xfrm>
            <a:off x="2298486" y="3433248"/>
            <a:ext cx="952234" cy="184666"/>
          </a:xfrm>
          <a:prstGeom prst="rect">
            <a:avLst/>
          </a:prstGeom>
          <a:noFill/>
          <a:ln>
            <a:noFill/>
          </a:ln>
        </p:spPr>
        <p:txBody>
          <a:bodyPr anchorCtr="0" anchor="t" bIns="0" lIns="0" spcFirstLastPara="1" rIns="108000" wrap="square" tIns="0">
            <a:spAutoFit/>
          </a:bodyPr>
          <a:lstStyle/>
          <a:p>
            <a:pPr indent="0" lvl="0" marL="0" marR="0" rtl="0" algn="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User Query</a:t>
            </a:r>
            <a:endParaRPr b="0" i="0" sz="1400" u="none" cap="none" strike="noStrike">
              <a:solidFill>
                <a:srgbClr val="000000"/>
              </a:solidFill>
              <a:latin typeface="Arial"/>
              <a:ea typeface="Arial"/>
              <a:cs typeface="Arial"/>
              <a:sym typeface="Arial"/>
            </a:endParaRPr>
          </a:p>
        </p:txBody>
      </p:sp>
      <p:cxnSp>
        <p:nvCxnSpPr>
          <p:cNvPr id="1562" name="Google Shape;1562;p70"/>
          <p:cNvCxnSpPr>
            <a:stCxn id="1561" idx="3"/>
            <a:endCxn id="1547" idx="1"/>
          </p:cNvCxnSpPr>
          <p:nvPr/>
        </p:nvCxnSpPr>
        <p:spPr>
          <a:xfrm>
            <a:off x="3250720" y="3525581"/>
            <a:ext cx="430200" cy="0"/>
          </a:xfrm>
          <a:prstGeom prst="straightConnector1">
            <a:avLst/>
          </a:prstGeom>
          <a:noFill/>
          <a:ln cap="flat" cmpd="sng" w="12700">
            <a:solidFill>
              <a:srgbClr val="E7E7E7"/>
            </a:solidFill>
            <a:prstDash val="solid"/>
            <a:miter lim="80"/>
            <a:headEnd len="sm" w="sm" type="none"/>
            <a:tailEnd len="med" w="med" type="triangle"/>
          </a:ln>
        </p:spPr>
      </p:cxnSp>
      <p:sp>
        <p:nvSpPr>
          <p:cNvPr id="1547" name="Google Shape;1547;p70"/>
          <p:cNvSpPr/>
          <p:nvPr/>
        </p:nvSpPr>
        <p:spPr>
          <a:xfrm>
            <a:off x="3680926" y="2913755"/>
            <a:ext cx="1183971" cy="1223652"/>
          </a:xfrm>
          <a:prstGeom prst="roundRect">
            <a:avLst>
              <a:gd fmla="val 5203" name="adj"/>
            </a:avLst>
          </a:prstGeom>
          <a:solidFill>
            <a:srgbClr val="FF8F35">
              <a:alpha val="10196"/>
            </a:srgbClr>
          </a:solidFill>
          <a:ln cap="flat" cmpd="sng" w="9525">
            <a:solidFill>
              <a:srgbClr val="E7E7E7"/>
            </a:solidFill>
            <a:prstDash val="solid"/>
            <a:round/>
            <a:headEnd len="sm" w="sm" type="none"/>
            <a:tailEnd len="sm" w="sm" type="none"/>
          </a:ln>
        </p:spPr>
        <p:txBody>
          <a:bodyPr anchorCtr="0" anchor="ctr" bIns="144000" lIns="72000" spcFirstLastPara="1" rIns="72000" wrap="square" tIns="180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Input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p:txBody>
      </p:sp>
      <p:sp>
        <p:nvSpPr>
          <p:cNvPr id="1563" name="Google Shape;1563;p70"/>
          <p:cNvSpPr/>
          <p:nvPr/>
        </p:nvSpPr>
        <p:spPr>
          <a:xfrm>
            <a:off x="8580276" y="1664804"/>
            <a:ext cx="1183971" cy="864096"/>
          </a:xfrm>
          <a:prstGeom prst="roundRect">
            <a:avLst>
              <a:gd fmla="val 7297" name="adj"/>
            </a:avLst>
          </a:prstGeom>
          <a:solidFill>
            <a:schemeClr val="accent5">
              <a:alpha val="10196"/>
            </a:schemeClr>
          </a:solidFill>
          <a:ln cap="flat" cmpd="sng" w="9525">
            <a:solidFill>
              <a:srgbClr val="E7E7E7">
                <a:alpha val="90980"/>
              </a:srgbClr>
            </a:solidFill>
            <a:prstDash val="solid"/>
            <a:round/>
            <a:headEnd len="sm" w="sm" type="none"/>
            <a:tailEnd len="sm" w="sm" type="none"/>
          </a:ln>
        </p:spPr>
        <p:txBody>
          <a:bodyPr anchorCtr="0" anchor="ctr" bIns="144000" lIns="72000" spcFirstLastPara="1" rIns="72000" wrap="square" tIns="180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Output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Evaluators</a:t>
            </a:r>
            <a:endParaRPr b="0" i="0" sz="1400" u="none" cap="none" strike="noStrike">
              <a:solidFill>
                <a:srgbClr val="000000"/>
              </a:solidFill>
              <a:latin typeface="Arial"/>
              <a:ea typeface="Arial"/>
              <a:cs typeface="Arial"/>
              <a:sym typeface="Arial"/>
            </a:endParaRPr>
          </a:p>
        </p:txBody>
      </p:sp>
      <p:cxnSp>
        <p:nvCxnSpPr>
          <p:cNvPr id="1564" name="Google Shape;1564;p70"/>
          <p:cNvCxnSpPr>
            <a:stCxn id="1547" idx="3"/>
            <a:endCxn id="1558" idx="1"/>
          </p:cNvCxnSpPr>
          <p:nvPr/>
        </p:nvCxnSpPr>
        <p:spPr>
          <a:xfrm>
            <a:off x="4864897" y="3525581"/>
            <a:ext cx="1265700" cy="0"/>
          </a:xfrm>
          <a:prstGeom prst="straightConnector1">
            <a:avLst/>
          </a:prstGeom>
          <a:noFill/>
          <a:ln cap="flat" cmpd="sng" w="12700">
            <a:solidFill>
              <a:srgbClr val="E7E7E7"/>
            </a:solidFill>
            <a:prstDash val="solid"/>
            <a:miter lim="80"/>
            <a:headEnd len="sm" w="sm" type="none"/>
            <a:tailEnd len="med" w="med" type="triangle"/>
          </a:ln>
        </p:spPr>
      </p:cxnSp>
      <p:cxnSp>
        <p:nvCxnSpPr>
          <p:cNvPr id="1565" name="Google Shape;1565;p70"/>
          <p:cNvCxnSpPr>
            <a:stCxn id="1558" idx="3"/>
            <a:endCxn id="1549" idx="1"/>
          </p:cNvCxnSpPr>
          <p:nvPr/>
        </p:nvCxnSpPr>
        <p:spPr>
          <a:xfrm>
            <a:off x="7314572" y="3525581"/>
            <a:ext cx="1265700" cy="0"/>
          </a:xfrm>
          <a:prstGeom prst="straightConnector1">
            <a:avLst/>
          </a:prstGeom>
          <a:noFill/>
          <a:ln cap="flat" cmpd="sng" w="12700">
            <a:solidFill>
              <a:srgbClr val="E7E7E7"/>
            </a:solidFill>
            <a:prstDash val="solid"/>
            <a:miter lim="80"/>
            <a:headEnd len="sm" w="sm" type="none"/>
            <a:tailEnd len="med" w="med" type="triangle"/>
          </a:ln>
        </p:spPr>
      </p:cxnSp>
      <p:cxnSp>
        <p:nvCxnSpPr>
          <p:cNvPr id="1566" name="Google Shape;1566;p70"/>
          <p:cNvCxnSpPr>
            <a:stCxn id="1558" idx="3"/>
            <a:endCxn id="1563" idx="1"/>
          </p:cNvCxnSpPr>
          <p:nvPr/>
        </p:nvCxnSpPr>
        <p:spPr>
          <a:xfrm flipH="1" rot="10800000">
            <a:off x="7314572" y="2096981"/>
            <a:ext cx="1265700" cy="1428600"/>
          </a:xfrm>
          <a:prstGeom prst="bentConnector3">
            <a:avLst>
              <a:gd fmla="val 50000" name="adj1"/>
            </a:avLst>
          </a:prstGeom>
          <a:noFill/>
          <a:ln cap="flat" cmpd="sng" w="12700">
            <a:solidFill>
              <a:srgbClr val="E7E7E7"/>
            </a:solidFill>
            <a:prstDash val="dash"/>
            <a:miter lim="80"/>
            <a:headEnd len="sm" w="sm" type="none"/>
            <a:tailEnd len="med" w="med" type="triangle"/>
          </a:ln>
        </p:spPr>
      </p:cxnSp>
      <p:cxnSp>
        <p:nvCxnSpPr>
          <p:cNvPr id="1567" name="Google Shape;1567;p70"/>
          <p:cNvCxnSpPr>
            <a:stCxn id="1549" idx="3"/>
            <a:endCxn id="1555" idx="3"/>
          </p:cNvCxnSpPr>
          <p:nvPr/>
        </p:nvCxnSpPr>
        <p:spPr>
          <a:xfrm flipH="1">
            <a:off x="3250647" y="3525581"/>
            <a:ext cx="6513600" cy="1658400"/>
          </a:xfrm>
          <a:prstGeom prst="bentConnector3">
            <a:avLst>
              <a:gd fmla="val -3510" name="adj1"/>
            </a:avLst>
          </a:prstGeom>
          <a:noFill/>
          <a:ln cap="flat" cmpd="sng" w="12700">
            <a:solidFill>
              <a:srgbClr val="E7E7E7"/>
            </a:solidFill>
            <a:prstDash val="dash"/>
            <a:miter lim="80"/>
            <a:headEnd len="sm" w="sm" type="none"/>
            <a:tailEnd len="med" w="med" type="triangle"/>
          </a:ln>
        </p:spPr>
      </p:cxnSp>
      <p:sp>
        <p:nvSpPr>
          <p:cNvPr id="1568" name="Google Shape;1568;p70"/>
          <p:cNvSpPr/>
          <p:nvPr/>
        </p:nvSpPr>
        <p:spPr>
          <a:xfrm>
            <a:off x="9809490" y="4189810"/>
            <a:ext cx="371897" cy="330072"/>
          </a:xfrm>
          <a:prstGeom prst="rect">
            <a:avLst/>
          </a:prstGeom>
          <a:solidFill>
            <a:schemeClr val="lt1"/>
          </a:solidFill>
          <a:ln>
            <a:noFill/>
          </a:ln>
        </p:spPr>
        <p:txBody>
          <a:bodyPr anchorCtr="0" anchor="ctr" bIns="72000" lIns="0" spcFirstLastPara="1" rIns="0" wrap="square" tIns="720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Pass</a:t>
            </a:r>
            <a:endParaRPr b="0" i="0" sz="1400" u="none" cap="none" strike="noStrike">
              <a:solidFill>
                <a:srgbClr val="000000"/>
              </a:solidFill>
              <a:latin typeface="Arial"/>
              <a:ea typeface="Arial"/>
              <a:cs typeface="Arial"/>
              <a:sym typeface="Arial"/>
            </a:endParaRPr>
          </a:p>
        </p:txBody>
      </p:sp>
      <p:cxnSp>
        <p:nvCxnSpPr>
          <p:cNvPr id="1569" name="Google Shape;1569;p70"/>
          <p:cNvCxnSpPr>
            <a:stCxn id="1549" idx="2"/>
            <a:endCxn id="1556" idx="3"/>
          </p:cNvCxnSpPr>
          <p:nvPr/>
        </p:nvCxnSpPr>
        <p:spPr>
          <a:xfrm rot="5400000">
            <a:off x="5972912" y="1415357"/>
            <a:ext cx="477300" cy="5921400"/>
          </a:xfrm>
          <a:prstGeom prst="bentConnector2">
            <a:avLst/>
          </a:prstGeom>
          <a:noFill/>
          <a:ln cap="flat" cmpd="sng" w="12700">
            <a:solidFill>
              <a:schemeClr val="accent1"/>
            </a:solidFill>
            <a:prstDash val="dash"/>
            <a:miter lim="80"/>
            <a:headEnd len="sm" w="sm" type="none"/>
            <a:tailEnd len="med" w="med" type="triangle"/>
          </a:ln>
        </p:spPr>
      </p:cxnSp>
      <p:sp>
        <p:nvSpPr>
          <p:cNvPr id="1570" name="Google Shape;1570;p70"/>
          <p:cNvSpPr/>
          <p:nvPr/>
        </p:nvSpPr>
        <p:spPr>
          <a:xfrm>
            <a:off x="8924547" y="4449559"/>
            <a:ext cx="495428" cy="330072"/>
          </a:xfrm>
          <a:prstGeom prst="rect">
            <a:avLst/>
          </a:prstGeom>
          <a:solidFill>
            <a:schemeClr val="lt1"/>
          </a:solidFill>
          <a:ln>
            <a:noFill/>
          </a:ln>
        </p:spPr>
        <p:txBody>
          <a:bodyPr anchorCtr="0" anchor="ctr" bIns="72000" lIns="108000" spcFirstLastPara="1" rIns="108000" wrap="square" tIns="720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accent1"/>
                </a:solidFill>
                <a:latin typeface="Arial"/>
                <a:ea typeface="Arial"/>
                <a:cs typeface="Arial"/>
                <a:sym typeface="Arial"/>
              </a:rPr>
              <a:t>Fail</a:t>
            </a:r>
            <a:endParaRPr b="0" i="0" sz="1400" u="none" cap="none" strike="noStrike">
              <a:solidFill>
                <a:srgbClr val="000000"/>
              </a:solidFill>
              <a:latin typeface="Arial"/>
              <a:ea typeface="Arial"/>
              <a:cs typeface="Arial"/>
              <a:sym typeface="Arial"/>
            </a:endParaRPr>
          </a:p>
        </p:txBody>
      </p:sp>
      <p:sp>
        <p:nvSpPr>
          <p:cNvPr id="1571" name="Google Shape;1571;p70"/>
          <p:cNvSpPr/>
          <p:nvPr/>
        </p:nvSpPr>
        <p:spPr>
          <a:xfrm>
            <a:off x="4025197" y="4449559"/>
            <a:ext cx="495428" cy="330072"/>
          </a:xfrm>
          <a:prstGeom prst="rect">
            <a:avLst/>
          </a:prstGeom>
          <a:solidFill>
            <a:schemeClr val="lt1"/>
          </a:solidFill>
          <a:ln>
            <a:noFill/>
          </a:ln>
        </p:spPr>
        <p:txBody>
          <a:bodyPr anchorCtr="0" anchor="ctr" bIns="72000" lIns="108000" spcFirstLastPara="1" rIns="108000" wrap="square" tIns="720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accent1"/>
                </a:solidFill>
                <a:latin typeface="Arial"/>
                <a:ea typeface="Arial"/>
                <a:cs typeface="Arial"/>
                <a:sym typeface="Arial"/>
              </a:rPr>
              <a:t>Fail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6" name="Shape 1576"/>
        <p:cNvGrpSpPr/>
        <p:nvPr/>
      </p:nvGrpSpPr>
      <p:grpSpPr>
        <a:xfrm>
          <a:off x="0" y="0"/>
          <a:ext cx="0" cy="0"/>
          <a:chOff x="0" y="0"/>
          <a:chExt cx="0" cy="0"/>
        </a:xfrm>
      </p:grpSpPr>
      <p:sp>
        <p:nvSpPr>
          <p:cNvPr id="1577" name="Google Shape;1577;p71"/>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With 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Safe, auditable and compliant outputs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Data protection</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Maintain brand tone and trust</a:t>
            </a:r>
            <a:endParaRPr b="0" i="0" sz="1400" u="none" cap="none" strike="noStrike">
              <a:solidFill>
                <a:srgbClr val="000000"/>
              </a:solidFill>
              <a:latin typeface="Arial"/>
              <a:ea typeface="Arial"/>
              <a:cs typeface="Arial"/>
              <a:sym typeface="Arial"/>
            </a:endParaRPr>
          </a:p>
        </p:txBody>
      </p:sp>
      <p:sp>
        <p:nvSpPr>
          <p:cNvPr id="1578" name="Google Shape;1578;p71"/>
          <p:cNvSpPr/>
          <p:nvPr/>
        </p:nvSpPr>
        <p:spPr>
          <a:xfrm>
            <a:off x="6338500" y="5069668"/>
            <a:ext cx="5410588" cy="421503"/>
          </a:xfrm>
          <a:custGeom>
            <a:rect b="b" l="l" r="r" t="t"/>
            <a:pathLst>
              <a:path extrusionOk="0" h="421503" w="5410588">
                <a:moveTo>
                  <a:pt x="30288" y="0"/>
                </a:moveTo>
                <a:lnTo>
                  <a:pt x="615881" y="0"/>
                </a:lnTo>
                <a:lnTo>
                  <a:pt x="1505693" y="0"/>
                </a:lnTo>
                <a:lnTo>
                  <a:pt x="3904895" y="0"/>
                </a:lnTo>
                <a:lnTo>
                  <a:pt x="4900403" y="0"/>
                </a:lnTo>
                <a:lnTo>
                  <a:pt x="5380300" y="0"/>
                </a:lnTo>
                <a:cubicBezTo>
                  <a:pt x="5397028" y="0"/>
                  <a:pt x="5410588" y="13560"/>
                  <a:pt x="5410588" y="30288"/>
                </a:cubicBezTo>
                <a:lnTo>
                  <a:pt x="5410588" y="391215"/>
                </a:lnTo>
                <a:cubicBezTo>
                  <a:pt x="5410588" y="407943"/>
                  <a:pt x="5397028" y="421503"/>
                  <a:pt x="5380300" y="421503"/>
                </a:cubicBezTo>
                <a:lnTo>
                  <a:pt x="4900403" y="421503"/>
                </a:lnTo>
                <a:lnTo>
                  <a:pt x="3904895" y="421503"/>
                </a:lnTo>
                <a:lnTo>
                  <a:pt x="1505693" y="421503"/>
                </a:lnTo>
                <a:lnTo>
                  <a:pt x="615881" y="421503"/>
                </a:lnTo>
                <a:lnTo>
                  <a:pt x="30288" y="421503"/>
                </a:lnTo>
                <a:cubicBezTo>
                  <a:pt x="13560" y="421503"/>
                  <a:pt x="0" y="407943"/>
                  <a:pt x="0" y="391215"/>
                </a:cubicBezTo>
                <a:lnTo>
                  <a:pt x="0" y="30288"/>
                </a:lnTo>
                <a:cubicBezTo>
                  <a:pt x="0" y="13560"/>
                  <a:pt x="13560" y="0"/>
                  <a:pt x="30288" y="0"/>
                </a:cubicBezTo>
                <a:close/>
              </a:path>
            </a:pathLst>
          </a:custGeom>
          <a:solidFill>
            <a:schemeClr val="lt1"/>
          </a:solidFill>
          <a:ln cap="flat" cmpd="sng" w="9525">
            <a:solidFill>
              <a:schemeClr val="dk1">
                <a:alpha val="10196"/>
              </a:schemeClr>
            </a:solidFill>
            <a:prstDash val="solid"/>
            <a:miter lim="80"/>
            <a:headEnd len="sm" w="sm" type="none"/>
            <a:tailEnd len="sm" w="sm" type="none"/>
          </a:ln>
        </p:spPr>
        <p:txBody>
          <a:bodyPr anchorCtr="0" anchor="ctr" bIns="45700" lIns="396000"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Input</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Guard</a:t>
            </a:r>
            <a:endParaRPr b="0" i="0" sz="1400" u="none" cap="none" strike="noStrike">
              <a:solidFill>
                <a:srgbClr val="000000"/>
              </a:solidFill>
              <a:latin typeface="Arial"/>
              <a:ea typeface="Arial"/>
              <a:cs typeface="Arial"/>
              <a:sym typeface="Arial"/>
            </a:endParaRPr>
          </a:p>
        </p:txBody>
      </p:sp>
      <p:cxnSp>
        <p:nvCxnSpPr>
          <p:cNvPr id="1579" name="Google Shape;1579;p71"/>
          <p:cNvCxnSpPr/>
          <p:nvPr/>
        </p:nvCxnSpPr>
        <p:spPr>
          <a:xfrm>
            <a:off x="7320136" y="5280419"/>
            <a:ext cx="4336765" cy="0"/>
          </a:xfrm>
          <a:prstGeom prst="straightConnector1">
            <a:avLst/>
          </a:prstGeom>
          <a:noFill/>
          <a:ln cap="flat" cmpd="sng" w="12700">
            <a:solidFill>
              <a:schemeClr val="dk1">
                <a:alpha val="10196"/>
              </a:schemeClr>
            </a:solidFill>
            <a:prstDash val="solid"/>
            <a:miter lim="80"/>
            <a:headEnd len="sm" w="sm" type="none"/>
            <a:tailEnd len="med" w="med" type="triangle"/>
          </a:ln>
        </p:spPr>
      </p:cxnSp>
      <p:sp>
        <p:nvSpPr>
          <p:cNvPr id="1580" name="Google Shape;1580;p7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Easily implement guardrails for a safe and reliable use of agents</a:t>
            </a:r>
            <a:endParaRPr/>
          </a:p>
        </p:txBody>
      </p:sp>
      <p:sp>
        <p:nvSpPr>
          <p:cNvPr id="1581" name="Google Shape;1581;p7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582" name="Google Shape;1582;p7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583" name="Google Shape;1583;p71"/>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584" name="Google Shape;1584;p71"/>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1585" name="Google Shape;1585;p71"/>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586" name="Google Shape;1586;p71"/>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No 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Wrong or unsafe answers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Data leak potential</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Reputation damage potential</a:t>
            </a:r>
            <a:endParaRPr b="0" i="0" sz="1400" u="none" cap="none" strike="noStrike">
              <a:solidFill>
                <a:srgbClr val="000000"/>
              </a:solidFill>
              <a:latin typeface="Arial"/>
              <a:ea typeface="Arial"/>
              <a:cs typeface="Arial"/>
              <a:sym typeface="Arial"/>
            </a:endParaRPr>
          </a:p>
        </p:txBody>
      </p:sp>
      <p:sp>
        <p:nvSpPr>
          <p:cNvPr id="1587" name="Google Shape;1587;p71"/>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588" name="Google Shape;1588;p71"/>
          <p:cNvSpPr/>
          <p:nvPr/>
        </p:nvSpPr>
        <p:spPr>
          <a:xfrm>
            <a:off x="10213107" y="3947744"/>
            <a:ext cx="1535981" cy="500878"/>
          </a:xfrm>
          <a:prstGeom prst="roundRect">
            <a:avLst>
              <a:gd fmla="val 6047"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1589" name="Google Shape;1589;p71"/>
          <p:cNvSpPr/>
          <p:nvPr/>
        </p:nvSpPr>
        <p:spPr>
          <a:xfrm>
            <a:off x="6338500" y="3947744"/>
            <a:ext cx="1535981" cy="500878"/>
          </a:xfrm>
          <a:prstGeom prst="roundRect">
            <a:avLst>
              <a:gd fmla="val 6047"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Prompt </a:t>
            </a:r>
            <a:endParaRPr b="0" i="0" sz="1400" u="none" cap="none" strike="noStrike">
              <a:solidFill>
                <a:srgbClr val="000000"/>
              </a:solidFill>
              <a:latin typeface="Arial"/>
              <a:ea typeface="Arial"/>
              <a:cs typeface="Arial"/>
              <a:sym typeface="Arial"/>
            </a:endParaRPr>
          </a:p>
        </p:txBody>
      </p:sp>
      <p:sp>
        <p:nvSpPr>
          <p:cNvPr id="1590" name="Google Shape;1590;p71"/>
          <p:cNvSpPr/>
          <p:nvPr/>
        </p:nvSpPr>
        <p:spPr>
          <a:xfrm>
            <a:off x="8275804" y="3947744"/>
            <a:ext cx="1535981" cy="500878"/>
          </a:xfrm>
          <a:prstGeom prst="roundRect">
            <a:avLst>
              <a:gd fmla="val 50000"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0" lIns="91425" spcFirstLastPara="1" rIns="91425" wrap="square" tIns="36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cxnSp>
        <p:nvCxnSpPr>
          <p:cNvPr id="1591" name="Google Shape;1591;p71"/>
          <p:cNvCxnSpPr>
            <a:stCxn id="1589" idx="3"/>
          </p:cNvCxnSpPr>
          <p:nvPr/>
        </p:nvCxnSpPr>
        <p:spPr>
          <a:xfrm>
            <a:off x="7874481" y="4198183"/>
            <a:ext cx="401400" cy="0"/>
          </a:xfrm>
          <a:prstGeom prst="straightConnector1">
            <a:avLst/>
          </a:prstGeom>
          <a:noFill/>
          <a:ln cap="flat" cmpd="sng" w="12700">
            <a:solidFill>
              <a:srgbClr val="DF5325"/>
            </a:solidFill>
            <a:prstDash val="lgDash"/>
            <a:miter lim="80"/>
            <a:headEnd len="sm" w="sm" type="none"/>
            <a:tailEnd len="med" w="med" type="triangle"/>
          </a:ln>
        </p:spPr>
      </p:cxnSp>
      <p:cxnSp>
        <p:nvCxnSpPr>
          <p:cNvPr id="1592" name="Google Shape;1592;p71"/>
          <p:cNvCxnSpPr>
            <a:endCxn id="1588" idx="1"/>
          </p:cNvCxnSpPr>
          <p:nvPr/>
        </p:nvCxnSpPr>
        <p:spPr>
          <a:xfrm>
            <a:off x="9811707" y="4198183"/>
            <a:ext cx="401400" cy="0"/>
          </a:xfrm>
          <a:prstGeom prst="straightConnector1">
            <a:avLst/>
          </a:prstGeom>
          <a:noFill/>
          <a:ln cap="flat" cmpd="sng" w="12700">
            <a:solidFill>
              <a:srgbClr val="DF5325"/>
            </a:solidFill>
            <a:prstDash val="lgDash"/>
            <a:miter lim="80"/>
            <a:headEnd len="sm" w="sm" type="none"/>
            <a:tailEnd len="med" w="med" type="triangle"/>
          </a:ln>
        </p:spPr>
      </p:cxnSp>
      <p:grpSp>
        <p:nvGrpSpPr>
          <p:cNvPr id="1593" name="Google Shape;1593;p71"/>
          <p:cNvGrpSpPr/>
          <p:nvPr/>
        </p:nvGrpSpPr>
        <p:grpSpPr>
          <a:xfrm>
            <a:off x="8587752" y="4221038"/>
            <a:ext cx="912084" cy="137061"/>
            <a:chOff x="7307317" y="4222793"/>
            <a:chExt cx="1197823" cy="180000"/>
          </a:xfrm>
        </p:grpSpPr>
        <p:pic>
          <p:nvPicPr>
            <p:cNvPr id="1594" name="Google Shape;1594;p71"/>
            <p:cNvPicPr preferRelativeResize="0"/>
            <p:nvPr/>
          </p:nvPicPr>
          <p:blipFill rotWithShape="1">
            <a:blip r:embed="rId4">
              <a:alphaModFix/>
            </a:blip>
            <a:srcRect b="0" l="0" r="0" t="0"/>
            <a:stretch/>
          </p:blipFill>
          <p:spPr>
            <a:xfrm>
              <a:off x="7307317" y="4222793"/>
              <a:ext cx="174705" cy="180000"/>
            </a:xfrm>
            <a:prstGeom prst="rect">
              <a:avLst/>
            </a:prstGeom>
            <a:noFill/>
            <a:ln>
              <a:noFill/>
            </a:ln>
          </p:spPr>
        </p:pic>
        <p:pic>
          <p:nvPicPr>
            <p:cNvPr id="1595" name="Google Shape;1595;p71"/>
            <p:cNvPicPr preferRelativeResize="0"/>
            <p:nvPr/>
          </p:nvPicPr>
          <p:blipFill rotWithShape="1">
            <a:blip r:embed="rId5">
              <a:alphaModFix/>
            </a:blip>
            <a:srcRect b="0" l="0" r="0" t="0"/>
            <a:stretch/>
          </p:blipFill>
          <p:spPr>
            <a:xfrm>
              <a:off x="7771796" y="4222793"/>
              <a:ext cx="263570" cy="180000"/>
            </a:xfrm>
            <a:prstGeom prst="rect">
              <a:avLst/>
            </a:prstGeom>
            <a:noFill/>
            <a:ln>
              <a:noFill/>
            </a:ln>
          </p:spPr>
        </p:pic>
        <p:pic>
          <p:nvPicPr>
            <p:cNvPr id="1596" name="Google Shape;1596;p71"/>
            <p:cNvPicPr preferRelativeResize="0"/>
            <p:nvPr/>
          </p:nvPicPr>
          <p:blipFill rotWithShape="1">
            <a:blip r:embed="rId6">
              <a:alphaModFix/>
            </a:blip>
            <a:srcRect b="0" l="0" r="0" t="0"/>
            <a:stretch/>
          </p:blipFill>
          <p:spPr>
            <a:xfrm>
              <a:off x="8325140" y="4222793"/>
              <a:ext cx="180000" cy="180000"/>
            </a:xfrm>
            <a:prstGeom prst="rect">
              <a:avLst/>
            </a:prstGeom>
            <a:noFill/>
            <a:ln>
              <a:noFill/>
            </a:ln>
          </p:spPr>
        </p:pic>
      </p:grpSp>
      <p:sp>
        <p:nvSpPr>
          <p:cNvPr id="1597" name="Google Shape;1597;p71"/>
          <p:cNvSpPr/>
          <p:nvPr/>
        </p:nvSpPr>
        <p:spPr>
          <a:xfrm>
            <a:off x="4317518" y="3947744"/>
            <a:ext cx="1535981" cy="500878"/>
          </a:xfrm>
          <a:prstGeom prst="roundRect">
            <a:avLst>
              <a:gd fmla="val 6047"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1598" name="Google Shape;1598;p71"/>
          <p:cNvSpPr/>
          <p:nvPr/>
        </p:nvSpPr>
        <p:spPr>
          <a:xfrm>
            <a:off x="442911" y="3947744"/>
            <a:ext cx="1535981" cy="500878"/>
          </a:xfrm>
          <a:prstGeom prst="roundRect">
            <a:avLst>
              <a:gd fmla="val 6047"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Prompt </a:t>
            </a:r>
            <a:endParaRPr b="0" i="0" sz="1400" u="none" cap="none" strike="noStrike">
              <a:solidFill>
                <a:srgbClr val="000000"/>
              </a:solidFill>
              <a:latin typeface="Arial"/>
              <a:ea typeface="Arial"/>
              <a:cs typeface="Arial"/>
              <a:sym typeface="Arial"/>
            </a:endParaRPr>
          </a:p>
        </p:txBody>
      </p:sp>
      <p:sp>
        <p:nvSpPr>
          <p:cNvPr id="1599" name="Google Shape;1599;p71"/>
          <p:cNvSpPr/>
          <p:nvPr/>
        </p:nvSpPr>
        <p:spPr>
          <a:xfrm>
            <a:off x="2380215" y="3947744"/>
            <a:ext cx="1535981" cy="500878"/>
          </a:xfrm>
          <a:prstGeom prst="roundRect">
            <a:avLst>
              <a:gd fmla="val 50000" name="adj"/>
            </a:avLst>
          </a:prstGeom>
          <a:solidFill>
            <a:srgbClr val="FF8F35">
              <a:alpha val="10196"/>
            </a:srgbClr>
          </a:solidFill>
          <a:ln cap="flat" cmpd="sng" w="9525">
            <a:solidFill>
              <a:schemeClr val="accent1"/>
            </a:solidFill>
            <a:prstDash val="solid"/>
            <a:miter lim="80"/>
            <a:headEnd len="sm" w="sm" type="none"/>
            <a:tailEnd len="sm" w="sm" type="none"/>
          </a:ln>
        </p:spPr>
        <p:txBody>
          <a:bodyPr anchorCtr="0" anchor="ctr" bIns="0" lIns="91425" spcFirstLastPara="1" rIns="91425" wrap="square" tIns="36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LLM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60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cxnSp>
        <p:nvCxnSpPr>
          <p:cNvPr id="1600" name="Google Shape;1600;p71"/>
          <p:cNvCxnSpPr>
            <a:stCxn id="1598" idx="3"/>
          </p:cNvCxnSpPr>
          <p:nvPr/>
        </p:nvCxnSpPr>
        <p:spPr>
          <a:xfrm>
            <a:off x="1978892" y="4198183"/>
            <a:ext cx="401400" cy="0"/>
          </a:xfrm>
          <a:prstGeom prst="straightConnector1">
            <a:avLst/>
          </a:prstGeom>
          <a:noFill/>
          <a:ln cap="flat" cmpd="sng" w="12700">
            <a:solidFill>
              <a:srgbClr val="DF5325"/>
            </a:solidFill>
            <a:prstDash val="lgDash"/>
            <a:miter lim="80"/>
            <a:headEnd len="sm" w="sm" type="none"/>
            <a:tailEnd len="med" w="med" type="triangle"/>
          </a:ln>
        </p:spPr>
      </p:cxnSp>
      <p:cxnSp>
        <p:nvCxnSpPr>
          <p:cNvPr id="1601" name="Google Shape;1601;p71"/>
          <p:cNvCxnSpPr>
            <a:endCxn id="1597" idx="1"/>
          </p:cNvCxnSpPr>
          <p:nvPr/>
        </p:nvCxnSpPr>
        <p:spPr>
          <a:xfrm>
            <a:off x="3916118" y="4198183"/>
            <a:ext cx="401400" cy="0"/>
          </a:xfrm>
          <a:prstGeom prst="straightConnector1">
            <a:avLst/>
          </a:prstGeom>
          <a:noFill/>
          <a:ln cap="flat" cmpd="sng" w="12700">
            <a:solidFill>
              <a:srgbClr val="DF5325"/>
            </a:solidFill>
            <a:prstDash val="lgDash"/>
            <a:miter lim="80"/>
            <a:headEnd len="sm" w="sm" type="none"/>
            <a:tailEnd len="med" w="med" type="triangle"/>
          </a:ln>
        </p:spPr>
      </p:cxnSp>
      <p:grpSp>
        <p:nvGrpSpPr>
          <p:cNvPr id="1602" name="Google Shape;1602;p71"/>
          <p:cNvGrpSpPr/>
          <p:nvPr/>
        </p:nvGrpSpPr>
        <p:grpSpPr>
          <a:xfrm>
            <a:off x="2692163" y="4221038"/>
            <a:ext cx="912084" cy="137061"/>
            <a:chOff x="7307317" y="4222793"/>
            <a:chExt cx="1197823" cy="180000"/>
          </a:xfrm>
        </p:grpSpPr>
        <p:pic>
          <p:nvPicPr>
            <p:cNvPr id="1603" name="Google Shape;1603;p71"/>
            <p:cNvPicPr preferRelativeResize="0"/>
            <p:nvPr/>
          </p:nvPicPr>
          <p:blipFill rotWithShape="1">
            <a:blip r:embed="rId4">
              <a:alphaModFix/>
            </a:blip>
            <a:srcRect b="0" l="0" r="0" t="0"/>
            <a:stretch/>
          </p:blipFill>
          <p:spPr>
            <a:xfrm>
              <a:off x="7307317" y="4222793"/>
              <a:ext cx="174705" cy="180000"/>
            </a:xfrm>
            <a:prstGeom prst="rect">
              <a:avLst/>
            </a:prstGeom>
            <a:noFill/>
            <a:ln>
              <a:noFill/>
            </a:ln>
          </p:spPr>
        </p:pic>
        <p:pic>
          <p:nvPicPr>
            <p:cNvPr id="1604" name="Google Shape;1604;p71"/>
            <p:cNvPicPr preferRelativeResize="0"/>
            <p:nvPr/>
          </p:nvPicPr>
          <p:blipFill rotWithShape="1">
            <a:blip r:embed="rId5">
              <a:alphaModFix/>
            </a:blip>
            <a:srcRect b="0" l="0" r="0" t="0"/>
            <a:stretch/>
          </p:blipFill>
          <p:spPr>
            <a:xfrm>
              <a:off x="7771796" y="4222793"/>
              <a:ext cx="263570" cy="180000"/>
            </a:xfrm>
            <a:prstGeom prst="rect">
              <a:avLst/>
            </a:prstGeom>
            <a:noFill/>
            <a:ln>
              <a:noFill/>
            </a:ln>
          </p:spPr>
        </p:pic>
        <p:pic>
          <p:nvPicPr>
            <p:cNvPr id="1605" name="Google Shape;1605;p71"/>
            <p:cNvPicPr preferRelativeResize="0"/>
            <p:nvPr/>
          </p:nvPicPr>
          <p:blipFill rotWithShape="1">
            <a:blip r:embed="rId6">
              <a:alphaModFix/>
            </a:blip>
            <a:srcRect b="0" l="0" r="0" t="0"/>
            <a:stretch/>
          </p:blipFill>
          <p:spPr>
            <a:xfrm>
              <a:off x="8325140" y="4222793"/>
              <a:ext cx="180000" cy="180000"/>
            </a:xfrm>
            <a:prstGeom prst="rect">
              <a:avLst/>
            </a:prstGeom>
            <a:noFill/>
            <a:ln>
              <a:noFill/>
            </a:ln>
          </p:spPr>
        </p:pic>
      </p:grpSp>
      <p:grpSp>
        <p:nvGrpSpPr>
          <p:cNvPr id="1606" name="Google Shape;1606;p71"/>
          <p:cNvGrpSpPr/>
          <p:nvPr/>
        </p:nvGrpSpPr>
        <p:grpSpPr>
          <a:xfrm>
            <a:off x="7874824" y="4437112"/>
            <a:ext cx="400638" cy="400638"/>
            <a:chOff x="7614650" y="4633230"/>
            <a:chExt cx="400638" cy="400638"/>
          </a:xfrm>
        </p:grpSpPr>
        <p:sp>
          <p:nvSpPr>
            <p:cNvPr id="1607" name="Google Shape;1607;p71"/>
            <p:cNvSpPr/>
            <p:nvPr/>
          </p:nvSpPr>
          <p:spPr>
            <a:xfrm>
              <a:off x="7614650" y="4633230"/>
              <a:ext cx="400638" cy="400638"/>
            </a:xfrm>
            <a:prstGeom prst="ellipse">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608" name="Google Shape;1608;p71"/>
            <p:cNvPicPr preferRelativeResize="0"/>
            <p:nvPr/>
          </p:nvPicPr>
          <p:blipFill rotWithShape="1">
            <a:blip r:embed="rId7">
              <a:alphaModFix/>
            </a:blip>
            <a:srcRect b="0" l="0" r="0" t="0"/>
            <a:stretch/>
          </p:blipFill>
          <p:spPr>
            <a:xfrm>
              <a:off x="7728085" y="4725549"/>
              <a:ext cx="216000" cy="216000"/>
            </a:xfrm>
            <a:prstGeom prst="rect">
              <a:avLst/>
            </a:prstGeom>
            <a:noFill/>
            <a:ln>
              <a:noFill/>
            </a:ln>
          </p:spPr>
        </p:pic>
      </p:grpSp>
      <p:grpSp>
        <p:nvGrpSpPr>
          <p:cNvPr id="1609" name="Google Shape;1609;p71"/>
          <p:cNvGrpSpPr/>
          <p:nvPr/>
        </p:nvGrpSpPr>
        <p:grpSpPr>
          <a:xfrm>
            <a:off x="9812127" y="4437112"/>
            <a:ext cx="400638" cy="400638"/>
            <a:chOff x="7614650" y="4633230"/>
            <a:chExt cx="400638" cy="400638"/>
          </a:xfrm>
        </p:grpSpPr>
        <p:sp>
          <p:nvSpPr>
            <p:cNvPr id="1610" name="Google Shape;1610;p71"/>
            <p:cNvSpPr/>
            <p:nvPr/>
          </p:nvSpPr>
          <p:spPr>
            <a:xfrm>
              <a:off x="7614650" y="4633230"/>
              <a:ext cx="400638" cy="400638"/>
            </a:xfrm>
            <a:prstGeom prst="ellipse">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611" name="Google Shape;1611;p71"/>
            <p:cNvPicPr preferRelativeResize="0"/>
            <p:nvPr/>
          </p:nvPicPr>
          <p:blipFill rotWithShape="1">
            <a:blip r:embed="rId7">
              <a:alphaModFix/>
            </a:blip>
            <a:srcRect b="0" l="0" r="0" t="0"/>
            <a:stretch/>
          </p:blipFill>
          <p:spPr>
            <a:xfrm>
              <a:off x="7728085" y="4725549"/>
              <a:ext cx="216000" cy="216000"/>
            </a:xfrm>
            <a:prstGeom prst="rect">
              <a:avLst/>
            </a:prstGeom>
            <a:noFill/>
            <a:ln>
              <a:noFill/>
            </a:ln>
          </p:spPr>
        </p:pic>
      </p:grpSp>
      <p:cxnSp>
        <p:nvCxnSpPr>
          <p:cNvPr id="1612" name="Google Shape;1612;p71"/>
          <p:cNvCxnSpPr>
            <a:stCxn id="1607" idx="0"/>
          </p:cNvCxnSpPr>
          <p:nvPr/>
        </p:nvCxnSpPr>
        <p:spPr>
          <a:xfrm rot="10800000">
            <a:off x="8075143" y="3947812"/>
            <a:ext cx="0" cy="489300"/>
          </a:xfrm>
          <a:prstGeom prst="straightConnector1">
            <a:avLst/>
          </a:prstGeom>
          <a:noFill/>
          <a:ln cap="flat" cmpd="sng" w="9525">
            <a:solidFill>
              <a:schemeClr val="dk1">
                <a:alpha val="10196"/>
              </a:schemeClr>
            </a:solidFill>
            <a:prstDash val="solid"/>
            <a:miter lim="80"/>
            <a:headEnd len="sm" w="sm" type="none"/>
            <a:tailEnd len="sm" w="sm" type="none"/>
          </a:ln>
        </p:spPr>
      </p:cxnSp>
      <p:cxnSp>
        <p:nvCxnSpPr>
          <p:cNvPr id="1613" name="Google Shape;1613;p71"/>
          <p:cNvCxnSpPr/>
          <p:nvPr/>
        </p:nvCxnSpPr>
        <p:spPr>
          <a:xfrm rot="10800000">
            <a:off x="10012446" y="3947744"/>
            <a:ext cx="0" cy="489368"/>
          </a:xfrm>
          <a:prstGeom prst="straightConnector1">
            <a:avLst/>
          </a:prstGeom>
          <a:noFill/>
          <a:ln cap="flat" cmpd="sng" w="9525">
            <a:solidFill>
              <a:schemeClr val="dk1">
                <a:alpha val="10196"/>
              </a:schemeClr>
            </a:solidFill>
            <a:prstDash val="solid"/>
            <a:miter lim="80"/>
            <a:headEnd len="sm" w="sm" type="none"/>
            <a:tailEnd len="sm" w="sm" type="none"/>
          </a:ln>
        </p:spPr>
      </p:cxnSp>
      <p:sp>
        <p:nvSpPr>
          <p:cNvPr id="1614" name="Google Shape;1614;p71"/>
          <p:cNvSpPr/>
          <p:nvPr/>
        </p:nvSpPr>
        <p:spPr>
          <a:xfrm>
            <a:off x="8313549" y="4556160"/>
            <a:ext cx="1065480" cy="162550"/>
          </a:xfrm>
          <a:prstGeom prst="rect">
            <a:avLst/>
          </a:prstGeom>
        </p:spPr>
        <p:txBody>
          <a:bodyPr>
            <a:prstTxWarp prst="textPlain"/>
          </a:bodyPr>
          <a:lstStyle/>
          <a:p>
            <a:pPr lvl="0" algn="ctr"/>
            <a:r>
              <a:rPr b="0" i="0">
                <a:ln>
                  <a:noFill/>
                </a:ln>
                <a:solidFill>
                  <a:schemeClr val="dk1"/>
                </a:solidFill>
                <a:latin typeface="Arial"/>
              </a:rPr>
              <a:t>Input Guard</a:t>
            </a:r>
          </a:p>
        </p:txBody>
      </p:sp>
      <p:sp>
        <p:nvSpPr>
          <p:cNvPr id="1615" name="Google Shape;1615;p71"/>
          <p:cNvSpPr/>
          <p:nvPr/>
        </p:nvSpPr>
        <p:spPr>
          <a:xfrm>
            <a:off x="6338500" y="5563781"/>
            <a:ext cx="5410588" cy="421503"/>
          </a:xfrm>
          <a:custGeom>
            <a:rect b="b" l="l" r="r" t="t"/>
            <a:pathLst>
              <a:path extrusionOk="0" h="421503" w="5410588">
                <a:moveTo>
                  <a:pt x="30288" y="0"/>
                </a:moveTo>
                <a:lnTo>
                  <a:pt x="615881" y="0"/>
                </a:lnTo>
                <a:lnTo>
                  <a:pt x="1505693" y="0"/>
                </a:lnTo>
                <a:lnTo>
                  <a:pt x="3904895" y="0"/>
                </a:lnTo>
                <a:lnTo>
                  <a:pt x="4900403" y="0"/>
                </a:lnTo>
                <a:lnTo>
                  <a:pt x="5380300" y="0"/>
                </a:lnTo>
                <a:cubicBezTo>
                  <a:pt x="5397028" y="0"/>
                  <a:pt x="5410588" y="13560"/>
                  <a:pt x="5410588" y="30288"/>
                </a:cubicBezTo>
                <a:lnTo>
                  <a:pt x="5410588" y="391215"/>
                </a:lnTo>
                <a:cubicBezTo>
                  <a:pt x="5410588" y="407943"/>
                  <a:pt x="5397028" y="421503"/>
                  <a:pt x="5380300" y="421503"/>
                </a:cubicBezTo>
                <a:lnTo>
                  <a:pt x="4900403" y="421503"/>
                </a:lnTo>
                <a:lnTo>
                  <a:pt x="3904895" y="421503"/>
                </a:lnTo>
                <a:lnTo>
                  <a:pt x="1505693" y="421503"/>
                </a:lnTo>
                <a:lnTo>
                  <a:pt x="615881" y="421503"/>
                </a:lnTo>
                <a:lnTo>
                  <a:pt x="30288" y="421503"/>
                </a:lnTo>
                <a:cubicBezTo>
                  <a:pt x="13560" y="421503"/>
                  <a:pt x="0" y="407943"/>
                  <a:pt x="0" y="391215"/>
                </a:cubicBezTo>
                <a:lnTo>
                  <a:pt x="0" y="30288"/>
                </a:lnTo>
                <a:cubicBezTo>
                  <a:pt x="0" y="13560"/>
                  <a:pt x="13560" y="0"/>
                  <a:pt x="30288" y="0"/>
                </a:cubicBezTo>
                <a:close/>
              </a:path>
            </a:pathLst>
          </a:custGeom>
          <a:solidFill>
            <a:schemeClr val="lt1"/>
          </a:solidFill>
          <a:ln cap="flat" cmpd="sng" w="9525">
            <a:solidFill>
              <a:schemeClr val="dk1">
                <a:alpha val="10196"/>
              </a:schemeClr>
            </a:solidFill>
            <a:prstDash val="solid"/>
            <a:miter lim="80"/>
            <a:headEnd len="sm" w="sm" type="none"/>
            <a:tailEnd len="sm" w="sm" type="none"/>
          </a:ln>
        </p:spPr>
        <p:txBody>
          <a:bodyPr anchorCtr="0" anchor="ctr" bIns="45700" lIns="396000" spcFirstLastPara="1" rIns="91425" wrap="square" tIns="45700">
            <a:noAutofit/>
          </a:bodyPr>
          <a:lstStyle/>
          <a:p>
            <a:pPr indent="0" lvl="0" marL="0" marR="0" rtl="0" algn="l">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Output</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Guard</a:t>
            </a:r>
            <a:endParaRPr b="0" i="0" sz="1400" u="none" cap="none" strike="noStrike">
              <a:solidFill>
                <a:srgbClr val="000000"/>
              </a:solidFill>
              <a:latin typeface="Arial"/>
              <a:ea typeface="Arial"/>
              <a:cs typeface="Arial"/>
              <a:sym typeface="Arial"/>
            </a:endParaRPr>
          </a:p>
        </p:txBody>
      </p:sp>
      <p:sp>
        <p:nvSpPr>
          <p:cNvPr id="1616" name="Google Shape;1616;p71"/>
          <p:cNvSpPr/>
          <p:nvPr/>
        </p:nvSpPr>
        <p:spPr>
          <a:xfrm>
            <a:off x="7464136" y="5142278"/>
            <a:ext cx="1301588" cy="276283"/>
          </a:xfrm>
          <a:custGeom>
            <a:rect b="b" l="l" r="r" t="t"/>
            <a:pathLst>
              <a:path extrusionOk="0" h="276283" w="1301588">
                <a:moveTo>
                  <a:pt x="30288" y="0"/>
                </a:moveTo>
                <a:lnTo>
                  <a:pt x="78288" y="0"/>
                </a:lnTo>
                <a:lnTo>
                  <a:pt x="615881" y="0"/>
                </a:lnTo>
                <a:lnTo>
                  <a:pt x="663881" y="0"/>
                </a:lnTo>
                <a:lnTo>
                  <a:pt x="743403" y="0"/>
                </a:lnTo>
                <a:lnTo>
                  <a:pt x="791403" y="0"/>
                </a:lnTo>
                <a:lnTo>
                  <a:pt x="1223300" y="0"/>
                </a:lnTo>
                <a:lnTo>
                  <a:pt x="1271300" y="0"/>
                </a:lnTo>
                <a:cubicBezTo>
                  <a:pt x="1288028" y="0"/>
                  <a:pt x="1301588" y="13560"/>
                  <a:pt x="1301588" y="30288"/>
                </a:cubicBezTo>
                <a:lnTo>
                  <a:pt x="1301588" y="245995"/>
                </a:lnTo>
                <a:cubicBezTo>
                  <a:pt x="1301588" y="262723"/>
                  <a:pt x="1288028" y="276283"/>
                  <a:pt x="1271300" y="276283"/>
                </a:cubicBezTo>
                <a:lnTo>
                  <a:pt x="1223300" y="276283"/>
                </a:lnTo>
                <a:lnTo>
                  <a:pt x="791403" y="276283"/>
                </a:lnTo>
                <a:lnTo>
                  <a:pt x="743403" y="276283"/>
                </a:lnTo>
                <a:lnTo>
                  <a:pt x="663881" y="276283"/>
                </a:lnTo>
                <a:lnTo>
                  <a:pt x="615881" y="276283"/>
                </a:lnTo>
                <a:lnTo>
                  <a:pt x="78288" y="276283"/>
                </a:lnTo>
                <a:lnTo>
                  <a:pt x="30288" y="276283"/>
                </a:lnTo>
                <a:cubicBezTo>
                  <a:pt x="13560" y="276283"/>
                  <a:pt x="0" y="262723"/>
                  <a:pt x="0" y="245995"/>
                </a:cubicBezTo>
                <a:lnTo>
                  <a:pt x="0" y="30288"/>
                </a:lnTo>
                <a:cubicBezTo>
                  <a:pt x="0" y="13560"/>
                  <a:pt x="13560" y="0"/>
                  <a:pt x="30288" y="0"/>
                </a:cubicBezTo>
                <a:close/>
              </a:path>
            </a:pathLst>
          </a:custGeom>
          <a:solidFill>
            <a:schemeClr val="lt2"/>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Contains PII</a:t>
            </a:r>
            <a:endParaRPr b="0" i="0" sz="900" u="none" cap="none" strike="noStrike">
              <a:solidFill>
                <a:schemeClr val="dk1"/>
              </a:solidFill>
              <a:latin typeface="Arial"/>
              <a:ea typeface="Arial"/>
              <a:cs typeface="Arial"/>
              <a:sym typeface="Arial"/>
            </a:endParaRPr>
          </a:p>
        </p:txBody>
      </p:sp>
      <p:sp>
        <p:nvSpPr>
          <p:cNvPr id="1617" name="Google Shape;1617;p71"/>
          <p:cNvSpPr/>
          <p:nvPr/>
        </p:nvSpPr>
        <p:spPr>
          <a:xfrm>
            <a:off x="8837725" y="5142278"/>
            <a:ext cx="1301588" cy="276283"/>
          </a:xfrm>
          <a:custGeom>
            <a:rect b="b" l="l" r="r" t="t"/>
            <a:pathLst>
              <a:path extrusionOk="0" h="276283" w="1301588">
                <a:moveTo>
                  <a:pt x="30288" y="0"/>
                </a:moveTo>
                <a:lnTo>
                  <a:pt x="78288" y="0"/>
                </a:lnTo>
                <a:lnTo>
                  <a:pt x="615881" y="0"/>
                </a:lnTo>
                <a:lnTo>
                  <a:pt x="663881" y="0"/>
                </a:lnTo>
                <a:lnTo>
                  <a:pt x="743403" y="0"/>
                </a:lnTo>
                <a:lnTo>
                  <a:pt x="791403" y="0"/>
                </a:lnTo>
                <a:lnTo>
                  <a:pt x="1223300" y="0"/>
                </a:lnTo>
                <a:lnTo>
                  <a:pt x="1271300" y="0"/>
                </a:lnTo>
                <a:cubicBezTo>
                  <a:pt x="1288028" y="0"/>
                  <a:pt x="1301588" y="13560"/>
                  <a:pt x="1301588" y="30288"/>
                </a:cubicBezTo>
                <a:lnTo>
                  <a:pt x="1301588" y="245995"/>
                </a:lnTo>
                <a:cubicBezTo>
                  <a:pt x="1301588" y="262723"/>
                  <a:pt x="1288028" y="276283"/>
                  <a:pt x="1271300" y="276283"/>
                </a:cubicBezTo>
                <a:lnTo>
                  <a:pt x="1223300" y="276283"/>
                </a:lnTo>
                <a:lnTo>
                  <a:pt x="791403" y="276283"/>
                </a:lnTo>
                <a:lnTo>
                  <a:pt x="743403" y="276283"/>
                </a:lnTo>
                <a:lnTo>
                  <a:pt x="663881" y="276283"/>
                </a:lnTo>
                <a:lnTo>
                  <a:pt x="615881" y="276283"/>
                </a:lnTo>
                <a:lnTo>
                  <a:pt x="78288" y="276283"/>
                </a:lnTo>
                <a:lnTo>
                  <a:pt x="30288" y="276283"/>
                </a:lnTo>
                <a:cubicBezTo>
                  <a:pt x="13560" y="276283"/>
                  <a:pt x="0" y="262723"/>
                  <a:pt x="0" y="245995"/>
                </a:cubicBezTo>
                <a:lnTo>
                  <a:pt x="0" y="30288"/>
                </a:lnTo>
                <a:cubicBezTo>
                  <a:pt x="0" y="13560"/>
                  <a:pt x="13560" y="0"/>
                  <a:pt x="30288" y="0"/>
                </a:cubicBezTo>
                <a:close/>
              </a:path>
            </a:pathLst>
          </a:custGeom>
          <a:solidFill>
            <a:schemeClr val="lt2"/>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Off Topic</a:t>
            </a:r>
            <a:endParaRPr b="0" i="0" sz="900" u="none" cap="none" strike="noStrike">
              <a:solidFill>
                <a:schemeClr val="dk1"/>
              </a:solidFill>
              <a:latin typeface="Arial"/>
              <a:ea typeface="Arial"/>
              <a:cs typeface="Arial"/>
              <a:sym typeface="Arial"/>
            </a:endParaRPr>
          </a:p>
        </p:txBody>
      </p:sp>
      <p:sp>
        <p:nvSpPr>
          <p:cNvPr id="1618" name="Google Shape;1618;p71"/>
          <p:cNvSpPr/>
          <p:nvPr/>
        </p:nvSpPr>
        <p:spPr>
          <a:xfrm>
            <a:off x="10211313" y="5142278"/>
            <a:ext cx="1301588" cy="276283"/>
          </a:xfrm>
          <a:custGeom>
            <a:rect b="b" l="l" r="r" t="t"/>
            <a:pathLst>
              <a:path extrusionOk="0" h="276283" w="1301588">
                <a:moveTo>
                  <a:pt x="30288" y="0"/>
                </a:moveTo>
                <a:lnTo>
                  <a:pt x="1271300" y="0"/>
                </a:lnTo>
                <a:cubicBezTo>
                  <a:pt x="1288028" y="0"/>
                  <a:pt x="1301588" y="13560"/>
                  <a:pt x="1301588" y="30288"/>
                </a:cubicBezTo>
                <a:lnTo>
                  <a:pt x="1301588" y="245995"/>
                </a:lnTo>
                <a:cubicBezTo>
                  <a:pt x="1301588" y="262723"/>
                  <a:pt x="1288028" y="276283"/>
                  <a:pt x="1271300" y="276283"/>
                </a:cubicBezTo>
                <a:lnTo>
                  <a:pt x="30288" y="276283"/>
                </a:lnTo>
                <a:cubicBezTo>
                  <a:pt x="13560" y="276283"/>
                  <a:pt x="0" y="262723"/>
                  <a:pt x="0" y="245995"/>
                </a:cubicBezTo>
                <a:lnTo>
                  <a:pt x="0" y="30288"/>
                </a:lnTo>
                <a:cubicBezTo>
                  <a:pt x="0" y="13560"/>
                  <a:pt x="13560" y="0"/>
                  <a:pt x="30288" y="0"/>
                </a:cubicBezTo>
                <a:close/>
              </a:path>
            </a:pathLst>
          </a:custGeom>
          <a:solidFill>
            <a:schemeClr val="lt2"/>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Jailbreak attempt</a:t>
            </a:r>
            <a:endParaRPr b="0" i="0" sz="1400" u="none" cap="none" strike="noStrike">
              <a:solidFill>
                <a:srgbClr val="000000"/>
              </a:solidFill>
              <a:latin typeface="Arial"/>
              <a:ea typeface="Arial"/>
              <a:cs typeface="Arial"/>
              <a:sym typeface="Arial"/>
            </a:endParaRPr>
          </a:p>
        </p:txBody>
      </p:sp>
      <p:cxnSp>
        <p:nvCxnSpPr>
          <p:cNvPr id="1619" name="Google Shape;1619;p71"/>
          <p:cNvCxnSpPr/>
          <p:nvPr/>
        </p:nvCxnSpPr>
        <p:spPr>
          <a:xfrm>
            <a:off x="7320136" y="5774532"/>
            <a:ext cx="4336765" cy="0"/>
          </a:xfrm>
          <a:prstGeom prst="straightConnector1">
            <a:avLst/>
          </a:prstGeom>
          <a:noFill/>
          <a:ln cap="flat" cmpd="sng" w="12700">
            <a:solidFill>
              <a:schemeClr val="dk1">
                <a:alpha val="10196"/>
              </a:schemeClr>
            </a:solidFill>
            <a:prstDash val="solid"/>
            <a:miter lim="80"/>
            <a:headEnd len="sm" w="sm" type="none"/>
            <a:tailEnd len="med" w="med" type="triangle"/>
          </a:ln>
        </p:spPr>
      </p:cxnSp>
      <p:sp>
        <p:nvSpPr>
          <p:cNvPr id="1620" name="Google Shape;1620;p71"/>
          <p:cNvSpPr/>
          <p:nvPr/>
        </p:nvSpPr>
        <p:spPr>
          <a:xfrm>
            <a:off x="7464136" y="5636391"/>
            <a:ext cx="1301588" cy="276283"/>
          </a:xfrm>
          <a:custGeom>
            <a:rect b="b" l="l" r="r" t="t"/>
            <a:pathLst>
              <a:path extrusionOk="0" h="276283" w="1301588">
                <a:moveTo>
                  <a:pt x="30288" y="0"/>
                </a:moveTo>
                <a:lnTo>
                  <a:pt x="78288" y="0"/>
                </a:lnTo>
                <a:lnTo>
                  <a:pt x="615881" y="0"/>
                </a:lnTo>
                <a:lnTo>
                  <a:pt x="663881" y="0"/>
                </a:lnTo>
                <a:lnTo>
                  <a:pt x="743403" y="0"/>
                </a:lnTo>
                <a:lnTo>
                  <a:pt x="791403" y="0"/>
                </a:lnTo>
                <a:lnTo>
                  <a:pt x="1223300" y="0"/>
                </a:lnTo>
                <a:lnTo>
                  <a:pt x="1271300" y="0"/>
                </a:lnTo>
                <a:cubicBezTo>
                  <a:pt x="1288028" y="0"/>
                  <a:pt x="1301588" y="13560"/>
                  <a:pt x="1301588" y="30288"/>
                </a:cubicBezTo>
                <a:lnTo>
                  <a:pt x="1301588" y="245995"/>
                </a:lnTo>
                <a:cubicBezTo>
                  <a:pt x="1301588" y="262723"/>
                  <a:pt x="1288028" y="276283"/>
                  <a:pt x="1271300" y="276283"/>
                </a:cubicBezTo>
                <a:lnTo>
                  <a:pt x="1223300" y="276283"/>
                </a:lnTo>
                <a:lnTo>
                  <a:pt x="791403" y="276283"/>
                </a:lnTo>
                <a:lnTo>
                  <a:pt x="743403" y="276283"/>
                </a:lnTo>
                <a:lnTo>
                  <a:pt x="663881" y="276283"/>
                </a:lnTo>
                <a:lnTo>
                  <a:pt x="615881" y="276283"/>
                </a:lnTo>
                <a:lnTo>
                  <a:pt x="78288" y="276283"/>
                </a:lnTo>
                <a:lnTo>
                  <a:pt x="30288" y="276283"/>
                </a:lnTo>
                <a:cubicBezTo>
                  <a:pt x="13560" y="276283"/>
                  <a:pt x="0" y="262723"/>
                  <a:pt x="0" y="245995"/>
                </a:cubicBezTo>
                <a:lnTo>
                  <a:pt x="0" y="30288"/>
                </a:lnTo>
                <a:cubicBezTo>
                  <a:pt x="0" y="13560"/>
                  <a:pt x="13560" y="0"/>
                  <a:pt x="30288" y="0"/>
                </a:cubicBezTo>
                <a:close/>
              </a:path>
            </a:pathLst>
          </a:custGeom>
          <a:solidFill>
            <a:schemeClr val="lt2"/>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Hallucinations</a:t>
            </a:r>
            <a:endParaRPr b="0" i="0" sz="900" u="none" cap="none" strike="noStrike">
              <a:solidFill>
                <a:schemeClr val="dk1"/>
              </a:solidFill>
              <a:latin typeface="Arial"/>
              <a:ea typeface="Arial"/>
              <a:cs typeface="Arial"/>
              <a:sym typeface="Arial"/>
            </a:endParaRPr>
          </a:p>
        </p:txBody>
      </p:sp>
      <p:sp>
        <p:nvSpPr>
          <p:cNvPr id="1621" name="Google Shape;1621;p71"/>
          <p:cNvSpPr/>
          <p:nvPr/>
        </p:nvSpPr>
        <p:spPr>
          <a:xfrm>
            <a:off x="8837725" y="5636391"/>
            <a:ext cx="1301588" cy="276283"/>
          </a:xfrm>
          <a:custGeom>
            <a:rect b="b" l="l" r="r" t="t"/>
            <a:pathLst>
              <a:path extrusionOk="0" h="276283" w="1301588">
                <a:moveTo>
                  <a:pt x="30288" y="0"/>
                </a:moveTo>
                <a:lnTo>
                  <a:pt x="78288" y="0"/>
                </a:lnTo>
                <a:lnTo>
                  <a:pt x="615881" y="0"/>
                </a:lnTo>
                <a:lnTo>
                  <a:pt x="663881" y="0"/>
                </a:lnTo>
                <a:lnTo>
                  <a:pt x="743403" y="0"/>
                </a:lnTo>
                <a:lnTo>
                  <a:pt x="791403" y="0"/>
                </a:lnTo>
                <a:lnTo>
                  <a:pt x="1223300" y="0"/>
                </a:lnTo>
                <a:lnTo>
                  <a:pt x="1271300" y="0"/>
                </a:lnTo>
                <a:cubicBezTo>
                  <a:pt x="1288028" y="0"/>
                  <a:pt x="1301588" y="13560"/>
                  <a:pt x="1301588" y="30288"/>
                </a:cubicBezTo>
                <a:lnTo>
                  <a:pt x="1301588" y="245995"/>
                </a:lnTo>
                <a:cubicBezTo>
                  <a:pt x="1301588" y="262723"/>
                  <a:pt x="1288028" y="276283"/>
                  <a:pt x="1271300" y="276283"/>
                </a:cubicBezTo>
                <a:lnTo>
                  <a:pt x="1223300" y="276283"/>
                </a:lnTo>
                <a:lnTo>
                  <a:pt x="791403" y="276283"/>
                </a:lnTo>
                <a:lnTo>
                  <a:pt x="743403" y="276283"/>
                </a:lnTo>
                <a:lnTo>
                  <a:pt x="663881" y="276283"/>
                </a:lnTo>
                <a:lnTo>
                  <a:pt x="615881" y="276283"/>
                </a:lnTo>
                <a:lnTo>
                  <a:pt x="78288" y="276283"/>
                </a:lnTo>
                <a:lnTo>
                  <a:pt x="30288" y="276283"/>
                </a:lnTo>
                <a:cubicBezTo>
                  <a:pt x="13560" y="276283"/>
                  <a:pt x="0" y="262723"/>
                  <a:pt x="0" y="245995"/>
                </a:cubicBezTo>
                <a:lnTo>
                  <a:pt x="0" y="30288"/>
                </a:lnTo>
                <a:cubicBezTo>
                  <a:pt x="0" y="13560"/>
                  <a:pt x="13560" y="0"/>
                  <a:pt x="30288" y="0"/>
                </a:cubicBezTo>
                <a:close/>
              </a:path>
            </a:pathLst>
          </a:custGeom>
          <a:solidFill>
            <a:schemeClr val="lt2"/>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Profanity</a:t>
            </a:r>
            <a:endParaRPr b="0" i="0" sz="900" u="none" cap="none" strike="noStrike">
              <a:solidFill>
                <a:schemeClr val="dk1"/>
              </a:solidFill>
              <a:latin typeface="Arial"/>
              <a:ea typeface="Arial"/>
              <a:cs typeface="Arial"/>
              <a:sym typeface="Arial"/>
            </a:endParaRPr>
          </a:p>
        </p:txBody>
      </p:sp>
      <p:sp>
        <p:nvSpPr>
          <p:cNvPr id="1622" name="Google Shape;1622;p71"/>
          <p:cNvSpPr/>
          <p:nvPr/>
        </p:nvSpPr>
        <p:spPr>
          <a:xfrm>
            <a:off x="10211313" y="5636391"/>
            <a:ext cx="1301588" cy="276283"/>
          </a:xfrm>
          <a:custGeom>
            <a:rect b="b" l="l" r="r" t="t"/>
            <a:pathLst>
              <a:path extrusionOk="0" h="276283" w="1301588">
                <a:moveTo>
                  <a:pt x="30288" y="0"/>
                </a:moveTo>
                <a:lnTo>
                  <a:pt x="78288" y="0"/>
                </a:lnTo>
                <a:lnTo>
                  <a:pt x="615881" y="0"/>
                </a:lnTo>
                <a:lnTo>
                  <a:pt x="663881" y="0"/>
                </a:lnTo>
                <a:lnTo>
                  <a:pt x="743403" y="0"/>
                </a:lnTo>
                <a:lnTo>
                  <a:pt x="791403" y="0"/>
                </a:lnTo>
                <a:lnTo>
                  <a:pt x="1223300" y="0"/>
                </a:lnTo>
                <a:lnTo>
                  <a:pt x="1271300" y="0"/>
                </a:lnTo>
                <a:cubicBezTo>
                  <a:pt x="1288028" y="0"/>
                  <a:pt x="1301588" y="13560"/>
                  <a:pt x="1301588" y="30288"/>
                </a:cubicBezTo>
                <a:lnTo>
                  <a:pt x="1301588" y="245995"/>
                </a:lnTo>
                <a:cubicBezTo>
                  <a:pt x="1301588" y="262723"/>
                  <a:pt x="1288028" y="276283"/>
                  <a:pt x="1271300" y="276283"/>
                </a:cubicBezTo>
                <a:lnTo>
                  <a:pt x="1223300" y="276283"/>
                </a:lnTo>
                <a:lnTo>
                  <a:pt x="791403" y="276283"/>
                </a:lnTo>
                <a:lnTo>
                  <a:pt x="743403" y="276283"/>
                </a:lnTo>
                <a:lnTo>
                  <a:pt x="663881" y="276283"/>
                </a:lnTo>
                <a:lnTo>
                  <a:pt x="615881" y="276283"/>
                </a:lnTo>
                <a:lnTo>
                  <a:pt x="78288" y="276283"/>
                </a:lnTo>
                <a:lnTo>
                  <a:pt x="30288" y="276283"/>
                </a:lnTo>
                <a:cubicBezTo>
                  <a:pt x="13560" y="276283"/>
                  <a:pt x="0" y="262723"/>
                  <a:pt x="0" y="245995"/>
                </a:cubicBezTo>
                <a:lnTo>
                  <a:pt x="0" y="30288"/>
                </a:lnTo>
                <a:cubicBezTo>
                  <a:pt x="0" y="13560"/>
                  <a:pt x="13560" y="0"/>
                  <a:pt x="30288" y="0"/>
                </a:cubicBezTo>
                <a:close/>
              </a:path>
            </a:pathLst>
          </a:custGeom>
          <a:solidFill>
            <a:schemeClr val="lt2"/>
          </a:solidFill>
          <a:ln>
            <a:noFill/>
          </a:ln>
        </p:spPr>
        <p:txBody>
          <a:bodyPr anchorCtr="0" anchor="ctr" bIns="45700" lIns="72000" spcFirstLastPara="1" rIns="72000" wrap="square" tIns="45700">
            <a:noAutofit/>
          </a:bodyPr>
          <a:lstStyle/>
          <a:p>
            <a:pPr indent="0" lvl="0" marL="0" marR="0" rtl="0" algn="ctr">
              <a:lnSpc>
                <a:spcPct val="100000"/>
              </a:lnSpc>
              <a:spcBef>
                <a:spcPts val="0"/>
              </a:spcBef>
              <a:spcAft>
                <a:spcPts val="0"/>
              </a:spcAft>
              <a:buClr>
                <a:schemeClr val="dk1"/>
              </a:buClr>
              <a:buSzPts val="900"/>
              <a:buFont typeface="Arial"/>
              <a:buNone/>
            </a:pPr>
            <a:r>
              <a:rPr b="0" i="0" lang="en-US" sz="900" u="none" cap="none" strike="noStrike">
                <a:solidFill>
                  <a:schemeClr val="dk1"/>
                </a:solidFill>
                <a:latin typeface="Arial"/>
                <a:ea typeface="Arial"/>
                <a:cs typeface="Arial"/>
                <a:sym typeface="Arial"/>
              </a:rPr>
              <a:t>Competitor mention</a:t>
            </a:r>
            <a:endParaRPr b="0" i="0" sz="1400" u="none" cap="none" strike="noStrike">
              <a:solidFill>
                <a:srgbClr val="000000"/>
              </a:solidFill>
              <a:latin typeface="Arial"/>
              <a:ea typeface="Arial"/>
              <a:cs typeface="Arial"/>
              <a:sym typeface="Arial"/>
            </a:endParaRPr>
          </a:p>
        </p:txBody>
      </p:sp>
      <p:pic>
        <p:nvPicPr>
          <p:cNvPr id="1623" name="Google Shape;1623;p71"/>
          <p:cNvPicPr preferRelativeResize="0"/>
          <p:nvPr/>
        </p:nvPicPr>
        <p:blipFill rotWithShape="1">
          <a:blip r:embed="rId7">
            <a:alphaModFix/>
          </a:blip>
          <a:srcRect b="0" l="0" r="0" t="0"/>
          <a:stretch/>
        </p:blipFill>
        <p:spPr>
          <a:xfrm>
            <a:off x="6433318" y="5172419"/>
            <a:ext cx="216000" cy="216000"/>
          </a:xfrm>
          <a:prstGeom prst="rect">
            <a:avLst/>
          </a:prstGeom>
          <a:noFill/>
          <a:ln>
            <a:noFill/>
          </a:ln>
        </p:spPr>
      </p:pic>
      <p:pic>
        <p:nvPicPr>
          <p:cNvPr id="1624" name="Google Shape;1624;p71"/>
          <p:cNvPicPr preferRelativeResize="0"/>
          <p:nvPr/>
        </p:nvPicPr>
        <p:blipFill rotWithShape="1">
          <a:blip r:embed="rId7">
            <a:alphaModFix/>
          </a:blip>
          <a:srcRect b="0" l="0" r="0" t="0"/>
          <a:stretch/>
        </p:blipFill>
        <p:spPr>
          <a:xfrm>
            <a:off x="6433318" y="5666532"/>
            <a:ext cx="216000" cy="216000"/>
          </a:xfrm>
          <a:prstGeom prst="rect">
            <a:avLst/>
          </a:prstGeom>
          <a:noFill/>
          <a:ln>
            <a:noFill/>
          </a:ln>
        </p:spPr>
      </p:pic>
      <p:pic>
        <p:nvPicPr>
          <p:cNvPr id="1625" name="Google Shape;1625;p71"/>
          <p:cNvPicPr preferRelativeResize="0"/>
          <p:nvPr/>
        </p:nvPicPr>
        <p:blipFill rotWithShape="1">
          <a:blip r:embed="rId8">
            <a:alphaModFix/>
          </a:blip>
          <a:srcRect b="0" l="0" r="0" t="0"/>
          <a:stretch/>
        </p:blipFill>
        <p:spPr>
          <a:xfrm>
            <a:off x="6475870" y="1961129"/>
            <a:ext cx="211135" cy="252000"/>
          </a:xfrm>
          <a:prstGeom prst="rect">
            <a:avLst/>
          </a:prstGeom>
          <a:noFill/>
          <a:ln>
            <a:noFill/>
          </a:ln>
        </p:spPr>
      </p:pic>
      <p:pic>
        <p:nvPicPr>
          <p:cNvPr id="1626" name="Google Shape;1626;p71"/>
          <p:cNvPicPr preferRelativeResize="0"/>
          <p:nvPr/>
        </p:nvPicPr>
        <p:blipFill rotWithShape="1">
          <a:blip r:embed="rId9">
            <a:alphaModFix/>
          </a:blip>
          <a:srcRect b="0" l="0" r="0" t="0"/>
          <a:stretch/>
        </p:blipFill>
        <p:spPr>
          <a:xfrm>
            <a:off x="580281" y="1961129"/>
            <a:ext cx="211135" cy="252000"/>
          </a:xfrm>
          <a:prstGeom prst="rect">
            <a:avLst/>
          </a:prstGeom>
          <a:noFill/>
          <a:ln>
            <a:noFill/>
          </a:ln>
        </p:spPr>
      </p:pic>
      <p:sp>
        <p:nvSpPr>
          <p:cNvPr id="1627" name="Google Shape;1627;p71"/>
          <p:cNvSpPr/>
          <p:nvPr/>
        </p:nvSpPr>
        <p:spPr>
          <a:xfrm>
            <a:off x="10329374" y="4556160"/>
            <a:ext cx="1065480" cy="162550"/>
          </a:xfrm>
          <a:prstGeom prst="rect">
            <a:avLst/>
          </a:prstGeom>
        </p:spPr>
        <p:txBody>
          <a:bodyPr>
            <a:prstTxWarp prst="textPlain"/>
          </a:bodyPr>
          <a:lstStyle/>
          <a:p>
            <a:pPr lvl="0" algn="ctr"/>
            <a:r>
              <a:rPr b="0" i="0">
                <a:ln>
                  <a:noFill/>
                </a:ln>
                <a:solidFill>
                  <a:schemeClr val="dk1"/>
                </a:solidFill>
                <a:latin typeface="Arial"/>
              </a:rPr>
              <a:t>Input Guard</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p7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Experiment: Do’s and Don’ts</a:t>
            </a:r>
            <a:endParaRPr/>
          </a:p>
        </p:txBody>
      </p:sp>
      <p:sp>
        <p:nvSpPr>
          <p:cNvPr id="1634" name="Google Shape;1634;p7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635" name="Google Shape;1635;p7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636" name="Google Shape;1636;p72"/>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637" name="Google Shape;1637;p72"/>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1638" name="Google Shape;1638;p72"/>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Using the same model for both prompt generation and judgment → inflated scores due to preference bias</a:t>
            </a:r>
            <a:endParaRPr b="0" i="0" sz="1200" u="none" cap="none" strike="noStrike">
              <a:solidFill>
                <a:schemeClr val="dk2"/>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Verbosity bias (longer responses often rated higher without merit)</a:t>
            </a:r>
            <a:endParaRPr b="0" i="0" sz="1400" u="none" cap="none" strike="noStrike">
              <a:solidFill>
                <a:srgbClr val="000000"/>
              </a:solidFill>
              <a:latin typeface="Arial"/>
              <a:ea typeface="Arial"/>
              <a:cs typeface="Arial"/>
              <a:sym typeface="Arial"/>
            </a:endParaRPr>
          </a:p>
        </p:txBody>
      </p:sp>
      <p:sp>
        <p:nvSpPr>
          <p:cNvPr id="1639" name="Google Shape;1639;p72"/>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640" name="Google Shape;1640;p72"/>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Configure evals &amp; guardrails as Boolean</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For critical safety requirements; include them in your system prompt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Smaller tasks = more consistent output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Optimize for cost &amp; latency by building safety into the system prompt (temperature set to 0)</a:t>
            </a:r>
            <a:endParaRPr b="0" i="0" sz="1400" u="none" cap="none" strike="noStrike">
              <a:solidFill>
                <a:srgbClr val="000000"/>
              </a:solidFill>
              <a:latin typeface="Arial"/>
              <a:ea typeface="Arial"/>
              <a:cs typeface="Arial"/>
              <a:sym typeface="Arial"/>
            </a:endParaRPr>
          </a:p>
        </p:txBody>
      </p:sp>
      <p:sp>
        <p:nvSpPr>
          <p:cNvPr id="1641" name="Google Shape;1641;p72"/>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642" name="Google Shape;1642;p72"/>
          <p:cNvPicPr preferRelativeResize="0"/>
          <p:nvPr/>
        </p:nvPicPr>
        <p:blipFill rotWithShape="1">
          <a:blip r:embed="rId4">
            <a:alphaModFix/>
          </a:blip>
          <a:srcRect b="0" l="0" r="0" t="0"/>
          <a:stretch/>
        </p:blipFill>
        <p:spPr>
          <a:xfrm>
            <a:off x="604118" y="1961129"/>
            <a:ext cx="163460" cy="252000"/>
          </a:xfrm>
          <a:prstGeom prst="rect">
            <a:avLst/>
          </a:prstGeom>
          <a:noFill/>
          <a:ln>
            <a:noFill/>
          </a:ln>
        </p:spPr>
      </p:pic>
      <p:pic>
        <p:nvPicPr>
          <p:cNvPr id="1643" name="Google Shape;1643;p72"/>
          <p:cNvPicPr preferRelativeResize="0"/>
          <p:nvPr/>
        </p:nvPicPr>
        <p:blipFill rotWithShape="1">
          <a:blip r:embed="rId5">
            <a:alphaModFix/>
          </a:blip>
          <a:srcRect b="0" l="0" r="0" t="0"/>
          <a:stretch/>
        </p:blipFill>
        <p:spPr>
          <a:xfrm>
            <a:off x="6462248" y="1961129"/>
            <a:ext cx="238378" cy="252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73"/>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Guardrails are easy to implement in the Orq platform</a:t>
            </a:r>
            <a:endParaRPr/>
          </a:p>
        </p:txBody>
      </p:sp>
      <p:sp>
        <p:nvSpPr>
          <p:cNvPr id="1650" name="Google Shape;1650;p7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651" name="Google Shape;1651;p7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652" name="Google Shape;1652;p73"/>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653" name="Google Shape;1653;p73"/>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1654" name="Google Shape;1654;p73"/>
          <p:cNvSpPr/>
          <p:nvPr/>
        </p:nvSpPr>
        <p:spPr>
          <a:xfrm>
            <a:off x="1863894" y="1664804"/>
            <a:ext cx="8464212" cy="4500500"/>
          </a:xfrm>
          <a:custGeom>
            <a:rect b="b" l="l" r="r" t="t"/>
            <a:pathLst>
              <a:path extrusionOk="0" h="4500500" w="8464212">
                <a:moveTo>
                  <a:pt x="61306" y="0"/>
                </a:moveTo>
                <a:lnTo>
                  <a:pt x="8402906" y="0"/>
                </a:lnTo>
                <a:cubicBezTo>
                  <a:pt x="8436764" y="0"/>
                  <a:pt x="8464212" y="27448"/>
                  <a:pt x="8464212" y="61306"/>
                </a:cubicBezTo>
                <a:lnTo>
                  <a:pt x="8464212" y="4439194"/>
                </a:lnTo>
                <a:cubicBezTo>
                  <a:pt x="8464212" y="4473052"/>
                  <a:pt x="8436764" y="4500500"/>
                  <a:pt x="8402906" y="4500500"/>
                </a:cubicBezTo>
                <a:lnTo>
                  <a:pt x="61306" y="4500500"/>
                </a:lnTo>
                <a:cubicBezTo>
                  <a:pt x="27448" y="4500500"/>
                  <a:pt x="0" y="4473052"/>
                  <a:pt x="0" y="4439194"/>
                </a:cubicBez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144000">
            <a:noAutofit/>
          </a:bodyPr>
          <a:lstStyle/>
          <a:p>
            <a:pPr indent="-52388" lvl="1" marL="128588" marR="0" rtl="0" algn="l">
              <a:lnSpc>
                <a:spcPct val="100000"/>
              </a:lnSpc>
              <a:spcBef>
                <a:spcPts val="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p:txBody>
      </p:sp>
      <p:pic>
        <p:nvPicPr>
          <p:cNvPr id="1655" name="Google Shape;1655;p73"/>
          <p:cNvPicPr preferRelativeResize="0"/>
          <p:nvPr/>
        </p:nvPicPr>
        <p:blipFill rotWithShape="1">
          <a:blip r:embed="rId4">
            <a:alphaModFix/>
          </a:blip>
          <a:srcRect b="0" l="0" r="0" t="0"/>
          <a:stretch/>
        </p:blipFill>
        <p:spPr>
          <a:xfrm>
            <a:off x="2043765" y="1844675"/>
            <a:ext cx="8104470" cy="4140200"/>
          </a:xfrm>
          <a:prstGeom prst="roundRect">
            <a:avLst>
              <a:gd fmla="val 1745" name="adj"/>
            </a:avLst>
          </a:prstGeom>
          <a:solidFill>
            <a:schemeClr val="lt1"/>
          </a:solid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7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PII redaction: the model never sees personal data, the user still does</a:t>
            </a:r>
            <a:endParaRPr/>
          </a:p>
        </p:txBody>
      </p:sp>
      <p:sp>
        <p:nvSpPr>
          <p:cNvPr id="1662" name="Google Shape;1662;p74"/>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RUNTIME CONTROLS</a:t>
            </a:r>
            <a:endParaRPr/>
          </a:p>
        </p:txBody>
      </p:sp>
      <p:sp>
        <p:nvSpPr>
          <p:cNvPr id="1663" name="Google Shape;1663;p7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664" name="Google Shape;1664;p7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665" name="Google Shape;1665;p74"/>
          <p:cNvSpPr txBox="1"/>
          <p:nvPr>
            <p:ph idx="12" type="sldNum"/>
          </p:nvPr>
        </p:nvSpPr>
        <p:spPr>
          <a:xfrm>
            <a:off x="12013750" y="6673964"/>
            <a:ext cx="92974"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666" name="Google Shape;1666;p74"/>
          <p:cNvSpPr/>
          <p:nvPr/>
        </p:nvSpPr>
        <p:spPr>
          <a:xfrm>
            <a:off x="265176" y="1664208"/>
            <a:ext cx="11667744" cy="1783080"/>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7" name="Google Shape;1667;p74"/>
          <p:cNvSpPr/>
          <p:nvPr/>
        </p:nvSpPr>
        <p:spPr>
          <a:xfrm>
            <a:off x="466344" y="1865376"/>
            <a:ext cx="2011680" cy="1371600"/>
          </a:xfrm>
          <a:prstGeom prst="roundRect">
            <a:avLst>
              <a:gd fmla="val 4000" name="adj"/>
            </a:avLst>
          </a:prstGeom>
          <a:solidFill>
            <a:srgbClr val="FFFFFF"/>
          </a:solidFill>
          <a:ln cap="flat" cmpd="sng" w="9525">
            <a:solidFill>
              <a:srgbClr val="DDD7D2"/>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68" name="Google Shape;1668;p74"/>
          <p:cNvSpPr txBox="1"/>
          <p:nvPr/>
        </p:nvSpPr>
        <p:spPr>
          <a:xfrm>
            <a:off x="603504" y="1993392"/>
            <a:ext cx="173736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F5325"/>
              </a:buClr>
              <a:buSzPts val="800"/>
              <a:buFont typeface="Arial"/>
              <a:buNone/>
            </a:pPr>
            <a:r>
              <a:rPr b="0" i="0" lang="en-US" sz="800" u="none" cap="none" strike="noStrike">
                <a:solidFill>
                  <a:srgbClr val="DF5325"/>
                </a:solidFill>
                <a:latin typeface="Arial"/>
                <a:ea typeface="Arial"/>
                <a:cs typeface="Arial"/>
                <a:sym typeface="Arial"/>
              </a:rPr>
              <a:t>1 · USER REQUEST</a:t>
            </a:r>
            <a:endParaRPr b="0" i="0" sz="1400" u="none" cap="none" strike="noStrike">
              <a:solidFill>
                <a:srgbClr val="000000"/>
              </a:solidFill>
              <a:latin typeface="Arial"/>
              <a:ea typeface="Arial"/>
              <a:cs typeface="Arial"/>
              <a:sym typeface="Arial"/>
            </a:endParaRPr>
          </a:p>
        </p:txBody>
      </p:sp>
      <p:sp>
        <p:nvSpPr>
          <p:cNvPr id="1669" name="Google Shape;1669;p74"/>
          <p:cNvSpPr txBox="1"/>
          <p:nvPr/>
        </p:nvSpPr>
        <p:spPr>
          <a:xfrm>
            <a:off x="603504" y="2249424"/>
            <a:ext cx="1737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"Draft a reply to Jan de Vries (jan@devries.nl) about BSN 123456782"</a:t>
            </a:r>
            <a:endParaRPr b="0" i="0" sz="1400" u="none" cap="none" strike="noStrike">
              <a:solidFill>
                <a:srgbClr val="000000"/>
              </a:solidFill>
              <a:latin typeface="Arial"/>
              <a:ea typeface="Arial"/>
              <a:cs typeface="Arial"/>
              <a:sym typeface="Arial"/>
            </a:endParaRPr>
          </a:p>
        </p:txBody>
      </p:sp>
      <p:sp>
        <p:nvSpPr>
          <p:cNvPr id="1670" name="Google Shape;1670;p74"/>
          <p:cNvSpPr/>
          <p:nvPr/>
        </p:nvSpPr>
        <p:spPr>
          <a:xfrm>
            <a:off x="2528316" y="2450592"/>
            <a:ext cx="201168" cy="201168"/>
          </a:xfrm>
          <a:prstGeom prst="rightArrow">
            <a:avLst>
              <a:gd fmla="val 50000" name="adj1"/>
              <a:gd fmla="val 50000" name="adj2"/>
            </a:avLst>
          </a:prstGeom>
          <a:solidFill>
            <a:srgbClr val="B5B0A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1" name="Google Shape;1671;p74"/>
          <p:cNvSpPr/>
          <p:nvPr/>
        </p:nvSpPr>
        <p:spPr>
          <a:xfrm>
            <a:off x="2779776" y="1865376"/>
            <a:ext cx="2011680" cy="1371600"/>
          </a:xfrm>
          <a:prstGeom prst="roundRect">
            <a:avLst>
              <a:gd fmla="val 4000"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2" name="Google Shape;1672;p74"/>
          <p:cNvSpPr txBox="1"/>
          <p:nvPr/>
        </p:nvSpPr>
        <p:spPr>
          <a:xfrm>
            <a:off x="2916936" y="1993392"/>
            <a:ext cx="173736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2 · REDACT</a:t>
            </a:r>
            <a:endParaRPr b="0" i="0" sz="1400" u="none" cap="none" strike="noStrike">
              <a:solidFill>
                <a:srgbClr val="000000"/>
              </a:solidFill>
              <a:latin typeface="Arial"/>
              <a:ea typeface="Arial"/>
              <a:cs typeface="Arial"/>
              <a:sym typeface="Arial"/>
            </a:endParaRPr>
          </a:p>
        </p:txBody>
      </p:sp>
      <p:sp>
        <p:nvSpPr>
          <p:cNvPr id="1673" name="Google Shape;1673;p74"/>
          <p:cNvSpPr txBox="1"/>
          <p:nvPr/>
        </p:nvSpPr>
        <p:spPr>
          <a:xfrm>
            <a:off x="2916936" y="2249424"/>
            <a:ext cx="1737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Orq.ai detects PII with its own hosted model and swaps in typed placeholders</a:t>
            </a:r>
            <a:endParaRPr b="0" i="0" sz="1400" u="none" cap="none" strike="noStrike">
              <a:solidFill>
                <a:srgbClr val="000000"/>
              </a:solidFill>
              <a:latin typeface="Arial"/>
              <a:ea typeface="Arial"/>
              <a:cs typeface="Arial"/>
              <a:sym typeface="Arial"/>
            </a:endParaRPr>
          </a:p>
        </p:txBody>
      </p:sp>
      <p:sp>
        <p:nvSpPr>
          <p:cNvPr id="1674" name="Google Shape;1674;p74"/>
          <p:cNvSpPr/>
          <p:nvPr/>
        </p:nvSpPr>
        <p:spPr>
          <a:xfrm>
            <a:off x="4841748" y="2450592"/>
            <a:ext cx="201168" cy="201168"/>
          </a:xfrm>
          <a:prstGeom prst="rightArrow">
            <a:avLst>
              <a:gd fmla="val 50000" name="adj1"/>
              <a:gd fmla="val 50000" name="adj2"/>
            </a:avLst>
          </a:prstGeom>
          <a:solidFill>
            <a:srgbClr val="B5B0A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5" name="Google Shape;1675;p74"/>
          <p:cNvSpPr/>
          <p:nvPr/>
        </p:nvSpPr>
        <p:spPr>
          <a:xfrm>
            <a:off x="5093208" y="1865376"/>
            <a:ext cx="2011680" cy="1371600"/>
          </a:xfrm>
          <a:prstGeom prst="roundRect">
            <a:avLst>
              <a:gd fmla="val 4000" name="adj"/>
            </a:avLst>
          </a:prstGeom>
          <a:solidFill>
            <a:srgbClr val="FFFFFF"/>
          </a:solidFill>
          <a:ln cap="flat" cmpd="sng" w="9525">
            <a:solidFill>
              <a:srgbClr val="DDD7D2"/>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6" name="Google Shape;1676;p74"/>
          <p:cNvSpPr txBox="1"/>
          <p:nvPr/>
        </p:nvSpPr>
        <p:spPr>
          <a:xfrm>
            <a:off x="5230368" y="1993392"/>
            <a:ext cx="173736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F5325"/>
              </a:buClr>
              <a:buSzPts val="800"/>
              <a:buFont typeface="Arial"/>
              <a:buNone/>
            </a:pPr>
            <a:r>
              <a:rPr b="0" i="0" lang="en-US" sz="800" u="none" cap="none" strike="noStrike">
                <a:solidFill>
                  <a:srgbClr val="DF5325"/>
                </a:solidFill>
                <a:latin typeface="Arial"/>
                <a:ea typeface="Arial"/>
                <a:cs typeface="Arial"/>
                <a:sym typeface="Arial"/>
              </a:rPr>
              <a:t>3 · MODEL PROVIDER SEES</a:t>
            </a:r>
            <a:endParaRPr b="0" i="0" sz="1400" u="none" cap="none" strike="noStrike">
              <a:solidFill>
                <a:srgbClr val="000000"/>
              </a:solidFill>
              <a:latin typeface="Arial"/>
              <a:ea typeface="Arial"/>
              <a:cs typeface="Arial"/>
              <a:sym typeface="Arial"/>
            </a:endParaRPr>
          </a:p>
        </p:txBody>
      </p:sp>
      <p:sp>
        <p:nvSpPr>
          <p:cNvPr id="1677" name="Google Shape;1677;p74"/>
          <p:cNvSpPr txBox="1"/>
          <p:nvPr/>
        </p:nvSpPr>
        <p:spPr>
          <a:xfrm>
            <a:off x="5230368" y="2249424"/>
            <a:ext cx="1737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"Draft a reply to &lt;PERSON_1&gt; (&lt;EMAIL_ADDRESS_1&gt;) about BSN &lt;BSN_1&gt;"</a:t>
            </a:r>
            <a:endParaRPr b="0" i="0" sz="1400" u="none" cap="none" strike="noStrike">
              <a:solidFill>
                <a:srgbClr val="000000"/>
              </a:solidFill>
              <a:latin typeface="Arial"/>
              <a:ea typeface="Arial"/>
              <a:cs typeface="Arial"/>
              <a:sym typeface="Arial"/>
            </a:endParaRPr>
          </a:p>
        </p:txBody>
      </p:sp>
      <p:sp>
        <p:nvSpPr>
          <p:cNvPr id="1678" name="Google Shape;1678;p74"/>
          <p:cNvSpPr/>
          <p:nvPr/>
        </p:nvSpPr>
        <p:spPr>
          <a:xfrm>
            <a:off x="7155180" y="2450592"/>
            <a:ext cx="201168" cy="201168"/>
          </a:xfrm>
          <a:prstGeom prst="rightArrow">
            <a:avLst>
              <a:gd fmla="val 50000" name="adj1"/>
              <a:gd fmla="val 50000" name="adj2"/>
            </a:avLst>
          </a:prstGeom>
          <a:solidFill>
            <a:srgbClr val="B5B0A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79" name="Google Shape;1679;p74"/>
          <p:cNvSpPr/>
          <p:nvPr/>
        </p:nvSpPr>
        <p:spPr>
          <a:xfrm>
            <a:off x="7406640" y="1865376"/>
            <a:ext cx="2011680" cy="1371600"/>
          </a:xfrm>
          <a:prstGeom prst="roundRect">
            <a:avLst>
              <a:gd fmla="val 4000"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0" name="Google Shape;1680;p74"/>
          <p:cNvSpPr txBox="1"/>
          <p:nvPr/>
        </p:nvSpPr>
        <p:spPr>
          <a:xfrm>
            <a:off x="7543800" y="1993392"/>
            <a:ext cx="173736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00"/>
              <a:buFont typeface="Arial"/>
              <a:buNone/>
            </a:pPr>
            <a:r>
              <a:rPr b="0" i="0" lang="en-US" sz="800" u="none" cap="none" strike="noStrike">
                <a:solidFill>
                  <a:srgbClr val="FFFFFF"/>
                </a:solidFill>
                <a:latin typeface="Arial"/>
                <a:ea typeface="Arial"/>
                <a:cs typeface="Arial"/>
                <a:sym typeface="Arial"/>
              </a:rPr>
              <a:t>4 · RESTORE</a:t>
            </a:r>
            <a:endParaRPr b="0" i="0" sz="1400" u="none" cap="none" strike="noStrike">
              <a:solidFill>
                <a:srgbClr val="000000"/>
              </a:solidFill>
              <a:latin typeface="Arial"/>
              <a:ea typeface="Arial"/>
              <a:cs typeface="Arial"/>
              <a:sym typeface="Arial"/>
            </a:endParaRPr>
          </a:p>
        </p:txBody>
      </p:sp>
      <p:sp>
        <p:nvSpPr>
          <p:cNvPr id="1681" name="Google Shape;1681;p74"/>
          <p:cNvSpPr txBox="1"/>
          <p:nvPr/>
        </p:nvSpPr>
        <p:spPr>
          <a:xfrm>
            <a:off x="7543800" y="2249424"/>
            <a:ext cx="1737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000"/>
              <a:buFont typeface="Arial"/>
              <a:buNone/>
            </a:pPr>
            <a:r>
              <a:rPr b="0" i="0" lang="en-US" sz="1000" u="none" cap="none" strike="noStrike">
                <a:solidFill>
                  <a:srgbClr val="FFFFFF"/>
                </a:solidFill>
                <a:latin typeface="Arial"/>
                <a:ea typeface="Arial"/>
                <a:cs typeface="Arial"/>
                <a:sym typeface="Arial"/>
              </a:rPr>
              <a:t>Original values are put back into the model's answer</a:t>
            </a:r>
            <a:endParaRPr b="0" i="0" sz="1400" u="none" cap="none" strike="noStrike">
              <a:solidFill>
                <a:srgbClr val="000000"/>
              </a:solidFill>
              <a:latin typeface="Arial"/>
              <a:ea typeface="Arial"/>
              <a:cs typeface="Arial"/>
              <a:sym typeface="Arial"/>
            </a:endParaRPr>
          </a:p>
        </p:txBody>
      </p:sp>
      <p:sp>
        <p:nvSpPr>
          <p:cNvPr id="1682" name="Google Shape;1682;p74"/>
          <p:cNvSpPr/>
          <p:nvPr/>
        </p:nvSpPr>
        <p:spPr>
          <a:xfrm>
            <a:off x="9468612" y="2450592"/>
            <a:ext cx="201168" cy="201168"/>
          </a:xfrm>
          <a:prstGeom prst="rightArrow">
            <a:avLst>
              <a:gd fmla="val 50000" name="adj1"/>
              <a:gd fmla="val 50000" name="adj2"/>
            </a:avLst>
          </a:prstGeom>
          <a:solidFill>
            <a:srgbClr val="B5B0A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3" name="Google Shape;1683;p74"/>
          <p:cNvSpPr/>
          <p:nvPr/>
        </p:nvSpPr>
        <p:spPr>
          <a:xfrm>
            <a:off x="9720072" y="1865376"/>
            <a:ext cx="2011680" cy="1371600"/>
          </a:xfrm>
          <a:prstGeom prst="roundRect">
            <a:avLst>
              <a:gd fmla="val 4000" name="adj"/>
            </a:avLst>
          </a:prstGeom>
          <a:solidFill>
            <a:srgbClr val="FFFFFF"/>
          </a:solidFill>
          <a:ln cap="flat" cmpd="sng" w="9525">
            <a:solidFill>
              <a:srgbClr val="DDD7D2"/>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4" name="Google Shape;1684;p74"/>
          <p:cNvSpPr txBox="1"/>
          <p:nvPr/>
        </p:nvSpPr>
        <p:spPr>
          <a:xfrm>
            <a:off x="9857232" y="1993392"/>
            <a:ext cx="1737360"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F5325"/>
              </a:buClr>
              <a:buSzPts val="800"/>
              <a:buFont typeface="Arial"/>
              <a:buNone/>
            </a:pPr>
            <a:r>
              <a:rPr b="0" i="0" lang="en-US" sz="800" u="none" cap="none" strike="noStrike">
                <a:solidFill>
                  <a:srgbClr val="DF5325"/>
                </a:solidFill>
                <a:latin typeface="Arial"/>
                <a:ea typeface="Arial"/>
                <a:cs typeface="Arial"/>
                <a:sym typeface="Arial"/>
              </a:rPr>
              <a:t>5 · USER RECEIVES</a:t>
            </a:r>
            <a:endParaRPr b="0" i="0" sz="1400" u="none" cap="none" strike="noStrike">
              <a:solidFill>
                <a:srgbClr val="000000"/>
              </a:solidFill>
              <a:latin typeface="Arial"/>
              <a:ea typeface="Arial"/>
              <a:cs typeface="Arial"/>
              <a:sym typeface="Arial"/>
            </a:endParaRPr>
          </a:p>
        </p:txBody>
      </p:sp>
      <p:sp>
        <p:nvSpPr>
          <p:cNvPr id="1685" name="Google Shape;1685;p74"/>
          <p:cNvSpPr txBox="1"/>
          <p:nvPr/>
        </p:nvSpPr>
        <p:spPr>
          <a:xfrm>
            <a:off x="9857232" y="2249424"/>
            <a:ext cx="173736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"Dear Jan de Vries, ..." with the real values, as if nothing changed</a:t>
            </a:r>
            <a:endParaRPr b="0" i="0" sz="1400" u="none" cap="none" strike="noStrike">
              <a:solidFill>
                <a:srgbClr val="000000"/>
              </a:solidFill>
              <a:latin typeface="Arial"/>
              <a:ea typeface="Arial"/>
              <a:cs typeface="Arial"/>
              <a:sym typeface="Arial"/>
            </a:endParaRPr>
          </a:p>
        </p:txBody>
      </p:sp>
      <p:sp>
        <p:nvSpPr>
          <p:cNvPr id="1686" name="Google Shape;1686;p74"/>
          <p:cNvSpPr/>
          <p:nvPr/>
        </p:nvSpPr>
        <p:spPr>
          <a:xfrm>
            <a:off x="265176" y="3657600"/>
            <a:ext cx="3736848" cy="2212848"/>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87" name="Google Shape;1687;p74"/>
          <p:cNvSpPr txBox="1"/>
          <p:nvPr/>
        </p:nvSpPr>
        <p:spPr>
          <a:xfrm>
            <a:off x="466344" y="3813048"/>
            <a:ext cx="333451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400"/>
              <a:buFont typeface="Arial"/>
              <a:buNone/>
            </a:pPr>
            <a:r>
              <a:rPr b="0" i="0" lang="en-US" sz="1400" u="none" cap="none" strike="noStrike">
                <a:solidFill>
                  <a:srgbClr val="141319"/>
                </a:solidFill>
                <a:latin typeface="Arial"/>
                <a:ea typeface="Arial"/>
                <a:cs typeface="Arial"/>
                <a:sym typeface="Arial"/>
              </a:rPr>
              <a:t>What it detects</a:t>
            </a:r>
            <a:endParaRPr b="0" i="0" sz="1400" u="none" cap="none" strike="noStrike">
              <a:solidFill>
                <a:srgbClr val="000000"/>
              </a:solidFill>
              <a:latin typeface="Arial"/>
              <a:ea typeface="Arial"/>
              <a:cs typeface="Arial"/>
              <a:sym typeface="Arial"/>
            </a:endParaRPr>
          </a:p>
        </p:txBody>
      </p:sp>
      <p:sp>
        <p:nvSpPr>
          <p:cNvPr id="1688" name="Google Shape;1688;p74"/>
          <p:cNvSpPr txBox="1"/>
          <p:nvPr/>
        </p:nvSpPr>
        <p:spPr>
          <a:xfrm>
            <a:off x="466344" y="4206240"/>
            <a:ext cx="3334512" cy="1600200"/>
          </a:xfrm>
          <a:prstGeom prst="rect">
            <a:avLst/>
          </a:prstGeom>
          <a:noFill/>
          <a:ln>
            <a:noFill/>
          </a:ln>
        </p:spPr>
        <p:txBody>
          <a:bodyPr anchorCtr="0" anchor="t" bIns="0" lIns="0" spcFirstLastPara="1" rIns="0" wrap="square" tIns="0">
            <a:spAutoFit/>
          </a:bodyPr>
          <a:lstStyle/>
          <a:p>
            <a:pPr indent="-146304" lvl="0" marL="146304" marR="0" rtl="0" algn="l">
              <a:lnSpc>
                <a:spcPct val="100000"/>
              </a:lnSpc>
              <a:spcBef>
                <a:spcPts val="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Names, email, phone, IBAN, credit cards, IP addresses, passports, API keys and passwords</a:t>
            </a:r>
            <a:endParaRPr b="0" i="0" sz="1400" u="none" cap="none" strike="noStrike">
              <a:solidFill>
                <a:srgbClr val="000000"/>
              </a:solidFill>
              <a:latin typeface="Arial"/>
              <a:ea typeface="Arial"/>
              <a:cs typeface="Arial"/>
              <a:sym typeface="Arial"/>
            </a:endParaRPr>
          </a:p>
          <a:p>
            <a:pPr indent="-146304" lvl="0" marL="146304" marR="0" rtl="0" algn="l">
              <a:lnSpc>
                <a:spcPct val="100000"/>
              </a:lnSpc>
              <a:spcBef>
                <a:spcPts val="30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National identifiers for NL (BSN, KvK, RSIN), BE, DE, FR, UK, US and every EU jurisdiction</a:t>
            </a:r>
            <a:endParaRPr b="0" i="0" sz="1400" u="none" cap="none" strike="noStrike">
              <a:solidFill>
                <a:srgbClr val="000000"/>
              </a:solidFill>
              <a:latin typeface="Arial"/>
              <a:ea typeface="Arial"/>
              <a:cs typeface="Arial"/>
              <a:sym typeface="Arial"/>
            </a:endParaRPr>
          </a:p>
          <a:p>
            <a:pPr indent="-146304" lvl="0" marL="146304" marR="0" rtl="0" algn="l">
              <a:lnSpc>
                <a:spcPct val="100000"/>
              </a:lnSpc>
              <a:spcBef>
                <a:spcPts val="30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Language detected per request (English, Dutch and more)</a:t>
            </a:r>
            <a:endParaRPr b="0" i="0" sz="1400" u="none" cap="none" strike="noStrike">
              <a:solidFill>
                <a:srgbClr val="000000"/>
              </a:solidFill>
              <a:latin typeface="Arial"/>
              <a:ea typeface="Arial"/>
              <a:cs typeface="Arial"/>
              <a:sym typeface="Arial"/>
            </a:endParaRPr>
          </a:p>
        </p:txBody>
      </p:sp>
      <p:sp>
        <p:nvSpPr>
          <p:cNvPr id="1689" name="Google Shape;1689;p74"/>
          <p:cNvSpPr/>
          <p:nvPr/>
        </p:nvSpPr>
        <p:spPr>
          <a:xfrm>
            <a:off x="4230624" y="3657600"/>
            <a:ext cx="3736848" cy="2212848"/>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90" name="Google Shape;1690;p74"/>
          <p:cNvSpPr txBox="1"/>
          <p:nvPr/>
        </p:nvSpPr>
        <p:spPr>
          <a:xfrm>
            <a:off x="4431792" y="3813048"/>
            <a:ext cx="333451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400"/>
              <a:buFont typeface="Arial"/>
              <a:buNone/>
            </a:pPr>
            <a:r>
              <a:rPr b="0" i="0" lang="en-US" sz="1400" u="none" cap="none" strike="noStrike">
                <a:solidFill>
                  <a:srgbClr val="141319"/>
                </a:solidFill>
                <a:latin typeface="Arial"/>
                <a:ea typeface="Arial"/>
                <a:cs typeface="Arial"/>
                <a:sym typeface="Arial"/>
              </a:rPr>
              <a:t>Where you switch it on</a:t>
            </a:r>
            <a:endParaRPr b="0" i="0" sz="1400" u="none" cap="none" strike="noStrike">
              <a:solidFill>
                <a:srgbClr val="000000"/>
              </a:solidFill>
              <a:latin typeface="Arial"/>
              <a:ea typeface="Arial"/>
              <a:cs typeface="Arial"/>
              <a:sym typeface="Arial"/>
            </a:endParaRPr>
          </a:p>
        </p:txBody>
      </p:sp>
      <p:sp>
        <p:nvSpPr>
          <p:cNvPr id="1691" name="Google Shape;1691;p74"/>
          <p:cNvSpPr txBox="1"/>
          <p:nvPr/>
        </p:nvSpPr>
        <p:spPr>
          <a:xfrm>
            <a:off x="4431792" y="4206240"/>
            <a:ext cx="3334512" cy="1600200"/>
          </a:xfrm>
          <a:prstGeom prst="rect">
            <a:avLst/>
          </a:prstGeom>
          <a:noFill/>
          <a:ln>
            <a:noFill/>
          </a:ln>
        </p:spPr>
        <p:txBody>
          <a:bodyPr anchorCtr="0" anchor="t" bIns="0" lIns="0" spcFirstLastPara="1" rIns="0" wrap="square" tIns="0">
            <a:spAutoFit/>
          </a:bodyPr>
          <a:lstStyle/>
          <a:p>
            <a:pPr indent="-146304" lvl="0" marL="146304" marR="0" rtl="0" algn="l">
              <a:lnSpc>
                <a:spcPct val="100000"/>
              </a:lnSpc>
              <a:spcBef>
                <a:spcPts val="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Workspace: admins enforce it for all traffic; a request cannot switch it off</a:t>
            </a:r>
            <a:endParaRPr b="0" i="0" sz="1400" u="none" cap="none" strike="noStrike">
              <a:solidFill>
                <a:srgbClr val="000000"/>
              </a:solidFill>
              <a:latin typeface="Arial"/>
              <a:ea typeface="Arial"/>
              <a:cs typeface="Arial"/>
              <a:sym typeface="Arial"/>
            </a:endParaRPr>
          </a:p>
          <a:p>
            <a:pPr indent="-146304" lvl="0" marL="146304" marR="0" rtl="0" algn="l">
              <a:lnSpc>
                <a:spcPct val="100000"/>
              </a:lnSpc>
              <a:spcBef>
                <a:spcPts val="30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Routing rule: per use case or team, with its own settings</a:t>
            </a:r>
            <a:endParaRPr b="0" i="0" sz="1400" u="none" cap="none" strike="noStrike">
              <a:solidFill>
                <a:srgbClr val="000000"/>
              </a:solidFill>
              <a:latin typeface="Arial"/>
              <a:ea typeface="Arial"/>
              <a:cs typeface="Arial"/>
              <a:sym typeface="Arial"/>
            </a:endParaRPr>
          </a:p>
          <a:p>
            <a:pPr indent="-146304" lvl="0" marL="146304" marR="0" rtl="0" algn="l">
              <a:lnSpc>
                <a:spcPct val="100000"/>
              </a:lnSpc>
              <a:spcBef>
                <a:spcPts val="30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Request: per call, equal to or stricter than the workspace</a:t>
            </a:r>
            <a:endParaRPr b="0" i="0" sz="1400" u="none" cap="none" strike="noStrike">
              <a:solidFill>
                <a:srgbClr val="000000"/>
              </a:solidFill>
              <a:latin typeface="Arial"/>
              <a:ea typeface="Arial"/>
              <a:cs typeface="Arial"/>
              <a:sym typeface="Arial"/>
            </a:endParaRPr>
          </a:p>
        </p:txBody>
      </p:sp>
      <p:sp>
        <p:nvSpPr>
          <p:cNvPr id="1692" name="Google Shape;1692;p74"/>
          <p:cNvSpPr/>
          <p:nvPr/>
        </p:nvSpPr>
        <p:spPr>
          <a:xfrm>
            <a:off x="8196072" y="3657600"/>
            <a:ext cx="3736848" cy="2212848"/>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93" name="Google Shape;1693;p74"/>
          <p:cNvSpPr txBox="1"/>
          <p:nvPr/>
        </p:nvSpPr>
        <p:spPr>
          <a:xfrm>
            <a:off x="8397240" y="3813048"/>
            <a:ext cx="3334512"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400"/>
              <a:buFont typeface="Arial"/>
              <a:buNone/>
            </a:pPr>
            <a:r>
              <a:rPr b="0" i="0" lang="en-US" sz="1400" u="none" cap="none" strike="noStrike">
                <a:solidFill>
                  <a:srgbClr val="141319"/>
                </a:solidFill>
                <a:latin typeface="Arial"/>
                <a:ea typeface="Arial"/>
                <a:cs typeface="Arial"/>
                <a:sym typeface="Arial"/>
              </a:rPr>
              <a:t>Controls for risk owners</a:t>
            </a:r>
            <a:endParaRPr b="0" i="0" sz="1400" u="none" cap="none" strike="noStrike">
              <a:solidFill>
                <a:srgbClr val="000000"/>
              </a:solidFill>
              <a:latin typeface="Arial"/>
              <a:ea typeface="Arial"/>
              <a:cs typeface="Arial"/>
              <a:sym typeface="Arial"/>
            </a:endParaRPr>
          </a:p>
        </p:txBody>
      </p:sp>
      <p:sp>
        <p:nvSpPr>
          <p:cNvPr id="1694" name="Google Shape;1694;p74"/>
          <p:cNvSpPr txBox="1"/>
          <p:nvPr/>
        </p:nvSpPr>
        <p:spPr>
          <a:xfrm>
            <a:off x="8397240" y="4206240"/>
            <a:ext cx="3334512" cy="1600200"/>
          </a:xfrm>
          <a:prstGeom prst="rect">
            <a:avLst/>
          </a:prstGeom>
          <a:noFill/>
          <a:ln>
            <a:noFill/>
          </a:ln>
        </p:spPr>
        <p:txBody>
          <a:bodyPr anchorCtr="0" anchor="t" bIns="0" lIns="0" spcFirstLastPara="1" rIns="0" wrap="square" tIns="0">
            <a:spAutoFit/>
          </a:bodyPr>
          <a:lstStyle/>
          <a:p>
            <a:pPr indent="-146304" lvl="0" marL="146304" marR="0" rtl="0" algn="l">
              <a:lnSpc>
                <a:spcPct val="100000"/>
              </a:lnSpc>
              <a:spcBef>
                <a:spcPts val="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Fails closed by default: if detection fails, nothing reaches the provider</a:t>
            </a:r>
            <a:endParaRPr b="0" i="0" sz="1400" u="none" cap="none" strike="noStrike">
              <a:solidFill>
                <a:srgbClr val="000000"/>
              </a:solidFill>
              <a:latin typeface="Arial"/>
              <a:ea typeface="Arial"/>
              <a:cs typeface="Arial"/>
              <a:sym typeface="Arial"/>
            </a:endParaRPr>
          </a:p>
          <a:p>
            <a:pPr indent="-146304" lvl="0" marL="146304" marR="0" rtl="0" algn="l">
              <a:lnSpc>
                <a:spcPct val="100000"/>
              </a:lnSpc>
              <a:spcBef>
                <a:spcPts val="30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Per-entity confidence thresholds to balance recall and false positives</a:t>
            </a:r>
            <a:endParaRPr b="0" i="0" sz="1400" u="none" cap="none" strike="noStrike">
              <a:solidFill>
                <a:srgbClr val="000000"/>
              </a:solidFill>
              <a:latin typeface="Arial"/>
              <a:ea typeface="Arial"/>
              <a:cs typeface="Arial"/>
              <a:sym typeface="Arial"/>
            </a:endParaRPr>
          </a:p>
          <a:p>
            <a:pPr indent="-146304" lvl="0" marL="146304" marR="0" rtl="0" algn="l">
              <a:lnSpc>
                <a:spcPct val="100000"/>
              </a:lnSpc>
              <a:spcBef>
                <a:spcPts val="300"/>
              </a:spcBef>
              <a:spcAft>
                <a:spcPts val="0"/>
              </a:spcAft>
              <a:buClr>
                <a:srgbClr val="DF5325"/>
              </a:buClr>
              <a:buSzPts val="1000"/>
              <a:buFont typeface="Arial"/>
              <a:buChar char="•"/>
            </a:pPr>
            <a:r>
              <a:rPr b="0" i="0" lang="en-US" sz="1000" u="none" cap="none" strike="noStrike">
                <a:solidFill>
                  <a:srgbClr val="141319"/>
                </a:solidFill>
                <a:latin typeface="Arial"/>
                <a:ea typeface="Arial"/>
                <a:cs typeface="Arial"/>
                <a:sym typeface="Arial"/>
              </a:rPr>
              <a:t>Traces store the redacted form, with redact and restore spans for audit</a:t>
            </a:r>
            <a:endParaRPr b="0" i="0" sz="1400" u="none" cap="none" strike="noStrike">
              <a:solidFill>
                <a:srgbClr val="000000"/>
              </a:solidFill>
              <a:latin typeface="Arial"/>
              <a:ea typeface="Arial"/>
              <a:cs typeface="Arial"/>
              <a:sym typeface="Arial"/>
            </a:endParaRPr>
          </a:p>
        </p:txBody>
      </p:sp>
      <p:sp>
        <p:nvSpPr>
          <p:cNvPr id="1695" name="Google Shape;1695;p74"/>
          <p:cNvSpPr txBox="1"/>
          <p:nvPr/>
        </p:nvSpPr>
        <p:spPr>
          <a:xfrm>
            <a:off x="265176" y="5943600"/>
            <a:ext cx="11667744"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900"/>
              <a:buFont typeface="Arial"/>
              <a:buNone/>
            </a:pPr>
            <a:r>
              <a:rPr b="0" i="0" lang="en-US" sz="900" u="none" cap="none" strike="noStrike">
                <a:solidFill>
                  <a:srgbClr val="6E6D72"/>
                </a:solidFill>
                <a:latin typeface="Arial"/>
                <a:ea typeface="Arial"/>
                <a:cs typeface="Arial"/>
                <a:sym typeface="Arial"/>
              </a:rPr>
              <a:t>Beta. Runs on the AI Gateway router endpoints and on Agents. Live entity list: GET /v2/pii/capabilities.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0" name="Shape 1700"/>
        <p:cNvGrpSpPr/>
        <p:nvPr/>
      </p:nvGrpSpPr>
      <p:grpSpPr>
        <a:xfrm>
          <a:off x="0" y="0"/>
          <a:ext cx="0" cy="0"/>
          <a:chOff x="0" y="0"/>
          <a:chExt cx="0" cy="0"/>
        </a:xfrm>
      </p:grpSpPr>
      <p:sp>
        <p:nvSpPr>
          <p:cNvPr id="1701" name="Google Shape;1701;p7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Three data-protection controls, each for a different risk</a:t>
            </a:r>
            <a:endParaRPr/>
          </a:p>
        </p:txBody>
      </p:sp>
      <p:sp>
        <p:nvSpPr>
          <p:cNvPr id="1702" name="Google Shape;1702;p75"/>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RUNTIME CONTROLS</a:t>
            </a:r>
            <a:endParaRPr/>
          </a:p>
        </p:txBody>
      </p:sp>
      <p:sp>
        <p:nvSpPr>
          <p:cNvPr id="1703" name="Google Shape;1703;p7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704" name="Google Shape;1704;p7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705" name="Google Shape;1705;p75"/>
          <p:cNvSpPr txBox="1"/>
          <p:nvPr>
            <p:ph idx="12" type="sldNum"/>
          </p:nvPr>
        </p:nvSpPr>
        <p:spPr>
          <a:xfrm>
            <a:off x="12013750" y="6673964"/>
            <a:ext cx="92974"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706" name="Google Shape;1706;p75"/>
          <p:cNvSpPr/>
          <p:nvPr/>
        </p:nvSpPr>
        <p:spPr>
          <a:xfrm>
            <a:off x="265176" y="1664208"/>
            <a:ext cx="3736848" cy="4005072"/>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07" name="Google Shape;1707;p75"/>
          <p:cNvSpPr txBox="1"/>
          <p:nvPr/>
        </p:nvSpPr>
        <p:spPr>
          <a:xfrm>
            <a:off x="493776" y="1847088"/>
            <a:ext cx="3279648"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F5325"/>
              </a:buClr>
              <a:buSzPts val="900"/>
              <a:buFont typeface="Arial"/>
              <a:buNone/>
            </a:pPr>
            <a:r>
              <a:rPr b="0" i="0" lang="en-US" sz="900" u="none" cap="none" strike="noStrike">
                <a:solidFill>
                  <a:srgbClr val="DF5325"/>
                </a:solidFill>
                <a:latin typeface="Arial"/>
                <a:ea typeface="Arial"/>
                <a:cs typeface="Arial"/>
                <a:sym typeface="Arial"/>
              </a:rPr>
              <a:t>BLOCK</a:t>
            </a:r>
            <a:endParaRPr b="0" i="0" sz="1400" u="none" cap="none" strike="noStrike">
              <a:solidFill>
                <a:srgbClr val="000000"/>
              </a:solidFill>
              <a:latin typeface="Arial"/>
              <a:ea typeface="Arial"/>
              <a:cs typeface="Arial"/>
              <a:sym typeface="Arial"/>
            </a:endParaRPr>
          </a:p>
        </p:txBody>
      </p:sp>
      <p:sp>
        <p:nvSpPr>
          <p:cNvPr id="1708" name="Google Shape;1708;p75"/>
          <p:cNvSpPr txBox="1"/>
          <p:nvPr/>
        </p:nvSpPr>
        <p:spPr>
          <a:xfrm>
            <a:off x="493776" y="2084831"/>
            <a:ext cx="327964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600"/>
              <a:buFont typeface="Arial"/>
              <a:buNone/>
            </a:pPr>
            <a:r>
              <a:rPr b="0" i="0" lang="en-US" sz="1600" u="none" cap="none" strike="noStrike">
                <a:solidFill>
                  <a:srgbClr val="141319"/>
                </a:solidFill>
                <a:latin typeface="Arial"/>
                <a:ea typeface="Arial"/>
                <a:cs typeface="Arial"/>
                <a:sym typeface="Arial"/>
              </a:rPr>
              <a:t>PII and secret guardrail</a:t>
            </a:r>
            <a:endParaRPr b="0" i="0" sz="1400" u="none" cap="none" strike="noStrike">
              <a:solidFill>
                <a:srgbClr val="000000"/>
              </a:solidFill>
              <a:latin typeface="Arial"/>
              <a:ea typeface="Arial"/>
              <a:cs typeface="Arial"/>
              <a:sym typeface="Arial"/>
            </a:endParaRPr>
          </a:p>
        </p:txBody>
      </p:sp>
      <p:sp>
        <p:nvSpPr>
          <p:cNvPr id="1709" name="Google Shape;1709;p75"/>
          <p:cNvSpPr txBox="1"/>
          <p:nvPr/>
        </p:nvSpPr>
        <p:spPr>
          <a:xfrm>
            <a:off x="493776" y="269748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WHAT IT DOES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Detects PII or secrets in the request or response and blocks it outright</a:t>
            </a:r>
            <a:endParaRPr b="0" i="0" sz="1400" u="none" cap="none" strike="noStrike">
              <a:solidFill>
                <a:srgbClr val="000000"/>
              </a:solidFill>
              <a:latin typeface="Arial"/>
              <a:ea typeface="Arial"/>
              <a:cs typeface="Arial"/>
              <a:sym typeface="Arial"/>
            </a:endParaRPr>
          </a:p>
        </p:txBody>
      </p:sp>
      <p:sp>
        <p:nvSpPr>
          <p:cNvPr id="1710" name="Google Shape;1710;p75"/>
          <p:cNvSpPr txBox="1"/>
          <p:nvPr/>
        </p:nvSpPr>
        <p:spPr>
          <a:xfrm>
            <a:off x="493776" y="365760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USE IT WHEN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Personal data or credentials must never be processed in this use case</a:t>
            </a:r>
            <a:endParaRPr b="0" i="0" sz="1400" u="none" cap="none" strike="noStrike">
              <a:solidFill>
                <a:srgbClr val="000000"/>
              </a:solidFill>
              <a:latin typeface="Arial"/>
              <a:ea typeface="Arial"/>
              <a:cs typeface="Arial"/>
              <a:sym typeface="Arial"/>
            </a:endParaRPr>
          </a:p>
        </p:txBody>
      </p:sp>
      <p:sp>
        <p:nvSpPr>
          <p:cNvPr id="1711" name="Google Shape;1711;p75"/>
          <p:cNvSpPr txBox="1"/>
          <p:nvPr/>
        </p:nvSpPr>
        <p:spPr>
          <a:xfrm>
            <a:off x="493776" y="461772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GOOD TO KNOW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Built-in system guardrail, no setup needed. Always fails closed</a:t>
            </a:r>
            <a:endParaRPr b="0" i="0" sz="1400" u="none" cap="none" strike="noStrike">
              <a:solidFill>
                <a:srgbClr val="000000"/>
              </a:solidFill>
              <a:latin typeface="Arial"/>
              <a:ea typeface="Arial"/>
              <a:cs typeface="Arial"/>
              <a:sym typeface="Arial"/>
            </a:endParaRPr>
          </a:p>
        </p:txBody>
      </p:sp>
      <p:sp>
        <p:nvSpPr>
          <p:cNvPr id="1712" name="Google Shape;1712;p75"/>
          <p:cNvSpPr/>
          <p:nvPr/>
        </p:nvSpPr>
        <p:spPr>
          <a:xfrm>
            <a:off x="4230624" y="1664208"/>
            <a:ext cx="3736848" cy="4005072"/>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13" name="Google Shape;1713;p75"/>
          <p:cNvSpPr txBox="1"/>
          <p:nvPr/>
        </p:nvSpPr>
        <p:spPr>
          <a:xfrm>
            <a:off x="4459224" y="1847088"/>
            <a:ext cx="3279648"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F5325"/>
              </a:buClr>
              <a:buSzPts val="900"/>
              <a:buFont typeface="Arial"/>
              <a:buNone/>
            </a:pPr>
            <a:r>
              <a:rPr b="0" i="0" lang="en-US" sz="900" u="none" cap="none" strike="noStrike">
                <a:solidFill>
                  <a:srgbClr val="DF5325"/>
                </a:solidFill>
                <a:latin typeface="Arial"/>
                <a:ea typeface="Arial"/>
                <a:cs typeface="Arial"/>
                <a:sym typeface="Arial"/>
              </a:rPr>
              <a:t>MASK AND RESTORE</a:t>
            </a:r>
            <a:endParaRPr b="0" i="0" sz="1400" u="none" cap="none" strike="noStrike">
              <a:solidFill>
                <a:srgbClr val="000000"/>
              </a:solidFill>
              <a:latin typeface="Arial"/>
              <a:ea typeface="Arial"/>
              <a:cs typeface="Arial"/>
              <a:sym typeface="Arial"/>
            </a:endParaRPr>
          </a:p>
        </p:txBody>
      </p:sp>
      <p:sp>
        <p:nvSpPr>
          <p:cNvPr id="1714" name="Google Shape;1714;p75"/>
          <p:cNvSpPr txBox="1"/>
          <p:nvPr/>
        </p:nvSpPr>
        <p:spPr>
          <a:xfrm>
            <a:off x="4459224" y="2084831"/>
            <a:ext cx="327964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600"/>
              <a:buFont typeface="Arial"/>
              <a:buNone/>
            </a:pPr>
            <a:r>
              <a:rPr b="0" i="0" lang="en-US" sz="1600" u="none" cap="none" strike="noStrike">
                <a:solidFill>
                  <a:srgbClr val="141319"/>
                </a:solidFill>
                <a:latin typeface="Arial"/>
                <a:ea typeface="Arial"/>
                <a:cs typeface="Arial"/>
                <a:sym typeface="Arial"/>
              </a:rPr>
              <a:t>PII redaction plugin</a:t>
            </a:r>
            <a:endParaRPr b="0" i="0" sz="1400" u="none" cap="none" strike="noStrike">
              <a:solidFill>
                <a:srgbClr val="000000"/>
              </a:solidFill>
              <a:latin typeface="Arial"/>
              <a:ea typeface="Arial"/>
              <a:cs typeface="Arial"/>
              <a:sym typeface="Arial"/>
            </a:endParaRPr>
          </a:p>
        </p:txBody>
      </p:sp>
      <p:sp>
        <p:nvSpPr>
          <p:cNvPr id="1715" name="Google Shape;1715;p75"/>
          <p:cNvSpPr txBox="1"/>
          <p:nvPr/>
        </p:nvSpPr>
        <p:spPr>
          <a:xfrm>
            <a:off x="4459224" y="269748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WHAT IT DOES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Swaps PII for placeholders before the provider sees it, restores it in the response</a:t>
            </a:r>
            <a:endParaRPr b="0" i="0" sz="1400" u="none" cap="none" strike="noStrike">
              <a:solidFill>
                <a:srgbClr val="000000"/>
              </a:solidFill>
              <a:latin typeface="Arial"/>
              <a:ea typeface="Arial"/>
              <a:cs typeface="Arial"/>
              <a:sym typeface="Arial"/>
            </a:endParaRPr>
          </a:p>
        </p:txBody>
      </p:sp>
      <p:sp>
        <p:nvSpPr>
          <p:cNvPr id="1716" name="Google Shape;1716;p75"/>
          <p:cNvSpPr txBox="1"/>
          <p:nvPr/>
        </p:nvSpPr>
        <p:spPr>
          <a:xfrm>
            <a:off x="4459224" y="365760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USE IT WHEN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The task needs personal data, but the model provider should not see it</a:t>
            </a:r>
            <a:endParaRPr b="0" i="0" sz="1400" u="none" cap="none" strike="noStrike">
              <a:solidFill>
                <a:srgbClr val="000000"/>
              </a:solidFill>
              <a:latin typeface="Arial"/>
              <a:ea typeface="Arial"/>
              <a:cs typeface="Arial"/>
              <a:sym typeface="Arial"/>
            </a:endParaRPr>
          </a:p>
        </p:txBody>
      </p:sp>
      <p:sp>
        <p:nvSpPr>
          <p:cNvPr id="1717" name="Google Shape;1717;p75"/>
          <p:cNvSpPr txBox="1"/>
          <p:nvPr/>
        </p:nvSpPr>
        <p:spPr>
          <a:xfrm>
            <a:off x="4459224" y="461772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GOOD TO KNOW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Set per workspace, routing rule or request. Fail closed or open is configurable</a:t>
            </a:r>
            <a:endParaRPr b="0" i="0" sz="1400" u="none" cap="none" strike="noStrike">
              <a:solidFill>
                <a:srgbClr val="000000"/>
              </a:solidFill>
              <a:latin typeface="Arial"/>
              <a:ea typeface="Arial"/>
              <a:cs typeface="Arial"/>
              <a:sym typeface="Arial"/>
            </a:endParaRPr>
          </a:p>
        </p:txBody>
      </p:sp>
      <p:sp>
        <p:nvSpPr>
          <p:cNvPr id="1718" name="Google Shape;1718;p75"/>
          <p:cNvSpPr/>
          <p:nvPr/>
        </p:nvSpPr>
        <p:spPr>
          <a:xfrm>
            <a:off x="8196072" y="1664208"/>
            <a:ext cx="3736848" cy="4005072"/>
          </a:xfrm>
          <a:prstGeom prst="roundRect">
            <a:avLst>
              <a:gd fmla="val 4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19" name="Google Shape;1719;p75"/>
          <p:cNvSpPr txBox="1"/>
          <p:nvPr/>
        </p:nvSpPr>
        <p:spPr>
          <a:xfrm>
            <a:off x="8424672" y="1847088"/>
            <a:ext cx="3279648" cy="1828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DF5325"/>
              </a:buClr>
              <a:buSzPts val="900"/>
              <a:buFont typeface="Arial"/>
              <a:buNone/>
            </a:pPr>
            <a:r>
              <a:rPr b="0" i="0" lang="en-US" sz="900" u="none" cap="none" strike="noStrike">
                <a:solidFill>
                  <a:srgbClr val="DF5325"/>
                </a:solidFill>
                <a:latin typeface="Arial"/>
                <a:ea typeface="Arial"/>
                <a:cs typeface="Arial"/>
                <a:sym typeface="Arial"/>
              </a:rPr>
              <a:t>KEEP OUT OF LOGS</a:t>
            </a:r>
            <a:endParaRPr b="0" i="0" sz="1400" u="none" cap="none" strike="noStrike">
              <a:solidFill>
                <a:srgbClr val="000000"/>
              </a:solidFill>
              <a:latin typeface="Arial"/>
              <a:ea typeface="Arial"/>
              <a:cs typeface="Arial"/>
              <a:sym typeface="Arial"/>
            </a:endParaRPr>
          </a:p>
        </p:txBody>
      </p:sp>
      <p:sp>
        <p:nvSpPr>
          <p:cNvPr id="1720" name="Google Shape;1720;p75"/>
          <p:cNvSpPr txBox="1"/>
          <p:nvPr/>
        </p:nvSpPr>
        <p:spPr>
          <a:xfrm>
            <a:off x="8424672" y="2084831"/>
            <a:ext cx="327964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141319"/>
              </a:buClr>
              <a:buSzPts val="1600"/>
              <a:buFont typeface="Arial"/>
              <a:buNone/>
            </a:pPr>
            <a:r>
              <a:rPr b="0" i="0" lang="en-US" sz="1600" u="none" cap="none" strike="noStrike">
                <a:solidFill>
                  <a:srgbClr val="141319"/>
                </a:solidFill>
                <a:latin typeface="Arial"/>
                <a:ea typeface="Arial"/>
                <a:cs typeface="Arial"/>
                <a:sym typeface="Arial"/>
              </a:rPr>
              <a:t>Trace masking and scrubbing</a:t>
            </a:r>
            <a:endParaRPr b="0" i="0" sz="1400" u="none" cap="none" strike="noStrike">
              <a:solidFill>
                <a:srgbClr val="000000"/>
              </a:solidFill>
              <a:latin typeface="Arial"/>
              <a:ea typeface="Arial"/>
              <a:cs typeface="Arial"/>
              <a:sym typeface="Arial"/>
            </a:endParaRPr>
          </a:p>
        </p:txBody>
      </p:sp>
      <p:sp>
        <p:nvSpPr>
          <p:cNvPr id="1721" name="Google Shape;1721;p75"/>
          <p:cNvSpPr txBox="1"/>
          <p:nvPr/>
        </p:nvSpPr>
        <p:spPr>
          <a:xfrm>
            <a:off x="8424672" y="269748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WHAT IT DOES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Removes selected fields from stored traces without changing the live request</a:t>
            </a:r>
            <a:endParaRPr b="0" i="0" sz="1400" u="none" cap="none" strike="noStrike">
              <a:solidFill>
                <a:srgbClr val="000000"/>
              </a:solidFill>
              <a:latin typeface="Arial"/>
              <a:ea typeface="Arial"/>
              <a:cs typeface="Arial"/>
              <a:sym typeface="Arial"/>
            </a:endParaRPr>
          </a:p>
        </p:txBody>
      </p:sp>
      <p:sp>
        <p:nvSpPr>
          <p:cNvPr id="1722" name="Google Shape;1722;p75"/>
          <p:cNvSpPr txBox="1"/>
          <p:nvPr/>
        </p:nvSpPr>
        <p:spPr>
          <a:xfrm>
            <a:off x="8424672" y="365760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USE IT WHEN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Data may be processed, but must not be retained in logs</a:t>
            </a:r>
            <a:endParaRPr b="0" i="0" sz="1400" u="none" cap="none" strike="noStrike">
              <a:solidFill>
                <a:srgbClr val="000000"/>
              </a:solidFill>
              <a:latin typeface="Arial"/>
              <a:ea typeface="Arial"/>
              <a:cs typeface="Arial"/>
              <a:sym typeface="Arial"/>
            </a:endParaRPr>
          </a:p>
        </p:txBody>
      </p:sp>
      <p:sp>
        <p:nvSpPr>
          <p:cNvPr id="1723" name="Google Shape;1723;p75"/>
          <p:cNvSpPr txBox="1"/>
          <p:nvPr/>
        </p:nvSpPr>
        <p:spPr>
          <a:xfrm>
            <a:off x="8424672" y="4617720"/>
            <a:ext cx="3279648" cy="868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6E6D72"/>
              </a:buClr>
              <a:buSzPts val="800"/>
              <a:buFont typeface="Arial"/>
              <a:buNone/>
            </a:pPr>
            <a:r>
              <a:rPr b="0" i="0" lang="en-US" sz="800" u="none" cap="none" strike="noStrike">
                <a:solidFill>
                  <a:srgbClr val="6E6D72"/>
                </a:solidFill>
                <a:latin typeface="Arial"/>
                <a:ea typeface="Arial"/>
                <a:cs typeface="Arial"/>
                <a:sym typeface="Arial"/>
              </a:rPr>
              <a:t>GOOD TO KNOW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141319"/>
              </a:buClr>
              <a:buSzPts val="1100"/>
              <a:buFont typeface="Arial"/>
              <a:buNone/>
            </a:pPr>
            <a:r>
              <a:rPr b="0" i="0" lang="en-US" sz="1100" u="none" cap="none" strike="noStrike">
                <a:solidFill>
                  <a:srgbClr val="141319"/>
                </a:solidFill>
                <a:latin typeface="Arial"/>
                <a:ea typeface="Arial"/>
                <a:cs typeface="Arial"/>
                <a:sym typeface="Arial"/>
              </a:rPr>
              <a:t>Evaluators and guardrails still see the original runtime data</a:t>
            </a:r>
            <a:endParaRPr b="0" i="0" sz="1400" u="none" cap="none" strike="noStrike">
              <a:solidFill>
                <a:srgbClr val="000000"/>
              </a:solidFill>
              <a:latin typeface="Arial"/>
              <a:ea typeface="Arial"/>
              <a:cs typeface="Arial"/>
              <a:sym typeface="Arial"/>
            </a:endParaRPr>
          </a:p>
        </p:txBody>
      </p:sp>
      <p:sp>
        <p:nvSpPr>
          <p:cNvPr id="1724" name="Google Shape;1724;p75"/>
          <p:cNvSpPr/>
          <p:nvPr/>
        </p:nvSpPr>
        <p:spPr>
          <a:xfrm>
            <a:off x="265176" y="5779008"/>
            <a:ext cx="11667744" cy="384048"/>
          </a:xfrm>
          <a:prstGeom prst="roundRect">
            <a:avLst>
              <a:gd fmla="val 8000" name="adj"/>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25" name="Google Shape;1725;p75"/>
          <p:cNvSpPr txBox="1"/>
          <p:nvPr/>
        </p:nvSpPr>
        <p:spPr>
          <a:xfrm>
            <a:off x="466344" y="5779008"/>
            <a:ext cx="11247120" cy="38404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Combine them: e.g. redaction on all traffic, a blocking guardrail on secrets, and trace scrubbing on request metadata.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76"/>
          <p:cNvSpPr txBox="1"/>
          <p:nvPr>
            <p:ph type="title"/>
          </p:nvPr>
        </p:nvSpPr>
        <p:spPr>
          <a:xfrm>
            <a:off x="5519936" y="2047211"/>
            <a:ext cx="6408538" cy="276998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20 min to</a:t>
            </a:r>
            <a:br>
              <a:rPr lang="en-US"/>
            </a:br>
            <a:r>
              <a:rPr lang="en-US"/>
              <a:t>test with the evaluator</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7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3: Experiment</a:t>
            </a:r>
            <a:endParaRPr/>
          </a:p>
        </p:txBody>
      </p:sp>
      <p:sp>
        <p:nvSpPr>
          <p:cNvPr id="1737" name="Google Shape;1737;p7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1738" name="Google Shape;1738;p7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739" name="Google Shape;1739;p7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740" name="Google Shape;1740;p7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741" name="Google Shape;1741;p77"/>
          <p:cNvSpPr/>
          <p:nvPr/>
        </p:nvSpPr>
        <p:spPr>
          <a:xfrm>
            <a:off x="1159942" y="3719207"/>
            <a:ext cx="183879" cy="36772"/>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42" name="Google Shape;1742;p77"/>
          <p:cNvSpPr/>
          <p:nvPr/>
        </p:nvSpPr>
        <p:spPr>
          <a:xfrm>
            <a:off x="10820206" y="3719207"/>
            <a:ext cx="183879" cy="36772"/>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743" name="Google Shape;1743;p77"/>
          <p:cNvCxnSpPr>
            <a:stCxn id="1742" idx="0"/>
            <a:endCxn id="1741" idx="0"/>
          </p:cNvCxnSpPr>
          <p:nvPr/>
        </p:nvCxnSpPr>
        <p:spPr>
          <a:xfrm rot="5400000">
            <a:off x="6081696" y="-1110643"/>
            <a:ext cx="600" cy="9660300"/>
          </a:xfrm>
          <a:prstGeom prst="bentConnector3">
            <a:avLst>
              <a:gd fmla="val -39687500" name="adj1"/>
            </a:avLst>
          </a:prstGeom>
          <a:noFill/>
          <a:ln cap="flat" cmpd="sng" w="12700">
            <a:solidFill>
              <a:srgbClr val="DF5325"/>
            </a:solidFill>
            <a:prstDash val="lgDash"/>
            <a:miter lim="80"/>
            <a:headEnd len="sm" w="sm" type="none"/>
            <a:tailEnd len="med" w="med" type="triangle"/>
          </a:ln>
        </p:spPr>
      </p:cxnSp>
      <p:sp>
        <p:nvSpPr>
          <p:cNvPr id="1744" name="Google Shape;1744;p77"/>
          <p:cNvSpPr/>
          <p:nvPr/>
        </p:nvSpPr>
        <p:spPr>
          <a:xfrm>
            <a:off x="263352" y="3719207"/>
            <a:ext cx="2033005" cy="404488"/>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1745" name="Google Shape;1745;p77"/>
          <p:cNvSpPr/>
          <p:nvPr/>
        </p:nvSpPr>
        <p:spPr>
          <a:xfrm>
            <a:off x="2671425"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1746" name="Google Shape;1746;p77"/>
          <p:cNvSpPr/>
          <p:nvPr/>
        </p:nvSpPr>
        <p:spPr>
          <a:xfrm>
            <a:off x="5079497"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1747" name="Google Shape;1747;p77"/>
          <p:cNvSpPr/>
          <p:nvPr/>
        </p:nvSpPr>
        <p:spPr>
          <a:xfrm>
            <a:off x="7487570"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1748" name="Google Shape;1748;p77"/>
          <p:cNvSpPr/>
          <p:nvPr/>
        </p:nvSpPr>
        <p:spPr>
          <a:xfrm>
            <a:off x="9895643"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1749" name="Google Shape;1749;p77"/>
          <p:cNvPicPr preferRelativeResize="0"/>
          <p:nvPr/>
        </p:nvPicPr>
        <p:blipFill rotWithShape="1">
          <a:blip r:embed="rId3">
            <a:alphaModFix/>
          </a:blip>
          <a:srcRect b="0" l="0" r="0" t="0"/>
          <a:stretch/>
        </p:blipFill>
        <p:spPr>
          <a:xfrm>
            <a:off x="7615968" y="3792750"/>
            <a:ext cx="257402" cy="257401"/>
          </a:xfrm>
          <a:prstGeom prst="rect">
            <a:avLst/>
          </a:prstGeom>
          <a:noFill/>
          <a:ln>
            <a:noFill/>
          </a:ln>
        </p:spPr>
      </p:pic>
      <p:pic>
        <p:nvPicPr>
          <p:cNvPr id="1750" name="Google Shape;1750;p77"/>
          <p:cNvPicPr preferRelativeResize="0"/>
          <p:nvPr/>
        </p:nvPicPr>
        <p:blipFill rotWithShape="1">
          <a:blip r:embed="rId4">
            <a:alphaModFix/>
          </a:blip>
          <a:srcRect b="0" l="0" r="0" t="0"/>
          <a:stretch/>
        </p:blipFill>
        <p:spPr>
          <a:xfrm>
            <a:off x="10031033" y="3792750"/>
            <a:ext cx="257402" cy="257401"/>
          </a:xfrm>
          <a:prstGeom prst="rect">
            <a:avLst/>
          </a:prstGeom>
          <a:noFill/>
          <a:ln>
            <a:noFill/>
          </a:ln>
        </p:spPr>
      </p:pic>
      <p:pic>
        <p:nvPicPr>
          <p:cNvPr id="1751" name="Google Shape;1751;p77"/>
          <p:cNvPicPr preferRelativeResize="0"/>
          <p:nvPr/>
        </p:nvPicPr>
        <p:blipFill rotWithShape="1">
          <a:blip r:embed="rId5">
            <a:alphaModFix/>
          </a:blip>
          <a:srcRect b="0" l="0" r="0" t="0"/>
          <a:stretch/>
        </p:blipFill>
        <p:spPr>
          <a:xfrm>
            <a:off x="2785835" y="3792750"/>
            <a:ext cx="305069" cy="257401"/>
          </a:xfrm>
          <a:prstGeom prst="rect">
            <a:avLst/>
          </a:prstGeom>
          <a:noFill/>
          <a:ln>
            <a:noFill/>
          </a:ln>
        </p:spPr>
      </p:pic>
      <p:pic>
        <p:nvPicPr>
          <p:cNvPr id="1752" name="Google Shape;1752;p77"/>
          <p:cNvPicPr preferRelativeResize="0"/>
          <p:nvPr/>
        </p:nvPicPr>
        <p:blipFill rotWithShape="1">
          <a:blip r:embed="rId6">
            <a:alphaModFix/>
          </a:blip>
          <a:srcRect b="0" l="0" r="0" t="0"/>
          <a:stretch/>
        </p:blipFill>
        <p:spPr>
          <a:xfrm>
            <a:off x="5200902" y="3792750"/>
            <a:ext cx="233270" cy="257401"/>
          </a:xfrm>
          <a:prstGeom prst="rect">
            <a:avLst/>
          </a:prstGeom>
          <a:noFill/>
          <a:ln>
            <a:noFill/>
          </a:ln>
        </p:spPr>
      </p:pic>
      <p:pic>
        <p:nvPicPr>
          <p:cNvPr id="1753" name="Google Shape;1753;p77"/>
          <p:cNvPicPr preferRelativeResize="0"/>
          <p:nvPr/>
        </p:nvPicPr>
        <p:blipFill rotWithShape="1">
          <a:blip r:embed="rId7">
            <a:alphaModFix/>
          </a:blip>
          <a:srcRect b="0" l="0" r="0" t="0"/>
          <a:stretch/>
        </p:blipFill>
        <p:spPr>
          <a:xfrm>
            <a:off x="370769" y="3792750"/>
            <a:ext cx="257402" cy="25740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78"/>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Datasets: Do’s and Don’ts</a:t>
            </a:r>
            <a:endParaRPr/>
          </a:p>
        </p:txBody>
      </p:sp>
      <p:sp>
        <p:nvSpPr>
          <p:cNvPr id="1760" name="Google Shape;1760;p7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761" name="Google Shape;1761;p7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762" name="Google Shape;1762;p78"/>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763" name="Google Shape;1763;p78"/>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 not use the same model for dataset generation and evaluation</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Verbosity bias (longer responses often rated higher without merit)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test only on polished examples, include typos unclear instructions if that resembles real user data</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 not rely on averages alone, check performance across subgroups to catch hidden failures </a:t>
            </a:r>
            <a:endParaRPr b="0" i="0" sz="1400" u="none" cap="none" strike="noStrike">
              <a:solidFill>
                <a:srgbClr val="000000"/>
              </a:solidFill>
              <a:latin typeface="Arial"/>
              <a:ea typeface="Arial"/>
              <a:cs typeface="Arial"/>
              <a:sym typeface="Arial"/>
            </a:endParaRPr>
          </a:p>
        </p:txBody>
      </p:sp>
      <p:sp>
        <p:nvSpPr>
          <p:cNvPr id="1764" name="Google Shape;1764;p78"/>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765" name="Google Shape;1765;p78"/>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Balanced representation of data (e.g. mix of most asked, and outlier questions)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Create distinct datasets for each feature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Use annotated golden truth data </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Cover requirements in your dataset (e.g. robust across language, domain)</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Optimize for cost &amp; latency by building safety into the system prompt (temperature set to 0)</a:t>
            </a:r>
            <a:endParaRPr b="0" i="0" sz="1400" u="none" cap="none" strike="noStrike">
              <a:solidFill>
                <a:srgbClr val="000000"/>
              </a:solidFill>
              <a:latin typeface="Arial"/>
              <a:ea typeface="Arial"/>
              <a:cs typeface="Arial"/>
              <a:sym typeface="Arial"/>
            </a:endParaRPr>
          </a:p>
        </p:txBody>
      </p:sp>
      <p:sp>
        <p:nvSpPr>
          <p:cNvPr id="1766" name="Google Shape;1766;p78"/>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767" name="Google Shape;1767;p78"/>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1768" name="Google Shape;1768;p78"/>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1769" name="Google Shape;1769;p78"/>
          <p:cNvPicPr preferRelativeResize="0"/>
          <p:nvPr/>
        </p:nvPicPr>
        <p:blipFill rotWithShape="1">
          <a:blip r:embed="rId5">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79"/>
          <p:cNvSpPr/>
          <p:nvPr/>
        </p:nvSpPr>
        <p:spPr>
          <a:xfrm>
            <a:off x="263525" y="1664804"/>
            <a:ext cx="11664949" cy="4500499"/>
          </a:xfrm>
          <a:custGeom>
            <a:rect b="b" l="l" r="r" t="t"/>
            <a:pathLst>
              <a:path extrusionOk="0" h="4500499" w="11664949">
                <a:moveTo>
                  <a:pt x="57920" y="0"/>
                </a:moveTo>
                <a:lnTo>
                  <a:pt x="758889" y="0"/>
                </a:lnTo>
                <a:lnTo>
                  <a:pt x="3287344" y="0"/>
                </a:lnTo>
                <a:lnTo>
                  <a:pt x="3746243" y="0"/>
                </a:lnTo>
                <a:lnTo>
                  <a:pt x="3746245" y="0"/>
                </a:lnTo>
                <a:lnTo>
                  <a:pt x="3988313" y="0"/>
                </a:lnTo>
                <a:lnTo>
                  <a:pt x="4447213" y="0"/>
                </a:lnTo>
                <a:lnTo>
                  <a:pt x="4447214" y="0"/>
                </a:lnTo>
                <a:lnTo>
                  <a:pt x="4689282" y="0"/>
                </a:lnTo>
                <a:lnTo>
                  <a:pt x="6975667" y="0"/>
                </a:lnTo>
                <a:lnTo>
                  <a:pt x="6975669" y="0"/>
                </a:lnTo>
                <a:lnTo>
                  <a:pt x="7217737" y="0"/>
                </a:lnTo>
                <a:lnTo>
                  <a:pt x="7676636" y="0"/>
                </a:lnTo>
                <a:lnTo>
                  <a:pt x="7676638" y="0"/>
                </a:lnTo>
                <a:lnTo>
                  <a:pt x="7918706" y="0"/>
                </a:lnTo>
                <a:lnTo>
                  <a:pt x="8377605" y="0"/>
                </a:lnTo>
                <a:lnTo>
                  <a:pt x="10906060" y="0"/>
                </a:lnTo>
                <a:lnTo>
                  <a:pt x="11607029" y="0"/>
                </a:lnTo>
                <a:cubicBezTo>
                  <a:pt x="11639017" y="0"/>
                  <a:pt x="11664949" y="25932"/>
                  <a:pt x="11664949" y="57920"/>
                </a:cubicBezTo>
                <a:lnTo>
                  <a:pt x="11664949" y="238349"/>
                </a:lnTo>
                <a:lnTo>
                  <a:pt x="11664949" y="1282303"/>
                </a:lnTo>
                <a:lnTo>
                  <a:pt x="11664949" y="1462732"/>
                </a:lnTo>
                <a:lnTo>
                  <a:pt x="11664949" y="3037767"/>
                </a:lnTo>
                <a:lnTo>
                  <a:pt x="11664949" y="3218196"/>
                </a:lnTo>
                <a:lnTo>
                  <a:pt x="11664949" y="4262150"/>
                </a:lnTo>
                <a:lnTo>
                  <a:pt x="11664949" y="4442579"/>
                </a:lnTo>
                <a:cubicBezTo>
                  <a:pt x="11664949" y="4474567"/>
                  <a:pt x="11639017" y="4500499"/>
                  <a:pt x="11607029" y="4500499"/>
                </a:cubicBezTo>
                <a:lnTo>
                  <a:pt x="10906060" y="4500499"/>
                </a:lnTo>
                <a:lnTo>
                  <a:pt x="8679936" y="4500499"/>
                </a:lnTo>
                <a:lnTo>
                  <a:pt x="8377605" y="4500499"/>
                </a:lnTo>
                <a:lnTo>
                  <a:pt x="7978967" y="4500499"/>
                </a:lnTo>
                <a:lnTo>
                  <a:pt x="7918706" y="4500499"/>
                </a:lnTo>
                <a:lnTo>
                  <a:pt x="7676636" y="4500499"/>
                </a:lnTo>
                <a:lnTo>
                  <a:pt x="7217737" y="4500499"/>
                </a:lnTo>
                <a:lnTo>
                  <a:pt x="6975667" y="4500499"/>
                </a:lnTo>
                <a:lnTo>
                  <a:pt x="5450512" y="4500499"/>
                </a:lnTo>
                <a:lnTo>
                  <a:pt x="4991613" y="4500499"/>
                </a:lnTo>
                <a:lnTo>
                  <a:pt x="4749543" y="4500499"/>
                </a:lnTo>
                <a:lnTo>
                  <a:pt x="4689282" y="4500499"/>
                </a:lnTo>
                <a:lnTo>
                  <a:pt x="4447213" y="4500499"/>
                </a:lnTo>
                <a:lnTo>
                  <a:pt x="4290644" y="4500499"/>
                </a:lnTo>
                <a:lnTo>
                  <a:pt x="3988313" y="4500499"/>
                </a:lnTo>
                <a:lnTo>
                  <a:pt x="3746243" y="4500499"/>
                </a:lnTo>
                <a:lnTo>
                  <a:pt x="3287344"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1776" name="Google Shape;1776;p7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Configuring an Experiment</a:t>
            </a:r>
            <a:endParaRPr/>
          </a:p>
        </p:txBody>
      </p:sp>
      <p:sp>
        <p:nvSpPr>
          <p:cNvPr id="1777" name="Google Shape;1777;p7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778" name="Google Shape;1778;p7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779" name="Google Shape;1779;p79"/>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descr="A screenshot of a computer&#10;&#10;AI-generated content may be incorrect." id="1780" name="Google Shape;1780;p79"/>
          <p:cNvPicPr preferRelativeResize="0"/>
          <p:nvPr/>
        </p:nvPicPr>
        <p:blipFill rotWithShape="1">
          <a:blip r:embed="rId3">
            <a:alphaModFix/>
          </a:blip>
          <a:srcRect b="0" l="0" r="0" t="0"/>
          <a:stretch/>
        </p:blipFill>
        <p:spPr>
          <a:xfrm>
            <a:off x="2646472" y="1848343"/>
            <a:ext cx="6899055" cy="4133420"/>
          </a:xfrm>
          <a:prstGeom prst="roundRect">
            <a:avLst>
              <a:gd fmla="val 2682" name="adj"/>
            </a:avLst>
          </a:prstGeom>
          <a:noFill/>
          <a:ln>
            <a:noFill/>
          </a:ln>
        </p:spPr>
      </p:pic>
      <p:pic>
        <p:nvPicPr>
          <p:cNvPr id="1781" name="Google Shape;1781;p79"/>
          <p:cNvPicPr preferRelativeResize="0"/>
          <p:nvPr/>
        </p:nvPicPr>
        <p:blipFill rotWithShape="1">
          <a:blip r:embed="rId4">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80"/>
          <p:cNvSpPr txBox="1"/>
          <p:nvPr>
            <p:ph type="title"/>
          </p:nvPr>
        </p:nvSpPr>
        <p:spPr>
          <a:xfrm>
            <a:off x="263525" y="512676"/>
            <a:ext cx="3529013" cy="86177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Configuring an Experiment </a:t>
            </a:r>
            <a:endParaRPr/>
          </a:p>
        </p:txBody>
      </p:sp>
      <p:sp>
        <p:nvSpPr>
          <p:cNvPr id="1788" name="Google Shape;1788;p8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789" name="Google Shape;1789;p8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790" name="Google Shape;1790;p80"/>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791" name="Google Shape;1791;p80"/>
          <p:cNvSpPr txBox="1"/>
          <p:nvPr/>
        </p:nvSpPr>
        <p:spPr>
          <a:xfrm>
            <a:off x="4979876" y="1027884"/>
            <a:ext cx="6264498" cy="4370427"/>
          </a:xfrm>
          <a:prstGeom prst="rect">
            <a:avLst/>
          </a:prstGeom>
          <a:no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Decide what you want to compare? (e.g. model, prompt, paramaters)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Select a Dataset and create an Experiment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Create the Prompt Columns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Select relevant Evaluators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Run single row test run to check if config is correct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Select relevant annotation queue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Run Experiment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Annotate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81"/>
          <p:cNvSpPr txBox="1"/>
          <p:nvPr>
            <p:ph type="title"/>
          </p:nvPr>
        </p:nvSpPr>
        <p:spPr>
          <a:xfrm>
            <a:off x="5519936" y="2047211"/>
            <a:ext cx="6408538" cy="276998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30 min to configure an Experiment</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0" name="Shape 1800"/>
        <p:cNvGrpSpPr/>
        <p:nvPr/>
      </p:nvGrpSpPr>
      <p:grpSpPr>
        <a:xfrm>
          <a:off x="0" y="0"/>
          <a:ext cx="0" cy="0"/>
          <a:chOff x="0" y="0"/>
          <a:chExt cx="0" cy="0"/>
        </a:xfrm>
      </p:grpSpPr>
      <p:sp>
        <p:nvSpPr>
          <p:cNvPr id="1801" name="Google Shape;1801;p82"/>
          <p:cNvSpPr txBox="1"/>
          <p:nvPr>
            <p:ph type="title"/>
          </p:nvPr>
        </p:nvSpPr>
        <p:spPr>
          <a:xfrm>
            <a:off x="5519936" y="2970540"/>
            <a:ext cx="6408538" cy="92333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Annotation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83"/>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Annotation: Do’s and Don’ts</a:t>
            </a:r>
            <a:endParaRPr/>
          </a:p>
        </p:txBody>
      </p:sp>
      <p:sp>
        <p:nvSpPr>
          <p:cNvPr id="1808" name="Google Shape;1808;p8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809" name="Google Shape;1809;p8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810" name="Google Shape;1810;p83"/>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811" name="Google Shape;1811;p83"/>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use vague subjective labels without anchors – Terms like "quality," "helpfulness," or "harmfulness" mean different things to different people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confuse capability vs alignment issue. </a:t>
            </a:r>
            <a:endParaRPr b="0" i="0" sz="1400" u="none" cap="none" strike="noStrike">
              <a:solidFill>
                <a:srgbClr val="000000"/>
              </a:solidFill>
              <a:latin typeface="Arial"/>
              <a:ea typeface="Arial"/>
              <a:cs typeface="Arial"/>
              <a:sym typeface="Arial"/>
            </a:endParaRPr>
          </a:p>
          <a:p>
            <a:pPr indent="-133350" lvl="2" marL="269875" marR="0" rtl="0" algn="l">
              <a:lnSpc>
                <a:spcPct val="100000"/>
              </a:lnSpc>
              <a:spcBef>
                <a:spcPts val="600"/>
              </a:spcBef>
              <a:spcAft>
                <a:spcPts val="0"/>
              </a:spcAft>
              <a:buClr>
                <a:schemeClr val="dk2"/>
              </a:buClr>
              <a:buSzPts val="1200"/>
              <a:buFont typeface="Avenir"/>
              <a:buChar char="–"/>
            </a:pPr>
            <a:r>
              <a:rPr b="0" i="0" lang="en-US" sz="1200" u="none" cap="none" strike="noStrike">
                <a:solidFill>
                  <a:schemeClr val="dk2"/>
                </a:solidFill>
                <a:latin typeface="Arial"/>
                <a:ea typeface="Arial"/>
                <a:cs typeface="Arial"/>
                <a:sym typeface="Arial"/>
              </a:rPr>
              <a:t>Capability issues produce incorrect attempts or confusion, alignment issues produce expl</a:t>
            </a:r>
            <a:endParaRPr b="0" i="0" sz="1200" u="none" cap="none" strike="noStrike">
              <a:solidFill>
                <a:schemeClr val="dk2"/>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penalize all refusals equally – Train annotators to distinguish appropriate refusals (unsafe requests, impossible tasks) from over-refusals where the model should have helped</a:t>
            </a:r>
            <a:endParaRPr b="0" i="0" sz="1400" u="none" cap="none" strike="noStrike">
              <a:solidFill>
                <a:srgbClr val="000000"/>
              </a:solidFill>
              <a:latin typeface="Arial"/>
              <a:ea typeface="Arial"/>
              <a:cs typeface="Arial"/>
              <a:sym typeface="Arial"/>
            </a:endParaRPr>
          </a:p>
        </p:txBody>
      </p:sp>
      <p:sp>
        <p:nvSpPr>
          <p:cNvPr id="1812" name="Google Shape;1812;p83"/>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813" name="Google Shape;1813;p83"/>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Binary annotation is easier than scales and leads to higher agreement and more reliable data </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Set-up fact checking protocol (“4 weeks” in output vs “6 weeks” in policy) for relevant features </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Define concrete, observable criteria. Instead of “helpful”, specify “answers question directly” and include examples for annotators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Rotate annotators and session length (45-60 min)</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Measure and maintain annotator agreement</a:t>
            </a:r>
            <a:endParaRPr b="0" i="0" sz="1400" u="none" cap="none" strike="noStrike">
              <a:solidFill>
                <a:srgbClr val="000000"/>
              </a:solidFill>
              <a:latin typeface="Arial"/>
              <a:ea typeface="Arial"/>
              <a:cs typeface="Arial"/>
              <a:sym typeface="Arial"/>
            </a:endParaRPr>
          </a:p>
        </p:txBody>
      </p:sp>
      <p:sp>
        <p:nvSpPr>
          <p:cNvPr id="1814" name="Google Shape;1814;p83"/>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815" name="Google Shape;1815;p83"/>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1816" name="Google Shape;1816;p83"/>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1817" name="Google Shape;1817;p83"/>
          <p:cNvPicPr preferRelativeResize="0"/>
          <p:nvPr/>
        </p:nvPicPr>
        <p:blipFill rotWithShape="1">
          <a:blip r:embed="rId5">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84"/>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20 min to Annotate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6" name="Shape 1826"/>
        <p:cNvGrpSpPr/>
        <p:nvPr/>
      </p:nvGrpSpPr>
      <p:grpSpPr>
        <a:xfrm>
          <a:off x="0" y="0"/>
          <a:ext cx="0" cy="0"/>
          <a:chOff x="0" y="0"/>
          <a:chExt cx="0" cy="0"/>
        </a:xfrm>
      </p:grpSpPr>
      <p:sp>
        <p:nvSpPr>
          <p:cNvPr id="1827" name="Google Shape;1827;p85"/>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How to interpret an Experiment?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86"/>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4: Deploy</a:t>
            </a:r>
            <a:endParaRPr/>
          </a:p>
        </p:txBody>
      </p:sp>
      <p:sp>
        <p:nvSpPr>
          <p:cNvPr id="1834" name="Google Shape;1834;p8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1835" name="Google Shape;1835;p8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836" name="Google Shape;1836;p8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837" name="Google Shape;1837;p86"/>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1838" name="Google Shape;1838;p86"/>
          <p:cNvGrpSpPr/>
          <p:nvPr/>
        </p:nvGrpSpPr>
        <p:grpSpPr>
          <a:xfrm>
            <a:off x="263352" y="3719207"/>
            <a:ext cx="11665296" cy="404488"/>
            <a:chOff x="385750" y="3723383"/>
            <a:chExt cx="11420499" cy="396000"/>
          </a:xfrm>
        </p:grpSpPr>
        <p:sp>
          <p:nvSpPr>
            <p:cNvPr id="1839" name="Google Shape;1839;p86"/>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40" name="Google Shape;1840;p86"/>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841" name="Google Shape;1841;p86"/>
            <p:cNvCxnSpPr>
              <a:stCxn id="1840" idx="0"/>
              <a:endCxn id="1839"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1842" name="Google Shape;1842;p86"/>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1843" name="Google Shape;1843;p86"/>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1844" name="Google Shape;1844;p86"/>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200" u="none" cap="none" strike="noStrike">
                <a:solidFill>
                  <a:schemeClr val="dk1"/>
                </a:solidFill>
                <a:latin typeface="Arial"/>
                <a:ea typeface="Arial"/>
                <a:cs typeface="Arial"/>
                <a:sym typeface="Arial"/>
              </a:endParaRPr>
            </a:p>
          </p:txBody>
        </p:sp>
        <p:sp>
          <p:nvSpPr>
            <p:cNvPr id="1845" name="Google Shape;1845;p86"/>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1846" name="Google Shape;1846;p86"/>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1847" name="Google Shape;1847;p86"/>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1848" name="Google Shape;1848;p86"/>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1849" name="Google Shape;1849;p86"/>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1850" name="Google Shape;1850;p86"/>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1851" name="Google Shape;1851;p86"/>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sp>
        <p:nvSpPr>
          <p:cNvPr id="1857" name="Google Shape;1857;p8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Deploy: Delivering GenAI safely and reliably</a:t>
            </a:r>
            <a:endParaRPr/>
          </a:p>
        </p:txBody>
      </p:sp>
      <p:sp>
        <p:nvSpPr>
          <p:cNvPr id="1858" name="Google Shape;1858;p8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859" name="Google Shape;1859;p8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860" name="Google Shape;1860;p87"/>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861" name="Google Shape;1861;p87"/>
          <p:cNvSpPr/>
          <p:nvPr/>
        </p:nvSpPr>
        <p:spPr>
          <a:xfrm>
            <a:off x="263351" y="2287916"/>
            <a:ext cx="11665123" cy="801321"/>
          </a:xfrm>
          <a:prstGeom prst="roundRect">
            <a:avLst>
              <a:gd fmla="val 560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Canary release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Roll out updates to a small group first to monitor quality and minimize risk</a:t>
            </a:r>
            <a:endParaRPr b="0" i="0" sz="1400" u="none" cap="none" strike="noStrike">
              <a:solidFill>
                <a:srgbClr val="000000"/>
              </a:solidFill>
              <a:latin typeface="Arial"/>
              <a:ea typeface="Arial"/>
              <a:cs typeface="Arial"/>
              <a:sym typeface="Arial"/>
            </a:endParaRPr>
          </a:p>
        </p:txBody>
      </p:sp>
      <p:sp>
        <p:nvSpPr>
          <p:cNvPr id="1862" name="Google Shape;1862;p87"/>
          <p:cNvSpPr/>
          <p:nvPr/>
        </p:nvSpPr>
        <p:spPr>
          <a:xfrm>
            <a:off x="263351" y="3316349"/>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Fallback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Activate backup models automatically when performance drops or fails</a:t>
            </a:r>
            <a:endParaRPr b="0" i="0" sz="1400" u="none" cap="none" strike="noStrike">
              <a:solidFill>
                <a:srgbClr val="000000"/>
              </a:solidFill>
              <a:latin typeface="Arial"/>
              <a:ea typeface="Arial"/>
              <a:cs typeface="Arial"/>
              <a:sym typeface="Arial"/>
            </a:endParaRPr>
          </a:p>
        </p:txBody>
      </p:sp>
      <p:sp>
        <p:nvSpPr>
          <p:cNvPr id="1863" name="Google Shape;1863;p87"/>
          <p:cNvSpPr/>
          <p:nvPr/>
        </p:nvSpPr>
        <p:spPr>
          <a:xfrm>
            <a:off x="263351" y="4344782"/>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Version 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Track and manage model and prompt versions for consistent, recoverable releases</a:t>
            </a:r>
            <a:endParaRPr b="0" i="0" sz="1400" u="none" cap="none" strike="noStrike">
              <a:solidFill>
                <a:srgbClr val="000000"/>
              </a:solidFill>
              <a:latin typeface="Arial"/>
              <a:ea typeface="Arial"/>
              <a:cs typeface="Arial"/>
              <a:sym typeface="Arial"/>
            </a:endParaRPr>
          </a:p>
        </p:txBody>
      </p:sp>
      <p:sp>
        <p:nvSpPr>
          <p:cNvPr id="1864" name="Google Shape;1864;p87"/>
          <p:cNvSpPr/>
          <p:nvPr/>
        </p:nvSpPr>
        <p:spPr>
          <a:xfrm>
            <a:off x="263351" y="5373216"/>
            <a:ext cx="11665123"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Responsible:</a:t>
            </a:r>
            <a:endParaRPr b="0" i="0" sz="1400" u="none" cap="none" strike="noStrike">
              <a:solidFill>
                <a:srgbClr val="000000"/>
              </a:solidFill>
              <a:latin typeface="Arial"/>
              <a:ea typeface="Arial"/>
              <a:cs typeface="Arial"/>
              <a:sym typeface="Arial"/>
            </a:endParaRPr>
          </a:p>
        </p:txBody>
      </p:sp>
      <p:sp>
        <p:nvSpPr>
          <p:cNvPr id="1865" name="Google Shape;1865;p87"/>
          <p:cNvSpPr/>
          <p:nvPr/>
        </p:nvSpPr>
        <p:spPr>
          <a:xfrm>
            <a:off x="1595500" y="5654695"/>
            <a:ext cx="1558945" cy="272415"/>
          </a:xfrm>
          <a:prstGeom prst="roundRect">
            <a:avLst>
              <a:gd fmla="val 16667" name="adj"/>
            </a:avLst>
          </a:prstGeom>
          <a:solidFill>
            <a:schemeClr val="l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DevOps Engineers</a:t>
            </a:r>
            <a:endParaRPr b="0" i="0" sz="1400" u="none" cap="none" strike="noStrike">
              <a:solidFill>
                <a:srgbClr val="000000"/>
              </a:solidFill>
              <a:latin typeface="Arial"/>
              <a:ea typeface="Arial"/>
              <a:cs typeface="Arial"/>
              <a:sym typeface="Arial"/>
            </a:endParaRPr>
          </a:p>
        </p:txBody>
      </p:sp>
      <p:pic>
        <p:nvPicPr>
          <p:cNvPr id="1866" name="Google Shape;1866;p87"/>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grpSp>
        <p:nvGrpSpPr>
          <p:cNvPr id="1867" name="Google Shape;1867;p87"/>
          <p:cNvGrpSpPr/>
          <p:nvPr/>
        </p:nvGrpSpPr>
        <p:grpSpPr>
          <a:xfrm>
            <a:off x="263352" y="1664804"/>
            <a:ext cx="2033005" cy="404488"/>
            <a:chOff x="7487570" y="3719207"/>
            <a:chExt cx="2033005" cy="404488"/>
          </a:xfrm>
        </p:grpSpPr>
        <p:sp>
          <p:nvSpPr>
            <p:cNvPr id="1868" name="Google Shape;1868;p87"/>
            <p:cNvSpPr/>
            <p:nvPr/>
          </p:nvSpPr>
          <p:spPr>
            <a:xfrm>
              <a:off x="7487570"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pic>
          <p:nvPicPr>
            <p:cNvPr id="1869" name="Google Shape;1869;p87"/>
            <p:cNvPicPr preferRelativeResize="0"/>
            <p:nvPr/>
          </p:nvPicPr>
          <p:blipFill rotWithShape="1">
            <a:blip r:embed="rId4">
              <a:alphaModFix/>
            </a:blip>
            <a:srcRect b="0" l="0" r="0" t="0"/>
            <a:stretch/>
          </p:blipFill>
          <p:spPr>
            <a:xfrm>
              <a:off x="7615968" y="3792750"/>
              <a:ext cx="257402" cy="257401"/>
            </a:xfrm>
            <a:prstGeom prst="rect">
              <a:avLst/>
            </a:prstGeom>
            <a:noFill/>
            <a:ln>
              <a:noFill/>
            </a:ln>
          </p:spPr>
        </p:pic>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88"/>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Deploy: Do’s and Don’ts</a:t>
            </a:r>
            <a:endParaRPr/>
          </a:p>
        </p:txBody>
      </p:sp>
      <p:sp>
        <p:nvSpPr>
          <p:cNvPr id="1876" name="Google Shape;1876;p8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877" name="Google Shape;1877;p8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878" name="Google Shape;1878;p88"/>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879" name="Google Shape;1879;p88"/>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push untested models straight to production</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deploy to all users without prior testing or monitoring</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deploy without monitoring or alerting in place</a:t>
            </a:r>
            <a:endParaRPr b="0" i="0" sz="1400" u="none" cap="none" strike="noStrike">
              <a:solidFill>
                <a:srgbClr val="000000"/>
              </a:solidFill>
              <a:latin typeface="Arial"/>
              <a:ea typeface="Arial"/>
              <a:cs typeface="Arial"/>
              <a:sym typeface="Arial"/>
            </a:endParaRPr>
          </a:p>
        </p:txBody>
      </p:sp>
      <p:sp>
        <p:nvSpPr>
          <p:cNvPr id="1880" name="Google Shape;1880;p88"/>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881" name="Google Shape;1881;p88"/>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Validate model outputs with real user data before scaling</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Test releases gradually with canary deployments before full rollout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Include observability from day one; logs, metrics, alerts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Maintain fallback models to ensure uptime during failures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Always have a rollback plan for failed updates</a:t>
            </a:r>
            <a:endParaRPr b="0" i="0" sz="1400" u="none" cap="none" strike="noStrike">
              <a:solidFill>
                <a:srgbClr val="000000"/>
              </a:solidFill>
              <a:latin typeface="Arial"/>
              <a:ea typeface="Arial"/>
              <a:cs typeface="Arial"/>
              <a:sym typeface="Arial"/>
            </a:endParaRPr>
          </a:p>
        </p:txBody>
      </p:sp>
      <p:sp>
        <p:nvSpPr>
          <p:cNvPr id="1882" name="Google Shape;1882;p88"/>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883" name="Google Shape;1883;p88"/>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1884" name="Google Shape;1884;p88"/>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1885" name="Google Shape;1885;p88"/>
          <p:cNvPicPr preferRelativeResize="0"/>
          <p:nvPr/>
        </p:nvPicPr>
        <p:blipFill rotWithShape="1">
          <a:blip r:embed="rId5">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89"/>
          <p:cNvSpPr/>
          <p:nvPr/>
        </p:nvSpPr>
        <p:spPr>
          <a:xfrm>
            <a:off x="4655840" y="260350"/>
            <a:ext cx="7272808" cy="5905500"/>
          </a:xfrm>
          <a:custGeom>
            <a:rect b="b" l="l" r="r" t="t"/>
            <a:pathLst>
              <a:path extrusionOk="0" h="5905500" w="7272808">
                <a:moveTo>
                  <a:pt x="87815" y="0"/>
                </a:moveTo>
                <a:lnTo>
                  <a:pt x="1289875" y="0"/>
                </a:lnTo>
                <a:lnTo>
                  <a:pt x="5982933" y="0"/>
                </a:lnTo>
                <a:lnTo>
                  <a:pt x="7184993" y="0"/>
                </a:lnTo>
                <a:cubicBezTo>
                  <a:pt x="7233492" y="0"/>
                  <a:pt x="7272808" y="39316"/>
                  <a:pt x="7272808" y="87815"/>
                </a:cubicBezTo>
                <a:lnTo>
                  <a:pt x="7272808" y="5817685"/>
                </a:lnTo>
                <a:cubicBezTo>
                  <a:pt x="7272808" y="5866184"/>
                  <a:pt x="7233492" y="5905500"/>
                  <a:pt x="7184993" y="5905500"/>
                </a:cubicBezTo>
                <a:lnTo>
                  <a:pt x="5982933" y="5905500"/>
                </a:lnTo>
                <a:lnTo>
                  <a:pt x="1289875" y="5905500"/>
                </a:lnTo>
                <a:lnTo>
                  <a:pt x="87815" y="5905500"/>
                </a:lnTo>
                <a:cubicBezTo>
                  <a:pt x="39316" y="5905500"/>
                  <a:pt x="0" y="5866184"/>
                  <a:pt x="0" y="5817685"/>
                </a:cubicBezTo>
                <a:lnTo>
                  <a:pt x="0" y="87815"/>
                </a:lnTo>
                <a:cubicBezTo>
                  <a:pt x="0" y="39316"/>
                  <a:pt x="39316" y="0"/>
                  <a:pt x="87815" y="0"/>
                </a:cubicBezTo>
                <a:close/>
              </a:path>
            </a:pathLst>
          </a:custGeom>
          <a:solidFill>
            <a:srgbClr val="F4F5F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2" name="Google Shape;1892;p8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893" name="Google Shape;1893;p8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1894" name="Google Shape;1894;p89"/>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895" name="Google Shape;1895;p89"/>
          <p:cNvSpPr txBox="1"/>
          <p:nvPr/>
        </p:nvSpPr>
        <p:spPr>
          <a:xfrm>
            <a:off x="263525" y="1016732"/>
            <a:ext cx="3529013" cy="21544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br>
              <a:rPr b="0" i="0" lang="en-US" sz="2800" u="none" cap="none" strike="noStrike">
                <a:solidFill>
                  <a:schemeClr val="dk1"/>
                </a:solidFill>
                <a:latin typeface="Arial"/>
                <a:ea typeface="Arial"/>
                <a:cs typeface="Arial"/>
                <a:sym typeface="Arial"/>
              </a:rPr>
            </a:b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Set-up the routing engine for the right deployment </a:t>
            </a:r>
            <a:endParaRPr b="0" i="0" sz="1400" u="none" cap="none" strike="noStrike">
              <a:solidFill>
                <a:srgbClr val="000000"/>
              </a:solidFill>
              <a:latin typeface="Arial"/>
              <a:ea typeface="Arial"/>
              <a:cs typeface="Arial"/>
              <a:sym typeface="Arial"/>
            </a:endParaRPr>
          </a:p>
        </p:txBody>
      </p:sp>
      <p:sp>
        <p:nvSpPr>
          <p:cNvPr id="1896" name="Google Shape;1896;p89"/>
          <p:cNvSpPr/>
          <p:nvPr/>
        </p:nvSpPr>
        <p:spPr>
          <a:xfrm>
            <a:off x="263525" y="1016732"/>
            <a:ext cx="504000" cy="504000"/>
          </a:xfrm>
          <a:prstGeom prst="roundRect">
            <a:avLst>
              <a:gd fmla="val 8775" name="adj"/>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lt1"/>
              </a:solidFill>
              <a:latin typeface="Arial"/>
              <a:ea typeface="Arial"/>
              <a:cs typeface="Arial"/>
              <a:sym typeface="Arial"/>
            </a:endParaRPr>
          </a:p>
        </p:txBody>
      </p:sp>
      <p:pic>
        <p:nvPicPr>
          <p:cNvPr id="1897" name="Google Shape;1897;p89"/>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pic>
        <p:nvPicPr>
          <p:cNvPr id="1898" name="Google Shape;1898;p89"/>
          <p:cNvPicPr preferRelativeResize="0"/>
          <p:nvPr/>
        </p:nvPicPr>
        <p:blipFill rotWithShape="1">
          <a:blip r:embed="rId4">
            <a:alphaModFix/>
          </a:blip>
          <a:srcRect b="415" l="357" r="0" t="415"/>
          <a:stretch/>
        </p:blipFill>
        <p:spPr>
          <a:xfrm>
            <a:off x="4835401" y="440668"/>
            <a:ext cx="6913688" cy="1871618"/>
          </a:xfrm>
          <a:prstGeom prst="roundRect">
            <a:avLst>
              <a:gd fmla="val 1745" name="adj"/>
            </a:avLst>
          </a:prstGeom>
          <a:solidFill>
            <a:schemeClr val="lt1"/>
          </a:solidFill>
          <a:ln cap="flat" cmpd="sng" w="9525">
            <a:solidFill>
              <a:srgbClr val="E7E7E7"/>
            </a:solidFill>
            <a:prstDash val="solid"/>
            <a:round/>
            <a:headEnd len="sm" w="sm" type="none"/>
            <a:tailEnd len="sm" w="sm" type="none"/>
          </a:ln>
        </p:spPr>
      </p:pic>
      <p:pic>
        <p:nvPicPr>
          <p:cNvPr id="1899" name="Google Shape;1899;p89"/>
          <p:cNvPicPr preferRelativeResize="0"/>
          <p:nvPr/>
        </p:nvPicPr>
        <p:blipFill rotWithShape="1">
          <a:blip r:embed="rId5">
            <a:alphaModFix/>
          </a:blip>
          <a:srcRect b="811" l="-4103" r="-4103" t="0"/>
          <a:stretch/>
        </p:blipFill>
        <p:spPr>
          <a:xfrm>
            <a:off x="9219193" y="1412875"/>
            <a:ext cx="2313411" cy="4049828"/>
          </a:xfrm>
          <a:prstGeom prst="roundRect">
            <a:avLst>
              <a:gd fmla="val 1745" name="adj"/>
            </a:avLst>
          </a:prstGeom>
          <a:solidFill>
            <a:schemeClr val="lt1"/>
          </a:solidFill>
          <a:ln cap="flat" cmpd="sng" w="9525">
            <a:solidFill>
              <a:srgbClr val="E7E7E7"/>
            </a:solidFill>
            <a:prstDash val="solid"/>
            <a:round/>
            <a:headEnd len="sm" w="sm" type="none"/>
            <a:tailEnd len="sm" w="sm" type="none"/>
          </a:ln>
        </p:spPr>
      </p:pic>
      <p:sp>
        <p:nvSpPr>
          <p:cNvPr id="1900" name="Google Shape;1900;p89"/>
          <p:cNvSpPr txBox="1"/>
          <p:nvPr/>
        </p:nvSpPr>
        <p:spPr>
          <a:xfrm>
            <a:off x="263525" y="3537012"/>
            <a:ext cx="3529013" cy="1000274"/>
          </a:xfrm>
          <a:prstGeom prst="rect">
            <a:avLst/>
          </a:prstGeom>
          <a:noFill/>
          <a:ln>
            <a:noFill/>
          </a:ln>
        </p:spPr>
        <p:txBody>
          <a:bodyPr anchorCtr="0" anchor="t" bIns="0" lIns="0" spcFirstLastPara="1" rIns="0" wrap="square" tIns="0">
            <a:spAutoFit/>
          </a:bodyPr>
          <a:lstStyle/>
          <a:p>
            <a:pPr indent="-128588" lvl="1" marL="128588" marR="0" rtl="0" algn="l">
              <a:lnSpc>
                <a:spcPct val="100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Create custom deployment routes per model or LLM variant</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Configure smart release schemes based on key variables (e.g. user group, product group, country, cost)</a:t>
            </a:r>
            <a:endParaRPr b="0" i="0" sz="1400" u="none" cap="none" strike="noStrike">
              <a:solidFill>
                <a:srgbClr val="000000"/>
              </a:solidFill>
              <a:latin typeface="Arial"/>
              <a:ea typeface="Arial"/>
              <a:cs typeface="Arial"/>
              <a:sym typeface="Arial"/>
            </a:endParaRPr>
          </a:p>
        </p:txBody>
      </p:sp>
      <p:pic>
        <p:nvPicPr>
          <p:cNvPr id="1901" name="Google Shape;1901;p89"/>
          <p:cNvPicPr preferRelativeResize="0"/>
          <p:nvPr/>
        </p:nvPicPr>
        <p:blipFill rotWithShape="1">
          <a:blip r:embed="rId6">
            <a:alphaModFix/>
          </a:blip>
          <a:srcRect b="0" l="0" r="0" t="0"/>
          <a:stretch/>
        </p:blipFill>
        <p:spPr>
          <a:xfrm>
            <a:off x="389525" y="1142732"/>
            <a:ext cx="252000" cy="2520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6" name="Shape 1906"/>
        <p:cNvGrpSpPr/>
        <p:nvPr/>
      </p:nvGrpSpPr>
      <p:grpSpPr>
        <a:xfrm>
          <a:off x="0" y="0"/>
          <a:ext cx="0" cy="0"/>
          <a:chOff x="0" y="0"/>
          <a:chExt cx="0" cy="0"/>
        </a:xfrm>
      </p:grpSpPr>
      <p:sp>
        <p:nvSpPr>
          <p:cNvPr id="1907" name="Google Shape;1907;p90"/>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1908" name="Google Shape;1908;p90"/>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1909" name="Google Shape;1909;p90"/>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Make sure you test the deployment</a:t>
            </a:r>
            <a:endParaRPr/>
          </a:p>
        </p:txBody>
      </p:sp>
      <p:sp>
        <p:nvSpPr>
          <p:cNvPr id="1910" name="Google Shape;1910;p9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911" name="Google Shape;1911;p9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912" name="Google Shape;1912;p9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913" name="Google Shape;1913;p90"/>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pic>
        <p:nvPicPr>
          <p:cNvPr id="1914" name="Google Shape;1914;p90" title="Screenshot 2025-09-01 at 15.02.05.png"/>
          <p:cNvPicPr preferRelativeResize="0"/>
          <p:nvPr/>
        </p:nvPicPr>
        <p:blipFill rotWithShape="1">
          <a:blip r:embed="rId4">
            <a:alphaModFix/>
          </a:blip>
          <a:srcRect b="0" l="0" r="0" t="0"/>
          <a:stretch/>
        </p:blipFill>
        <p:spPr>
          <a:xfrm>
            <a:off x="5216840" y="1844674"/>
            <a:ext cx="4987741" cy="4140201"/>
          </a:xfrm>
          <a:prstGeom prst="roundRect">
            <a:avLst>
              <a:gd fmla="val 2682" name="adj"/>
            </a:avLst>
          </a:prstGeom>
          <a:noFill/>
          <a:ln>
            <a:noFill/>
          </a:ln>
        </p:spPr>
      </p:pic>
      <p:pic>
        <p:nvPicPr>
          <p:cNvPr id="1915" name="Google Shape;1915;p90"/>
          <p:cNvPicPr preferRelativeResize="0"/>
          <p:nvPr/>
        </p:nvPicPr>
        <p:blipFill rotWithShape="1">
          <a:blip r:embed="rId5">
            <a:alphaModFix/>
          </a:blip>
          <a:srcRect b="0" l="0" r="0" t="0"/>
          <a:stretch/>
        </p:blipFill>
        <p:spPr>
          <a:xfrm>
            <a:off x="444386" y="1844674"/>
            <a:ext cx="2686726" cy="4140201"/>
          </a:xfrm>
          <a:prstGeom prst="roundRect">
            <a:avLst>
              <a:gd fmla="val 2682" name="adj"/>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Google Shape;1921;p9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5: Operate</a:t>
            </a:r>
            <a:endParaRPr/>
          </a:p>
        </p:txBody>
      </p:sp>
      <p:sp>
        <p:nvSpPr>
          <p:cNvPr id="1922" name="Google Shape;1922;p91"/>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1923" name="Google Shape;1923;p9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924" name="Google Shape;1924;p9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925" name="Google Shape;1925;p91"/>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1926" name="Google Shape;1926;p91"/>
          <p:cNvGrpSpPr/>
          <p:nvPr/>
        </p:nvGrpSpPr>
        <p:grpSpPr>
          <a:xfrm>
            <a:off x="263352" y="3719207"/>
            <a:ext cx="11665296" cy="404488"/>
            <a:chOff x="385750" y="3723383"/>
            <a:chExt cx="11420499" cy="396000"/>
          </a:xfrm>
        </p:grpSpPr>
        <p:sp>
          <p:nvSpPr>
            <p:cNvPr id="1927" name="Google Shape;1927;p91"/>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928" name="Google Shape;1928;p91"/>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1929" name="Google Shape;1929;p91"/>
            <p:cNvCxnSpPr>
              <a:stCxn id="1928" idx="0"/>
              <a:endCxn id="1927"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1930" name="Google Shape;1930;p91"/>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1931" name="Google Shape;1931;p91"/>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1932" name="Google Shape;1932;p91"/>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200" u="none" cap="none" strike="noStrike">
                <a:solidFill>
                  <a:schemeClr val="dk1"/>
                </a:solidFill>
                <a:latin typeface="Arial"/>
                <a:ea typeface="Arial"/>
                <a:cs typeface="Arial"/>
                <a:sym typeface="Arial"/>
              </a:endParaRPr>
            </a:p>
          </p:txBody>
        </p:sp>
        <p:sp>
          <p:nvSpPr>
            <p:cNvPr id="1933" name="Google Shape;1933;p91"/>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200" u="none" cap="none" strike="noStrike">
                <a:solidFill>
                  <a:schemeClr val="dk1"/>
                </a:solidFill>
                <a:latin typeface="Arial"/>
                <a:ea typeface="Arial"/>
                <a:cs typeface="Arial"/>
                <a:sym typeface="Arial"/>
              </a:endParaRPr>
            </a:p>
          </p:txBody>
        </p:sp>
        <p:sp>
          <p:nvSpPr>
            <p:cNvPr id="1934" name="Google Shape;1934;p91"/>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1935" name="Google Shape;1935;p91"/>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1936" name="Google Shape;1936;p91"/>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1937" name="Google Shape;1937;p91"/>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1938" name="Google Shape;1938;p91"/>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1939" name="Google Shape;1939;p91"/>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9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Operate: Continuously improving GenAI in production</a:t>
            </a:r>
            <a:endParaRPr/>
          </a:p>
        </p:txBody>
      </p:sp>
      <p:sp>
        <p:nvSpPr>
          <p:cNvPr id="1946" name="Google Shape;1946;p9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947" name="Google Shape;1947;p9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948" name="Google Shape;1948;p92"/>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949" name="Google Shape;1949;p92"/>
          <p:cNvSpPr/>
          <p:nvPr/>
        </p:nvSpPr>
        <p:spPr>
          <a:xfrm>
            <a:off x="263351" y="2287916"/>
            <a:ext cx="11665123" cy="801321"/>
          </a:xfrm>
          <a:prstGeom prst="roundRect">
            <a:avLst>
              <a:gd fmla="val 560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Monitor feedback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Track agent ROI, user interactions and flag issues to improve reliability and trust</a:t>
            </a:r>
            <a:endParaRPr b="0" i="0" sz="1400" u="none" cap="none" strike="noStrike">
              <a:solidFill>
                <a:srgbClr val="000000"/>
              </a:solidFill>
              <a:latin typeface="Arial"/>
              <a:ea typeface="Arial"/>
              <a:cs typeface="Arial"/>
              <a:sym typeface="Arial"/>
            </a:endParaRPr>
          </a:p>
        </p:txBody>
      </p:sp>
      <p:sp>
        <p:nvSpPr>
          <p:cNvPr id="1950" name="Google Shape;1950;p92"/>
          <p:cNvSpPr/>
          <p:nvPr/>
        </p:nvSpPr>
        <p:spPr>
          <a:xfrm>
            <a:off x="263351" y="3316349"/>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Refine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Retrain or adjust prompts and parameters based on performance data</a:t>
            </a:r>
            <a:endParaRPr b="0" i="0" sz="1400" u="none" cap="none" strike="noStrike">
              <a:solidFill>
                <a:srgbClr val="000000"/>
              </a:solidFill>
              <a:latin typeface="Arial"/>
              <a:ea typeface="Arial"/>
              <a:cs typeface="Arial"/>
              <a:sym typeface="Arial"/>
            </a:endParaRPr>
          </a:p>
        </p:txBody>
      </p:sp>
      <p:sp>
        <p:nvSpPr>
          <p:cNvPr id="1951" name="Google Shape;1951;p92"/>
          <p:cNvSpPr/>
          <p:nvPr/>
        </p:nvSpPr>
        <p:spPr>
          <a:xfrm>
            <a:off x="263351" y="4344782"/>
            <a:ext cx="11665123" cy="801321"/>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Track evals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Continuously measure model accuracy, quality, and compliance post-deployment</a:t>
            </a:r>
            <a:endParaRPr b="0" i="0" sz="1400" u="none" cap="none" strike="noStrike">
              <a:solidFill>
                <a:srgbClr val="000000"/>
              </a:solidFill>
              <a:latin typeface="Arial"/>
              <a:ea typeface="Arial"/>
              <a:cs typeface="Arial"/>
              <a:sym typeface="Arial"/>
            </a:endParaRPr>
          </a:p>
        </p:txBody>
      </p:sp>
      <p:sp>
        <p:nvSpPr>
          <p:cNvPr id="1952" name="Google Shape;1952;p92"/>
          <p:cNvSpPr/>
          <p:nvPr/>
        </p:nvSpPr>
        <p:spPr>
          <a:xfrm>
            <a:off x="263351" y="5373216"/>
            <a:ext cx="11665123" cy="801321"/>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Responsible:</a:t>
            </a:r>
            <a:endParaRPr b="0" i="0" sz="1400" u="none" cap="none" strike="noStrike">
              <a:solidFill>
                <a:srgbClr val="000000"/>
              </a:solidFill>
              <a:latin typeface="Arial"/>
              <a:ea typeface="Arial"/>
              <a:cs typeface="Arial"/>
              <a:sym typeface="Arial"/>
            </a:endParaRPr>
          </a:p>
        </p:txBody>
      </p:sp>
      <p:grpSp>
        <p:nvGrpSpPr>
          <p:cNvPr id="1953" name="Google Shape;1953;p92"/>
          <p:cNvGrpSpPr/>
          <p:nvPr/>
        </p:nvGrpSpPr>
        <p:grpSpPr>
          <a:xfrm>
            <a:off x="263352" y="1664804"/>
            <a:ext cx="2033005" cy="404488"/>
            <a:chOff x="9895643" y="3719207"/>
            <a:chExt cx="2033005" cy="404488"/>
          </a:xfrm>
        </p:grpSpPr>
        <p:sp>
          <p:nvSpPr>
            <p:cNvPr id="1954" name="Google Shape;1954;p92"/>
            <p:cNvSpPr/>
            <p:nvPr/>
          </p:nvSpPr>
          <p:spPr>
            <a:xfrm>
              <a:off x="9895643" y="3719207"/>
              <a:ext cx="2033005" cy="404488"/>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1955" name="Google Shape;1955;p92"/>
            <p:cNvPicPr preferRelativeResize="0"/>
            <p:nvPr/>
          </p:nvPicPr>
          <p:blipFill rotWithShape="1">
            <a:blip r:embed="rId3">
              <a:alphaModFix/>
            </a:blip>
            <a:srcRect b="0" l="0" r="0" t="0"/>
            <a:stretch/>
          </p:blipFill>
          <p:spPr>
            <a:xfrm>
              <a:off x="10031033" y="3792750"/>
              <a:ext cx="257402" cy="257401"/>
            </a:xfrm>
            <a:prstGeom prst="rect">
              <a:avLst/>
            </a:prstGeom>
            <a:noFill/>
            <a:ln>
              <a:noFill/>
            </a:ln>
          </p:spPr>
        </p:pic>
      </p:grpSp>
      <p:pic>
        <p:nvPicPr>
          <p:cNvPr id="1956" name="Google Shape;1956;p92"/>
          <p:cNvPicPr preferRelativeResize="0"/>
          <p:nvPr/>
        </p:nvPicPr>
        <p:blipFill rotWithShape="1">
          <a:blip r:embed="rId4">
            <a:alphaModFix/>
          </a:blip>
          <a:srcRect b="0" l="0" r="0" t="0"/>
          <a:stretch/>
        </p:blipFill>
        <p:spPr>
          <a:xfrm>
            <a:off x="266700" y="260350"/>
            <a:ext cx="3946030" cy="216000"/>
          </a:xfrm>
          <a:prstGeom prst="rect">
            <a:avLst/>
          </a:prstGeom>
          <a:noFill/>
          <a:ln>
            <a:noFill/>
          </a:ln>
        </p:spPr>
      </p:pic>
      <p:sp>
        <p:nvSpPr>
          <p:cNvPr id="1957" name="Google Shape;1957;p92"/>
          <p:cNvSpPr/>
          <p:nvPr/>
        </p:nvSpPr>
        <p:spPr>
          <a:xfrm>
            <a:off x="1595500" y="5654695"/>
            <a:ext cx="1473165" cy="272415"/>
          </a:xfrm>
          <a:prstGeom prst="roundRect">
            <a:avLst>
              <a:gd fmla="val 16667" name="adj"/>
            </a:avLst>
          </a:prstGeom>
          <a:solidFill>
            <a:schemeClr val="l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1958" name="Google Shape;1958;p92"/>
          <p:cNvSpPr/>
          <p:nvPr/>
        </p:nvSpPr>
        <p:spPr>
          <a:xfrm>
            <a:off x="3257292" y="5654695"/>
            <a:ext cx="1987849" cy="272415"/>
          </a:xfrm>
          <a:prstGeom prst="roundRect">
            <a:avLst>
              <a:gd fmla="val 16667" name="adj"/>
            </a:avLst>
          </a:prstGeom>
          <a:solidFill>
            <a:schemeClr val="lt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93"/>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Operate: Do’s and Don’ts</a:t>
            </a:r>
            <a:endParaRPr/>
          </a:p>
        </p:txBody>
      </p:sp>
      <p:sp>
        <p:nvSpPr>
          <p:cNvPr id="1965" name="Google Shape;1965;p9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966" name="Google Shape;1966;p9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967" name="Google Shape;1967;p93"/>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1968" name="Google Shape;1968;p93"/>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treat deployment as the finish line, optimization is continuously iterative process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Look critically at prompt, a larger prompt does not always mean better performance </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Not perform any human labour, in the beginning somebody needs to go through the logs and traces to monitor performance</a:t>
            </a:r>
            <a:endParaRPr b="0" i="0" sz="1400" u="none" cap="none" strike="noStrike">
              <a:solidFill>
                <a:srgbClr val="000000"/>
              </a:solidFill>
              <a:latin typeface="Arial"/>
              <a:ea typeface="Arial"/>
              <a:cs typeface="Arial"/>
              <a:sym typeface="Arial"/>
            </a:endParaRPr>
          </a:p>
        </p:txBody>
      </p:sp>
      <p:sp>
        <p:nvSpPr>
          <p:cNvPr id="1969" name="Google Shape;1969;p93"/>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970" name="Google Shape;1970;p93"/>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Whenever you make big changes to prompt, model, or parameter perform a regression test</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Build dataset on real transaction data </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Set-up Annotation Queues to measure performance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Configure user feedback in the front-end</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Use evaluators to scale assessment process. </a:t>
            </a:r>
            <a:endParaRPr b="0" i="0" sz="1200" u="none" cap="none" strike="noStrike">
              <a:solidFill>
                <a:schemeClr val="dk2"/>
              </a:solidFill>
              <a:latin typeface="Arial"/>
              <a:ea typeface="Arial"/>
              <a:cs typeface="Arial"/>
              <a:sym typeface="Arial"/>
            </a:endParaRPr>
          </a:p>
          <a:p>
            <a:pPr indent="-133350" lvl="2" marL="269875" marR="0" rtl="0" algn="l">
              <a:lnSpc>
                <a:spcPct val="100000"/>
              </a:lnSpc>
              <a:spcBef>
                <a:spcPts val="600"/>
              </a:spcBef>
              <a:spcAft>
                <a:spcPts val="0"/>
              </a:spcAft>
              <a:buClr>
                <a:schemeClr val="dk2"/>
              </a:buClr>
              <a:buSzPts val="1200"/>
              <a:buFont typeface="Avenir"/>
              <a:buChar char="–"/>
            </a:pPr>
            <a:r>
              <a:rPr b="0" i="0" lang="en-US" sz="1200" u="none" cap="none" strike="noStrike">
                <a:solidFill>
                  <a:schemeClr val="dk2"/>
                </a:solidFill>
                <a:latin typeface="Arial"/>
                <a:ea typeface="Arial"/>
                <a:cs typeface="Arial"/>
                <a:sym typeface="Arial"/>
              </a:rPr>
              <a:t>Initially 100% sample rate, which can be lowered over time </a:t>
            </a:r>
            <a:endParaRPr b="0" i="0" sz="1400" u="none" cap="none" strike="noStrike">
              <a:solidFill>
                <a:srgbClr val="000000"/>
              </a:solidFill>
              <a:latin typeface="Arial"/>
              <a:ea typeface="Arial"/>
              <a:cs typeface="Arial"/>
              <a:sym typeface="Arial"/>
            </a:endParaRPr>
          </a:p>
        </p:txBody>
      </p:sp>
      <p:sp>
        <p:nvSpPr>
          <p:cNvPr id="1971" name="Google Shape;1971;p93"/>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1972" name="Google Shape;1972;p93"/>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1973" name="Google Shape;1973;p93"/>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1974" name="Google Shape;1974;p93"/>
          <p:cNvPicPr preferRelativeResize="0"/>
          <p:nvPr/>
        </p:nvPicPr>
        <p:blipFill rotWithShape="1">
          <a:blip r:embed="rId5">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9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How to set-up Automations </a:t>
            </a:r>
            <a:endParaRPr/>
          </a:p>
        </p:txBody>
      </p:sp>
      <p:sp>
        <p:nvSpPr>
          <p:cNvPr id="1981" name="Google Shape;1981;p9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982" name="Google Shape;1982;p9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1983" name="Google Shape;1983;p94"/>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1984" name="Google Shape;1984;p94"/>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1985" name="Google Shape;1985;p94"/>
          <p:cNvSpPr/>
          <p:nvPr/>
        </p:nvSpPr>
        <p:spPr>
          <a:xfrm>
            <a:off x="263525" y="1664804"/>
            <a:ext cx="11664949" cy="4500499"/>
          </a:xfrm>
          <a:custGeom>
            <a:rect b="b" l="l" r="r" t="t"/>
            <a:pathLst>
              <a:path extrusionOk="0" h="4500499" w="11664949">
                <a:moveTo>
                  <a:pt x="57920" y="0"/>
                </a:moveTo>
                <a:lnTo>
                  <a:pt x="758889" y="0"/>
                </a:lnTo>
                <a:lnTo>
                  <a:pt x="3287344" y="0"/>
                </a:lnTo>
                <a:lnTo>
                  <a:pt x="3746243" y="0"/>
                </a:lnTo>
                <a:lnTo>
                  <a:pt x="3746245" y="0"/>
                </a:lnTo>
                <a:lnTo>
                  <a:pt x="3988313" y="0"/>
                </a:lnTo>
                <a:lnTo>
                  <a:pt x="4447213" y="0"/>
                </a:lnTo>
                <a:lnTo>
                  <a:pt x="4447214" y="0"/>
                </a:lnTo>
                <a:lnTo>
                  <a:pt x="4689282" y="0"/>
                </a:lnTo>
                <a:lnTo>
                  <a:pt x="6975667" y="0"/>
                </a:lnTo>
                <a:lnTo>
                  <a:pt x="6975669" y="0"/>
                </a:lnTo>
                <a:lnTo>
                  <a:pt x="7217737" y="0"/>
                </a:lnTo>
                <a:lnTo>
                  <a:pt x="7676636" y="0"/>
                </a:lnTo>
                <a:lnTo>
                  <a:pt x="7676638" y="0"/>
                </a:lnTo>
                <a:lnTo>
                  <a:pt x="7918706" y="0"/>
                </a:lnTo>
                <a:lnTo>
                  <a:pt x="8377605" y="0"/>
                </a:lnTo>
                <a:lnTo>
                  <a:pt x="10906060" y="0"/>
                </a:lnTo>
                <a:lnTo>
                  <a:pt x="11607029" y="0"/>
                </a:lnTo>
                <a:cubicBezTo>
                  <a:pt x="11639017" y="0"/>
                  <a:pt x="11664949" y="25932"/>
                  <a:pt x="11664949" y="57920"/>
                </a:cubicBezTo>
                <a:lnTo>
                  <a:pt x="11664949" y="238349"/>
                </a:lnTo>
                <a:lnTo>
                  <a:pt x="11664949" y="1282303"/>
                </a:lnTo>
                <a:lnTo>
                  <a:pt x="11664949" y="1462732"/>
                </a:lnTo>
                <a:lnTo>
                  <a:pt x="11664949" y="3037767"/>
                </a:lnTo>
                <a:lnTo>
                  <a:pt x="11664949" y="3218196"/>
                </a:lnTo>
                <a:lnTo>
                  <a:pt x="11664949" y="4262150"/>
                </a:lnTo>
                <a:lnTo>
                  <a:pt x="11664949" y="4442579"/>
                </a:lnTo>
                <a:cubicBezTo>
                  <a:pt x="11664949" y="4474567"/>
                  <a:pt x="11639017" y="4500499"/>
                  <a:pt x="11607029" y="4500499"/>
                </a:cubicBezTo>
                <a:lnTo>
                  <a:pt x="10906060" y="4500499"/>
                </a:lnTo>
                <a:lnTo>
                  <a:pt x="8679936" y="4500499"/>
                </a:lnTo>
                <a:lnTo>
                  <a:pt x="8377605" y="4500499"/>
                </a:lnTo>
                <a:lnTo>
                  <a:pt x="7978967" y="4500499"/>
                </a:lnTo>
                <a:lnTo>
                  <a:pt x="7918706" y="4500499"/>
                </a:lnTo>
                <a:lnTo>
                  <a:pt x="7676636" y="4500499"/>
                </a:lnTo>
                <a:lnTo>
                  <a:pt x="7217737" y="4500499"/>
                </a:lnTo>
                <a:lnTo>
                  <a:pt x="6975667" y="4500499"/>
                </a:lnTo>
                <a:lnTo>
                  <a:pt x="5450512" y="4500499"/>
                </a:lnTo>
                <a:lnTo>
                  <a:pt x="4991613" y="4500499"/>
                </a:lnTo>
                <a:lnTo>
                  <a:pt x="4749543" y="4500499"/>
                </a:lnTo>
                <a:lnTo>
                  <a:pt x="4689282" y="4500499"/>
                </a:lnTo>
                <a:lnTo>
                  <a:pt x="4447213" y="4500499"/>
                </a:lnTo>
                <a:lnTo>
                  <a:pt x="4290644" y="4500499"/>
                </a:lnTo>
                <a:lnTo>
                  <a:pt x="3988313" y="4500499"/>
                </a:lnTo>
                <a:lnTo>
                  <a:pt x="3746243" y="4500499"/>
                </a:lnTo>
                <a:lnTo>
                  <a:pt x="3287344"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pic>
        <p:nvPicPr>
          <p:cNvPr id="1986" name="Google Shape;1986;p94"/>
          <p:cNvPicPr preferRelativeResize="0"/>
          <p:nvPr/>
        </p:nvPicPr>
        <p:blipFill rotWithShape="1">
          <a:blip r:embed="rId4">
            <a:alphaModFix/>
          </a:blip>
          <a:srcRect b="857" l="0" r="0" t="0"/>
          <a:stretch/>
        </p:blipFill>
        <p:spPr>
          <a:xfrm>
            <a:off x="2734601" y="1844675"/>
            <a:ext cx="6722798" cy="4105275"/>
          </a:xfrm>
          <a:prstGeom prst="roundRect">
            <a:avLst>
              <a:gd fmla="val 2682" name="adj"/>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0" name="Shape 1990"/>
        <p:cNvGrpSpPr/>
        <p:nvPr/>
      </p:nvGrpSpPr>
      <p:grpSpPr>
        <a:xfrm>
          <a:off x="0" y="0"/>
          <a:ext cx="0" cy="0"/>
          <a:chOff x="0" y="0"/>
          <a:chExt cx="0" cy="0"/>
        </a:xfrm>
      </p:grpSpPr>
      <p:sp>
        <p:nvSpPr>
          <p:cNvPr id="1991" name="Google Shape;1991;p95"/>
          <p:cNvSpPr txBox="1"/>
          <p:nvPr>
            <p:ph type="title"/>
          </p:nvPr>
        </p:nvSpPr>
        <p:spPr>
          <a:xfrm>
            <a:off x="5519936" y="2970540"/>
            <a:ext cx="6408538" cy="92333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Agents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100"/>
          <p:cNvSpPr txBox="1"/>
          <p:nvPr>
            <p:ph type="title"/>
          </p:nvPr>
        </p:nvSpPr>
        <p:spPr>
          <a:xfrm>
            <a:off x="263525" y="512676"/>
            <a:ext cx="3529013" cy="861774"/>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Configuring an Agent </a:t>
            </a:r>
            <a:endParaRPr/>
          </a:p>
        </p:txBody>
      </p:sp>
      <p:sp>
        <p:nvSpPr>
          <p:cNvPr id="1998" name="Google Shape;1998;p10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1999" name="Google Shape;1999;p10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000" name="Google Shape;2000;p100"/>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001" name="Google Shape;2001;p100"/>
          <p:cNvSpPr txBox="1"/>
          <p:nvPr/>
        </p:nvSpPr>
        <p:spPr>
          <a:xfrm>
            <a:off x="4979876" y="1704992"/>
            <a:ext cx="6264498" cy="3016210"/>
          </a:xfrm>
          <a:prstGeom prst="rect">
            <a:avLst/>
          </a:prstGeom>
          <a:noFill/>
          <a:ln>
            <a:noFill/>
          </a:ln>
        </p:spPr>
        <p:txBody>
          <a:bodyPr anchorCtr="0" anchor="ctr" bIns="0" lIns="0" spcFirstLastPara="1" rIns="0" wrap="square" tIns="0">
            <a:spAutoFit/>
          </a:bodyPr>
          <a:lstStyle/>
          <a:p>
            <a:pPr indent="-342900" lvl="0" marL="342900" marR="0" rtl="0" algn="l">
              <a:lnSpc>
                <a:spcPct val="100000"/>
              </a:lnSpc>
              <a:spcBef>
                <a:spcPts val="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Single agent or multi-agent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Write Agent Instructions, Role, and Description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Set Model and Paramaters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Configure tools, MCP servers, memory stores and knowledge bases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Set Max Iter and Max Execution Time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400"/>
              </a:spcBef>
              <a:spcAft>
                <a:spcPts val="0"/>
              </a:spcAft>
              <a:buClr>
                <a:schemeClr val="dk1"/>
              </a:buClr>
              <a:buSzPts val="1600"/>
              <a:buFont typeface="Arial"/>
              <a:buAutoNum type="arabicPeriod"/>
            </a:pPr>
            <a:r>
              <a:rPr b="0" i="0" lang="en-US" sz="1600" u="none" cap="none" strike="noStrike">
                <a:solidFill>
                  <a:schemeClr val="dk1"/>
                </a:solidFill>
                <a:latin typeface="Arial"/>
                <a:ea typeface="Arial"/>
                <a:cs typeface="Arial"/>
                <a:sym typeface="Arial"/>
              </a:rPr>
              <a:t>Invoke Agent once &gt; check behaviour in the trace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6" name="Shape 2006"/>
        <p:cNvGrpSpPr/>
        <p:nvPr/>
      </p:nvGrpSpPr>
      <p:grpSpPr>
        <a:xfrm>
          <a:off x="0" y="0"/>
          <a:ext cx="0" cy="0"/>
          <a:chOff x="0" y="0"/>
          <a:chExt cx="0" cy="0"/>
        </a:xfrm>
      </p:grpSpPr>
      <p:sp>
        <p:nvSpPr>
          <p:cNvPr id="2007" name="Google Shape;2007;p96"/>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Agents: Do’s and Don’ts</a:t>
            </a:r>
            <a:endParaRPr/>
          </a:p>
        </p:txBody>
      </p:sp>
      <p:sp>
        <p:nvSpPr>
          <p:cNvPr id="2008" name="Google Shape;2008;p9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009" name="Google Shape;2009;p9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010" name="Google Shape;2010;p96"/>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011" name="Google Shape;2011;p96"/>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give agents unbounded autonomy without restrictions and guardrails in place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use too many tools you don’t need.</a:t>
            </a:r>
            <a:endParaRPr b="0" i="0" sz="1400" u="none" cap="none" strike="noStrike">
              <a:solidFill>
                <a:srgbClr val="000000"/>
              </a:solidFill>
              <a:latin typeface="Arial"/>
              <a:ea typeface="Arial"/>
              <a:cs typeface="Arial"/>
              <a:sym typeface="Arial"/>
            </a:endParaRPr>
          </a:p>
          <a:p>
            <a:pPr indent="-133350" lvl="2" marL="269875" marR="0" rtl="0" algn="l">
              <a:lnSpc>
                <a:spcPct val="100000"/>
              </a:lnSpc>
              <a:spcBef>
                <a:spcPts val="600"/>
              </a:spcBef>
              <a:spcAft>
                <a:spcPts val="0"/>
              </a:spcAft>
              <a:buClr>
                <a:schemeClr val="dk2"/>
              </a:buClr>
              <a:buSzPts val="1200"/>
              <a:buFont typeface="Avenir"/>
              <a:buChar char="–"/>
            </a:pPr>
            <a:r>
              <a:rPr b="0" i="0" lang="en-US" sz="1200" u="none" cap="none" strike="noStrike">
                <a:solidFill>
                  <a:schemeClr val="dk2"/>
                </a:solidFill>
                <a:latin typeface="Arial"/>
                <a:ea typeface="Arial"/>
                <a:cs typeface="Arial"/>
                <a:sym typeface="Arial"/>
              </a:rPr>
              <a:t>Make smaller specialized sub-agents with subset of tools </a:t>
            </a:r>
            <a:endParaRPr b="0" i="0" sz="1400" u="none" cap="none" strike="noStrike">
              <a:solidFill>
                <a:srgbClr val="000000"/>
              </a:solidFill>
              <a:latin typeface="Arial"/>
              <a:ea typeface="Arial"/>
              <a:cs typeface="Arial"/>
              <a:sym typeface="Arial"/>
            </a:endParaRPr>
          </a:p>
        </p:txBody>
      </p:sp>
      <p:sp>
        <p:nvSpPr>
          <p:cNvPr id="2012" name="Google Shape;2012;p96"/>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013" name="Google Shape;2013;p96"/>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Ensure that the use case is well suited for agent form</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18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Design agents with clear boundaries and well-defined tasks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18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Add scenario on sequence of tools: </a:t>
            </a:r>
            <a:endParaRPr b="0" i="0" sz="1400" u="none" cap="none" strike="noStrike">
              <a:solidFill>
                <a:srgbClr val="000000"/>
              </a:solidFill>
              <a:latin typeface="Arial"/>
              <a:ea typeface="Arial"/>
              <a:cs typeface="Arial"/>
              <a:sym typeface="Arial"/>
            </a:endParaRPr>
          </a:p>
          <a:p>
            <a:pPr indent="-133350" lvl="2" marL="269875" marR="0" rtl="0" algn="l">
              <a:lnSpc>
                <a:spcPct val="100000"/>
              </a:lnSpc>
              <a:spcBef>
                <a:spcPts val="600"/>
              </a:spcBef>
              <a:spcAft>
                <a:spcPts val="0"/>
              </a:spcAft>
              <a:buClr>
                <a:schemeClr val="dk2"/>
              </a:buClr>
              <a:buSzPts val="1200"/>
              <a:buFont typeface="Avenir"/>
              <a:buChar char="–"/>
            </a:pPr>
            <a:r>
              <a:rPr b="0" i="0" lang="en-US" sz="1200" u="none" cap="none" strike="noStrike">
                <a:solidFill>
                  <a:schemeClr val="dk2"/>
                </a:solidFill>
                <a:latin typeface="Arial"/>
                <a:ea typeface="Arial"/>
                <a:cs typeface="Arial"/>
                <a:sym typeface="Arial"/>
              </a:rPr>
              <a:t>Research: web search &gt; web scraping &gt; </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18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Very high quality descriptions for every single tool</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18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Test agent workflows end-to-end before production</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18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Ensure observability is in place for every agent interaction </a:t>
            </a:r>
            <a:endParaRPr b="0" i="0" sz="1400" u="none" cap="none" strike="noStrike">
              <a:solidFill>
                <a:srgbClr val="000000"/>
              </a:solidFill>
              <a:latin typeface="Arial"/>
              <a:ea typeface="Arial"/>
              <a:cs typeface="Arial"/>
              <a:sym typeface="Arial"/>
            </a:endParaRPr>
          </a:p>
        </p:txBody>
      </p:sp>
      <p:sp>
        <p:nvSpPr>
          <p:cNvPr id="2014" name="Google Shape;2014;p96"/>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2015" name="Google Shape;2015;p96"/>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2016" name="Google Shape;2016;p96"/>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pic>
        <p:nvPicPr>
          <p:cNvPr id="2017" name="Google Shape;2017;p96"/>
          <p:cNvPicPr preferRelativeResize="0"/>
          <p:nvPr/>
        </p:nvPicPr>
        <p:blipFill rotWithShape="1">
          <a:blip r:embed="rId5">
            <a:alphaModFix/>
          </a:blip>
          <a:srcRect b="0" l="0" r="0" t="0"/>
          <a:stretch/>
        </p:blipFill>
        <p:spPr>
          <a:xfrm>
            <a:off x="266700" y="260350"/>
            <a:ext cx="3946030" cy="2160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2" name="Shape 2022"/>
        <p:cNvGrpSpPr/>
        <p:nvPr/>
      </p:nvGrpSpPr>
      <p:grpSpPr>
        <a:xfrm>
          <a:off x="0" y="0"/>
          <a:ext cx="0" cy="0"/>
          <a:chOff x="0" y="0"/>
          <a:chExt cx="0" cy="0"/>
        </a:xfrm>
      </p:grpSpPr>
      <p:sp>
        <p:nvSpPr>
          <p:cNvPr id="2023" name="Google Shape;2023;p9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Agents: Orchestrator &amp; Sub-Agents</a:t>
            </a:r>
            <a:endParaRPr/>
          </a:p>
        </p:txBody>
      </p:sp>
      <p:sp>
        <p:nvSpPr>
          <p:cNvPr id="2024" name="Google Shape;2024;p9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025" name="Google Shape;2025;p9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026" name="Google Shape;2026;p97"/>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027" name="Google Shape;2027;p97"/>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2028" name="Google Shape;2028;p97"/>
          <p:cNvSpPr/>
          <p:nvPr/>
        </p:nvSpPr>
        <p:spPr>
          <a:xfrm>
            <a:off x="263525" y="1664804"/>
            <a:ext cx="11664949" cy="4500499"/>
          </a:xfrm>
          <a:custGeom>
            <a:rect b="b" l="l" r="r" t="t"/>
            <a:pathLst>
              <a:path extrusionOk="0" h="4500499" w="11664949">
                <a:moveTo>
                  <a:pt x="57920" y="0"/>
                </a:moveTo>
                <a:lnTo>
                  <a:pt x="758889" y="0"/>
                </a:lnTo>
                <a:lnTo>
                  <a:pt x="3287344" y="0"/>
                </a:lnTo>
                <a:lnTo>
                  <a:pt x="3746243" y="0"/>
                </a:lnTo>
                <a:lnTo>
                  <a:pt x="3746245" y="0"/>
                </a:lnTo>
                <a:lnTo>
                  <a:pt x="3988313" y="0"/>
                </a:lnTo>
                <a:lnTo>
                  <a:pt x="4447213" y="0"/>
                </a:lnTo>
                <a:lnTo>
                  <a:pt x="4447214" y="0"/>
                </a:lnTo>
                <a:lnTo>
                  <a:pt x="4689282" y="0"/>
                </a:lnTo>
                <a:lnTo>
                  <a:pt x="6975667" y="0"/>
                </a:lnTo>
                <a:lnTo>
                  <a:pt x="6975669" y="0"/>
                </a:lnTo>
                <a:lnTo>
                  <a:pt x="7217737" y="0"/>
                </a:lnTo>
                <a:lnTo>
                  <a:pt x="7676636" y="0"/>
                </a:lnTo>
                <a:lnTo>
                  <a:pt x="7676638" y="0"/>
                </a:lnTo>
                <a:lnTo>
                  <a:pt x="7918706" y="0"/>
                </a:lnTo>
                <a:lnTo>
                  <a:pt x="8377605" y="0"/>
                </a:lnTo>
                <a:lnTo>
                  <a:pt x="10906060" y="0"/>
                </a:lnTo>
                <a:lnTo>
                  <a:pt x="11607029" y="0"/>
                </a:lnTo>
                <a:cubicBezTo>
                  <a:pt x="11639017" y="0"/>
                  <a:pt x="11664949" y="25932"/>
                  <a:pt x="11664949" y="57920"/>
                </a:cubicBezTo>
                <a:lnTo>
                  <a:pt x="11664949" y="238349"/>
                </a:lnTo>
                <a:lnTo>
                  <a:pt x="11664949" y="1282303"/>
                </a:lnTo>
                <a:lnTo>
                  <a:pt x="11664949" y="1462732"/>
                </a:lnTo>
                <a:lnTo>
                  <a:pt x="11664949" y="3037767"/>
                </a:lnTo>
                <a:lnTo>
                  <a:pt x="11664949" y="3218196"/>
                </a:lnTo>
                <a:lnTo>
                  <a:pt x="11664949" y="4262150"/>
                </a:lnTo>
                <a:lnTo>
                  <a:pt x="11664949" y="4442579"/>
                </a:lnTo>
                <a:cubicBezTo>
                  <a:pt x="11664949" y="4474567"/>
                  <a:pt x="11639017" y="4500499"/>
                  <a:pt x="11607029" y="4500499"/>
                </a:cubicBezTo>
                <a:lnTo>
                  <a:pt x="10906060" y="4500499"/>
                </a:lnTo>
                <a:lnTo>
                  <a:pt x="8679936" y="4500499"/>
                </a:lnTo>
                <a:lnTo>
                  <a:pt x="8377605" y="4500499"/>
                </a:lnTo>
                <a:lnTo>
                  <a:pt x="7978967" y="4500499"/>
                </a:lnTo>
                <a:lnTo>
                  <a:pt x="7918706" y="4500499"/>
                </a:lnTo>
                <a:lnTo>
                  <a:pt x="7676636" y="4500499"/>
                </a:lnTo>
                <a:lnTo>
                  <a:pt x="7217737" y="4500499"/>
                </a:lnTo>
                <a:lnTo>
                  <a:pt x="6975667" y="4500499"/>
                </a:lnTo>
                <a:lnTo>
                  <a:pt x="5450512" y="4500499"/>
                </a:lnTo>
                <a:lnTo>
                  <a:pt x="4991613" y="4500499"/>
                </a:lnTo>
                <a:lnTo>
                  <a:pt x="4749543" y="4500499"/>
                </a:lnTo>
                <a:lnTo>
                  <a:pt x="4689282" y="4500499"/>
                </a:lnTo>
                <a:lnTo>
                  <a:pt x="4447213" y="4500499"/>
                </a:lnTo>
                <a:lnTo>
                  <a:pt x="4290644" y="4500499"/>
                </a:lnTo>
                <a:lnTo>
                  <a:pt x="3988313" y="4500499"/>
                </a:lnTo>
                <a:lnTo>
                  <a:pt x="3746243" y="4500499"/>
                </a:lnTo>
                <a:lnTo>
                  <a:pt x="3287344"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pic>
        <p:nvPicPr>
          <p:cNvPr descr="A screenshot of a computer&#10;&#10;AI-generated content may be incorrect." id="2029" name="Google Shape;2029;p97"/>
          <p:cNvPicPr preferRelativeResize="0"/>
          <p:nvPr/>
        </p:nvPicPr>
        <p:blipFill rotWithShape="1">
          <a:blip r:embed="rId4">
            <a:alphaModFix/>
          </a:blip>
          <a:srcRect b="1090" l="0" r="0" t="1"/>
          <a:stretch/>
        </p:blipFill>
        <p:spPr>
          <a:xfrm>
            <a:off x="2881850" y="1844675"/>
            <a:ext cx="6428300" cy="4105276"/>
          </a:xfrm>
          <a:prstGeom prst="roundRect">
            <a:avLst>
              <a:gd fmla="val 2682" name="adj"/>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sp>
        <p:nvSpPr>
          <p:cNvPr id="2035" name="Google Shape;2035;p98"/>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Agents: Orchestrator &amp; Sub-Agents</a:t>
            </a:r>
            <a:endParaRPr/>
          </a:p>
        </p:txBody>
      </p:sp>
      <p:sp>
        <p:nvSpPr>
          <p:cNvPr id="2036" name="Google Shape;2036;p9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037" name="Google Shape;2037;p9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038" name="Google Shape;2038;p98"/>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039" name="Google Shape;2039;p98"/>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2040" name="Google Shape;2040;p98"/>
          <p:cNvSpPr/>
          <p:nvPr/>
        </p:nvSpPr>
        <p:spPr>
          <a:xfrm>
            <a:off x="263525" y="1664804"/>
            <a:ext cx="11664949" cy="4500499"/>
          </a:xfrm>
          <a:custGeom>
            <a:rect b="b" l="l" r="r" t="t"/>
            <a:pathLst>
              <a:path extrusionOk="0" h="4500499" w="11664949">
                <a:moveTo>
                  <a:pt x="57920" y="0"/>
                </a:moveTo>
                <a:lnTo>
                  <a:pt x="758889" y="0"/>
                </a:lnTo>
                <a:lnTo>
                  <a:pt x="3287344" y="0"/>
                </a:lnTo>
                <a:lnTo>
                  <a:pt x="3746243" y="0"/>
                </a:lnTo>
                <a:lnTo>
                  <a:pt x="3746245" y="0"/>
                </a:lnTo>
                <a:lnTo>
                  <a:pt x="3988313" y="0"/>
                </a:lnTo>
                <a:lnTo>
                  <a:pt x="4447213" y="0"/>
                </a:lnTo>
                <a:lnTo>
                  <a:pt x="4447214" y="0"/>
                </a:lnTo>
                <a:lnTo>
                  <a:pt x="4689282" y="0"/>
                </a:lnTo>
                <a:lnTo>
                  <a:pt x="6975667" y="0"/>
                </a:lnTo>
                <a:lnTo>
                  <a:pt x="6975669" y="0"/>
                </a:lnTo>
                <a:lnTo>
                  <a:pt x="7217737" y="0"/>
                </a:lnTo>
                <a:lnTo>
                  <a:pt x="7676636" y="0"/>
                </a:lnTo>
                <a:lnTo>
                  <a:pt x="7676638" y="0"/>
                </a:lnTo>
                <a:lnTo>
                  <a:pt x="7918706" y="0"/>
                </a:lnTo>
                <a:lnTo>
                  <a:pt x="8377605" y="0"/>
                </a:lnTo>
                <a:lnTo>
                  <a:pt x="10906060" y="0"/>
                </a:lnTo>
                <a:lnTo>
                  <a:pt x="11607029" y="0"/>
                </a:lnTo>
                <a:cubicBezTo>
                  <a:pt x="11639017" y="0"/>
                  <a:pt x="11664949" y="25932"/>
                  <a:pt x="11664949" y="57920"/>
                </a:cubicBezTo>
                <a:lnTo>
                  <a:pt x="11664949" y="238349"/>
                </a:lnTo>
                <a:lnTo>
                  <a:pt x="11664949" y="1282303"/>
                </a:lnTo>
                <a:lnTo>
                  <a:pt x="11664949" y="1462732"/>
                </a:lnTo>
                <a:lnTo>
                  <a:pt x="11664949" y="3037767"/>
                </a:lnTo>
                <a:lnTo>
                  <a:pt x="11664949" y="3218196"/>
                </a:lnTo>
                <a:lnTo>
                  <a:pt x="11664949" y="4262150"/>
                </a:lnTo>
                <a:lnTo>
                  <a:pt x="11664949" y="4442579"/>
                </a:lnTo>
                <a:cubicBezTo>
                  <a:pt x="11664949" y="4474567"/>
                  <a:pt x="11639017" y="4500499"/>
                  <a:pt x="11607029" y="4500499"/>
                </a:cubicBezTo>
                <a:lnTo>
                  <a:pt x="10906060" y="4500499"/>
                </a:lnTo>
                <a:lnTo>
                  <a:pt x="8679936" y="4500499"/>
                </a:lnTo>
                <a:lnTo>
                  <a:pt x="8377605" y="4500499"/>
                </a:lnTo>
                <a:lnTo>
                  <a:pt x="7978967" y="4500499"/>
                </a:lnTo>
                <a:lnTo>
                  <a:pt x="7918706" y="4500499"/>
                </a:lnTo>
                <a:lnTo>
                  <a:pt x="7676636" y="4500499"/>
                </a:lnTo>
                <a:lnTo>
                  <a:pt x="7217737" y="4500499"/>
                </a:lnTo>
                <a:lnTo>
                  <a:pt x="6975667" y="4500499"/>
                </a:lnTo>
                <a:lnTo>
                  <a:pt x="5450512" y="4500499"/>
                </a:lnTo>
                <a:lnTo>
                  <a:pt x="4991613" y="4500499"/>
                </a:lnTo>
                <a:lnTo>
                  <a:pt x="4749543" y="4500499"/>
                </a:lnTo>
                <a:lnTo>
                  <a:pt x="4689282" y="4500499"/>
                </a:lnTo>
                <a:lnTo>
                  <a:pt x="4447213" y="4500499"/>
                </a:lnTo>
                <a:lnTo>
                  <a:pt x="4290644" y="4500499"/>
                </a:lnTo>
                <a:lnTo>
                  <a:pt x="3988313" y="4500499"/>
                </a:lnTo>
                <a:lnTo>
                  <a:pt x="3746243" y="4500499"/>
                </a:lnTo>
                <a:lnTo>
                  <a:pt x="3287344"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pic>
        <p:nvPicPr>
          <p:cNvPr id="2041" name="Google Shape;2041;p98"/>
          <p:cNvPicPr preferRelativeResize="0"/>
          <p:nvPr/>
        </p:nvPicPr>
        <p:blipFill rotWithShape="1">
          <a:blip r:embed="rId4">
            <a:alphaModFix/>
          </a:blip>
          <a:srcRect b="870" l="0" r="0" t="0"/>
          <a:stretch/>
        </p:blipFill>
        <p:spPr>
          <a:xfrm>
            <a:off x="2776605" y="1844824"/>
            <a:ext cx="6638790" cy="4105126"/>
          </a:xfrm>
          <a:prstGeom prst="roundRect">
            <a:avLst>
              <a:gd fmla="val 2682" name="adj"/>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9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Agents: Orchestrator &amp; Sub-Agents</a:t>
            </a:r>
            <a:endParaRPr/>
          </a:p>
        </p:txBody>
      </p:sp>
      <p:sp>
        <p:nvSpPr>
          <p:cNvPr id="2048" name="Google Shape;2048;p9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049" name="Google Shape;2049;p9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050" name="Google Shape;2050;p99"/>
          <p:cNvSpPr txBox="1"/>
          <p:nvPr>
            <p:ph idx="12" type="sldNum"/>
          </p:nvPr>
        </p:nvSpPr>
        <p:spPr>
          <a:xfrm>
            <a:off x="12010544" y="6673964"/>
            <a:ext cx="9938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051" name="Google Shape;2051;p99"/>
          <p:cNvPicPr preferRelativeResize="0"/>
          <p:nvPr/>
        </p:nvPicPr>
        <p:blipFill rotWithShape="1">
          <a:blip r:embed="rId3">
            <a:alphaModFix/>
          </a:blip>
          <a:srcRect b="0" l="0" r="0" t="0"/>
          <a:stretch/>
        </p:blipFill>
        <p:spPr>
          <a:xfrm>
            <a:off x="266700" y="260350"/>
            <a:ext cx="3946030" cy="216000"/>
          </a:xfrm>
          <a:prstGeom prst="rect">
            <a:avLst/>
          </a:prstGeom>
          <a:noFill/>
          <a:ln>
            <a:noFill/>
          </a:ln>
        </p:spPr>
      </p:pic>
      <p:sp>
        <p:nvSpPr>
          <p:cNvPr id="2052" name="Google Shape;2052;p99"/>
          <p:cNvSpPr/>
          <p:nvPr/>
        </p:nvSpPr>
        <p:spPr>
          <a:xfrm>
            <a:off x="263525" y="1664804"/>
            <a:ext cx="11664949" cy="4500499"/>
          </a:xfrm>
          <a:custGeom>
            <a:rect b="b" l="l" r="r" t="t"/>
            <a:pathLst>
              <a:path extrusionOk="0" h="4500499" w="11664949">
                <a:moveTo>
                  <a:pt x="57920" y="0"/>
                </a:moveTo>
                <a:lnTo>
                  <a:pt x="758889" y="0"/>
                </a:lnTo>
                <a:lnTo>
                  <a:pt x="3287344" y="0"/>
                </a:lnTo>
                <a:lnTo>
                  <a:pt x="3746243" y="0"/>
                </a:lnTo>
                <a:lnTo>
                  <a:pt x="3746245" y="0"/>
                </a:lnTo>
                <a:lnTo>
                  <a:pt x="3988313" y="0"/>
                </a:lnTo>
                <a:lnTo>
                  <a:pt x="4447213" y="0"/>
                </a:lnTo>
                <a:lnTo>
                  <a:pt x="4447214" y="0"/>
                </a:lnTo>
                <a:lnTo>
                  <a:pt x="4689282" y="0"/>
                </a:lnTo>
                <a:lnTo>
                  <a:pt x="6975667" y="0"/>
                </a:lnTo>
                <a:lnTo>
                  <a:pt x="6975669" y="0"/>
                </a:lnTo>
                <a:lnTo>
                  <a:pt x="7217737" y="0"/>
                </a:lnTo>
                <a:lnTo>
                  <a:pt x="7676636" y="0"/>
                </a:lnTo>
                <a:lnTo>
                  <a:pt x="7676638" y="0"/>
                </a:lnTo>
                <a:lnTo>
                  <a:pt x="7918706" y="0"/>
                </a:lnTo>
                <a:lnTo>
                  <a:pt x="8377605" y="0"/>
                </a:lnTo>
                <a:lnTo>
                  <a:pt x="10906060" y="0"/>
                </a:lnTo>
                <a:lnTo>
                  <a:pt x="11607029" y="0"/>
                </a:lnTo>
                <a:cubicBezTo>
                  <a:pt x="11639017" y="0"/>
                  <a:pt x="11664949" y="25932"/>
                  <a:pt x="11664949" y="57920"/>
                </a:cubicBezTo>
                <a:lnTo>
                  <a:pt x="11664949" y="238349"/>
                </a:lnTo>
                <a:lnTo>
                  <a:pt x="11664949" y="1282303"/>
                </a:lnTo>
                <a:lnTo>
                  <a:pt x="11664949" y="1462732"/>
                </a:lnTo>
                <a:lnTo>
                  <a:pt x="11664949" y="3037767"/>
                </a:lnTo>
                <a:lnTo>
                  <a:pt x="11664949" y="3218196"/>
                </a:lnTo>
                <a:lnTo>
                  <a:pt x="11664949" y="4262150"/>
                </a:lnTo>
                <a:lnTo>
                  <a:pt x="11664949" y="4442579"/>
                </a:lnTo>
                <a:cubicBezTo>
                  <a:pt x="11664949" y="4474567"/>
                  <a:pt x="11639017" y="4500499"/>
                  <a:pt x="11607029" y="4500499"/>
                </a:cubicBezTo>
                <a:lnTo>
                  <a:pt x="10906060" y="4500499"/>
                </a:lnTo>
                <a:lnTo>
                  <a:pt x="8679936" y="4500499"/>
                </a:lnTo>
                <a:lnTo>
                  <a:pt x="8377605" y="4500499"/>
                </a:lnTo>
                <a:lnTo>
                  <a:pt x="7978967" y="4500499"/>
                </a:lnTo>
                <a:lnTo>
                  <a:pt x="7918706" y="4500499"/>
                </a:lnTo>
                <a:lnTo>
                  <a:pt x="7676636" y="4500499"/>
                </a:lnTo>
                <a:lnTo>
                  <a:pt x="7217737" y="4500499"/>
                </a:lnTo>
                <a:lnTo>
                  <a:pt x="6975667" y="4500499"/>
                </a:lnTo>
                <a:lnTo>
                  <a:pt x="5450512" y="4500499"/>
                </a:lnTo>
                <a:lnTo>
                  <a:pt x="4991613" y="4500499"/>
                </a:lnTo>
                <a:lnTo>
                  <a:pt x="4749543" y="4500499"/>
                </a:lnTo>
                <a:lnTo>
                  <a:pt x="4689282" y="4500499"/>
                </a:lnTo>
                <a:lnTo>
                  <a:pt x="4447213" y="4500499"/>
                </a:lnTo>
                <a:lnTo>
                  <a:pt x="4290644" y="4500499"/>
                </a:lnTo>
                <a:lnTo>
                  <a:pt x="3988313" y="4500499"/>
                </a:lnTo>
                <a:lnTo>
                  <a:pt x="3746243" y="4500499"/>
                </a:lnTo>
                <a:lnTo>
                  <a:pt x="3287344"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pic>
        <p:nvPicPr>
          <p:cNvPr id="2053" name="Google Shape;2053;p99"/>
          <p:cNvPicPr preferRelativeResize="0"/>
          <p:nvPr/>
        </p:nvPicPr>
        <p:blipFill rotWithShape="1">
          <a:blip r:embed="rId4">
            <a:alphaModFix/>
          </a:blip>
          <a:srcRect b="1133" l="0" r="0" t="0"/>
          <a:stretch/>
        </p:blipFill>
        <p:spPr>
          <a:xfrm>
            <a:off x="2774779" y="1844675"/>
            <a:ext cx="6642442" cy="4105275"/>
          </a:xfrm>
          <a:prstGeom prst="roundRect">
            <a:avLst>
              <a:gd fmla="val 2682" name="adj"/>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101"/>
          <p:cNvSpPr txBox="1"/>
          <p:nvPr>
            <p:ph type="title"/>
          </p:nvPr>
        </p:nvSpPr>
        <p:spPr>
          <a:xfrm>
            <a:off x="5519936" y="1585546"/>
            <a:ext cx="6408538" cy="369331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30 min to configure an Agent and Invoke it</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102"/>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Evaluator Deepdive</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7" name="Shape 2067"/>
        <p:cNvGrpSpPr/>
        <p:nvPr/>
      </p:nvGrpSpPr>
      <p:grpSpPr>
        <a:xfrm>
          <a:off x="0" y="0"/>
          <a:ext cx="0" cy="0"/>
          <a:chOff x="0" y="0"/>
          <a:chExt cx="0" cy="0"/>
        </a:xfrm>
      </p:grpSpPr>
      <p:sp>
        <p:nvSpPr>
          <p:cNvPr id="2068" name="Google Shape;2068;p103"/>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Coffee</a:t>
            </a:r>
            <a:br>
              <a:rPr lang="en-US"/>
            </a:br>
            <a:r>
              <a:rPr lang="en-US"/>
              <a:t>Break</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3" name="Shape 2073"/>
        <p:cNvGrpSpPr/>
        <p:nvPr/>
      </p:nvGrpSpPr>
      <p:grpSpPr>
        <a:xfrm>
          <a:off x="0" y="0"/>
          <a:ext cx="0" cy="0"/>
          <a:chOff x="0" y="0"/>
          <a:chExt cx="0" cy="0"/>
        </a:xfrm>
      </p:grpSpPr>
      <p:sp>
        <p:nvSpPr>
          <p:cNvPr id="2074" name="Google Shape;2074;h2d7e8d0cc2ebee9_0_0"/>
          <p:cNvSpPr txBox="1"/>
          <p:nvPr>
            <p:ph type="title"/>
          </p:nvPr>
        </p:nvSpPr>
        <p:spPr>
          <a:xfrm>
            <a:off x="5519936" y="2508876"/>
            <a:ext cx="6408600" cy="18471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2. The </a:t>
            </a:r>
            <a:r>
              <a:rPr lang="en-US" u="sng">
                <a:solidFill>
                  <a:schemeClr val="hlink"/>
                </a:solidFill>
                <a:hlinkClick r:id="rId3"/>
              </a:rPr>
              <a:t>orq.ai</a:t>
            </a:r>
            <a:r>
              <a:rPr lang="en-US"/>
              <a:t> flow introduction</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9" name="Shape 2079"/>
        <p:cNvGrpSpPr/>
        <p:nvPr/>
      </p:nvGrpSpPr>
      <p:grpSpPr>
        <a:xfrm>
          <a:off x="0" y="0"/>
          <a:ext cx="0" cy="0"/>
          <a:chOff x="0" y="0"/>
          <a:chExt cx="0" cy="0"/>
        </a:xfrm>
      </p:grpSpPr>
      <p:sp>
        <p:nvSpPr>
          <p:cNvPr id="2080" name="Google Shape;2080;h2d7e8d0cc2ebee9_0_5"/>
          <p:cNvSpPr/>
          <p:nvPr/>
        </p:nvSpPr>
        <p:spPr>
          <a:xfrm>
            <a:off x="263351"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081" name="Google Shape;2081;h2d7e8d0cc2ebee9_0_5"/>
          <p:cNvSpPr/>
          <p:nvPr/>
        </p:nvSpPr>
        <p:spPr>
          <a:xfrm>
            <a:off x="2620890"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082" name="Google Shape;2082;h2d7e8d0cc2ebee9_0_5"/>
          <p:cNvSpPr/>
          <p:nvPr/>
        </p:nvSpPr>
        <p:spPr>
          <a:xfrm>
            <a:off x="4978429"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083" name="Google Shape;2083;h2d7e8d0cc2ebee9_0_5"/>
          <p:cNvSpPr/>
          <p:nvPr/>
        </p:nvSpPr>
        <p:spPr>
          <a:xfrm>
            <a:off x="7335968"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084" name="Google Shape;2084;h2d7e8d0cc2ebee9_0_5"/>
          <p:cNvSpPr/>
          <p:nvPr/>
        </p:nvSpPr>
        <p:spPr>
          <a:xfrm>
            <a:off x="9693508"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085" name="Google Shape;2085;h2d7e8d0cc2ebee9_0_5"/>
          <p:cNvSpPr txBox="1"/>
          <p:nvPr>
            <p:ph type="title"/>
          </p:nvPr>
        </p:nvSpPr>
        <p:spPr>
          <a:xfrm>
            <a:off x="263525" y="512676"/>
            <a:ext cx="11664900" cy="861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a:t>
            </a:r>
            <a:r>
              <a:rPr lang="en-US" u="sng">
                <a:solidFill>
                  <a:schemeClr val="hlink"/>
                </a:solidFill>
                <a:hlinkClick r:id="rId3"/>
              </a:rPr>
              <a:t>orq.ai</a:t>
            </a:r>
            <a:r>
              <a:rPr lang="en-US"/>
              <a:t> flow creates clear ownership across every phase of the agent lifecycle</a:t>
            </a:r>
            <a:endParaRPr/>
          </a:p>
        </p:txBody>
      </p:sp>
      <p:sp>
        <p:nvSpPr>
          <p:cNvPr id="2086" name="Google Shape;2086;h2d7e8d0cc2ebee9_0_5"/>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THE ORQFLOW INTRODUCTION</a:t>
            </a:r>
            <a:endParaRPr/>
          </a:p>
        </p:txBody>
      </p:sp>
      <p:sp>
        <p:nvSpPr>
          <p:cNvPr id="2087" name="Google Shape;2087;h2d7e8d0cc2ebee9_0_5"/>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088" name="Google Shape;2088;h2d7e8d0cc2ebee9_0_5"/>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089" name="Google Shape;2089;h2d7e8d0cc2ebee9_0_5"/>
          <p:cNvSpPr txBox="1"/>
          <p:nvPr>
            <p:ph idx="12" type="sldNum"/>
          </p:nvPr>
        </p:nvSpPr>
        <p:spPr>
          <a:xfrm>
            <a:off x="12008941" y="6673964"/>
            <a:ext cx="1026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090" name="Google Shape;2090;h2d7e8d0cc2ebee9_0_5"/>
          <p:cNvSpPr/>
          <p:nvPr/>
        </p:nvSpPr>
        <p:spPr>
          <a:xfrm>
            <a:off x="385750" y="2427150"/>
            <a:ext cx="1989446" cy="395866"/>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091" name="Google Shape;2091;h2d7e8d0cc2ebee9_0_5"/>
          <p:cNvSpPr/>
          <p:nvPr/>
        </p:nvSpPr>
        <p:spPr>
          <a:xfrm>
            <a:off x="2743289"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2092" name="Google Shape;2092;h2d7e8d0cc2ebee9_0_5"/>
          <p:cNvSpPr/>
          <p:nvPr/>
        </p:nvSpPr>
        <p:spPr>
          <a:xfrm>
            <a:off x="6166607" y="1664804"/>
            <a:ext cx="2216400" cy="396000"/>
          </a:xfrm>
          <a:prstGeom prst="roundRect">
            <a:avLst>
              <a:gd fmla="val 11088" name="adj"/>
            </a:avLst>
          </a:pr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093" name="Google Shape;2093;h2d7e8d0cc2ebee9_0_5"/>
          <p:cNvSpPr/>
          <p:nvPr/>
        </p:nvSpPr>
        <p:spPr>
          <a:xfrm>
            <a:off x="5100828"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094" name="Google Shape;2094;h2d7e8d0cc2ebee9_0_5"/>
          <p:cNvSpPr/>
          <p:nvPr/>
        </p:nvSpPr>
        <p:spPr>
          <a:xfrm>
            <a:off x="7458367"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095" name="Google Shape;2095;h2d7e8d0cc2ebee9_0_5"/>
          <p:cNvSpPr/>
          <p:nvPr/>
        </p:nvSpPr>
        <p:spPr>
          <a:xfrm>
            <a:off x="9815907"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cxnSp>
        <p:nvCxnSpPr>
          <p:cNvPr id="2096" name="Google Shape;2096;h2d7e8d0cc2ebee9_0_5"/>
          <p:cNvCxnSpPr>
            <a:stCxn id="2084" idx="0"/>
            <a:endCxn id="2092" idx="3"/>
          </p:cNvCxnSpPr>
          <p:nvPr/>
        </p:nvCxnSpPr>
        <p:spPr>
          <a:xfrm flipH="1" rot="5400000">
            <a:off x="9374458" y="871390"/>
            <a:ext cx="445200" cy="2427900"/>
          </a:xfrm>
          <a:prstGeom prst="bentConnector2">
            <a:avLst/>
          </a:prstGeom>
          <a:noFill/>
          <a:ln cap="flat" cmpd="sng" w="12700">
            <a:solidFill>
              <a:srgbClr val="DF5325"/>
            </a:solidFill>
            <a:prstDash val="lgDash"/>
            <a:miter lim="80"/>
            <a:headEnd len="sm" w="sm" type="none"/>
            <a:tailEnd len="sm" w="sm" type="none"/>
          </a:ln>
        </p:spPr>
      </p:cxnSp>
      <p:cxnSp>
        <p:nvCxnSpPr>
          <p:cNvPr id="2097" name="Google Shape;2097;h2d7e8d0cc2ebee9_0_5"/>
          <p:cNvCxnSpPr>
            <a:stCxn id="2092" idx="1"/>
            <a:endCxn id="2081" idx="0"/>
          </p:cNvCxnSpPr>
          <p:nvPr/>
        </p:nvCxnSpPr>
        <p:spPr>
          <a:xfrm flipH="1">
            <a:off x="3738407" y="1862804"/>
            <a:ext cx="2428200" cy="445200"/>
          </a:xfrm>
          <a:prstGeom prst="bentConnector2">
            <a:avLst/>
          </a:prstGeom>
          <a:noFill/>
          <a:ln cap="flat" cmpd="sng" w="12700">
            <a:solidFill>
              <a:srgbClr val="DF5325"/>
            </a:solidFill>
            <a:prstDash val="lgDash"/>
            <a:miter lim="80"/>
            <a:headEnd len="sm" w="sm" type="none"/>
            <a:tailEnd len="med" w="med" type="triangle"/>
          </a:ln>
        </p:spPr>
      </p:cxnSp>
      <p:sp>
        <p:nvSpPr>
          <p:cNvPr id="2098" name="Google Shape;2098;h2d7e8d0cc2ebee9_0_5"/>
          <p:cNvSpPr/>
          <p:nvPr/>
        </p:nvSpPr>
        <p:spPr>
          <a:xfrm>
            <a:off x="6869986" y="1751973"/>
            <a:ext cx="809775" cy="22172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099" name="Google Shape;2099;h2d7e8d0cc2ebee9_0_5"/>
          <p:cNvPicPr preferRelativeResize="0"/>
          <p:nvPr/>
        </p:nvPicPr>
        <p:blipFill rotWithShape="1">
          <a:blip r:embed="rId4">
            <a:alphaModFix/>
          </a:blip>
          <a:srcRect b="0" l="0" r="0" t="0"/>
          <a:stretch/>
        </p:blipFill>
        <p:spPr>
          <a:xfrm>
            <a:off x="7584071" y="2499150"/>
            <a:ext cx="252000" cy="252000"/>
          </a:xfrm>
          <a:prstGeom prst="rect">
            <a:avLst/>
          </a:prstGeom>
          <a:noFill/>
          <a:ln>
            <a:noFill/>
          </a:ln>
        </p:spPr>
      </p:pic>
      <p:pic>
        <p:nvPicPr>
          <p:cNvPr id="2100" name="Google Shape;2100;h2d7e8d0cc2ebee9_0_5"/>
          <p:cNvPicPr preferRelativeResize="0"/>
          <p:nvPr/>
        </p:nvPicPr>
        <p:blipFill rotWithShape="1">
          <a:blip r:embed="rId5">
            <a:alphaModFix/>
          </a:blip>
          <a:srcRect b="0" l="0" r="0" t="0"/>
          <a:stretch/>
        </p:blipFill>
        <p:spPr>
          <a:xfrm>
            <a:off x="9948456" y="2499150"/>
            <a:ext cx="252000" cy="252000"/>
          </a:xfrm>
          <a:prstGeom prst="rect">
            <a:avLst/>
          </a:prstGeom>
          <a:noFill/>
          <a:ln>
            <a:noFill/>
          </a:ln>
        </p:spPr>
      </p:pic>
      <p:pic>
        <p:nvPicPr>
          <p:cNvPr id="2101" name="Google Shape;2101;h2d7e8d0cc2ebee9_0_5"/>
          <p:cNvPicPr preferRelativeResize="0"/>
          <p:nvPr/>
        </p:nvPicPr>
        <p:blipFill rotWithShape="1">
          <a:blip r:embed="rId6">
            <a:alphaModFix/>
          </a:blip>
          <a:srcRect b="0" l="0" r="0" t="0"/>
          <a:stretch/>
        </p:blipFill>
        <p:spPr>
          <a:xfrm>
            <a:off x="2855299" y="2499150"/>
            <a:ext cx="298667" cy="252000"/>
          </a:xfrm>
          <a:prstGeom prst="rect">
            <a:avLst/>
          </a:prstGeom>
          <a:noFill/>
          <a:ln>
            <a:noFill/>
          </a:ln>
        </p:spPr>
      </p:pic>
      <p:pic>
        <p:nvPicPr>
          <p:cNvPr id="2102" name="Google Shape;2102;h2d7e8d0cc2ebee9_0_5"/>
          <p:cNvPicPr preferRelativeResize="0"/>
          <p:nvPr/>
        </p:nvPicPr>
        <p:blipFill rotWithShape="1">
          <a:blip r:embed="rId7">
            <a:alphaModFix/>
          </a:blip>
          <a:srcRect b="0" l="0" r="0" t="0"/>
          <a:stretch/>
        </p:blipFill>
        <p:spPr>
          <a:xfrm>
            <a:off x="5219685" y="2499150"/>
            <a:ext cx="228375" cy="252000"/>
          </a:xfrm>
          <a:prstGeom prst="rect">
            <a:avLst/>
          </a:prstGeom>
          <a:noFill/>
          <a:ln>
            <a:noFill/>
          </a:ln>
        </p:spPr>
      </p:pic>
      <p:pic>
        <p:nvPicPr>
          <p:cNvPr id="2103" name="Google Shape;2103;h2d7e8d0cc2ebee9_0_5"/>
          <p:cNvPicPr preferRelativeResize="0"/>
          <p:nvPr/>
        </p:nvPicPr>
        <p:blipFill rotWithShape="1">
          <a:blip r:embed="rId8">
            <a:alphaModFix/>
          </a:blip>
          <a:srcRect b="0" l="0" r="0" t="0"/>
          <a:stretch/>
        </p:blipFill>
        <p:spPr>
          <a:xfrm>
            <a:off x="490913" y="2499150"/>
            <a:ext cx="252000" cy="252000"/>
          </a:xfrm>
          <a:prstGeom prst="rect">
            <a:avLst/>
          </a:prstGeom>
          <a:noFill/>
          <a:ln>
            <a:noFill/>
          </a:ln>
        </p:spPr>
      </p:pic>
      <p:sp>
        <p:nvSpPr>
          <p:cNvPr id="2104" name="Google Shape;2104;h2d7e8d0cc2ebee9_0_5"/>
          <p:cNvSpPr/>
          <p:nvPr/>
        </p:nvSpPr>
        <p:spPr>
          <a:xfrm>
            <a:off x="385750"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05" name="Google Shape;2105;h2d7e8d0cc2ebee9_0_5"/>
          <p:cNvSpPr/>
          <p:nvPr/>
        </p:nvSpPr>
        <p:spPr>
          <a:xfrm>
            <a:off x="385750"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106" name="Google Shape;2106;h2d7e8d0cc2ebee9_0_5"/>
          <p:cNvSpPr/>
          <p:nvPr/>
        </p:nvSpPr>
        <p:spPr>
          <a:xfrm>
            <a:off x="2743289"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07" name="Google Shape;2107;h2d7e8d0cc2ebee9_0_5"/>
          <p:cNvSpPr/>
          <p:nvPr/>
        </p:nvSpPr>
        <p:spPr>
          <a:xfrm>
            <a:off x="5100828"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08" name="Google Shape;2108;h2d7e8d0cc2ebee9_0_5"/>
          <p:cNvSpPr/>
          <p:nvPr/>
        </p:nvSpPr>
        <p:spPr>
          <a:xfrm>
            <a:off x="5100828"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109" name="Google Shape;2109;h2d7e8d0cc2ebee9_0_5"/>
          <p:cNvSpPr/>
          <p:nvPr/>
        </p:nvSpPr>
        <p:spPr>
          <a:xfrm>
            <a:off x="5100828"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Data scientist</a:t>
            </a:r>
            <a:endParaRPr b="0" i="0" sz="1400" u="none" cap="none" strike="noStrike">
              <a:solidFill>
                <a:srgbClr val="000000"/>
              </a:solidFill>
              <a:latin typeface="Arial"/>
              <a:ea typeface="Arial"/>
              <a:cs typeface="Arial"/>
              <a:sym typeface="Arial"/>
            </a:endParaRPr>
          </a:p>
        </p:txBody>
      </p:sp>
      <p:sp>
        <p:nvSpPr>
          <p:cNvPr id="2110" name="Google Shape;2110;h2d7e8d0cc2ebee9_0_5"/>
          <p:cNvSpPr/>
          <p:nvPr/>
        </p:nvSpPr>
        <p:spPr>
          <a:xfrm>
            <a:off x="7458367"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QA / DevOps Engineers</a:t>
            </a:r>
            <a:endParaRPr b="0" i="0" sz="1400" u="none" cap="none" strike="noStrike">
              <a:solidFill>
                <a:srgbClr val="000000"/>
              </a:solidFill>
              <a:latin typeface="Arial"/>
              <a:ea typeface="Arial"/>
              <a:cs typeface="Arial"/>
              <a:sym typeface="Arial"/>
            </a:endParaRPr>
          </a:p>
        </p:txBody>
      </p:sp>
      <p:sp>
        <p:nvSpPr>
          <p:cNvPr id="2111" name="Google Shape;2111;h2d7e8d0cc2ebee9_0_5"/>
          <p:cNvSpPr/>
          <p:nvPr/>
        </p:nvSpPr>
        <p:spPr>
          <a:xfrm>
            <a:off x="9815907"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12" name="Google Shape;2112;h2d7e8d0cc2ebee9_0_5"/>
          <p:cNvSpPr/>
          <p:nvPr/>
        </p:nvSpPr>
        <p:spPr>
          <a:xfrm>
            <a:off x="9815907"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1000"/>
              <a:buFont typeface="Arial"/>
              <a:buNone/>
            </a:pPr>
            <a:r>
              <a:rPr b="0" i="0" lang="en-US" sz="1000" u="none" cap="none" strike="noStrike">
                <a:solidFill>
                  <a:srgbClr val="3F3F3F"/>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7" name="Shape 2117"/>
        <p:cNvGrpSpPr/>
        <p:nvPr/>
      </p:nvGrpSpPr>
      <p:grpSpPr>
        <a:xfrm>
          <a:off x="0" y="0"/>
          <a:ext cx="0" cy="0"/>
          <a:chOff x="0" y="0"/>
          <a:chExt cx="0" cy="0"/>
        </a:xfrm>
      </p:grpSpPr>
      <p:sp>
        <p:nvSpPr>
          <p:cNvPr id="2118" name="Google Shape;2118;h2d7e8d0cc2ebee9_0_42"/>
          <p:cNvSpPr/>
          <p:nvPr/>
        </p:nvSpPr>
        <p:spPr>
          <a:xfrm>
            <a:off x="2620890" y="2307940"/>
            <a:ext cx="2235000" cy="1280700"/>
          </a:xfrm>
          <a:prstGeom prst="roundRect">
            <a:avLst>
              <a:gd fmla="val 5139"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accent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19" name="Google Shape;2119;h2d7e8d0cc2ebee9_0_42"/>
          <p:cNvSpPr/>
          <p:nvPr/>
        </p:nvSpPr>
        <p:spPr>
          <a:xfrm>
            <a:off x="263351"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20" name="Google Shape;2120;h2d7e8d0cc2ebee9_0_42"/>
          <p:cNvSpPr/>
          <p:nvPr/>
        </p:nvSpPr>
        <p:spPr>
          <a:xfrm>
            <a:off x="4978429"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21" name="Google Shape;2121;h2d7e8d0cc2ebee9_0_42"/>
          <p:cNvSpPr/>
          <p:nvPr/>
        </p:nvSpPr>
        <p:spPr>
          <a:xfrm>
            <a:off x="7335968"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22" name="Google Shape;2122;h2d7e8d0cc2ebee9_0_42"/>
          <p:cNvSpPr/>
          <p:nvPr/>
        </p:nvSpPr>
        <p:spPr>
          <a:xfrm>
            <a:off x="9693508"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23" name="Google Shape;2123;h2d7e8d0cc2ebee9_0_42"/>
          <p:cNvSpPr txBox="1"/>
          <p:nvPr>
            <p:ph type="title"/>
          </p:nvPr>
        </p:nvSpPr>
        <p:spPr>
          <a:xfrm>
            <a:off x="263525" y="512676"/>
            <a:ext cx="11664900" cy="861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Orqflow creates clear ownership across every phase of the agent lifecycle</a:t>
            </a:r>
            <a:endParaRPr/>
          </a:p>
        </p:txBody>
      </p:sp>
      <p:sp>
        <p:nvSpPr>
          <p:cNvPr id="2124" name="Google Shape;2124;h2d7e8d0cc2ebee9_0_42"/>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THE ORQFLOW INTRODUCTION</a:t>
            </a:r>
            <a:endParaRPr/>
          </a:p>
        </p:txBody>
      </p:sp>
      <p:sp>
        <p:nvSpPr>
          <p:cNvPr id="2125" name="Google Shape;2125;h2d7e8d0cc2ebee9_0_42"/>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126" name="Google Shape;2126;h2d7e8d0cc2ebee9_0_42"/>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127" name="Google Shape;2127;h2d7e8d0cc2ebee9_0_42"/>
          <p:cNvSpPr txBox="1"/>
          <p:nvPr>
            <p:ph idx="12" type="sldNum"/>
          </p:nvPr>
        </p:nvSpPr>
        <p:spPr>
          <a:xfrm>
            <a:off x="12008941" y="6673964"/>
            <a:ext cx="1026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128" name="Google Shape;2128;h2d7e8d0cc2ebee9_0_42"/>
          <p:cNvSpPr/>
          <p:nvPr/>
        </p:nvSpPr>
        <p:spPr>
          <a:xfrm>
            <a:off x="385750" y="2427150"/>
            <a:ext cx="1989446" cy="395866"/>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129" name="Google Shape;2129;h2d7e8d0cc2ebee9_0_42"/>
          <p:cNvSpPr/>
          <p:nvPr/>
        </p:nvSpPr>
        <p:spPr>
          <a:xfrm>
            <a:off x="6166607" y="1664804"/>
            <a:ext cx="2216400" cy="396000"/>
          </a:xfrm>
          <a:prstGeom prst="roundRect">
            <a:avLst>
              <a:gd fmla="val 11088" name="adj"/>
            </a:avLst>
          </a:pr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30" name="Google Shape;2130;h2d7e8d0cc2ebee9_0_42"/>
          <p:cNvSpPr/>
          <p:nvPr/>
        </p:nvSpPr>
        <p:spPr>
          <a:xfrm>
            <a:off x="5100828"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131" name="Google Shape;2131;h2d7e8d0cc2ebee9_0_42"/>
          <p:cNvSpPr/>
          <p:nvPr/>
        </p:nvSpPr>
        <p:spPr>
          <a:xfrm>
            <a:off x="7458367"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132" name="Google Shape;2132;h2d7e8d0cc2ebee9_0_42"/>
          <p:cNvSpPr/>
          <p:nvPr/>
        </p:nvSpPr>
        <p:spPr>
          <a:xfrm>
            <a:off x="9815907"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cxnSp>
        <p:nvCxnSpPr>
          <p:cNvPr id="2133" name="Google Shape;2133;h2d7e8d0cc2ebee9_0_42"/>
          <p:cNvCxnSpPr>
            <a:stCxn id="2122" idx="0"/>
            <a:endCxn id="2129" idx="3"/>
          </p:cNvCxnSpPr>
          <p:nvPr/>
        </p:nvCxnSpPr>
        <p:spPr>
          <a:xfrm flipH="1" rot="5400000">
            <a:off x="9374458" y="871390"/>
            <a:ext cx="445200" cy="2427900"/>
          </a:xfrm>
          <a:prstGeom prst="bentConnector2">
            <a:avLst/>
          </a:prstGeom>
          <a:noFill/>
          <a:ln cap="flat" cmpd="sng" w="12700">
            <a:solidFill>
              <a:srgbClr val="DF5325"/>
            </a:solidFill>
            <a:prstDash val="lgDash"/>
            <a:miter lim="80"/>
            <a:headEnd len="sm" w="sm" type="none"/>
            <a:tailEnd len="sm" w="sm" type="none"/>
          </a:ln>
        </p:spPr>
      </p:cxnSp>
      <p:cxnSp>
        <p:nvCxnSpPr>
          <p:cNvPr id="2134" name="Google Shape;2134;h2d7e8d0cc2ebee9_0_42"/>
          <p:cNvCxnSpPr>
            <a:stCxn id="2129" idx="1"/>
            <a:endCxn id="2118" idx="0"/>
          </p:cNvCxnSpPr>
          <p:nvPr/>
        </p:nvCxnSpPr>
        <p:spPr>
          <a:xfrm flipH="1">
            <a:off x="3738407" y="1862804"/>
            <a:ext cx="2428200" cy="445200"/>
          </a:xfrm>
          <a:prstGeom prst="bentConnector2">
            <a:avLst/>
          </a:prstGeom>
          <a:noFill/>
          <a:ln cap="flat" cmpd="sng" w="12700">
            <a:solidFill>
              <a:srgbClr val="DF5325"/>
            </a:solidFill>
            <a:prstDash val="lgDash"/>
            <a:miter lim="80"/>
            <a:headEnd len="sm" w="sm" type="none"/>
            <a:tailEnd len="med" w="med" type="triangle"/>
          </a:ln>
        </p:spPr>
      </p:cxnSp>
      <p:sp>
        <p:nvSpPr>
          <p:cNvPr id="2135" name="Google Shape;2135;h2d7e8d0cc2ebee9_0_42"/>
          <p:cNvSpPr/>
          <p:nvPr/>
        </p:nvSpPr>
        <p:spPr>
          <a:xfrm>
            <a:off x="6869986" y="1751973"/>
            <a:ext cx="809775" cy="22172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136" name="Google Shape;2136;h2d7e8d0cc2ebee9_0_42"/>
          <p:cNvPicPr preferRelativeResize="0"/>
          <p:nvPr/>
        </p:nvPicPr>
        <p:blipFill rotWithShape="1">
          <a:blip r:embed="rId3">
            <a:alphaModFix/>
          </a:blip>
          <a:srcRect b="0" l="0" r="0" t="0"/>
          <a:stretch/>
        </p:blipFill>
        <p:spPr>
          <a:xfrm>
            <a:off x="7584071" y="2499150"/>
            <a:ext cx="252000" cy="252000"/>
          </a:xfrm>
          <a:prstGeom prst="rect">
            <a:avLst/>
          </a:prstGeom>
          <a:noFill/>
          <a:ln>
            <a:noFill/>
          </a:ln>
        </p:spPr>
      </p:pic>
      <p:pic>
        <p:nvPicPr>
          <p:cNvPr id="2137" name="Google Shape;2137;h2d7e8d0cc2ebee9_0_42"/>
          <p:cNvPicPr preferRelativeResize="0"/>
          <p:nvPr/>
        </p:nvPicPr>
        <p:blipFill rotWithShape="1">
          <a:blip r:embed="rId4">
            <a:alphaModFix/>
          </a:blip>
          <a:srcRect b="0" l="0" r="0" t="0"/>
          <a:stretch/>
        </p:blipFill>
        <p:spPr>
          <a:xfrm>
            <a:off x="9948456" y="2499150"/>
            <a:ext cx="252000" cy="252000"/>
          </a:xfrm>
          <a:prstGeom prst="rect">
            <a:avLst/>
          </a:prstGeom>
          <a:noFill/>
          <a:ln>
            <a:noFill/>
          </a:ln>
        </p:spPr>
      </p:pic>
      <p:pic>
        <p:nvPicPr>
          <p:cNvPr id="2138" name="Google Shape;2138;h2d7e8d0cc2ebee9_0_42"/>
          <p:cNvPicPr preferRelativeResize="0"/>
          <p:nvPr/>
        </p:nvPicPr>
        <p:blipFill rotWithShape="1">
          <a:blip r:embed="rId5">
            <a:alphaModFix/>
          </a:blip>
          <a:srcRect b="0" l="0" r="0" t="0"/>
          <a:stretch/>
        </p:blipFill>
        <p:spPr>
          <a:xfrm>
            <a:off x="5219685" y="2499150"/>
            <a:ext cx="228375" cy="252000"/>
          </a:xfrm>
          <a:prstGeom prst="rect">
            <a:avLst/>
          </a:prstGeom>
          <a:noFill/>
          <a:ln>
            <a:noFill/>
          </a:ln>
        </p:spPr>
      </p:pic>
      <p:pic>
        <p:nvPicPr>
          <p:cNvPr id="2139" name="Google Shape;2139;h2d7e8d0cc2ebee9_0_42"/>
          <p:cNvPicPr preferRelativeResize="0"/>
          <p:nvPr/>
        </p:nvPicPr>
        <p:blipFill rotWithShape="1">
          <a:blip r:embed="rId6">
            <a:alphaModFix/>
          </a:blip>
          <a:srcRect b="0" l="0" r="0" t="0"/>
          <a:stretch/>
        </p:blipFill>
        <p:spPr>
          <a:xfrm>
            <a:off x="490913" y="2499150"/>
            <a:ext cx="252000" cy="252000"/>
          </a:xfrm>
          <a:prstGeom prst="rect">
            <a:avLst/>
          </a:prstGeom>
          <a:noFill/>
          <a:ln>
            <a:noFill/>
          </a:ln>
        </p:spPr>
      </p:pic>
      <p:sp>
        <p:nvSpPr>
          <p:cNvPr id="2140" name="Google Shape;2140;h2d7e8d0cc2ebee9_0_42"/>
          <p:cNvSpPr/>
          <p:nvPr/>
        </p:nvSpPr>
        <p:spPr>
          <a:xfrm>
            <a:off x="385750"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41" name="Google Shape;2141;h2d7e8d0cc2ebee9_0_42"/>
          <p:cNvSpPr/>
          <p:nvPr/>
        </p:nvSpPr>
        <p:spPr>
          <a:xfrm>
            <a:off x="385750"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142" name="Google Shape;2142;h2d7e8d0cc2ebee9_0_42"/>
          <p:cNvSpPr/>
          <p:nvPr/>
        </p:nvSpPr>
        <p:spPr>
          <a:xfrm>
            <a:off x="2743289"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Design</a:t>
            </a:r>
            <a:endParaRPr b="0" i="0" sz="1400" u="none" cap="none" strike="noStrike">
              <a:solidFill>
                <a:srgbClr val="000000"/>
              </a:solidFill>
              <a:latin typeface="Arial"/>
              <a:ea typeface="Arial"/>
              <a:cs typeface="Arial"/>
              <a:sym typeface="Arial"/>
            </a:endParaRPr>
          </a:p>
        </p:txBody>
      </p:sp>
      <p:sp>
        <p:nvSpPr>
          <p:cNvPr id="2143" name="Google Shape;2143;h2d7e8d0cc2ebee9_0_42"/>
          <p:cNvSpPr/>
          <p:nvPr/>
        </p:nvSpPr>
        <p:spPr>
          <a:xfrm>
            <a:off x="2743289"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44" name="Google Shape;2144;h2d7e8d0cc2ebee9_0_42"/>
          <p:cNvSpPr/>
          <p:nvPr/>
        </p:nvSpPr>
        <p:spPr>
          <a:xfrm>
            <a:off x="5100828"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45" name="Google Shape;2145;h2d7e8d0cc2ebee9_0_42"/>
          <p:cNvSpPr/>
          <p:nvPr/>
        </p:nvSpPr>
        <p:spPr>
          <a:xfrm>
            <a:off x="5100828"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146" name="Google Shape;2146;h2d7e8d0cc2ebee9_0_42"/>
          <p:cNvSpPr/>
          <p:nvPr/>
        </p:nvSpPr>
        <p:spPr>
          <a:xfrm>
            <a:off x="5100828"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Data scientist</a:t>
            </a:r>
            <a:endParaRPr b="0" i="0" sz="1400" u="none" cap="none" strike="noStrike">
              <a:solidFill>
                <a:srgbClr val="000000"/>
              </a:solidFill>
              <a:latin typeface="Arial"/>
              <a:ea typeface="Arial"/>
              <a:cs typeface="Arial"/>
              <a:sym typeface="Arial"/>
            </a:endParaRPr>
          </a:p>
        </p:txBody>
      </p:sp>
      <p:sp>
        <p:nvSpPr>
          <p:cNvPr id="2147" name="Google Shape;2147;h2d7e8d0cc2ebee9_0_42"/>
          <p:cNvSpPr/>
          <p:nvPr/>
        </p:nvSpPr>
        <p:spPr>
          <a:xfrm>
            <a:off x="7458367"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Engineer</a:t>
            </a:r>
            <a:endParaRPr b="0" i="0" sz="1400" u="none" cap="none" strike="noStrike">
              <a:solidFill>
                <a:srgbClr val="000000"/>
              </a:solidFill>
              <a:latin typeface="Arial"/>
              <a:ea typeface="Arial"/>
              <a:cs typeface="Arial"/>
              <a:sym typeface="Arial"/>
            </a:endParaRPr>
          </a:p>
        </p:txBody>
      </p:sp>
      <p:sp>
        <p:nvSpPr>
          <p:cNvPr id="2148" name="Google Shape;2148;h2d7e8d0cc2ebee9_0_42"/>
          <p:cNvSpPr/>
          <p:nvPr/>
        </p:nvSpPr>
        <p:spPr>
          <a:xfrm>
            <a:off x="9815907"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149" name="Google Shape;2149;h2d7e8d0cc2ebee9_0_42"/>
          <p:cNvSpPr/>
          <p:nvPr/>
        </p:nvSpPr>
        <p:spPr>
          <a:xfrm>
            <a:off x="9815907"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1000"/>
              <a:buFont typeface="Arial"/>
              <a:buNone/>
            </a:pPr>
            <a:r>
              <a:rPr b="0" i="0" lang="en-US" sz="1000" u="none" cap="none" strike="noStrike">
                <a:solidFill>
                  <a:srgbClr val="3F3F3F"/>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sp>
        <p:nvSpPr>
          <p:cNvPr id="2150" name="Google Shape;2150;h2d7e8d0cc2ebee9_0_42"/>
          <p:cNvSpPr/>
          <p:nvPr/>
        </p:nvSpPr>
        <p:spPr>
          <a:xfrm>
            <a:off x="2620890" y="3711327"/>
            <a:ext cx="2235140" cy="1280703"/>
          </a:xfrm>
          <a:custGeom>
            <a:rect b="b" l="l" r="r" t="t"/>
            <a:pathLst>
              <a:path extrusionOk="0" h="1280703" w="2235140">
                <a:moveTo>
                  <a:pt x="65355" y="0"/>
                </a:moveTo>
                <a:lnTo>
                  <a:pt x="2169785" y="0"/>
                </a:lnTo>
                <a:cubicBezTo>
                  <a:pt x="2205880" y="0"/>
                  <a:pt x="2235140" y="29260"/>
                  <a:pt x="2235140" y="65355"/>
                </a:cubicBezTo>
                <a:lnTo>
                  <a:pt x="2235140" y="1215348"/>
                </a:lnTo>
                <a:cubicBezTo>
                  <a:pt x="2235140" y="1251443"/>
                  <a:pt x="2205880" y="1280703"/>
                  <a:pt x="2169785" y="1280703"/>
                </a:cubicBezTo>
                <a:lnTo>
                  <a:pt x="65355" y="1280703"/>
                </a:lnTo>
                <a:cubicBezTo>
                  <a:pt x="29260" y="1280703"/>
                  <a:pt x="0" y="1251443"/>
                  <a:pt x="0" y="1215348"/>
                </a:cubicBezTo>
                <a:lnTo>
                  <a:pt x="0" y="65355"/>
                </a:lnTo>
                <a:cubicBezTo>
                  <a:pt x="0" y="29260"/>
                  <a:pt x="29260" y="0"/>
                  <a:pt x="65355" y="0"/>
                </a:cubicBezTo>
                <a:close/>
              </a:path>
            </a:pathLst>
          </a:cu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51" name="Google Shape;2151;h2d7e8d0cc2ebee9_0_42"/>
          <p:cNvSpPr/>
          <p:nvPr/>
        </p:nvSpPr>
        <p:spPr>
          <a:xfrm>
            <a:off x="2743289" y="3830537"/>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Development</a:t>
            </a:r>
            <a:endParaRPr b="0" i="0" sz="1400" u="none" cap="none" strike="noStrike">
              <a:solidFill>
                <a:srgbClr val="000000"/>
              </a:solidFill>
              <a:latin typeface="Arial"/>
              <a:ea typeface="Arial"/>
              <a:cs typeface="Arial"/>
              <a:sym typeface="Arial"/>
            </a:endParaRPr>
          </a:p>
        </p:txBody>
      </p:sp>
      <p:pic>
        <p:nvPicPr>
          <p:cNvPr id="2152" name="Google Shape;2152;h2d7e8d0cc2ebee9_0_42"/>
          <p:cNvPicPr preferRelativeResize="0"/>
          <p:nvPr/>
        </p:nvPicPr>
        <p:blipFill rotWithShape="1">
          <a:blip r:embed="rId7">
            <a:alphaModFix/>
          </a:blip>
          <a:srcRect b="0" l="0" r="0" t="0"/>
          <a:stretch/>
        </p:blipFill>
        <p:spPr>
          <a:xfrm>
            <a:off x="2855299" y="3902537"/>
            <a:ext cx="298667" cy="252000"/>
          </a:xfrm>
          <a:prstGeom prst="rect">
            <a:avLst/>
          </a:prstGeom>
          <a:noFill/>
          <a:ln>
            <a:noFill/>
          </a:ln>
        </p:spPr>
      </p:pic>
      <p:sp>
        <p:nvSpPr>
          <p:cNvPr id="2153" name="Google Shape;2153;h2d7e8d0cc2ebee9_0_42"/>
          <p:cNvSpPr/>
          <p:nvPr/>
        </p:nvSpPr>
        <p:spPr>
          <a:xfrm>
            <a:off x="2743289" y="447367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Engineer</a:t>
            </a:r>
            <a:endParaRPr b="0" i="0" sz="1400" u="none" cap="none" strike="noStrike">
              <a:solidFill>
                <a:srgbClr val="000000"/>
              </a:solidFill>
              <a:latin typeface="Arial"/>
              <a:ea typeface="Arial"/>
              <a:cs typeface="Arial"/>
              <a:sym typeface="Arial"/>
            </a:endParaRPr>
          </a:p>
        </p:txBody>
      </p:sp>
      <p:sp>
        <p:nvSpPr>
          <p:cNvPr id="2154" name="Google Shape;2154;h2d7e8d0cc2ebee9_0_42"/>
          <p:cNvSpPr/>
          <p:nvPr/>
        </p:nvSpPr>
        <p:spPr>
          <a:xfrm>
            <a:off x="2620890" y="5114714"/>
            <a:ext cx="2235140" cy="1280703"/>
          </a:xfrm>
          <a:custGeom>
            <a:rect b="b" l="l" r="r" t="t"/>
            <a:pathLst>
              <a:path extrusionOk="0" h="1280703" w="2235140">
                <a:moveTo>
                  <a:pt x="65355" y="0"/>
                </a:moveTo>
                <a:lnTo>
                  <a:pt x="2169785" y="0"/>
                </a:lnTo>
                <a:cubicBezTo>
                  <a:pt x="2205880" y="0"/>
                  <a:pt x="2235140" y="29260"/>
                  <a:pt x="2235140" y="65355"/>
                </a:cubicBezTo>
                <a:lnTo>
                  <a:pt x="2235140" y="1215348"/>
                </a:lnTo>
                <a:cubicBezTo>
                  <a:pt x="2235140" y="1251443"/>
                  <a:pt x="2205880" y="1280703"/>
                  <a:pt x="2169785" y="1280703"/>
                </a:cubicBezTo>
                <a:lnTo>
                  <a:pt x="65355" y="1280703"/>
                </a:lnTo>
                <a:cubicBezTo>
                  <a:pt x="29260" y="1280703"/>
                  <a:pt x="0" y="1251443"/>
                  <a:pt x="0" y="1215348"/>
                </a:cubicBezTo>
                <a:lnTo>
                  <a:pt x="0" y="65355"/>
                </a:lnTo>
                <a:cubicBezTo>
                  <a:pt x="0" y="29260"/>
                  <a:pt x="29260" y="0"/>
                  <a:pt x="65355" y="0"/>
                </a:cubicBezTo>
                <a:close/>
              </a:path>
            </a:pathLst>
          </a:cu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55" name="Google Shape;2155;h2d7e8d0cc2ebee9_0_42"/>
          <p:cNvSpPr/>
          <p:nvPr/>
        </p:nvSpPr>
        <p:spPr>
          <a:xfrm>
            <a:off x="2743289" y="5233924"/>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Prompt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Engineering</a:t>
            </a:r>
            <a:endParaRPr b="0" i="0" sz="1400" u="none" cap="none" strike="noStrike">
              <a:solidFill>
                <a:srgbClr val="000000"/>
              </a:solidFill>
              <a:latin typeface="Arial"/>
              <a:ea typeface="Arial"/>
              <a:cs typeface="Arial"/>
              <a:sym typeface="Arial"/>
            </a:endParaRPr>
          </a:p>
        </p:txBody>
      </p:sp>
      <p:sp>
        <p:nvSpPr>
          <p:cNvPr id="2156" name="Google Shape;2156;h2d7e8d0cc2ebee9_0_42"/>
          <p:cNvSpPr/>
          <p:nvPr/>
        </p:nvSpPr>
        <p:spPr>
          <a:xfrm>
            <a:off x="2743289" y="587706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pic>
        <p:nvPicPr>
          <p:cNvPr id="2157" name="Google Shape;2157;h2d7e8d0cc2ebee9_0_42"/>
          <p:cNvPicPr preferRelativeResize="0"/>
          <p:nvPr/>
        </p:nvPicPr>
        <p:blipFill rotWithShape="1">
          <a:blip r:embed="rId8">
            <a:alphaModFix/>
          </a:blip>
          <a:srcRect b="0" l="0" r="0" t="0"/>
          <a:stretch/>
        </p:blipFill>
        <p:spPr>
          <a:xfrm>
            <a:off x="2855299" y="5305924"/>
            <a:ext cx="306783" cy="252000"/>
          </a:xfrm>
          <a:prstGeom prst="rect">
            <a:avLst/>
          </a:prstGeom>
          <a:noFill/>
          <a:ln>
            <a:noFill/>
          </a:ln>
        </p:spPr>
      </p:pic>
      <p:pic>
        <p:nvPicPr>
          <p:cNvPr id="2158" name="Google Shape;2158;h2d7e8d0cc2ebee9_0_42"/>
          <p:cNvPicPr preferRelativeResize="0"/>
          <p:nvPr/>
        </p:nvPicPr>
        <p:blipFill rotWithShape="1">
          <a:blip r:embed="rId9">
            <a:alphaModFix/>
          </a:blip>
          <a:srcRect b="0" l="0" r="0" t="0"/>
          <a:stretch/>
        </p:blipFill>
        <p:spPr>
          <a:xfrm>
            <a:off x="2855299" y="2499150"/>
            <a:ext cx="252000" cy="2520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3" name="Shape 2163"/>
        <p:cNvGrpSpPr/>
        <p:nvPr/>
      </p:nvGrpSpPr>
      <p:grpSpPr>
        <a:xfrm>
          <a:off x="0" y="0"/>
          <a:ext cx="0" cy="0"/>
          <a:chOff x="0" y="0"/>
          <a:chExt cx="0" cy="0"/>
        </a:xfrm>
      </p:grpSpPr>
      <p:sp>
        <p:nvSpPr>
          <p:cNvPr id="2164" name="Google Shape;2164;h2d7e8d0cc2ebee9_0_87"/>
          <p:cNvSpPr/>
          <p:nvPr/>
        </p:nvSpPr>
        <p:spPr>
          <a:xfrm>
            <a:off x="263351"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65" name="Google Shape;2165;h2d7e8d0cc2ebee9_0_87"/>
          <p:cNvSpPr/>
          <p:nvPr/>
        </p:nvSpPr>
        <p:spPr>
          <a:xfrm>
            <a:off x="2620890"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66" name="Google Shape;2166;h2d7e8d0cc2ebee9_0_87"/>
          <p:cNvSpPr/>
          <p:nvPr/>
        </p:nvSpPr>
        <p:spPr>
          <a:xfrm>
            <a:off x="4978429"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67" name="Google Shape;2167;h2d7e8d0cc2ebee9_0_87"/>
          <p:cNvSpPr/>
          <p:nvPr/>
        </p:nvSpPr>
        <p:spPr>
          <a:xfrm>
            <a:off x="7335968"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68" name="Google Shape;2168;h2d7e8d0cc2ebee9_0_87"/>
          <p:cNvSpPr/>
          <p:nvPr/>
        </p:nvSpPr>
        <p:spPr>
          <a:xfrm>
            <a:off x="9693508" y="2307940"/>
            <a:ext cx="2235000" cy="2317500"/>
          </a:xfrm>
          <a:prstGeom prst="roundRect">
            <a:avLst>
              <a:gd fmla="val 2924" name="adj"/>
            </a:avLst>
          </a:prstGeom>
          <a:solidFill>
            <a:schemeClr val="l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69" name="Google Shape;2169;h2d7e8d0cc2ebee9_0_87"/>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Orq.ai creates a clear structure in your agent development cycle</a:t>
            </a:r>
            <a:endParaRPr/>
          </a:p>
        </p:txBody>
      </p:sp>
      <p:sp>
        <p:nvSpPr>
          <p:cNvPr id="2170" name="Google Shape;2170;h2d7e8d0cc2ebee9_0_87"/>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THE ORQFLOW INTRODUCTION</a:t>
            </a:r>
            <a:endParaRPr/>
          </a:p>
        </p:txBody>
      </p:sp>
      <p:sp>
        <p:nvSpPr>
          <p:cNvPr id="2171" name="Google Shape;2171;h2d7e8d0cc2ebee9_0_87"/>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172" name="Google Shape;2172;h2d7e8d0cc2ebee9_0_87"/>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173" name="Google Shape;2173;h2d7e8d0cc2ebee9_0_87"/>
          <p:cNvSpPr txBox="1"/>
          <p:nvPr>
            <p:ph idx="12" type="sldNum"/>
          </p:nvPr>
        </p:nvSpPr>
        <p:spPr>
          <a:xfrm>
            <a:off x="12008139" y="6673964"/>
            <a:ext cx="1041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174" name="Google Shape;2174;h2d7e8d0cc2ebee9_0_87"/>
          <p:cNvSpPr/>
          <p:nvPr/>
        </p:nvSpPr>
        <p:spPr>
          <a:xfrm>
            <a:off x="385750" y="2427150"/>
            <a:ext cx="1989446" cy="395866"/>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175" name="Google Shape;2175;h2d7e8d0cc2ebee9_0_87"/>
          <p:cNvSpPr/>
          <p:nvPr/>
        </p:nvSpPr>
        <p:spPr>
          <a:xfrm>
            <a:off x="2743289"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2176" name="Google Shape;2176;h2d7e8d0cc2ebee9_0_87"/>
          <p:cNvSpPr/>
          <p:nvPr/>
        </p:nvSpPr>
        <p:spPr>
          <a:xfrm>
            <a:off x="6166607" y="1664804"/>
            <a:ext cx="2216400" cy="396000"/>
          </a:xfrm>
          <a:prstGeom prst="roundRect">
            <a:avLst>
              <a:gd fmla="val 11088" name="adj"/>
            </a:avLst>
          </a:pr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177" name="Google Shape;2177;h2d7e8d0cc2ebee9_0_87"/>
          <p:cNvSpPr/>
          <p:nvPr/>
        </p:nvSpPr>
        <p:spPr>
          <a:xfrm>
            <a:off x="5100828"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178" name="Google Shape;2178;h2d7e8d0cc2ebee9_0_87"/>
          <p:cNvSpPr/>
          <p:nvPr/>
        </p:nvSpPr>
        <p:spPr>
          <a:xfrm>
            <a:off x="7458367"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179" name="Google Shape;2179;h2d7e8d0cc2ebee9_0_87"/>
          <p:cNvSpPr/>
          <p:nvPr/>
        </p:nvSpPr>
        <p:spPr>
          <a:xfrm>
            <a:off x="9815907" y="2427150"/>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cxnSp>
        <p:nvCxnSpPr>
          <p:cNvPr id="2180" name="Google Shape;2180;h2d7e8d0cc2ebee9_0_87"/>
          <p:cNvCxnSpPr>
            <a:stCxn id="2168" idx="0"/>
            <a:endCxn id="2176" idx="3"/>
          </p:cNvCxnSpPr>
          <p:nvPr/>
        </p:nvCxnSpPr>
        <p:spPr>
          <a:xfrm flipH="1" rot="5400000">
            <a:off x="9374458" y="871390"/>
            <a:ext cx="445200" cy="2427900"/>
          </a:xfrm>
          <a:prstGeom prst="bentConnector2">
            <a:avLst/>
          </a:prstGeom>
          <a:noFill/>
          <a:ln cap="flat" cmpd="sng" w="12700">
            <a:solidFill>
              <a:srgbClr val="DF5325"/>
            </a:solidFill>
            <a:prstDash val="lgDash"/>
            <a:miter lim="80"/>
            <a:headEnd len="sm" w="sm" type="none"/>
            <a:tailEnd len="sm" w="sm" type="none"/>
          </a:ln>
        </p:spPr>
      </p:cxnSp>
      <p:cxnSp>
        <p:nvCxnSpPr>
          <p:cNvPr id="2181" name="Google Shape;2181;h2d7e8d0cc2ebee9_0_87"/>
          <p:cNvCxnSpPr>
            <a:stCxn id="2176" idx="1"/>
            <a:endCxn id="2165" idx="0"/>
          </p:cNvCxnSpPr>
          <p:nvPr/>
        </p:nvCxnSpPr>
        <p:spPr>
          <a:xfrm flipH="1">
            <a:off x="3738407" y="1862804"/>
            <a:ext cx="2428200" cy="445200"/>
          </a:xfrm>
          <a:prstGeom prst="bentConnector2">
            <a:avLst/>
          </a:prstGeom>
          <a:noFill/>
          <a:ln cap="flat" cmpd="sng" w="12700">
            <a:solidFill>
              <a:srgbClr val="DF5325"/>
            </a:solidFill>
            <a:prstDash val="lgDash"/>
            <a:miter lim="80"/>
            <a:headEnd len="sm" w="sm" type="none"/>
            <a:tailEnd len="med" w="med" type="triangle"/>
          </a:ln>
        </p:spPr>
      </p:cxnSp>
      <p:sp>
        <p:nvSpPr>
          <p:cNvPr id="2182" name="Google Shape;2182;h2d7e8d0cc2ebee9_0_87"/>
          <p:cNvSpPr/>
          <p:nvPr/>
        </p:nvSpPr>
        <p:spPr>
          <a:xfrm>
            <a:off x="6869986" y="1751973"/>
            <a:ext cx="809775" cy="22172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183" name="Google Shape;2183;h2d7e8d0cc2ebee9_0_87"/>
          <p:cNvPicPr preferRelativeResize="0"/>
          <p:nvPr/>
        </p:nvPicPr>
        <p:blipFill rotWithShape="1">
          <a:blip r:embed="rId3">
            <a:alphaModFix/>
          </a:blip>
          <a:srcRect b="0" l="0" r="0" t="0"/>
          <a:stretch/>
        </p:blipFill>
        <p:spPr>
          <a:xfrm>
            <a:off x="7584071" y="2499150"/>
            <a:ext cx="252000" cy="252000"/>
          </a:xfrm>
          <a:prstGeom prst="rect">
            <a:avLst/>
          </a:prstGeom>
          <a:noFill/>
          <a:ln>
            <a:noFill/>
          </a:ln>
        </p:spPr>
      </p:pic>
      <p:pic>
        <p:nvPicPr>
          <p:cNvPr id="2184" name="Google Shape;2184;h2d7e8d0cc2ebee9_0_87"/>
          <p:cNvPicPr preferRelativeResize="0"/>
          <p:nvPr/>
        </p:nvPicPr>
        <p:blipFill rotWithShape="1">
          <a:blip r:embed="rId4">
            <a:alphaModFix/>
          </a:blip>
          <a:srcRect b="0" l="0" r="0" t="0"/>
          <a:stretch/>
        </p:blipFill>
        <p:spPr>
          <a:xfrm>
            <a:off x="9948456" y="2499150"/>
            <a:ext cx="252000" cy="252000"/>
          </a:xfrm>
          <a:prstGeom prst="rect">
            <a:avLst/>
          </a:prstGeom>
          <a:noFill/>
          <a:ln>
            <a:noFill/>
          </a:ln>
        </p:spPr>
      </p:pic>
      <p:pic>
        <p:nvPicPr>
          <p:cNvPr id="2185" name="Google Shape;2185;h2d7e8d0cc2ebee9_0_87"/>
          <p:cNvPicPr preferRelativeResize="0"/>
          <p:nvPr/>
        </p:nvPicPr>
        <p:blipFill rotWithShape="1">
          <a:blip r:embed="rId5">
            <a:alphaModFix/>
          </a:blip>
          <a:srcRect b="0" l="0" r="0" t="0"/>
          <a:stretch/>
        </p:blipFill>
        <p:spPr>
          <a:xfrm>
            <a:off x="2855299" y="2499150"/>
            <a:ext cx="298667" cy="252000"/>
          </a:xfrm>
          <a:prstGeom prst="rect">
            <a:avLst/>
          </a:prstGeom>
          <a:noFill/>
          <a:ln>
            <a:noFill/>
          </a:ln>
        </p:spPr>
      </p:pic>
      <p:pic>
        <p:nvPicPr>
          <p:cNvPr id="2186" name="Google Shape;2186;h2d7e8d0cc2ebee9_0_87"/>
          <p:cNvPicPr preferRelativeResize="0"/>
          <p:nvPr/>
        </p:nvPicPr>
        <p:blipFill rotWithShape="1">
          <a:blip r:embed="rId6">
            <a:alphaModFix/>
          </a:blip>
          <a:srcRect b="0" l="0" r="0" t="0"/>
          <a:stretch/>
        </p:blipFill>
        <p:spPr>
          <a:xfrm>
            <a:off x="5219685" y="2499150"/>
            <a:ext cx="228375" cy="252000"/>
          </a:xfrm>
          <a:prstGeom prst="rect">
            <a:avLst/>
          </a:prstGeom>
          <a:noFill/>
          <a:ln>
            <a:noFill/>
          </a:ln>
        </p:spPr>
      </p:pic>
      <p:pic>
        <p:nvPicPr>
          <p:cNvPr id="2187" name="Google Shape;2187;h2d7e8d0cc2ebee9_0_87"/>
          <p:cNvPicPr preferRelativeResize="0"/>
          <p:nvPr/>
        </p:nvPicPr>
        <p:blipFill rotWithShape="1">
          <a:blip r:embed="rId7">
            <a:alphaModFix/>
          </a:blip>
          <a:srcRect b="0" l="0" r="0" t="0"/>
          <a:stretch/>
        </p:blipFill>
        <p:spPr>
          <a:xfrm>
            <a:off x="490913" y="2499150"/>
            <a:ext cx="252000" cy="252000"/>
          </a:xfrm>
          <a:prstGeom prst="rect">
            <a:avLst/>
          </a:prstGeom>
          <a:noFill/>
          <a:ln>
            <a:noFill/>
          </a:ln>
        </p:spPr>
      </p:pic>
      <p:sp>
        <p:nvSpPr>
          <p:cNvPr id="2188" name="Google Shape;2188;h2d7e8d0cc2ebee9_0_87"/>
          <p:cNvSpPr/>
          <p:nvPr/>
        </p:nvSpPr>
        <p:spPr>
          <a:xfrm>
            <a:off x="385750"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Success metrics</a:t>
            </a:r>
            <a:endParaRPr b="0" i="0" sz="1400" u="none" cap="none" strike="noStrike">
              <a:solidFill>
                <a:srgbClr val="000000"/>
              </a:solidFill>
              <a:latin typeface="Arial"/>
              <a:ea typeface="Arial"/>
              <a:cs typeface="Arial"/>
              <a:sym typeface="Arial"/>
            </a:endParaRPr>
          </a:p>
        </p:txBody>
      </p:sp>
      <p:sp>
        <p:nvSpPr>
          <p:cNvPr id="2189" name="Google Shape;2189;h2d7e8d0cc2ebee9_0_87"/>
          <p:cNvSpPr/>
          <p:nvPr/>
        </p:nvSpPr>
        <p:spPr>
          <a:xfrm>
            <a:off x="385750"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Data prep</a:t>
            </a:r>
            <a:endParaRPr b="0" i="0" sz="1400" u="none" cap="none" strike="noStrike">
              <a:solidFill>
                <a:srgbClr val="000000"/>
              </a:solidFill>
              <a:latin typeface="Arial"/>
              <a:ea typeface="Arial"/>
              <a:cs typeface="Arial"/>
              <a:sym typeface="Arial"/>
            </a:endParaRPr>
          </a:p>
        </p:txBody>
      </p:sp>
      <p:sp>
        <p:nvSpPr>
          <p:cNvPr id="2190" name="Google Shape;2190;h2d7e8d0cc2ebee9_0_87"/>
          <p:cNvSpPr/>
          <p:nvPr/>
        </p:nvSpPr>
        <p:spPr>
          <a:xfrm>
            <a:off x="385750"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Risk identification</a:t>
            </a:r>
            <a:endParaRPr b="0" i="0" sz="1400" u="none" cap="none" strike="noStrike">
              <a:solidFill>
                <a:srgbClr val="000000"/>
              </a:solidFill>
              <a:latin typeface="Arial"/>
              <a:ea typeface="Arial"/>
              <a:cs typeface="Arial"/>
              <a:sym typeface="Arial"/>
            </a:endParaRPr>
          </a:p>
        </p:txBody>
      </p:sp>
      <p:sp>
        <p:nvSpPr>
          <p:cNvPr id="2191" name="Google Shape;2191;h2d7e8d0cc2ebee9_0_87"/>
          <p:cNvSpPr/>
          <p:nvPr/>
        </p:nvSpPr>
        <p:spPr>
          <a:xfrm>
            <a:off x="2743289"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Prompt management</a:t>
            </a:r>
            <a:endParaRPr b="0" i="0" sz="1400" u="none" cap="none" strike="noStrike">
              <a:solidFill>
                <a:srgbClr val="000000"/>
              </a:solidFill>
              <a:latin typeface="Arial"/>
              <a:ea typeface="Arial"/>
              <a:cs typeface="Arial"/>
              <a:sym typeface="Arial"/>
            </a:endParaRPr>
          </a:p>
        </p:txBody>
      </p:sp>
      <p:sp>
        <p:nvSpPr>
          <p:cNvPr id="2192" name="Google Shape;2192;h2d7e8d0cc2ebee9_0_87"/>
          <p:cNvSpPr/>
          <p:nvPr/>
        </p:nvSpPr>
        <p:spPr>
          <a:xfrm>
            <a:off x="2743289"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Model selection</a:t>
            </a:r>
            <a:endParaRPr b="0" i="0" sz="1400" u="none" cap="none" strike="noStrike">
              <a:solidFill>
                <a:srgbClr val="000000"/>
              </a:solidFill>
              <a:latin typeface="Arial"/>
              <a:ea typeface="Arial"/>
              <a:cs typeface="Arial"/>
              <a:sym typeface="Arial"/>
            </a:endParaRPr>
          </a:p>
        </p:txBody>
      </p:sp>
      <p:sp>
        <p:nvSpPr>
          <p:cNvPr id="2193" name="Google Shape;2193;h2d7e8d0cc2ebee9_0_87"/>
          <p:cNvSpPr/>
          <p:nvPr/>
        </p:nvSpPr>
        <p:spPr>
          <a:xfrm>
            <a:off x="2743289"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Data injection</a:t>
            </a:r>
            <a:endParaRPr b="0" i="0" sz="1400" u="none" cap="none" strike="noStrike">
              <a:solidFill>
                <a:srgbClr val="000000"/>
              </a:solidFill>
              <a:latin typeface="Arial"/>
              <a:ea typeface="Arial"/>
              <a:cs typeface="Arial"/>
              <a:sym typeface="Arial"/>
            </a:endParaRPr>
          </a:p>
        </p:txBody>
      </p:sp>
      <p:sp>
        <p:nvSpPr>
          <p:cNvPr id="2194" name="Google Shape;2194;h2d7e8d0cc2ebee9_0_87"/>
          <p:cNvSpPr/>
          <p:nvPr/>
        </p:nvSpPr>
        <p:spPr>
          <a:xfrm>
            <a:off x="5100828"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AB Testing</a:t>
            </a:r>
            <a:endParaRPr b="0" i="0" sz="1400" u="none" cap="none" strike="noStrike">
              <a:solidFill>
                <a:srgbClr val="000000"/>
              </a:solidFill>
              <a:latin typeface="Arial"/>
              <a:ea typeface="Arial"/>
              <a:cs typeface="Arial"/>
              <a:sym typeface="Arial"/>
            </a:endParaRPr>
          </a:p>
        </p:txBody>
      </p:sp>
      <p:sp>
        <p:nvSpPr>
          <p:cNvPr id="2195" name="Google Shape;2195;h2d7e8d0cc2ebee9_0_87"/>
          <p:cNvSpPr/>
          <p:nvPr/>
        </p:nvSpPr>
        <p:spPr>
          <a:xfrm>
            <a:off x="5100828"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Evals</a:t>
            </a:r>
            <a:endParaRPr b="0" i="0" sz="1400" u="none" cap="none" strike="noStrike">
              <a:solidFill>
                <a:srgbClr val="000000"/>
              </a:solidFill>
              <a:latin typeface="Arial"/>
              <a:ea typeface="Arial"/>
              <a:cs typeface="Arial"/>
              <a:sym typeface="Arial"/>
            </a:endParaRPr>
          </a:p>
        </p:txBody>
      </p:sp>
      <p:sp>
        <p:nvSpPr>
          <p:cNvPr id="2196" name="Google Shape;2196;h2d7e8d0cc2ebee9_0_87"/>
          <p:cNvSpPr/>
          <p:nvPr/>
        </p:nvSpPr>
        <p:spPr>
          <a:xfrm>
            <a:off x="5100828"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p:txBody>
      </p:sp>
      <p:sp>
        <p:nvSpPr>
          <p:cNvPr id="2197" name="Google Shape;2197;h2d7e8d0cc2ebee9_0_87"/>
          <p:cNvSpPr/>
          <p:nvPr/>
        </p:nvSpPr>
        <p:spPr>
          <a:xfrm>
            <a:off x="7458367"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Canary release</a:t>
            </a:r>
            <a:endParaRPr b="0" i="0" sz="1400" u="none" cap="none" strike="noStrike">
              <a:solidFill>
                <a:srgbClr val="000000"/>
              </a:solidFill>
              <a:latin typeface="Arial"/>
              <a:ea typeface="Arial"/>
              <a:cs typeface="Arial"/>
              <a:sym typeface="Arial"/>
            </a:endParaRPr>
          </a:p>
        </p:txBody>
      </p:sp>
      <p:sp>
        <p:nvSpPr>
          <p:cNvPr id="2198" name="Google Shape;2198;h2d7e8d0cc2ebee9_0_87"/>
          <p:cNvSpPr/>
          <p:nvPr/>
        </p:nvSpPr>
        <p:spPr>
          <a:xfrm>
            <a:off x="7458367"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Fallback models</a:t>
            </a:r>
            <a:endParaRPr b="0" i="0" sz="1400" u="none" cap="none" strike="noStrike">
              <a:solidFill>
                <a:srgbClr val="000000"/>
              </a:solidFill>
              <a:latin typeface="Arial"/>
              <a:ea typeface="Arial"/>
              <a:cs typeface="Arial"/>
              <a:sym typeface="Arial"/>
            </a:endParaRPr>
          </a:p>
        </p:txBody>
      </p:sp>
      <p:sp>
        <p:nvSpPr>
          <p:cNvPr id="2199" name="Google Shape;2199;h2d7e8d0cc2ebee9_0_87"/>
          <p:cNvSpPr/>
          <p:nvPr/>
        </p:nvSpPr>
        <p:spPr>
          <a:xfrm>
            <a:off x="7458367"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Version control</a:t>
            </a:r>
            <a:endParaRPr b="0" i="0" sz="1400" u="none" cap="none" strike="noStrike">
              <a:solidFill>
                <a:srgbClr val="000000"/>
              </a:solidFill>
              <a:latin typeface="Arial"/>
              <a:ea typeface="Arial"/>
              <a:cs typeface="Arial"/>
              <a:sym typeface="Arial"/>
            </a:endParaRPr>
          </a:p>
        </p:txBody>
      </p:sp>
      <p:sp>
        <p:nvSpPr>
          <p:cNvPr id="2200" name="Google Shape;2200;h2d7e8d0cc2ebee9_0_87"/>
          <p:cNvSpPr/>
          <p:nvPr/>
        </p:nvSpPr>
        <p:spPr>
          <a:xfrm>
            <a:off x="9815907" y="3070286"/>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Monitor feedback</a:t>
            </a:r>
            <a:endParaRPr b="0" i="0" sz="1400" u="none" cap="none" strike="noStrike">
              <a:solidFill>
                <a:srgbClr val="000000"/>
              </a:solidFill>
              <a:latin typeface="Arial"/>
              <a:ea typeface="Arial"/>
              <a:cs typeface="Arial"/>
              <a:sym typeface="Arial"/>
            </a:endParaRPr>
          </a:p>
        </p:txBody>
      </p:sp>
      <p:sp>
        <p:nvSpPr>
          <p:cNvPr id="2201" name="Google Shape;2201;h2d7e8d0cc2ebee9_0_87"/>
          <p:cNvSpPr/>
          <p:nvPr/>
        </p:nvSpPr>
        <p:spPr>
          <a:xfrm>
            <a:off x="9815907" y="3588643"/>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Secure and govern</a:t>
            </a:r>
            <a:endParaRPr b="0" i="0" sz="1400" u="none" cap="none" strike="noStrike">
              <a:solidFill>
                <a:srgbClr val="000000"/>
              </a:solidFill>
              <a:latin typeface="Arial"/>
              <a:ea typeface="Arial"/>
              <a:cs typeface="Arial"/>
              <a:sym typeface="Arial"/>
            </a:endParaRPr>
          </a:p>
        </p:txBody>
      </p:sp>
      <p:sp>
        <p:nvSpPr>
          <p:cNvPr id="2202" name="Google Shape;2202;h2d7e8d0cc2ebee9_0_87"/>
          <p:cNvSpPr/>
          <p:nvPr/>
        </p:nvSpPr>
        <p:spPr>
          <a:xfrm>
            <a:off x="9815907" y="4107000"/>
            <a:ext cx="1990200" cy="396000"/>
          </a:xfrm>
          <a:prstGeom prst="roundRect">
            <a:avLst>
              <a:gd fmla="val 11088" name="adj"/>
            </a:avLst>
          </a:prstGeom>
          <a:solidFill>
            <a:srgbClr val="FF8F35">
              <a:alpha val="10200"/>
            </a:srgbClr>
          </a:solidFill>
          <a:ln cap="flat" cmpd="sng" w="9525">
            <a:solidFill>
              <a:schemeClr val="accen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Track evals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h2d7e8d0cc2ebee9_0_130"/>
          <p:cNvSpPr/>
          <p:nvPr/>
        </p:nvSpPr>
        <p:spPr>
          <a:xfrm>
            <a:off x="1816936" y="6461797"/>
            <a:ext cx="6390600" cy="469200"/>
          </a:xfrm>
          <a:prstGeom prst="roundRect">
            <a:avLst>
              <a:gd fmla="val 16667" name="adj"/>
            </a:avLst>
          </a:prstGeom>
          <a:solidFill>
            <a:srgbClr val="D8D8D8"/>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2208" name="Google Shape;2208;h2d7e8d0cc2ebee9_0_130"/>
          <p:cNvSpPr/>
          <p:nvPr/>
        </p:nvSpPr>
        <p:spPr>
          <a:xfrm>
            <a:off x="4387429" y="5511806"/>
            <a:ext cx="1249800" cy="396000"/>
          </a:xfrm>
          <a:prstGeom prst="roundRect">
            <a:avLst>
              <a:gd fmla="val 16667" name="adj"/>
            </a:avLst>
          </a:prstGeom>
          <a:solidFill>
            <a:schemeClr val="accent1"/>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Smart Router</a:t>
            </a:r>
            <a:endParaRPr b="0" i="0" sz="1400" u="none" cap="none" strike="noStrike">
              <a:solidFill>
                <a:srgbClr val="000000"/>
              </a:solidFill>
              <a:latin typeface="Arial"/>
              <a:ea typeface="Arial"/>
              <a:cs typeface="Arial"/>
              <a:sym typeface="Arial"/>
            </a:endParaRPr>
          </a:p>
        </p:txBody>
      </p:sp>
      <p:sp>
        <p:nvSpPr>
          <p:cNvPr id="2209" name="Google Shape;2209;h2d7e8d0cc2ebee9_0_130"/>
          <p:cNvSpPr txBox="1"/>
          <p:nvPr>
            <p:ph type="title"/>
          </p:nvPr>
        </p:nvSpPr>
        <p:spPr>
          <a:xfrm>
            <a:off x="263525" y="512676"/>
            <a:ext cx="11664900" cy="215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lt1"/>
              </a:buClr>
              <a:buSzPts val="2800"/>
              <a:buFont typeface="Arial"/>
              <a:buNone/>
            </a:pPr>
            <a:r>
              <a:rPr lang="en-US"/>
              <a:t>AI Gateway provides a scalable and enterprise-grade foundation for a multi-model future</a:t>
            </a:r>
            <a:endParaRPr/>
          </a:p>
        </p:txBody>
      </p:sp>
      <p:sp>
        <p:nvSpPr>
          <p:cNvPr id="2210" name="Google Shape;2210;h2d7e8d0cc2ebee9_0_130"/>
          <p:cNvSpPr txBox="1"/>
          <p:nvPr>
            <p:ph idx="1" type="body"/>
          </p:nvPr>
        </p:nvSpPr>
        <p:spPr>
          <a:xfrm>
            <a:off x="263352" y="260648"/>
            <a:ext cx="11665200" cy="215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AI GATEWAY</a:t>
            </a:r>
            <a:endParaRPr/>
          </a:p>
        </p:txBody>
      </p:sp>
      <p:sp>
        <p:nvSpPr>
          <p:cNvPr id="2211" name="Google Shape;2211;h2d7e8d0cc2ebee9_0_130"/>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sp>
        <p:nvSpPr>
          <p:cNvPr id="2212" name="Google Shape;2212;h2d7e8d0cc2ebee9_0_130"/>
          <p:cNvSpPr txBox="1"/>
          <p:nvPr/>
        </p:nvSpPr>
        <p:spPr>
          <a:xfrm>
            <a:off x="2094566" y="6583056"/>
            <a:ext cx="1035600" cy="1539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Model Providers</a:t>
            </a:r>
            <a:endParaRPr b="0" i="0" sz="1400" u="none" cap="none" strike="noStrike">
              <a:solidFill>
                <a:srgbClr val="000000"/>
              </a:solidFill>
              <a:latin typeface="Arial"/>
              <a:ea typeface="Arial"/>
              <a:cs typeface="Arial"/>
              <a:sym typeface="Arial"/>
            </a:endParaRPr>
          </a:p>
        </p:txBody>
      </p:sp>
      <p:sp>
        <p:nvSpPr>
          <p:cNvPr id="2213" name="Google Shape;2213;h2d7e8d0cc2ebee9_0_130"/>
          <p:cNvSpPr txBox="1"/>
          <p:nvPr/>
        </p:nvSpPr>
        <p:spPr>
          <a:xfrm>
            <a:off x="4439812" y="6583056"/>
            <a:ext cx="1017900" cy="1539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Cloud Providers</a:t>
            </a:r>
            <a:endParaRPr b="0" i="0" sz="1400" u="none" cap="none" strike="noStrike">
              <a:solidFill>
                <a:srgbClr val="000000"/>
              </a:solidFill>
              <a:latin typeface="Arial"/>
              <a:ea typeface="Arial"/>
              <a:cs typeface="Arial"/>
              <a:sym typeface="Arial"/>
            </a:endParaRPr>
          </a:p>
        </p:txBody>
      </p:sp>
      <p:sp>
        <p:nvSpPr>
          <p:cNvPr id="2214" name="Google Shape;2214;h2d7e8d0cc2ebee9_0_130"/>
          <p:cNvSpPr txBox="1"/>
          <p:nvPr/>
        </p:nvSpPr>
        <p:spPr>
          <a:xfrm>
            <a:off x="6579873" y="6583056"/>
            <a:ext cx="1410600" cy="1539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Self-deployed Models</a:t>
            </a:r>
            <a:endParaRPr b="0" i="0" sz="1400" u="none" cap="none" strike="noStrike">
              <a:solidFill>
                <a:srgbClr val="000000"/>
              </a:solidFill>
              <a:latin typeface="Arial"/>
              <a:ea typeface="Arial"/>
              <a:cs typeface="Arial"/>
              <a:sym typeface="Arial"/>
            </a:endParaRPr>
          </a:p>
        </p:txBody>
      </p:sp>
      <p:grpSp>
        <p:nvGrpSpPr>
          <p:cNvPr id="2215" name="Google Shape;2215;h2d7e8d0cc2ebee9_0_130"/>
          <p:cNvGrpSpPr/>
          <p:nvPr/>
        </p:nvGrpSpPr>
        <p:grpSpPr>
          <a:xfrm>
            <a:off x="4956307" y="6192287"/>
            <a:ext cx="111919" cy="144000"/>
            <a:chOff x="6040040" y="6183820"/>
            <a:chExt cx="111919" cy="144000"/>
          </a:xfrm>
        </p:grpSpPr>
        <p:cxnSp>
          <p:nvCxnSpPr>
            <p:cNvPr id="2216" name="Google Shape;2216;h2d7e8d0cc2ebee9_0_130"/>
            <p:cNvCxnSpPr/>
            <p:nvPr/>
          </p:nvCxnSpPr>
          <p:spPr>
            <a:xfrm rot="5400000">
              <a:off x="5968040" y="6255820"/>
              <a:ext cx="144000" cy="0"/>
            </a:xfrm>
            <a:prstGeom prst="straightConnector1">
              <a:avLst/>
            </a:prstGeom>
            <a:noFill/>
            <a:ln cap="flat" cmpd="sng" w="12700">
              <a:solidFill>
                <a:schemeClr val="accent1"/>
              </a:solidFill>
              <a:prstDash val="solid"/>
              <a:miter lim="80"/>
              <a:headEnd len="sm" w="sm" type="none"/>
              <a:tailEnd len="med" w="med" type="triangle"/>
            </a:ln>
          </p:spPr>
        </p:cxnSp>
        <p:cxnSp>
          <p:nvCxnSpPr>
            <p:cNvPr id="2217" name="Google Shape;2217;h2d7e8d0cc2ebee9_0_130"/>
            <p:cNvCxnSpPr/>
            <p:nvPr/>
          </p:nvCxnSpPr>
          <p:spPr>
            <a:xfrm rot="-5400000">
              <a:off x="6079959" y="6255820"/>
              <a:ext cx="144000" cy="0"/>
            </a:xfrm>
            <a:prstGeom prst="straightConnector1">
              <a:avLst/>
            </a:prstGeom>
            <a:noFill/>
            <a:ln cap="flat" cmpd="sng" w="12700">
              <a:solidFill>
                <a:schemeClr val="accent1"/>
              </a:solidFill>
              <a:prstDash val="solid"/>
              <a:miter lim="80"/>
              <a:headEnd len="sm" w="sm" type="none"/>
              <a:tailEnd len="med" w="med" type="triangle"/>
            </a:ln>
          </p:spPr>
        </p:cxnSp>
      </p:grpSp>
      <p:grpSp>
        <p:nvGrpSpPr>
          <p:cNvPr id="2218" name="Google Shape;2218;h2d7e8d0cc2ebee9_0_130"/>
          <p:cNvGrpSpPr/>
          <p:nvPr/>
        </p:nvGrpSpPr>
        <p:grpSpPr>
          <a:xfrm>
            <a:off x="4393640" y="2382723"/>
            <a:ext cx="1237282" cy="483000"/>
            <a:chOff x="2300498" y="2449253"/>
            <a:chExt cx="1237282" cy="483000"/>
          </a:xfrm>
        </p:grpSpPr>
        <p:sp>
          <p:nvSpPr>
            <p:cNvPr id="2219" name="Google Shape;2219;h2d7e8d0cc2ebee9_0_130"/>
            <p:cNvSpPr/>
            <p:nvPr/>
          </p:nvSpPr>
          <p:spPr>
            <a:xfrm>
              <a:off x="2437380" y="2449253"/>
              <a:ext cx="1100400" cy="483000"/>
            </a:xfrm>
            <a:prstGeom prst="roundRect">
              <a:avLst>
                <a:gd fmla="val 11088" name="adj"/>
              </a:avLst>
            </a:prstGeom>
            <a:noFill/>
            <a:ln>
              <a:noFill/>
            </a:ln>
          </p:spPr>
          <p:txBody>
            <a:bodyPr anchorCtr="0" anchor="ctr" bIns="144000" lIns="144000" spcFirstLastPara="1" rIns="144000" wrap="square" tIns="14400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AI Gateway</a:t>
              </a:r>
              <a:endParaRPr b="0" i="0" sz="1400" u="none" cap="none" strike="noStrike">
                <a:solidFill>
                  <a:srgbClr val="000000"/>
                </a:solidFill>
                <a:latin typeface="Arial"/>
                <a:ea typeface="Arial"/>
                <a:cs typeface="Arial"/>
                <a:sym typeface="Arial"/>
              </a:endParaRPr>
            </a:p>
          </p:txBody>
        </p:sp>
        <p:sp>
          <p:nvSpPr>
            <p:cNvPr id="2220" name="Google Shape;2220;h2d7e8d0cc2ebee9_0_130"/>
            <p:cNvSpPr/>
            <p:nvPr/>
          </p:nvSpPr>
          <p:spPr>
            <a:xfrm>
              <a:off x="2300498" y="2593285"/>
              <a:ext cx="216900" cy="21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1" name="Google Shape;2221;h2d7e8d0cc2ebee9_0_130"/>
          <p:cNvSpPr/>
          <p:nvPr/>
        </p:nvSpPr>
        <p:spPr>
          <a:xfrm>
            <a:off x="3189347" y="2877686"/>
            <a:ext cx="1722300" cy="1149300"/>
          </a:xfrm>
          <a:prstGeom prst="roundRect">
            <a:avLst>
              <a:gd fmla="val 9499"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Model Gateway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Model Hub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Key Management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Private models</a:t>
            </a:r>
            <a:endParaRPr b="0" i="0" sz="1400" u="none" cap="none" strike="noStrike">
              <a:solidFill>
                <a:srgbClr val="000000"/>
              </a:solidFill>
              <a:latin typeface="Arial"/>
              <a:ea typeface="Arial"/>
              <a:cs typeface="Arial"/>
              <a:sym typeface="Arial"/>
            </a:endParaRPr>
          </a:p>
        </p:txBody>
      </p:sp>
      <p:sp>
        <p:nvSpPr>
          <p:cNvPr id="2222" name="Google Shape;2222;h2d7e8d0cc2ebee9_0_130"/>
          <p:cNvSpPr/>
          <p:nvPr/>
        </p:nvSpPr>
        <p:spPr>
          <a:xfrm>
            <a:off x="1816935" y="1526342"/>
            <a:ext cx="6390600" cy="396300"/>
          </a:xfrm>
          <a:prstGeom prst="roundRect">
            <a:avLst>
              <a:gd fmla="val 16667" name="adj"/>
            </a:avLst>
          </a:prstGeom>
          <a:solidFill>
            <a:srgbClr val="D8D8D8"/>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grpSp>
        <p:nvGrpSpPr>
          <p:cNvPr id="2223" name="Google Shape;2223;h2d7e8d0cc2ebee9_0_130"/>
          <p:cNvGrpSpPr/>
          <p:nvPr/>
        </p:nvGrpSpPr>
        <p:grpSpPr>
          <a:xfrm>
            <a:off x="7306305" y="1598443"/>
            <a:ext cx="634626" cy="252000"/>
            <a:chOff x="6609481" y="1589738"/>
            <a:chExt cx="634626" cy="252000"/>
          </a:xfrm>
        </p:grpSpPr>
        <p:sp>
          <p:nvSpPr>
            <p:cNvPr id="2224" name="Google Shape;2224;h2d7e8d0cc2ebee9_0_130"/>
            <p:cNvSpPr/>
            <p:nvPr/>
          </p:nvSpPr>
          <p:spPr>
            <a:xfrm>
              <a:off x="6609481" y="1589738"/>
              <a:ext cx="22590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h2d7e8d0cc2ebee9_0_130"/>
            <p:cNvSpPr txBox="1"/>
            <p:nvPr/>
          </p:nvSpPr>
          <p:spPr>
            <a:xfrm>
              <a:off x="6936307" y="1638794"/>
              <a:ext cx="3078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MCP</a:t>
              </a:r>
              <a:endParaRPr b="0" i="0" sz="1400" u="none" cap="none" strike="noStrike">
                <a:solidFill>
                  <a:srgbClr val="000000"/>
                </a:solidFill>
                <a:latin typeface="Arial"/>
                <a:ea typeface="Arial"/>
                <a:cs typeface="Arial"/>
                <a:sym typeface="Arial"/>
              </a:endParaRPr>
            </a:p>
          </p:txBody>
        </p:sp>
      </p:grpSp>
      <p:grpSp>
        <p:nvGrpSpPr>
          <p:cNvPr id="2226" name="Google Shape;2226;h2d7e8d0cc2ebee9_0_130"/>
          <p:cNvGrpSpPr/>
          <p:nvPr/>
        </p:nvGrpSpPr>
        <p:grpSpPr>
          <a:xfrm>
            <a:off x="5685193" y="1598443"/>
            <a:ext cx="1196615" cy="252000"/>
            <a:chOff x="8053302" y="1589738"/>
            <a:chExt cx="1196615" cy="252000"/>
          </a:xfrm>
        </p:grpSpPr>
        <p:sp>
          <p:nvSpPr>
            <p:cNvPr id="2227" name="Google Shape;2227;h2d7e8d0cc2ebee9_0_130"/>
            <p:cNvSpPr/>
            <p:nvPr/>
          </p:nvSpPr>
          <p:spPr>
            <a:xfrm>
              <a:off x="8053302" y="1589738"/>
              <a:ext cx="25200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h2d7e8d0cc2ebee9_0_130"/>
            <p:cNvSpPr txBox="1"/>
            <p:nvPr/>
          </p:nvSpPr>
          <p:spPr>
            <a:xfrm>
              <a:off x="8377817" y="1638794"/>
              <a:ext cx="872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OSS Libraries</a:t>
              </a:r>
              <a:endParaRPr b="0" i="0" sz="1400" u="none" cap="none" strike="noStrike">
                <a:solidFill>
                  <a:srgbClr val="000000"/>
                </a:solidFill>
                <a:latin typeface="Arial"/>
                <a:ea typeface="Arial"/>
                <a:cs typeface="Arial"/>
                <a:sym typeface="Arial"/>
              </a:endParaRPr>
            </a:p>
          </p:txBody>
        </p:sp>
      </p:grpSp>
      <p:sp>
        <p:nvSpPr>
          <p:cNvPr id="2229" name="Google Shape;2229;h2d7e8d0cc2ebee9_0_130"/>
          <p:cNvSpPr txBox="1"/>
          <p:nvPr/>
        </p:nvSpPr>
        <p:spPr>
          <a:xfrm>
            <a:off x="2094566" y="1647499"/>
            <a:ext cx="216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API</a:t>
            </a:r>
            <a:endParaRPr b="0" i="0" sz="1400" u="none" cap="none" strike="noStrike">
              <a:solidFill>
                <a:srgbClr val="000000"/>
              </a:solidFill>
              <a:latin typeface="Arial"/>
              <a:ea typeface="Arial"/>
              <a:cs typeface="Arial"/>
              <a:sym typeface="Arial"/>
            </a:endParaRPr>
          </a:p>
        </p:txBody>
      </p:sp>
      <p:sp>
        <p:nvSpPr>
          <p:cNvPr id="2230" name="Google Shape;2230;h2d7e8d0cc2ebee9_0_130"/>
          <p:cNvSpPr txBox="1"/>
          <p:nvPr/>
        </p:nvSpPr>
        <p:spPr>
          <a:xfrm>
            <a:off x="2680642" y="1647499"/>
            <a:ext cx="2709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SDK</a:t>
            </a:r>
            <a:endParaRPr b="0" i="0" sz="1400" u="none" cap="none" strike="noStrike">
              <a:solidFill>
                <a:srgbClr val="000000"/>
              </a:solidFill>
              <a:latin typeface="Arial"/>
              <a:ea typeface="Arial"/>
              <a:cs typeface="Arial"/>
              <a:sym typeface="Arial"/>
            </a:endParaRPr>
          </a:p>
        </p:txBody>
      </p:sp>
      <p:sp>
        <p:nvSpPr>
          <p:cNvPr id="2231" name="Google Shape;2231;h2d7e8d0cc2ebee9_0_130"/>
          <p:cNvSpPr/>
          <p:nvPr/>
        </p:nvSpPr>
        <p:spPr>
          <a:xfrm>
            <a:off x="804248" y="2307081"/>
            <a:ext cx="8415900" cy="3737700"/>
          </a:xfrm>
          <a:prstGeom prst="roundRect">
            <a:avLst>
              <a:gd fmla="val 3504" name="adj"/>
            </a:avLst>
          </a:prstGeom>
          <a:noFill/>
          <a:ln cap="flat" cmpd="sng" w="9525">
            <a:solidFill>
              <a:srgbClr val="D8D8D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grpSp>
        <p:nvGrpSpPr>
          <p:cNvPr id="2232" name="Google Shape;2232;h2d7e8d0cc2ebee9_0_130"/>
          <p:cNvGrpSpPr/>
          <p:nvPr/>
        </p:nvGrpSpPr>
        <p:grpSpPr>
          <a:xfrm>
            <a:off x="4956307" y="2030753"/>
            <a:ext cx="111919" cy="144000"/>
            <a:chOff x="6100150" y="2095858"/>
            <a:chExt cx="111919" cy="144000"/>
          </a:xfrm>
        </p:grpSpPr>
        <p:cxnSp>
          <p:nvCxnSpPr>
            <p:cNvPr id="2233" name="Google Shape;2233;h2d7e8d0cc2ebee9_0_130"/>
            <p:cNvCxnSpPr/>
            <p:nvPr/>
          </p:nvCxnSpPr>
          <p:spPr>
            <a:xfrm rot="5400000">
              <a:off x="6028150" y="2167858"/>
              <a:ext cx="144000" cy="0"/>
            </a:xfrm>
            <a:prstGeom prst="straightConnector1">
              <a:avLst/>
            </a:prstGeom>
            <a:noFill/>
            <a:ln cap="flat" cmpd="sng" w="12700">
              <a:solidFill>
                <a:schemeClr val="accent1"/>
              </a:solidFill>
              <a:prstDash val="solid"/>
              <a:miter lim="80"/>
              <a:headEnd len="sm" w="sm" type="none"/>
              <a:tailEnd len="med" w="med" type="triangle"/>
            </a:ln>
          </p:spPr>
        </p:cxnSp>
        <p:cxnSp>
          <p:nvCxnSpPr>
            <p:cNvPr id="2234" name="Google Shape;2234;h2d7e8d0cc2ebee9_0_130"/>
            <p:cNvCxnSpPr/>
            <p:nvPr/>
          </p:nvCxnSpPr>
          <p:spPr>
            <a:xfrm rot="-5400000">
              <a:off x="6140069" y="2167858"/>
              <a:ext cx="144000" cy="0"/>
            </a:xfrm>
            <a:prstGeom prst="straightConnector1">
              <a:avLst/>
            </a:prstGeom>
            <a:noFill/>
            <a:ln cap="flat" cmpd="sng" w="12700">
              <a:solidFill>
                <a:schemeClr val="accent1"/>
              </a:solidFill>
              <a:prstDash val="solid"/>
              <a:miter lim="80"/>
              <a:headEnd len="sm" w="sm" type="none"/>
              <a:tailEnd len="med" w="med" type="triangle"/>
            </a:ln>
          </p:spPr>
        </p:cxnSp>
      </p:grpSp>
      <p:sp>
        <p:nvSpPr>
          <p:cNvPr id="2235" name="Google Shape;2235;h2d7e8d0cc2ebee9_0_130"/>
          <p:cNvSpPr/>
          <p:nvPr/>
        </p:nvSpPr>
        <p:spPr>
          <a:xfrm>
            <a:off x="9939546" y="2877686"/>
            <a:ext cx="1989000" cy="895800"/>
          </a:xfrm>
          <a:prstGeom prst="roundRect">
            <a:avLst>
              <a:gd fmla="val 8082" name="adj"/>
            </a:avLst>
          </a:prstGeom>
          <a:solidFill>
            <a:schemeClr val="accent3"/>
          </a:solidFill>
          <a:ln>
            <a:noFill/>
          </a:ln>
        </p:spPr>
        <p:txBody>
          <a:bodyPr anchorCtr="0" anchor="ctr" bIns="72000" lIns="72000" spcFirstLastPara="1" rIns="72000" wrap="square" tIns="72000">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40 Model Providers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500+ Models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9 Modalities</a:t>
            </a:r>
            <a:endParaRPr b="0" i="0" sz="1400" u="none" cap="none" strike="noStrike">
              <a:solidFill>
                <a:srgbClr val="000000"/>
              </a:solidFill>
              <a:latin typeface="Arial"/>
              <a:ea typeface="Arial"/>
              <a:cs typeface="Arial"/>
              <a:sym typeface="Arial"/>
            </a:endParaRPr>
          </a:p>
        </p:txBody>
      </p:sp>
      <p:sp>
        <p:nvSpPr>
          <p:cNvPr id="2236" name="Google Shape;2236;h2d7e8d0cc2ebee9_0_130"/>
          <p:cNvSpPr/>
          <p:nvPr/>
        </p:nvSpPr>
        <p:spPr>
          <a:xfrm>
            <a:off x="7116596" y="4239111"/>
            <a:ext cx="1722300" cy="1149300"/>
          </a:xfrm>
          <a:prstGeom prst="roundRect">
            <a:avLst>
              <a:gd fmla="val 7854"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Reporting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Chargebacks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Identities &amp; users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2237" name="Google Shape;2237;h2d7e8d0cc2ebee9_0_130"/>
          <p:cNvSpPr/>
          <p:nvPr/>
        </p:nvSpPr>
        <p:spPr>
          <a:xfrm>
            <a:off x="1240880" y="4239111"/>
            <a:ext cx="1722300" cy="1149300"/>
          </a:xfrm>
          <a:prstGeom prst="roundRect">
            <a:avLst>
              <a:gd fmla="val 9248"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Routing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Policies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Load Balancer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Fallbacks</a:t>
            </a:r>
            <a:endParaRPr b="0" i="0" sz="1400" u="none" cap="none" strike="noStrike">
              <a:solidFill>
                <a:srgbClr val="000000"/>
              </a:solidFill>
              <a:latin typeface="Arial"/>
              <a:ea typeface="Arial"/>
              <a:cs typeface="Arial"/>
              <a:sym typeface="Arial"/>
            </a:endParaRPr>
          </a:p>
        </p:txBody>
      </p:sp>
      <p:sp>
        <p:nvSpPr>
          <p:cNvPr id="2238" name="Google Shape;2238;h2d7e8d0cc2ebee9_0_130"/>
          <p:cNvSpPr/>
          <p:nvPr/>
        </p:nvSpPr>
        <p:spPr>
          <a:xfrm>
            <a:off x="9939546" y="4252972"/>
            <a:ext cx="1989000" cy="1264200"/>
          </a:xfrm>
          <a:prstGeom prst="roundRect">
            <a:avLst>
              <a:gd fmla="val 8082" name="adj"/>
            </a:avLst>
          </a:prstGeom>
          <a:solidFill>
            <a:schemeClr val="accent3"/>
          </a:solidFill>
          <a:ln>
            <a:noFill/>
          </a:ln>
        </p:spPr>
        <p:txBody>
          <a:bodyPr anchorCtr="0" anchor="ctr" bIns="72000" lIns="72000" spcFirstLastPara="1" rIns="72000" wrap="square" tIns="72000">
            <a:noAutofit/>
          </a:bodyPr>
          <a:lstStyle/>
          <a:p>
            <a:pPr indent="-171450" lvl="0" marL="171450" marR="0" rtl="0" algn="l">
              <a:lnSpc>
                <a:spcPct val="100000"/>
              </a:lnSpc>
              <a:spcBef>
                <a:spcPts val="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SaaS / VPC / On-prem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2ms overhead</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FFFFFF"/>
              </a:buClr>
              <a:buSzPts val="1200"/>
              <a:buFont typeface="Arial"/>
              <a:buChar char="•"/>
            </a:pPr>
            <a:r>
              <a:rPr b="0" i="0" lang="en-US" sz="1200" u="none" cap="none" strike="noStrike">
                <a:solidFill>
                  <a:srgbClr val="FFFFFF"/>
                </a:solidFill>
                <a:latin typeface="Arial"/>
                <a:ea typeface="Arial"/>
                <a:cs typeface="Arial"/>
                <a:sym typeface="Arial"/>
              </a:rPr>
              <a:t>Integrates with all popular frameworks</a:t>
            </a:r>
            <a:endParaRPr b="0" i="0" sz="1400" u="none" cap="none" strike="noStrike">
              <a:solidFill>
                <a:srgbClr val="000000"/>
              </a:solidFill>
              <a:latin typeface="Arial"/>
              <a:ea typeface="Arial"/>
              <a:cs typeface="Arial"/>
              <a:sym typeface="Arial"/>
            </a:endParaRPr>
          </a:p>
        </p:txBody>
      </p:sp>
      <p:sp>
        <p:nvSpPr>
          <p:cNvPr id="2239" name="Google Shape;2239;h2d7e8d0cc2ebee9_0_130"/>
          <p:cNvSpPr/>
          <p:nvPr/>
        </p:nvSpPr>
        <p:spPr>
          <a:xfrm>
            <a:off x="5158024" y="4239111"/>
            <a:ext cx="1722300" cy="1149300"/>
          </a:xfrm>
          <a:prstGeom prst="roundRect">
            <a:avLst>
              <a:gd fmla="val 10706"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Optimizers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Cache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Compaction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Model Fusion</a:t>
            </a:r>
            <a:endParaRPr b="0" i="0" sz="1400" u="none" cap="none" strike="noStrike">
              <a:solidFill>
                <a:srgbClr val="000000"/>
              </a:solidFill>
              <a:latin typeface="Arial"/>
              <a:ea typeface="Arial"/>
              <a:cs typeface="Arial"/>
              <a:sym typeface="Arial"/>
            </a:endParaRPr>
          </a:p>
        </p:txBody>
      </p:sp>
      <p:sp>
        <p:nvSpPr>
          <p:cNvPr id="2240" name="Google Shape;2240;h2d7e8d0cc2ebee9_0_130"/>
          <p:cNvSpPr/>
          <p:nvPr/>
        </p:nvSpPr>
        <p:spPr>
          <a:xfrm>
            <a:off x="3199452" y="4239111"/>
            <a:ext cx="1722300" cy="1149300"/>
          </a:xfrm>
          <a:prstGeom prst="roundRect">
            <a:avLst>
              <a:gd fmla="val 10221"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PII anonymizers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Guardrail registry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Build-your-own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FFFFFF"/>
              </a:solidFill>
              <a:latin typeface="Arial"/>
              <a:ea typeface="Arial"/>
              <a:cs typeface="Arial"/>
              <a:sym typeface="Arial"/>
            </a:endParaRPr>
          </a:p>
        </p:txBody>
      </p:sp>
      <p:sp>
        <p:nvSpPr>
          <p:cNvPr id="2241" name="Google Shape;2241;h2d7e8d0cc2ebee9_0_130"/>
          <p:cNvSpPr txBox="1"/>
          <p:nvPr/>
        </p:nvSpPr>
        <p:spPr>
          <a:xfrm>
            <a:off x="3483227" y="1647499"/>
            <a:ext cx="213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CLI</a:t>
            </a:r>
            <a:endParaRPr b="0" i="0" sz="1400" u="none" cap="none" strike="noStrike">
              <a:solidFill>
                <a:srgbClr val="000000"/>
              </a:solidFill>
              <a:latin typeface="Arial"/>
              <a:ea typeface="Arial"/>
              <a:cs typeface="Arial"/>
              <a:sym typeface="Arial"/>
            </a:endParaRPr>
          </a:p>
        </p:txBody>
      </p:sp>
      <p:sp>
        <p:nvSpPr>
          <p:cNvPr id="2242" name="Google Shape;2242;h2d7e8d0cc2ebee9_0_130"/>
          <p:cNvSpPr txBox="1"/>
          <p:nvPr/>
        </p:nvSpPr>
        <p:spPr>
          <a:xfrm>
            <a:off x="4217288" y="1647499"/>
            <a:ext cx="944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Coding Agents</a:t>
            </a:r>
            <a:endParaRPr b="0" i="0" sz="1400" u="none" cap="none" strike="noStrike">
              <a:solidFill>
                <a:srgbClr val="000000"/>
              </a:solidFill>
              <a:latin typeface="Arial"/>
              <a:ea typeface="Arial"/>
              <a:cs typeface="Arial"/>
              <a:sym typeface="Arial"/>
            </a:endParaRPr>
          </a:p>
        </p:txBody>
      </p:sp>
      <p:sp>
        <p:nvSpPr>
          <p:cNvPr id="2243" name="Google Shape;2243;h2d7e8d0cc2ebee9_0_130"/>
          <p:cNvSpPr/>
          <p:nvPr/>
        </p:nvSpPr>
        <p:spPr>
          <a:xfrm>
            <a:off x="1225723" y="2877686"/>
            <a:ext cx="1722300" cy="1149300"/>
          </a:xfrm>
          <a:prstGeom prst="roundRect">
            <a:avLst>
              <a:gd fmla="val 8254"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Key Vault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Virtual keys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Rate / token limits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Budgets</a:t>
            </a:r>
            <a:endParaRPr b="0" i="0" sz="1400" u="none" cap="none" strike="noStrike">
              <a:solidFill>
                <a:srgbClr val="000000"/>
              </a:solidFill>
              <a:latin typeface="Arial"/>
              <a:ea typeface="Arial"/>
              <a:cs typeface="Arial"/>
              <a:sym typeface="Arial"/>
            </a:endParaRPr>
          </a:p>
        </p:txBody>
      </p:sp>
      <p:sp>
        <p:nvSpPr>
          <p:cNvPr id="2244" name="Google Shape;2244;h2d7e8d0cc2ebee9_0_130"/>
          <p:cNvSpPr/>
          <p:nvPr/>
        </p:nvSpPr>
        <p:spPr>
          <a:xfrm>
            <a:off x="5152971" y="2877686"/>
            <a:ext cx="1722300" cy="1149300"/>
          </a:xfrm>
          <a:prstGeom prst="roundRect">
            <a:avLst>
              <a:gd fmla="val 9499"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MCP Gateway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MCP Catalog</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Virtual MCPs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Tool permissions</a:t>
            </a:r>
            <a:endParaRPr b="0" i="0" sz="1400" u="none" cap="none" strike="noStrike">
              <a:solidFill>
                <a:srgbClr val="000000"/>
              </a:solidFill>
              <a:latin typeface="Arial"/>
              <a:ea typeface="Arial"/>
              <a:cs typeface="Arial"/>
              <a:sym typeface="Arial"/>
            </a:endParaRPr>
          </a:p>
        </p:txBody>
      </p:sp>
      <p:sp>
        <p:nvSpPr>
          <p:cNvPr id="2245" name="Google Shape;2245;h2d7e8d0cc2ebee9_0_130"/>
          <p:cNvSpPr/>
          <p:nvPr/>
        </p:nvSpPr>
        <p:spPr>
          <a:xfrm>
            <a:off x="7116596" y="2877686"/>
            <a:ext cx="1722300" cy="1149300"/>
          </a:xfrm>
          <a:prstGeom prst="roundRect">
            <a:avLst>
              <a:gd fmla="val 7289"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DDD7D2"/>
              </a:buClr>
              <a:buSzPts val="1200"/>
              <a:buFont typeface="Arial"/>
              <a:buNone/>
            </a:pPr>
            <a:r>
              <a:rPr b="1" i="0" lang="en-US" sz="1200" u="none" cap="none" strike="noStrike">
                <a:solidFill>
                  <a:srgbClr val="DDD7D2"/>
                </a:solidFill>
                <a:latin typeface="Arial"/>
                <a:ea typeface="Arial"/>
                <a:cs typeface="Arial"/>
                <a:sym typeface="Arial"/>
              </a:rPr>
              <a:t>Agent Gateway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Agent Catalog</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A2A policies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IAM</a:t>
            </a:r>
            <a:endParaRPr b="0" i="0" sz="1400" u="none" cap="none" strike="noStrike">
              <a:solidFill>
                <a:srgbClr val="000000"/>
              </a:solidFill>
              <a:latin typeface="Arial"/>
              <a:ea typeface="Arial"/>
              <a:cs typeface="Arial"/>
              <a:sym typeface="Arial"/>
            </a:endParaRPr>
          </a:p>
        </p:txBody>
      </p:sp>
      <p:sp>
        <p:nvSpPr>
          <p:cNvPr id="2246" name="Google Shape;2246;h2d7e8d0cc2ebee9_0_130"/>
          <p:cNvSpPr/>
          <p:nvPr/>
        </p:nvSpPr>
        <p:spPr>
          <a:xfrm>
            <a:off x="9078448" y="7618378"/>
            <a:ext cx="1722300" cy="1149300"/>
          </a:xfrm>
          <a:prstGeom prst="roundRect">
            <a:avLst>
              <a:gd fmla="val 7854" name="adj"/>
            </a:avLst>
          </a:prstGeom>
          <a:solidFill>
            <a:srgbClr val="292732"/>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Web search &amp; scraper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FFFFFF"/>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200"/>
              <a:buFont typeface="Arial"/>
              <a:buNone/>
            </a:pPr>
            <a:r>
              <a:t/>
            </a:r>
            <a:endParaRPr b="0" i="0" sz="1200" u="none" cap="none" strike="noStrike">
              <a:solidFill>
                <a:srgbClr val="FFFFFF"/>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0" name="Shape 2250"/>
        <p:cNvGrpSpPr/>
        <p:nvPr/>
      </p:nvGrpSpPr>
      <p:grpSpPr>
        <a:xfrm>
          <a:off x="0" y="0"/>
          <a:ext cx="0" cy="0"/>
          <a:chOff x="0" y="0"/>
          <a:chExt cx="0" cy="0"/>
        </a:xfrm>
      </p:grpSpPr>
      <p:sp>
        <p:nvSpPr>
          <p:cNvPr id="2251" name="Google Shape;2251;h2d7e8d0cc2ebee9_0_173"/>
          <p:cNvSpPr/>
          <p:nvPr/>
        </p:nvSpPr>
        <p:spPr>
          <a:xfrm>
            <a:off x="3171518" y="6461797"/>
            <a:ext cx="6390600" cy="469200"/>
          </a:xfrm>
          <a:prstGeom prst="roundRect">
            <a:avLst>
              <a:gd fmla="val 16667" name="adj"/>
            </a:avLst>
          </a:prstGeom>
          <a:solidFill>
            <a:schemeClr val="dk1"/>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2252" name="Google Shape;2252;h2d7e8d0cc2ebee9_0_173"/>
          <p:cNvSpPr txBox="1"/>
          <p:nvPr>
            <p:ph type="title"/>
          </p:nvPr>
        </p:nvSpPr>
        <p:spPr>
          <a:xfrm>
            <a:off x="263525" y="512676"/>
            <a:ext cx="11664900" cy="215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AI Observability gives real-time insights into every agent trace, cost and outcome</a:t>
            </a:r>
            <a:endParaRPr/>
          </a:p>
        </p:txBody>
      </p:sp>
      <p:sp>
        <p:nvSpPr>
          <p:cNvPr id="2253" name="Google Shape;2253;h2d7e8d0cc2ebee9_0_173"/>
          <p:cNvSpPr txBox="1"/>
          <p:nvPr>
            <p:ph idx="1" type="body"/>
          </p:nvPr>
        </p:nvSpPr>
        <p:spPr>
          <a:xfrm>
            <a:off x="263352" y="260648"/>
            <a:ext cx="11665200" cy="215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rgbClr val="DF5325"/>
              </a:buClr>
              <a:buSzPts val="1000"/>
              <a:buNone/>
            </a:pPr>
            <a:r>
              <a:rPr lang="en-US">
                <a:solidFill>
                  <a:srgbClr val="DF5325"/>
                </a:solidFill>
              </a:rPr>
              <a:t>AI OBSERVABILITY</a:t>
            </a:r>
            <a:endParaRPr/>
          </a:p>
        </p:txBody>
      </p:sp>
      <p:sp>
        <p:nvSpPr>
          <p:cNvPr id="2254" name="Google Shape;2254;h2d7e8d0cc2ebee9_0_173"/>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grpSp>
        <p:nvGrpSpPr>
          <p:cNvPr id="2255" name="Google Shape;2255;h2d7e8d0cc2ebee9_0_173"/>
          <p:cNvGrpSpPr/>
          <p:nvPr/>
        </p:nvGrpSpPr>
        <p:grpSpPr>
          <a:xfrm>
            <a:off x="6310890" y="6183820"/>
            <a:ext cx="111919" cy="144000"/>
            <a:chOff x="6040040" y="6183820"/>
            <a:chExt cx="111919" cy="144000"/>
          </a:xfrm>
        </p:grpSpPr>
        <p:cxnSp>
          <p:nvCxnSpPr>
            <p:cNvPr id="2256" name="Google Shape;2256;h2d7e8d0cc2ebee9_0_173"/>
            <p:cNvCxnSpPr/>
            <p:nvPr/>
          </p:nvCxnSpPr>
          <p:spPr>
            <a:xfrm rot="5400000">
              <a:off x="5968040" y="6255820"/>
              <a:ext cx="144000" cy="0"/>
            </a:xfrm>
            <a:prstGeom prst="straightConnector1">
              <a:avLst/>
            </a:prstGeom>
            <a:noFill/>
            <a:ln cap="flat" cmpd="sng" w="12700">
              <a:solidFill>
                <a:schemeClr val="accent1"/>
              </a:solidFill>
              <a:prstDash val="solid"/>
              <a:miter lim="80"/>
              <a:headEnd len="sm" w="sm" type="none"/>
              <a:tailEnd len="med" w="med" type="triangle"/>
            </a:ln>
          </p:spPr>
        </p:cxnSp>
        <p:cxnSp>
          <p:nvCxnSpPr>
            <p:cNvPr id="2257" name="Google Shape;2257;h2d7e8d0cc2ebee9_0_173"/>
            <p:cNvCxnSpPr/>
            <p:nvPr/>
          </p:nvCxnSpPr>
          <p:spPr>
            <a:xfrm rot="-5400000">
              <a:off x="6079959" y="6255820"/>
              <a:ext cx="144000" cy="0"/>
            </a:xfrm>
            <a:prstGeom prst="straightConnector1">
              <a:avLst/>
            </a:prstGeom>
            <a:noFill/>
            <a:ln cap="flat" cmpd="sng" w="12700">
              <a:solidFill>
                <a:schemeClr val="accent1"/>
              </a:solidFill>
              <a:prstDash val="solid"/>
              <a:miter lim="80"/>
              <a:headEnd len="sm" w="sm" type="none"/>
              <a:tailEnd len="med" w="med" type="triangle"/>
            </a:ln>
          </p:spPr>
        </p:cxnSp>
      </p:grpSp>
      <p:sp>
        <p:nvSpPr>
          <p:cNvPr id="2258" name="Google Shape;2258;h2d7e8d0cc2ebee9_0_173"/>
          <p:cNvSpPr/>
          <p:nvPr/>
        </p:nvSpPr>
        <p:spPr>
          <a:xfrm>
            <a:off x="1510899" y="2307081"/>
            <a:ext cx="9711900" cy="3737700"/>
          </a:xfrm>
          <a:prstGeom prst="roundRect">
            <a:avLst>
              <a:gd fmla="val 3504" name="adj"/>
            </a:avLst>
          </a:prstGeom>
          <a:solidFill>
            <a:srgbClr val="DF532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rgbClr val="DF5325"/>
              </a:solidFill>
              <a:latin typeface="Arial"/>
              <a:ea typeface="Arial"/>
              <a:cs typeface="Arial"/>
              <a:sym typeface="Arial"/>
            </a:endParaRPr>
          </a:p>
        </p:txBody>
      </p:sp>
      <p:grpSp>
        <p:nvGrpSpPr>
          <p:cNvPr id="2259" name="Google Shape;2259;h2d7e8d0cc2ebee9_0_173"/>
          <p:cNvGrpSpPr/>
          <p:nvPr/>
        </p:nvGrpSpPr>
        <p:grpSpPr>
          <a:xfrm>
            <a:off x="5678936" y="2467159"/>
            <a:ext cx="1375974" cy="184800"/>
            <a:chOff x="5528918" y="2972438"/>
            <a:chExt cx="1375974" cy="184800"/>
          </a:xfrm>
        </p:grpSpPr>
        <p:sp>
          <p:nvSpPr>
            <p:cNvPr id="2260" name="Google Shape;2260;h2d7e8d0cc2ebee9_0_173"/>
            <p:cNvSpPr txBox="1"/>
            <p:nvPr/>
          </p:nvSpPr>
          <p:spPr>
            <a:xfrm>
              <a:off x="5702492" y="2972438"/>
              <a:ext cx="12024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AI Observability</a:t>
              </a:r>
              <a:endParaRPr b="0" i="0" sz="1400" u="none" cap="none" strike="noStrike">
                <a:solidFill>
                  <a:srgbClr val="000000"/>
                </a:solidFill>
                <a:latin typeface="Arial"/>
                <a:ea typeface="Arial"/>
                <a:cs typeface="Arial"/>
                <a:sym typeface="Arial"/>
              </a:endParaRPr>
            </a:p>
          </p:txBody>
        </p:sp>
        <p:sp>
          <p:nvSpPr>
            <p:cNvPr id="2261" name="Google Shape;2261;h2d7e8d0cc2ebee9_0_173"/>
            <p:cNvSpPr/>
            <p:nvPr/>
          </p:nvSpPr>
          <p:spPr>
            <a:xfrm>
              <a:off x="5528918" y="2987827"/>
              <a:ext cx="166200" cy="16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2" name="Google Shape;2262;h2d7e8d0cc2ebee9_0_173"/>
          <p:cNvGrpSpPr/>
          <p:nvPr/>
        </p:nvGrpSpPr>
        <p:grpSpPr>
          <a:xfrm>
            <a:off x="5789978" y="6432453"/>
            <a:ext cx="1153773" cy="483000"/>
            <a:chOff x="2598712" y="5498374"/>
            <a:chExt cx="1153773" cy="483000"/>
          </a:xfrm>
        </p:grpSpPr>
        <p:sp>
          <p:nvSpPr>
            <p:cNvPr id="2263" name="Google Shape;2263;h2d7e8d0cc2ebee9_0_173"/>
            <p:cNvSpPr/>
            <p:nvPr/>
          </p:nvSpPr>
          <p:spPr>
            <a:xfrm>
              <a:off x="2652085" y="5498374"/>
              <a:ext cx="1100400" cy="483000"/>
            </a:xfrm>
            <a:prstGeom prst="roundRect">
              <a:avLst>
                <a:gd fmla="val 11088" name="adj"/>
              </a:avLst>
            </a:prstGeom>
            <a:noFill/>
            <a:ln>
              <a:noFill/>
            </a:ln>
          </p:spPr>
          <p:txBody>
            <a:bodyPr anchorCtr="0" anchor="ctr" bIns="144000" lIns="144000" spcFirstLastPara="1" rIns="144000" wrap="square" tIns="14400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AI Gateway</a:t>
              </a:r>
              <a:endParaRPr b="0" i="0" sz="1400" u="none" cap="none" strike="noStrike">
                <a:solidFill>
                  <a:srgbClr val="000000"/>
                </a:solidFill>
                <a:latin typeface="Arial"/>
                <a:ea typeface="Arial"/>
                <a:cs typeface="Arial"/>
                <a:sym typeface="Arial"/>
              </a:endParaRPr>
            </a:p>
          </p:txBody>
        </p:sp>
        <p:sp>
          <p:nvSpPr>
            <p:cNvPr id="2264" name="Google Shape;2264;h2d7e8d0cc2ebee9_0_173"/>
            <p:cNvSpPr/>
            <p:nvPr/>
          </p:nvSpPr>
          <p:spPr>
            <a:xfrm>
              <a:off x="2598712" y="5661449"/>
              <a:ext cx="166200" cy="16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5" name="Google Shape;2265;h2d7e8d0cc2ebee9_0_173"/>
          <p:cNvSpPr/>
          <p:nvPr/>
        </p:nvSpPr>
        <p:spPr>
          <a:xfrm>
            <a:off x="3125397" y="2844800"/>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Tracing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Agent Traces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Sessions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Identities &amp; Metadata</a:t>
            </a:r>
            <a:endParaRPr b="0" i="0" sz="1400" u="none" cap="none" strike="noStrike">
              <a:solidFill>
                <a:srgbClr val="000000"/>
              </a:solidFill>
              <a:latin typeface="Arial"/>
              <a:ea typeface="Arial"/>
              <a:cs typeface="Arial"/>
              <a:sym typeface="Arial"/>
            </a:endParaRPr>
          </a:p>
        </p:txBody>
      </p:sp>
      <p:sp>
        <p:nvSpPr>
          <p:cNvPr id="2266" name="Google Shape;2266;h2d7e8d0cc2ebee9_0_173"/>
          <p:cNvSpPr/>
          <p:nvPr/>
        </p:nvSpPr>
        <p:spPr>
          <a:xfrm>
            <a:off x="5358739" y="2844800"/>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Evaluation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Online Experimentation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Custom Metrics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Dataset curation</a:t>
            </a:r>
            <a:endParaRPr b="0" i="0" sz="1400" u="none" cap="none" strike="noStrike">
              <a:solidFill>
                <a:srgbClr val="000000"/>
              </a:solidFill>
              <a:latin typeface="Arial"/>
              <a:ea typeface="Arial"/>
              <a:cs typeface="Arial"/>
              <a:sym typeface="Arial"/>
            </a:endParaRPr>
          </a:p>
        </p:txBody>
      </p:sp>
      <p:sp>
        <p:nvSpPr>
          <p:cNvPr id="2267" name="Google Shape;2267;h2d7e8d0cc2ebee9_0_173"/>
          <p:cNvSpPr/>
          <p:nvPr/>
        </p:nvSpPr>
        <p:spPr>
          <a:xfrm>
            <a:off x="2008726" y="4401587"/>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Insights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AI Insights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Failure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Errors &amp; Latency</a:t>
            </a:r>
            <a:endParaRPr b="0" i="0" sz="1400" u="none" cap="none" strike="noStrike">
              <a:solidFill>
                <a:srgbClr val="000000"/>
              </a:solidFill>
              <a:latin typeface="Arial"/>
              <a:ea typeface="Arial"/>
              <a:cs typeface="Arial"/>
              <a:sym typeface="Arial"/>
            </a:endParaRPr>
          </a:p>
        </p:txBody>
      </p:sp>
      <p:sp>
        <p:nvSpPr>
          <p:cNvPr id="2268" name="Google Shape;2268;h2d7e8d0cc2ebee9_0_173"/>
          <p:cNvSpPr/>
          <p:nvPr/>
        </p:nvSpPr>
        <p:spPr>
          <a:xfrm>
            <a:off x="6475410" y="4401587"/>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Human Feedback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Feedback API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Annotations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Human Evaluation</a:t>
            </a:r>
            <a:endParaRPr b="0" i="0" sz="1400" u="none" cap="none" strike="noStrike">
              <a:solidFill>
                <a:srgbClr val="000000"/>
              </a:solidFill>
              <a:latin typeface="Arial"/>
              <a:ea typeface="Arial"/>
              <a:cs typeface="Arial"/>
              <a:sym typeface="Arial"/>
            </a:endParaRPr>
          </a:p>
        </p:txBody>
      </p:sp>
      <p:sp>
        <p:nvSpPr>
          <p:cNvPr id="2269" name="Google Shape;2269;h2d7e8d0cc2ebee9_0_173"/>
          <p:cNvSpPr/>
          <p:nvPr/>
        </p:nvSpPr>
        <p:spPr>
          <a:xfrm>
            <a:off x="8708749" y="4401587"/>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Alerting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Monitors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Automations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Webhooks</a:t>
            </a:r>
            <a:endParaRPr b="0" i="0" sz="1400" u="none" cap="none" strike="noStrike">
              <a:solidFill>
                <a:srgbClr val="000000"/>
              </a:solidFill>
              <a:latin typeface="Arial"/>
              <a:ea typeface="Arial"/>
              <a:cs typeface="Arial"/>
              <a:sym typeface="Arial"/>
            </a:endParaRPr>
          </a:p>
        </p:txBody>
      </p:sp>
      <p:grpSp>
        <p:nvGrpSpPr>
          <p:cNvPr id="2270" name="Google Shape;2270;h2d7e8d0cc2ebee9_0_173"/>
          <p:cNvGrpSpPr/>
          <p:nvPr/>
        </p:nvGrpSpPr>
        <p:grpSpPr>
          <a:xfrm>
            <a:off x="3171518" y="1564017"/>
            <a:ext cx="6390600" cy="396300"/>
            <a:chOff x="3171518" y="1564017"/>
            <a:chExt cx="6390600" cy="396300"/>
          </a:xfrm>
        </p:grpSpPr>
        <p:sp>
          <p:nvSpPr>
            <p:cNvPr id="2271" name="Google Shape;2271;h2d7e8d0cc2ebee9_0_173"/>
            <p:cNvSpPr/>
            <p:nvPr/>
          </p:nvSpPr>
          <p:spPr>
            <a:xfrm>
              <a:off x="3171518" y="1564017"/>
              <a:ext cx="6390600" cy="396300"/>
            </a:xfrm>
            <a:prstGeom prst="roundRect">
              <a:avLst>
                <a:gd fmla="val 16667" name="adj"/>
              </a:avLst>
            </a:prstGeom>
            <a:solidFill>
              <a:srgbClr val="D8D8D8"/>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grpSp>
          <p:nvGrpSpPr>
            <p:cNvPr id="2272" name="Google Shape;2272;h2d7e8d0cc2ebee9_0_173"/>
            <p:cNvGrpSpPr/>
            <p:nvPr/>
          </p:nvGrpSpPr>
          <p:grpSpPr>
            <a:xfrm>
              <a:off x="8682554" y="1647361"/>
              <a:ext cx="624545" cy="229500"/>
              <a:chOff x="6619562" y="1600981"/>
              <a:chExt cx="624545" cy="229500"/>
            </a:xfrm>
          </p:grpSpPr>
          <p:sp>
            <p:nvSpPr>
              <p:cNvPr id="2273" name="Google Shape;2273;h2d7e8d0cc2ebee9_0_173"/>
              <p:cNvSpPr/>
              <p:nvPr/>
            </p:nvSpPr>
            <p:spPr>
              <a:xfrm>
                <a:off x="6619562" y="1600981"/>
                <a:ext cx="205800" cy="22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h2d7e8d0cc2ebee9_0_173"/>
              <p:cNvSpPr txBox="1"/>
              <p:nvPr/>
            </p:nvSpPr>
            <p:spPr>
              <a:xfrm>
                <a:off x="6936307" y="1638794"/>
                <a:ext cx="3078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MCP</a:t>
                </a:r>
                <a:endParaRPr b="0" i="0" sz="1400" u="none" cap="none" strike="noStrike">
                  <a:solidFill>
                    <a:srgbClr val="000000"/>
                  </a:solidFill>
                  <a:latin typeface="Arial"/>
                  <a:ea typeface="Arial"/>
                  <a:cs typeface="Arial"/>
                  <a:sym typeface="Arial"/>
                </a:endParaRPr>
              </a:p>
            </p:txBody>
          </p:sp>
        </p:grpSp>
        <p:grpSp>
          <p:nvGrpSpPr>
            <p:cNvPr id="2275" name="Google Shape;2275;h2d7e8d0cc2ebee9_0_173"/>
            <p:cNvGrpSpPr/>
            <p:nvPr/>
          </p:nvGrpSpPr>
          <p:grpSpPr>
            <a:xfrm>
              <a:off x="7100417" y="1685174"/>
              <a:ext cx="1147559" cy="153900"/>
              <a:chOff x="8102358" y="1638794"/>
              <a:chExt cx="1147559" cy="153900"/>
            </a:xfrm>
          </p:grpSpPr>
          <p:sp>
            <p:nvSpPr>
              <p:cNvPr id="2276" name="Google Shape;2276;h2d7e8d0cc2ebee9_0_173"/>
              <p:cNvSpPr/>
              <p:nvPr/>
            </p:nvSpPr>
            <p:spPr>
              <a:xfrm>
                <a:off x="8102358" y="1638794"/>
                <a:ext cx="153900" cy="15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h2d7e8d0cc2ebee9_0_173"/>
              <p:cNvSpPr txBox="1"/>
              <p:nvPr/>
            </p:nvSpPr>
            <p:spPr>
              <a:xfrm>
                <a:off x="8377817" y="1638794"/>
                <a:ext cx="872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OSS Libraries</a:t>
                </a:r>
                <a:endParaRPr b="0" i="0" sz="1400" u="none" cap="none" strike="noStrike">
                  <a:solidFill>
                    <a:srgbClr val="000000"/>
                  </a:solidFill>
                  <a:latin typeface="Arial"/>
                  <a:ea typeface="Arial"/>
                  <a:cs typeface="Arial"/>
                  <a:sym typeface="Arial"/>
                </a:endParaRPr>
              </a:p>
            </p:txBody>
          </p:sp>
        </p:grpSp>
        <p:sp>
          <p:nvSpPr>
            <p:cNvPr id="2278" name="Google Shape;2278;h2d7e8d0cc2ebee9_0_173"/>
            <p:cNvSpPr txBox="1"/>
            <p:nvPr/>
          </p:nvSpPr>
          <p:spPr>
            <a:xfrm>
              <a:off x="3613077" y="1685174"/>
              <a:ext cx="216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API</a:t>
              </a:r>
              <a:endParaRPr b="0" i="0" sz="1400" u="none" cap="none" strike="noStrike">
                <a:solidFill>
                  <a:srgbClr val="000000"/>
                </a:solidFill>
                <a:latin typeface="Arial"/>
                <a:ea typeface="Arial"/>
                <a:cs typeface="Arial"/>
                <a:sym typeface="Arial"/>
              </a:endParaRPr>
            </a:p>
          </p:txBody>
        </p:sp>
        <p:sp>
          <p:nvSpPr>
            <p:cNvPr id="2279" name="Google Shape;2279;h2d7e8d0cc2ebee9_0_173"/>
            <p:cNvSpPr txBox="1"/>
            <p:nvPr/>
          </p:nvSpPr>
          <p:spPr>
            <a:xfrm>
              <a:off x="4272573" y="1685174"/>
              <a:ext cx="2709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SDK</a:t>
              </a:r>
              <a:endParaRPr b="0" i="0" sz="1400" u="none" cap="none" strike="noStrike">
                <a:solidFill>
                  <a:srgbClr val="000000"/>
                </a:solidFill>
                <a:latin typeface="Arial"/>
                <a:ea typeface="Arial"/>
                <a:cs typeface="Arial"/>
                <a:sym typeface="Arial"/>
              </a:endParaRPr>
            </a:p>
          </p:txBody>
        </p:sp>
        <p:sp>
          <p:nvSpPr>
            <p:cNvPr id="2280" name="Google Shape;2280;h2d7e8d0cc2ebee9_0_173"/>
            <p:cNvSpPr txBox="1"/>
            <p:nvPr/>
          </p:nvSpPr>
          <p:spPr>
            <a:xfrm>
              <a:off x="4982159" y="1685174"/>
              <a:ext cx="213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CLI</a:t>
              </a:r>
              <a:endParaRPr b="0" i="0" sz="1400" u="none" cap="none" strike="noStrike">
                <a:solidFill>
                  <a:srgbClr val="000000"/>
                </a:solidFill>
                <a:latin typeface="Arial"/>
                <a:ea typeface="Arial"/>
                <a:cs typeface="Arial"/>
                <a:sym typeface="Arial"/>
              </a:endParaRPr>
            </a:p>
          </p:txBody>
        </p:sp>
        <p:sp>
          <p:nvSpPr>
            <p:cNvPr id="2281" name="Google Shape;2281;h2d7e8d0cc2ebee9_0_173"/>
            <p:cNvSpPr txBox="1"/>
            <p:nvPr/>
          </p:nvSpPr>
          <p:spPr>
            <a:xfrm>
              <a:off x="5634037" y="1685174"/>
              <a:ext cx="944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Coding Agents</a:t>
              </a:r>
              <a:endParaRPr b="0" i="0" sz="1400" u="none" cap="none" strike="noStrike">
                <a:solidFill>
                  <a:srgbClr val="000000"/>
                </a:solidFill>
                <a:latin typeface="Arial"/>
                <a:ea typeface="Arial"/>
                <a:cs typeface="Arial"/>
                <a:sym typeface="Arial"/>
              </a:endParaRPr>
            </a:p>
          </p:txBody>
        </p:sp>
      </p:grpSp>
      <p:grpSp>
        <p:nvGrpSpPr>
          <p:cNvPr id="2282" name="Google Shape;2282;h2d7e8d0cc2ebee9_0_173"/>
          <p:cNvGrpSpPr/>
          <p:nvPr/>
        </p:nvGrpSpPr>
        <p:grpSpPr>
          <a:xfrm>
            <a:off x="6310890" y="2077786"/>
            <a:ext cx="111919" cy="144000"/>
            <a:chOff x="6100150" y="2095858"/>
            <a:chExt cx="111919" cy="144000"/>
          </a:xfrm>
        </p:grpSpPr>
        <p:cxnSp>
          <p:nvCxnSpPr>
            <p:cNvPr id="2283" name="Google Shape;2283;h2d7e8d0cc2ebee9_0_173"/>
            <p:cNvCxnSpPr/>
            <p:nvPr/>
          </p:nvCxnSpPr>
          <p:spPr>
            <a:xfrm rot="5400000">
              <a:off x="6028150" y="2167858"/>
              <a:ext cx="144000" cy="0"/>
            </a:xfrm>
            <a:prstGeom prst="straightConnector1">
              <a:avLst/>
            </a:prstGeom>
            <a:noFill/>
            <a:ln cap="flat" cmpd="sng" w="12700">
              <a:solidFill>
                <a:schemeClr val="accent1"/>
              </a:solidFill>
              <a:prstDash val="solid"/>
              <a:miter lim="80"/>
              <a:headEnd len="sm" w="sm" type="none"/>
              <a:tailEnd len="med" w="med" type="triangle"/>
            </a:ln>
          </p:spPr>
        </p:cxnSp>
        <p:cxnSp>
          <p:nvCxnSpPr>
            <p:cNvPr id="2284" name="Google Shape;2284;h2d7e8d0cc2ebee9_0_173"/>
            <p:cNvCxnSpPr/>
            <p:nvPr/>
          </p:nvCxnSpPr>
          <p:spPr>
            <a:xfrm rot="-5400000">
              <a:off x="6140069" y="2167858"/>
              <a:ext cx="144000" cy="0"/>
            </a:xfrm>
            <a:prstGeom prst="straightConnector1">
              <a:avLst/>
            </a:prstGeom>
            <a:noFill/>
            <a:ln cap="flat" cmpd="sng" w="12700">
              <a:solidFill>
                <a:schemeClr val="accent1"/>
              </a:solidFill>
              <a:prstDash val="solid"/>
              <a:miter lim="80"/>
              <a:headEnd len="sm" w="sm" type="none"/>
              <a:tailEnd len="med" w="med" type="triangle"/>
            </a:ln>
          </p:spPr>
        </p:cxnSp>
      </p:grpSp>
      <p:sp>
        <p:nvSpPr>
          <p:cNvPr id="2285" name="Google Shape;2285;h2d7e8d0cc2ebee9_0_173"/>
          <p:cNvSpPr/>
          <p:nvPr/>
        </p:nvSpPr>
        <p:spPr>
          <a:xfrm>
            <a:off x="4242068" y="4401587"/>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FinOps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Cost Analytics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Attribution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Budget Alerts</a:t>
            </a:r>
            <a:endParaRPr b="0" i="0" sz="1400" u="none" cap="none" strike="noStrike">
              <a:solidFill>
                <a:srgbClr val="000000"/>
              </a:solidFill>
              <a:latin typeface="Arial"/>
              <a:ea typeface="Arial"/>
              <a:cs typeface="Arial"/>
              <a:sym typeface="Arial"/>
            </a:endParaRPr>
          </a:p>
        </p:txBody>
      </p:sp>
      <p:sp>
        <p:nvSpPr>
          <p:cNvPr id="2286" name="Google Shape;2286;h2d7e8d0cc2ebee9_0_173"/>
          <p:cNvSpPr/>
          <p:nvPr/>
        </p:nvSpPr>
        <p:spPr>
          <a:xfrm>
            <a:off x="7592081" y="2844800"/>
            <a:ext cx="1949100" cy="1308000"/>
          </a:xfrm>
          <a:prstGeom prst="roundRect">
            <a:avLst>
              <a:gd fmla="val 3622" name="adj"/>
            </a:avLst>
          </a:prstGeom>
          <a:solidFill>
            <a:srgbClr val="EC8A5F"/>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Integrations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OTEL-compatible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OSS Frameworks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33261D"/>
              </a:buClr>
              <a:buSzPts val="1200"/>
              <a:buFont typeface="Arial"/>
              <a:buNone/>
            </a:pPr>
            <a:r>
              <a:rPr b="0" i="0" lang="en-US" sz="1200" u="none" cap="none" strike="noStrike">
                <a:solidFill>
                  <a:srgbClr val="33261D"/>
                </a:solidFill>
                <a:latin typeface="Arial"/>
                <a:ea typeface="Arial"/>
                <a:cs typeface="Arial"/>
                <a:sym typeface="Arial"/>
              </a:rPr>
              <a:t>Coding Agents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0" name="Shape 2290"/>
        <p:cNvGrpSpPr/>
        <p:nvPr/>
      </p:nvGrpSpPr>
      <p:grpSpPr>
        <a:xfrm>
          <a:off x="0" y="0"/>
          <a:ext cx="0" cy="0"/>
          <a:chOff x="0" y="0"/>
          <a:chExt cx="0" cy="0"/>
        </a:xfrm>
      </p:grpSpPr>
      <p:sp>
        <p:nvSpPr>
          <p:cNvPr id="2291" name="Google Shape;2291;h2d7e8d0cc2ebee9_0_212"/>
          <p:cNvSpPr/>
          <p:nvPr/>
        </p:nvSpPr>
        <p:spPr>
          <a:xfrm>
            <a:off x="3171518" y="6461797"/>
            <a:ext cx="6390600" cy="469200"/>
          </a:xfrm>
          <a:prstGeom prst="roundRect">
            <a:avLst>
              <a:gd fmla="val 16667" name="adj"/>
            </a:avLst>
          </a:prstGeom>
          <a:solidFill>
            <a:schemeClr val="dk1"/>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2292" name="Google Shape;2292;h2d7e8d0cc2ebee9_0_212"/>
          <p:cNvSpPr txBox="1"/>
          <p:nvPr>
            <p:ph type="title"/>
          </p:nvPr>
        </p:nvSpPr>
        <p:spPr>
          <a:xfrm>
            <a:off x="263525" y="512676"/>
            <a:ext cx="11664900" cy="861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AI Engineering allows you to build, deploy, and optimise the entire agent lifecycle in a seamless workflow</a:t>
            </a:r>
            <a:endParaRPr/>
          </a:p>
        </p:txBody>
      </p:sp>
      <p:sp>
        <p:nvSpPr>
          <p:cNvPr id="2293" name="Google Shape;2293;h2d7e8d0cc2ebee9_0_212"/>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AI ENGINEERING</a:t>
            </a:r>
            <a:endParaRPr/>
          </a:p>
        </p:txBody>
      </p:sp>
      <p:sp>
        <p:nvSpPr>
          <p:cNvPr id="2294" name="Google Shape;2294;h2d7e8d0cc2ebee9_0_212"/>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grpSp>
        <p:nvGrpSpPr>
          <p:cNvPr id="2295" name="Google Shape;2295;h2d7e8d0cc2ebee9_0_212"/>
          <p:cNvGrpSpPr/>
          <p:nvPr/>
        </p:nvGrpSpPr>
        <p:grpSpPr>
          <a:xfrm>
            <a:off x="6306740" y="6183820"/>
            <a:ext cx="111919" cy="144000"/>
            <a:chOff x="6040040" y="6183820"/>
            <a:chExt cx="111919" cy="144000"/>
          </a:xfrm>
        </p:grpSpPr>
        <p:cxnSp>
          <p:nvCxnSpPr>
            <p:cNvPr id="2296" name="Google Shape;2296;h2d7e8d0cc2ebee9_0_212"/>
            <p:cNvCxnSpPr/>
            <p:nvPr/>
          </p:nvCxnSpPr>
          <p:spPr>
            <a:xfrm rot="5400000">
              <a:off x="5968040" y="6255820"/>
              <a:ext cx="144000" cy="0"/>
            </a:xfrm>
            <a:prstGeom prst="straightConnector1">
              <a:avLst/>
            </a:prstGeom>
            <a:noFill/>
            <a:ln cap="flat" cmpd="sng" w="12700">
              <a:solidFill>
                <a:schemeClr val="accent2"/>
              </a:solidFill>
              <a:prstDash val="solid"/>
              <a:miter lim="80"/>
              <a:headEnd len="sm" w="sm" type="none"/>
              <a:tailEnd len="med" w="med" type="triangle"/>
            </a:ln>
          </p:spPr>
        </p:cxnSp>
        <p:cxnSp>
          <p:nvCxnSpPr>
            <p:cNvPr id="2297" name="Google Shape;2297;h2d7e8d0cc2ebee9_0_212"/>
            <p:cNvCxnSpPr/>
            <p:nvPr/>
          </p:nvCxnSpPr>
          <p:spPr>
            <a:xfrm rot="-5400000">
              <a:off x="6079959" y="6255820"/>
              <a:ext cx="144000" cy="0"/>
            </a:xfrm>
            <a:prstGeom prst="straightConnector1">
              <a:avLst/>
            </a:prstGeom>
            <a:noFill/>
            <a:ln cap="flat" cmpd="sng" w="12700">
              <a:solidFill>
                <a:schemeClr val="accent2"/>
              </a:solidFill>
              <a:prstDash val="solid"/>
              <a:miter lim="80"/>
              <a:headEnd len="sm" w="sm" type="none"/>
              <a:tailEnd len="med" w="med" type="triangle"/>
            </a:ln>
          </p:spPr>
        </p:cxnSp>
      </p:grpSp>
      <p:sp>
        <p:nvSpPr>
          <p:cNvPr id="2298" name="Google Shape;2298;h2d7e8d0cc2ebee9_0_212"/>
          <p:cNvSpPr/>
          <p:nvPr/>
        </p:nvSpPr>
        <p:spPr>
          <a:xfrm>
            <a:off x="441961" y="2307081"/>
            <a:ext cx="11486400" cy="3737700"/>
          </a:xfrm>
          <a:prstGeom prst="roundRect">
            <a:avLst>
              <a:gd fmla="val 3504" name="adj"/>
            </a:avLst>
          </a:prstGeom>
          <a:solidFill>
            <a:schemeClr val="accent2"/>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rgbClr val="DF5325"/>
              </a:solidFill>
              <a:latin typeface="Arial"/>
              <a:ea typeface="Arial"/>
              <a:cs typeface="Arial"/>
              <a:sym typeface="Arial"/>
            </a:endParaRPr>
          </a:p>
        </p:txBody>
      </p:sp>
      <p:grpSp>
        <p:nvGrpSpPr>
          <p:cNvPr id="2299" name="Google Shape;2299;h2d7e8d0cc2ebee9_0_212"/>
          <p:cNvGrpSpPr/>
          <p:nvPr/>
        </p:nvGrpSpPr>
        <p:grpSpPr>
          <a:xfrm>
            <a:off x="5774251" y="2467159"/>
            <a:ext cx="1314283" cy="369300"/>
            <a:chOff x="5390835" y="2972438"/>
            <a:chExt cx="1314283" cy="369300"/>
          </a:xfrm>
        </p:grpSpPr>
        <p:sp>
          <p:nvSpPr>
            <p:cNvPr id="2300" name="Google Shape;2300;h2d7e8d0cc2ebee9_0_212"/>
            <p:cNvSpPr txBox="1"/>
            <p:nvPr/>
          </p:nvSpPr>
          <p:spPr>
            <a:xfrm>
              <a:off x="5635918" y="2972438"/>
              <a:ext cx="1069200" cy="369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141319"/>
                </a:buClr>
                <a:buSzPts val="1200"/>
                <a:buFont typeface="Arial"/>
                <a:buNone/>
              </a:pPr>
              <a:r>
                <a:rPr b="1" i="0" lang="en-US" sz="1200" u="none" cap="none" strike="noStrike">
                  <a:solidFill>
                    <a:srgbClr val="141319"/>
                  </a:solidFill>
                  <a:latin typeface="Arial"/>
                  <a:ea typeface="Arial"/>
                  <a:cs typeface="Arial"/>
                  <a:sym typeface="Arial"/>
                </a:rPr>
                <a:t>AI Engineering</a:t>
              </a:r>
              <a:endParaRPr b="0" i="0" sz="1400" u="none" cap="none" strike="noStrike">
                <a:solidFill>
                  <a:srgbClr val="000000"/>
                </a:solidFill>
                <a:latin typeface="Arial"/>
                <a:ea typeface="Arial"/>
                <a:cs typeface="Arial"/>
                <a:sym typeface="Arial"/>
              </a:endParaRPr>
            </a:p>
          </p:txBody>
        </p:sp>
        <p:sp>
          <p:nvSpPr>
            <p:cNvPr id="2301" name="Google Shape;2301;h2d7e8d0cc2ebee9_0_212"/>
            <p:cNvSpPr/>
            <p:nvPr/>
          </p:nvSpPr>
          <p:spPr>
            <a:xfrm>
              <a:off x="5390835" y="2987827"/>
              <a:ext cx="166200" cy="16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2" name="Google Shape;2302;h2d7e8d0cc2ebee9_0_212"/>
          <p:cNvGrpSpPr/>
          <p:nvPr/>
        </p:nvGrpSpPr>
        <p:grpSpPr>
          <a:xfrm>
            <a:off x="5912334" y="6432453"/>
            <a:ext cx="1153773" cy="483000"/>
            <a:chOff x="2598712" y="5498374"/>
            <a:chExt cx="1153773" cy="483000"/>
          </a:xfrm>
        </p:grpSpPr>
        <p:sp>
          <p:nvSpPr>
            <p:cNvPr id="2303" name="Google Shape;2303;h2d7e8d0cc2ebee9_0_212"/>
            <p:cNvSpPr/>
            <p:nvPr/>
          </p:nvSpPr>
          <p:spPr>
            <a:xfrm>
              <a:off x="2652085" y="5498374"/>
              <a:ext cx="1100400" cy="483000"/>
            </a:xfrm>
            <a:prstGeom prst="roundRect">
              <a:avLst>
                <a:gd fmla="val 11088" name="adj"/>
              </a:avLst>
            </a:prstGeom>
            <a:noFill/>
            <a:ln>
              <a:noFill/>
            </a:ln>
          </p:spPr>
          <p:txBody>
            <a:bodyPr anchorCtr="0" anchor="ctr" bIns="144000" lIns="144000" spcFirstLastPara="1" rIns="144000" wrap="square" tIns="14400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AI Gateway</a:t>
              </a:r>
              <a:endParaRPr b="0" i="0" sz="1400" u="none" cap="none" strike="noStrike">
                <a:solidFill>
                  <a:srgbClr val="000000"/>
                </a:solidFill>
                <a:latin typeface="Arial"/>
                <a:ea typeface="Arial"/>
                <a:cs typeface="Arial"/>
                <a:sym typeface="Arial"/>
              </a:endParaRPr>
            </a:p>
          </p:txBody>
        </p:sp>
        <p:sp>
          <p:nvSpPr>
            <p:cNvPr id="2304" name="Google Shape;2304;h2d7e8d0cc2ebee9_0_212"/>
            <p:cNvSpPr/>
            <p:nvPr/>
          </p:nvSpPr>
          <p:spPr>
            <a:xfrm>
              <a:off x="2598712" y="5661449"/>
              <a:ext cx="166200" cy="16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5" name="Google Shape;2305;h2d7e8d0cc2ebee9_0_212"/>
          <p:cNvSpPr/>
          <p:nvPr/>
        </p:nvSpPr>
        <p:spPr>
          <a:xfrm>
            <a:off x="685800" y="3008650"/>
            <a:ext cx="1868700" cy="1674600"/>
          </a:xfrm>
          <a:prstGeom prst="roundRect">
            <a:avLst>
              <a:gd fmla="val 3622" name="adj"/>
            </a:avLst>
          </a:prstGeom>
          <a:solidFill>
            <a:srgbClr val="99FFF1"/>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006154"/>
              </a:buClr>
              <a:buSzPts val="1200"/>
              <a:buFont typeface="Arial"/>
              <a:buNone/>
            </a:pPr>
            <a:r>
              <a:rPr b="0" i="0" lang="en-US" sz="1200" u="none" cap="none" strike="noStrike">
                <a:solidFill>
                  <a:srgbClr val="006154"/>
                </a:solidFill>
                <a:latin typeface="Arial"/>
                <a:ea typeface="Arial"/>
                <a:cs typeface="Arial"/>
                <a:sym typeface="Arial"/>
              </a:rPr>
              <a:t>Agent Engineering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Agent Builder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Agent Registry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Skills Registry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Prompt Optimization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Version Control</a:t>
            </a:r>
            <a:endParaRPr b="0" i="0" sz="1400" u="none" cap="none" strike="noStrike">
              <a:solidFill>
                <a:srgbClr val="000000"/>
              </a:solidFill>
              <a:latin typeface="Arial"/>
              <a:ea typeface="Arial"/>
              <a:cs typeface="Arial"/>
              <a:sym typeface="Arial"/>
            </a:endParaRPr>
          </a:p>
        </p:txBody>
      </p:sp>
      <p:sp>
        <p:nvSpPr>
          <p:cNvPr id="2306" name="Google Shape;2306;h2d7e8d0cc2ebee9_0_212"/>
          <p:cNvSpPr/>
          <p:nvPr/>
        </p:nvSpPr>
        <p:spPr>
          <a:xfrm>
            <a:off x="9719990" y="3016065"/>
            <a:ext cx="1868700" cy="1674600"/>
          </a:xfrm>
          <a:prstGeom prst="roundRect">
            <a:avLst>
              <a:gd fmla="val 3622" name="adj"/>
            </a:avLst>
          </a:prstGeom>
          <a:solidFill>
            <a:srgbClr val="99FFF1"/>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006154"/>
              </a:buClr>
              <a:buSzPts val="1200"/>
              <a:buFont typeface="Arial"/>
              <a:buNone/>
            </a:pPr>
            <a:r>
              <a:rPr b="0" i="0" lang="en-US" sz="1200" u="none" cap="none" strike="noStrike">
                <a:solidFill>
                  <a:srgbClr val="006154"/>
                </a:solidFill>
                <a:latin typeface="Arial"/>
                <a:ea typeface="Arial"/>
                <a:cs typeface="Arial"/>
                <a:sym typeface="Arial"/>
              </a:rPr>
              <a:t>Experimentation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Experiments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Playgrounds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Datasets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Annotations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Agent Simulator</a:t>
            </a:r>
            <a:endParaRPr b="0" i="0" sz="1400" u="none" cap="none" strike="noStrike">
              <a:solidFill>
                <a:srgbClr val="000000"/>
              </a:solidFill>
              <a:latin typeface="Arial"/>
              <a:ea typeface="Arial"/>
              <a:cs typeface="Arial"/>
              <a:sym typeface="Arial"/>
            </a:endParaRPr>
          </a:p>
        </p:txBody>
      </p:sp>
      <p:sp>
        <p:nvSpPr>
          <p:cNvPr id="2307" name="Google Shape;2307;h2d7e8d0cc2ebee9_0_212"/>
          <p:cNvSpPr/>
          <p:nvPr/>
        </p:nvSpPr>
        <p:spPr>
          <a:xfrm>
            <a:off x="2944348" y="3016065"/>
            <a:ext cx="1868700" cy="1674600"/>
          </a:xfrm>
          <a:prstGeom prst="roundRect">
            <a:avLst>
              <a:gd fmla="val 3622" name="adj"/>
            </a:avLst>
          </a:prstGeom>
          <a:solidFill>
            <a:srgbClr val="99FFF1"/>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006154"/>
              </a:buClr>
              <a:buSzPts val="1200"/>
              <a:buFont typeface="Arial"/>
              <a:buNone/>
            </a:pPr>
            <a:r>
              <a:rPr b="0" i="0" lang="en-US" sz="1200" u="none" cap="none" strike="noStrike">
                <a:solidFill>
                  <a:srgbClr val="006154"/>
                </a:solidFill>
                <a:latin typeface="Arial"/>
                <a:ea typeface="Arial"/>
                <a:cs typeface="Arial"/>
                <a:sym typeface="Arial"/>
              </a:rPr>
              <a:t>Context &amp;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Memory Store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Files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Tool &amp; MCP Registry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Code Libraries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Code Interpreter</a:t>
            </a:r>
            <a:endParaRPr b="0" i="0" sz="1400" u="none" cap="none" strike="noStrike">
              <a:solidFill>
                <a:srgbClr val="000000"/>
              </a:solidFill>
              <a:latin typeface="Arial"/>
              <a:ea typeface="Arial"/>
              <a:cs typeface="Arial"/>
              <a:sym typeface="Arial"/>
            </a:endParaRPr>
          </a:p>
        </p:txBody>
      </p:sp>
      <p:grpSp>
        <p:nvGrpSpPr>
          <p:cNvPr id="2308" name="Google Shape;2308;h2d7e8d0cc2ebee9_0_212"/>
          <p:cNvGrpSpPr/>
          <p:nvPr/>
        </p:nvGrpSpPr>
        <p:grpSpPr>
          <a:xfrm>
            <a:off x="690860" y="5246195"/>
            <a:ext cx="10897800" cy="611133"/>
            <a:chOff x="690860" y="5466156"/>
            <a:chExt cx="10897800" cy="390900"/>
          </a:xfrm>
        </p:grpSpPr>
        <p:sp>
          <p:nvSpPr>
            <p:cNvPr id="2309" name="Google Shape;2309;h2d7e8d0cc2ebee9_0_212"/>
            <p:cNvSpPr/>
            <p:nvPr/>
          </p:nvSpPr>
          <p:spPr>
            <a:xfrm>
              <a:off x="690860" y="5466156"/>
              <a:ext cx="10897800" cy="390900"/>
            </a:xfrm>
            <a:prstGeom prst="roundRect">
              <a:avLst>
                <a:gd fmla="val 11088" name="adj"/>
              </a:avLst>
            </a:prstGeom>
            <a:solidFill>
              <a:srgbClr val="99FFF1"/>
            </a:solidFill>
            <a:ln>
              <a:noFill/>
            </a:ln>
          </p:spPr>
          <p:txBody>
            <a:bodyPr anchorCtr="0" anchor="ctr" bIns="144000" lIns="144000" spcFirstLastPara="1" rIns="144000" wrap="square" tIns="144000">
              <a:noAutofit/>
            </a:bodyPr>
            <a:lstStyle/>
            <a:p>
              <a:pPr indent="0" lvl="0" marL="0" marR="0" rtl="0" algn="l">
                <a:lnSpc>
                  <a:spcPct val="100000"/>
                </a:lnSpc>
                <a:spcBef>
                  <a:spcPts val="0"/>
                </a:spcBef>
                <a:spcAft>
                  <a:spcPts val="0"/>
                </a:spcAft>
                <a:buClr>
                  <a:srgbClr val="006154"/>
                </a:buClr>
                <a:buSzPts val="1200"/>
                <a:buFont typeface="Arial"/>
                <a:buNone/>
              </a:pPr>
              <a:r>
                <a:rPr b="0" i="0" lang="en-US" sz="1200" u="none" cap="none" strike="noStrike">
                  <a:solidFill>
                    <a:srgbClr val="006154"/>
                  </a:solidFill>
                  <a:latin typeface="Arial"/>
                  <a:ea typeface="Arial"/>
                  <a:cs typeface="Arial"/>
                  <a:sym typeface="Arial"/>
                </a:rPr>
                <a:t>Agent Harness</a:t>
              </a:r>
              <a:endParaRPr b="0" i="0" sz="1400" u="none" cap="none" strike="noStrike">
                <a:solidFill>
                  <a:srgbClr val="000000"/>
                </a:solidFill>
                <a:latin typeface="Arial"/>
                <a:ea typeface="Arial"/>
                <a:cs typeface="Arial"/>
                <a:sym typeface="Arial"/>
              </a:endParaRPr>
            </a:p>
          </p:txBody>
        </p:sp>
        <p:sp>
          <p:nvSpPr>
            <p:cNvPr id="2310" name="Google Shape;2310;h2d7e8d0cc2ebee9_0_212"/>
            <p:cNvSpPr txBox="1"/>
            <p:nvPr/>
          </p:nvSpPr>
          <p:spPr>
            <a:xfrm>
              <a:off x="2476500" y="5496572"/>
              <a:ext cx="8412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Sandbox</a:t>
              </a:r>
              <a:endParaRPr b="0" i="0" sz="1400" u="none" cap="none" strike="noStrike">
                <a:solidFill>
                  <a:srgbClr val="000000"/>
                </a:solidFill>
                <a:latin typeface="Arial"/>
                <a:ea typeface="Arial"/>
                <a:cs typeface="Arial"/>
                <a:sym typeface="Arial"/>
              </a:endParaRPr>
            </a:p>
          </p:txBody>
        </p:sp>
        <p:sp>
          <p:nvSpPr>
            <p:cNvPr id="2311" name="Google Shape;2311;h2d7e8d0cc2ebee9_0_212"/>
            <p:cNvSpPr txBox="1"/>
            <p:nvPr/>
          </p:nvSpPr>
          <p:spPr>
            <a:xfrm>
              <a:off x="4526115" y="5496572"/>
              <a:ext cx="9534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Filesystem</a:t>
              </a:r>
              <a:endParaRPr b="0" i="0" sz="1400" u="none" cap="none" strike="noStrike">
                <a:solidFill>
                  <a:srgbClr val="000000"/>
                </a:solidFill>
                <a:latin typeface="Arial"/>
                <a:ea typeface="Arial"/>
                <a:cs typeface="Arial"/>
                <a:sym typeface="Arial"/>
              </a:endParaRPr>
            </a:p>
          </p:txBody>
        </p:sp>
        <p:sp>
          <p:nvSpPr>
            <p:cNvPr id="2312" name="Google Shape;2312;h2d7e8d0cc2ebee9_0_212"/>
            <p:cNvSpPr txBox="1"/>
            <p:nvPr/>
          </p:nvSpPr>
          <p:spPr>
            <a:xfrm>
              <a:off x="5697597" y="5496572"/>
              <a:ext cx="13908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Memory &amp; State</a:t>
              </a:r>
              <a:endParaRPr b="0" i="0" sz="1400" u="none" cap="none" strike="noStrike">
                <a:solidFill>
                  <a:srgbClr val="000000"/>
                </a:solidFill>
                <a:latin typeface="Arial"/>
                <a:ea typeface="Arial"/>
                <a:cs typeface="Arial"/>
                <a:sym typeface="Arial"/>
              </a:endParaRPr>
            </a:p>
          </p:txBody>
        </p:sp>
        <p:sp>
          <p:nvSpPr>
            <p:cNvPr id="2313" name="Google Shape;2313;h2d7e8d0cc2ebee9_0_212"/>
            <p:cNvSpPr txBox="1"/>
            <p:nvPr/>
          </p:nvSpPr>
          <p:spPr>
            <a:xfrm>
              <a:off x="7306699" y="5496572"/>
              <a:ext cx="12660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Tool Execution</a:t>
              </a:r>
              <a:endParaRPr b="0" i="0" sz="1400" u="none" cap="none" strike="noStrike">
                <a:solidFill>
                  <a:srgbClr val="000000"/>
                </a:solidFill>
                <a:latin typeface="Arial"/>
                <a:ea typeface="Arial"/>
                <a:cs typeface="Arial"/>
                <a:sym typeface="Arial"/>
              </a:endParaRPr>
            </a:p>
          </p:txBody>
        </p:sp>
        <p:sp>
          <p:nvSpPr>
            <p:cNvPr id="2314" name="Google Shape;2314;h2d7e8d0cc2ebee9_0_212"/>
            <p:cNvSpPr txBox="1"/>
            <p:nvPr/>
          </p:nvSpPr>
          <p:spPr>
            <a:xfrm>
              <a:off x="3535772" y="5496572"/>
              <a:ext cx="7722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Runtime</a:t>
              </a:r>
              <a:endParaRPr b="0" i="0" sz="1400" u="none" cap="none" strike="noStrike">
                <a:solidFill>
                  <a:srgbClr val="000000"/>
                </a:solidFill>
                <a:latin typeface="Arial"/>
                <a:ea typeface="Arial"/>
                <a:cs typeface="Arial"/>
                <a:sym typeface="Arial"/>
              </a:endParaRPr>
            </a:p>
          </p:txBody>
        </p:sp>
        <p:sp>
          <p:nvSpPr>
            <p:cNvPr id="2315" name="Google Shape;2315;h2d7e8d0cc2ebee9_0_212"/>
            <p:cNvSpPr txBox="1"/>
            <p:nvPr/>
          </p:nvSpPr>
          <p:spPr>
            <a:xfrm>
              <a:off x="8790767" y="5496572"/>
              <a:ext cx="14454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Canary Releases</a:t>
              </a:r>
              <a:endParaRPr b="0" i="0" sz="1400" u="none" cap="none" strike="noStrike">
                <a:solidFill>
                  <a:srgbClr val="000000"/>
                </a:solidFill>
                <a:latin typeface="Arial"/>
                <a:ea typeface="Arial"/>
                <a:cs typeface="Arial"/>
                <a:sym typeface="Arial"/>
              </a:endParaRPr>
            </a:p>
          </p:txBody>
        </p:sp>
        <p:sp>
          <p:nvSpPr>
            <p:cNvPr id="2316" name="Google Shape;2316;h2d7e8d0cc2ebee9_0_212"/>
            <p:cNvSpPr txBox="1"/>
            <p:nvPr/>
          </p:nvSpPr>
          <p:spPr>
            <a:xfrm>
              <a:off x="10454370" y="5496572"/>
              <a:ext cx="990300" cy="211200"/>
            </a:xfrm>
            <a:prstGeom prst="rect">
              <a:avLst/>
            </a:prstGeom>
            <a:noFill/>
            <a:ln>
              <a:noFill/>
            </a:ln>
          </p:spPr>
          <p:txBody>
            <a:bodyPr anchorCtr="0" anchor="ctr" bIns="72000" lIns="72000" spcFirstLastPara="1" rIns="72000" wrap="square" tIns="72000">
              <a:spAutoFit/>
            </a:bodyPr>
            <a:lstStyle/>
            <a:p>
              <a:pPr indent="0" lvl="0" marL="0" marR="0" rtl="0" algn="l">
                <a:lnSpc>
                  <a:spcPct val="100000"/>
                </a:lnSpc>
                <a:spcBef>
                  <a:spcPts val="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Scheduling</a:t>
              </a:r>
              <a:endParaRPr b="0" i="0" sz="1400" u="none" cap="none" strike="noStrike">
                <a:solidFill>
                  <a:srgbClr val="000000"/>
                </a:solidFill>
                <a:latin typeface="Arial"/>
                <a:ea typeface="Arial"/>
                <a:cs typeface="Arial"/>
                <a:sym typeface="Arial"/>
              </a:endParaRPr>
            </a:p>
          </p:txBody>
        </p:sp>
      </p:grpSp>
      <p:sp>
        <p:nvSpPr>
          <p:cNvPr id="2317" name="Google Shape;2317;h2d7e8d0cc2ebee9_0_212"/>
          <p:cNvSpPr/>
          <p:nvPr/>
        </p:nvSpPr>
        <p:spPr>
          <a:xfrm>
            <a:off x="5202896" y="3016065"/>
            <a:ext cx="1868700" cy="1674600"/>
          </a:xfrm>
          <a:prstGeom prst="roundRect">
            <a:avLst>
              <a:gd fmla="val 3622" name="adj"/>
            </a:avLst>
          </a:prstGeom>
          <a:solidFill>
            <a:srgbClr val="99FFF1"/>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006154"/>
              </a:buClr>
              <a:buSzPts val="1200"/>
              <a:buFont typeface="Arial"/>
              <a:buNone/>
            </a:pPr>
            <a:r>
              <a:rPr b="0" i="0" lang="en-US" sz="1200" u="none" cap="none" strike="noStrike">
                <a:solidFill>
                  <a:srgbClr val="006154"/>
                </a:solidFill>
                <a:latin typeface="Arial"/>
                <a:ea typeface="Arial"/>
                <a:cs typeface="Arial"/>
                <a:sym typeface="Arial"/>
              </a:rPr>
              <a:t>Knowledge (RAG)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Vector Store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RAG pipelines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Chunking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Agentic RAG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External Knowledge</a:t>
            </a:r>
            <a:endParaRPr b="0" i="0" sz="1400" u="none" cap="none" strike="noStrike">
              <a:solidFill>
                <a:srgbClr val="000000"/>
              </a:solidFill>
              <a:latin typeface="Arial"/>
              <a:ea typeface="Arial"/>
              <a:cs typeface="Arial"/>
              <a:sym typeface="Arial"/>
            </a:endParaRPr>
          </a:p>
        </p:txBody>
      </p:sp>
      <p:grpSp>
        <p:nvGrpSpPr>
          <p:cNvPr id="2318" name="Google Shape;2318;h2d7e8d0cc2ebee9_0_212"/>
          <p:cNvGrpSpPr/>
          <p:nvPr/>
        </p:nvGrpSpPr>
        <p:grpSpPr>
          <a:xfrm>
            <a:off x="3171518" y="1564017"/>
            <a:ext cx="6390600" cy="396300"/>
            <a:chOff x="3171518" y="1564017"/>
            <a:chExt cx="6390600" cy="396300"/>
          </a:xfrm>
        </p:grpSpPr>
        <p:sp>
          <p:nvSpPr>
            <p:cNvPr id="2319" name="Google Shape;2319;h2d7e8d0cc2ebee9_0_212"/>
            <p:cNvSpPr/>
            <p:nvPr/>
          </p:nvSpPr>
          <p:spPr>
            <a:xfrm>
              <a:off x="3171518" y="1564017"/>
              <a:ext cx="6390600" cy="396300"/>
            </a:xfrm>
            <a:prstGeom prst="roundRect">
              <a:avLst>
                <a:gd fmla="val 16667" name="adj"/>
              </a:avLst>
            </a:prstGeom>
            <a:solidFill>
              <a:srgbClr val="D8D8D8"/>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grpSp>
          <p:nvGrpSpPr>
            <p:cNvPr id="2320" name="Google Shape;2320;h2d7e8d0cc2ebee9_0_212"/>
            <p:cNvGrpSpPr/>
            <p:nvPr/>
          </p:nvGrpSpPr>
          <p:grpSpPr>
            <a:xfrm>
              <a:off x="8682554" y="1647361"/>
              <a:ext cx="624545" cy="229500"/>
              <a:chOff x="6619562" y="1600981"/>
              <a:chExt cx="624545" cy="229500"/>
            </a:xfrm>
          </p:grpSpPr>
          <p:sp>
            <p:nvSpPr>
              <p:cNvPr id="2321" name="Google Shape;2321;h2d7e8d0cc2ebee9_0_212"/>
              <p:cNvSpPr/>
              <p:nvPr/>
            </p:nvSpPr>
            <p:spPr>
              <a:xfrm>
                <a:off x="6619562" y="1600981"/>
                <a:ext cx="205800" cy="22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h2d7e8d0cc2ebee9_0_212"/>
              <p:cNvSpPr txBox="1"/>
              <p:nvPr/>
            </p:nvSpPr>
            <p:spPr>
              <a:xfrm>
                <a:off x="6936307" y="1638794"/>
                <a:ext cx="3078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MCP</a:t>
                </a:r>
                <a:endParaRPr b="0" i="0" sz="1400" u="none" cap="none" strike="noStrike">
                  <a:solidFill>
                    <a:srgbClr val="000000"/>
                  </a:solidFill>
                  <a:latin typeface="Arial"/>
                  <a:ea typeface="Arial"/>
                  <a:cs typeface="Arial"/>
                  <a:sym typeface="Arial"/>
                </a:endParaRPr>
              </a:p>
            </p:txBody>
          </p:sp>
        </p:grpSp>
        <p:grpSp>
          <p:nvGrpSpPr>
            <p:cNvPr id="2323" name="Google Shape;2323;h2d7e8d0cc2ebee9_0_212"/>
            <p:cNvGrpSpPr/>
            <p:nvPr/>
          </p:nvGrpSpPr>
          <p:grpSpPr>
            <a:xfrm>
              <a:off x="7100417" y="1685174"/>
              <a:ext cx="1147559" cy="153900"/>
              <a:chOff x="8102358" y="1638794"/>
              <a:chExt cx="1147559" cy="153900"/>
            </a:xfrm>
          </p:grpSpPr>
          <p:sp>
            <p:nvSpPr>
              <p:cNvPr id="2324" name="Google Shape;2324;h2d7e8d0cc2ebee9_0_212"/>
              <p:cNvSpPr/>
              <p:nvPr/>
            </p:nvSpPr>
            <p:spPr>
              <a:xfrm>
                <a:off x="8102358" y="1638794"/>
                <a:ext cx="153900" cy="15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h2d7e8d0cc2ebee9_0_212"/>
              <p:cNvSpPr txBox="1"/>
              <p:nvPr/>
            </p:nvSpPr>
            <p:spPr>
              <a:xfrm>
                <a:off x="8377817" y="1638794"/>
                <a:ext cx="872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OSS Libraries</a:t>
                </a:r>
                <a:endParaRPr b="0" i="0" sz="1400" u="none" cap="none" strike="noStrike">
                  <a:solidFill>
                    <a:srgbClr val="000000"/>
                  </a:solidFill>
                  <a:latin typeface="Arial"/>
                  <a:ea typeface="Arial"/>
                  <a:cs typeface="Arial"/>
                  <a:sym typeface="Arial"/>
                </a:endParaRPr>
              </a:p>
            </p:txBody>
          </p:sp>
        </p:grpSp>
        <p:sp>
          <p:nvSpPr>
            <p:cNvPr id="2326" name="Google Shape;2326;h2d7e8d0cc2ebee9_0_212"/>
            <p:cNvSpPr txBox="1"/>
            <p:nvPr/>
          </p:nvSpPr>
          <p:spPr>
            <a:xfrm>
              <a:off x="3613077" y="1685174"/>
              <a:ext cx="216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API</a:t>
              </a:r>
              <a:endParaRPr b="0" i="0" sz="1400" u="none" cap="none" strike="noStrike">
                <a:solidFill>
                  <a:srgbClr val="000000"/>
                </a:solidFill>
                <a:latin typeface="Arial"/>
                <a:ea typeface="Arial"/>
                <a:cs typeface="Arial"/>
                <a:sym typeface="Arial"/>
              </a:endParaRPr>
            </a:p>
          </p:txBody>
        </p:sp>
        <p:sp>
          <p:nvSpPr>
            <p:cNvPr id="2327" name="Google Shape;2327;h2d7e8d0cc2ebee9_0_212"/>
            <p:cNvSpPr txBox="1"/>
            <p:nvPr/>
          </p:nvSpPr>
          <p:spPr>
            <a:xfrm>
              <a:off x="4272573" y="1685174"/>
              <a:ext cx="2709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SDK</a:t>
              </a:r>
              <a:endParaRPr b="0" i="0" sz="1400" u="none" cap="none" strike="noStrike">
                <a:solidFill>
                  <a:srgbClr val="000000"/>
                </a:solidFill>
                <a:latin typeface="Arial"/>
                <a:ea typeface="Arial"/>
                <a:cs typeface="Arial"/>
                <a:sym typeface="Arial"/>
              </a:endParaRPr>
            </a:p>
          </p:txBody>
        </p:sp>
        <p:sp>
          <p:nvSpPr>
            <p:cNvPr id="2328" name="Google Shape;2328;h2d7e8d0cc2ebee9_0_212"/>
            <p:cNvSpPr txBox="1"/>
            <p:nvPr/>
          </p:nvSpPr>
          <p:spPr>
            <a:xfrm>
              <a:off x="4982159" y="1685174"/>
              <a:ext cx="213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CLI</a:t>
              </a:r>
              <a:endParaRPr b="0" i="0" sz="1400" u="none" cap="none" strike="noStrike">
                <a:solidFill>
                  <a:srgbClr val="000000"/>
                </a:solidFill>
                <a:latin typeface="Arial"/>
                <a:ea typeface="Arial"/>
                <a:cs typeface="Arial"/>
                <a:sym typeface="Arial"/>
              </a:endParaRPr>
            </a:p>
          </p:txBody>
        </p:sp>
        <p:sp>
          <p:nvSpPr>
            <p:cNvPr id="2329" name="Google Shape;2329;h2d7e8d0cc2ebee9_0_212"/>
            <p:cNvSpPr txBox="1"/>
            <p:nvPr/>
          </p:nvSpPr>
          <p:spPr>
            <a:xfrm>
              <a:off x="5634037" y="1685174"/>
              <a:ext cx="944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Coding Agents</a:t>
              </a:r>
              <a:endParaRPr b="0" i="0" sz="1400" u="none" cap="none" strike="noStrike">
                <a:solidFill>
                  <a:srgbClr val="000000"/>
                </a:solidFill>
                <a:latin typeface="Arial"/>
                <a:ea typeface="Arial"/>
                <a:cs typeface="Arial"/>
                <a:sym typeface="Arial"/>
              </a:endParaRPr>
            </a:p>
          </p:txBody>
        </p:sp>
      </p:grpSp>
      <p:grpSp>
        <p:nvGrpSpPr>
          <p:cNvPr id="2330" name="Google Shape;2330;h2d7e8d0cc2ebee9_0_212"/>
          <p:cNvGrpSpPr/>
          <p:nvPr/>
        </p:nvGrpSpPr>
        <p:grpSpPr>
          <a:xfrm>
            <a:off x="6366850" y="2077786"/>
            <a:ext cx="111919" cy="144000"/>
            <a:chOff x="6100150" y="2095858"/>
            <a:chExt cx="111919" cy="144000"/>
          </a:xfrm>
        </p:grpSpPr>
        <p:cxnSp>
          <p:nvCxnSpPr>
            <p:cNvPr id="2331" name="Google Shape;2331;h2d7e8d0cc2ebee9_0_212"/>
            <p:cNvCxnSpPr/>
            <p:nvPr/>
          </p:nvCxnSpPr>
          <p:spPr>
            <a:xfrm rot="5400000">
              <a:off x="6028150" y="2167858"/>
              <a:ext cx="144000" cy="0"/>
            </a:xfrm>
            <a:prstGeom prst="straightConnector1">
              <a:avLst/>
            </a:prstGeom>
            <a:noFill/>
            <a:ln cap="flat" cmpd="sng" w="12700">
              <a:solidFill>
                <a:schemeClr val="accent2"/>
              </a:solidFill>
              <a:prstDash val="solid"/>
              <a:miter lim="80"/>
              <a:headEnd len="sm" w="sm" type="none"/>
              <a:tailEnd len="med" w="med" type="triangle"/>
            </a:ln>
          </p:spPr>
        </p:cxnSp>
        <p:cxnSp>
          <p:nvCxnSpPr>
            <p:cNvPr id="2332" name="Google Shape;2332;h2d7e8d0cc2ebee9_0_212"/>
            <p:cNvCxnSpPr/>
            <p:nvPr/>
          </p:nvCxnSpPr>
          <p:spPr>
            <a:xfrm rot="-5400000">
              <a:off x="6140069" y="2167858"/>
              <a:ext cx="144000" cy="0"/>
            </a:xfrm>
            <a:prstGeom prst="straightConnector1">
              <a:avLst/>
            </a:prstGeom>
            <a:noFill/>
            <a:ln cap="flat" cmpd="sng" w="12700">
              <a:solidFill>
                <a:schemeClr val="accent2"/>
              </a:solidFill>
              <a:prstDash val="solid"/>
              <a:miter lim="80"/>
              <a:headEnd len="sm" w="sm" type="none"/>
              <a:tailEnd len="med" w="med" type="triangle"/>
            </a:ln>
          </p:spPr>
        </p:cxnSp>
      </p:grpSp>
      <p:sp>
        <p:nvSpPr>
          <p:cNvPr id="2333" name="Google Shape;2333;h2d7e8d0cc2ebee9_0_212"/>
          <p:cNvSpPr/>
          <p:nvPr/>
        </p:nvSpPr>
        <p:spPr>
          <a:xfrm>
            <a:off x="7461444" y="3016065"/>
            <a:ext cx="1868700" cy="1674600"/>
          </a:xfrm>
          <a:prstGeom prst="roundRect">
            <a:avLst>
              <a:gd fmla="val 3622" name="adj"/>
            </a:avLst>
          </a:prstGeom>
          <a:solidFill>
            <a:srgbClr val="99FFF1"/>
          </a:solidFill>
          <a:ln>
            <a:noFill/>
          </a:ln>
        </p:spPr>
        <p:txBody>
          <a:bodyPr anchorCtr="0" anchor="t" bIns="72000" lIns="72000" spcFirstLastPara="1" rIns="72000" wrap="square" tIns="72000">
            <a:noAutofit/>
          </a:bodyPr>
          <a:lstStyle/>
          <a:p>
            <a:pPr indent="0" lvl="0" marL="0" marR="0" rtl="0" algn="l">
              <a:lnSpc>
                <a:spcPct val="100000"/>
              </a:lnSpc>
              <a:spcBef>
                <a:spcPts val="0"/>
              </a:spcBef>
              <a:spcAft>
                <a:spcPts val="0"/>
              </a:spcAft>
              <a:buClr>
                <a:srgbClr val="006154"/>
              </a:buClr>
              <a:buSzPts val="1200"/>
              <a:buFont typeface="Arial"/>
              <a:buNone/>
            </a:pPr>
            <a:r>
              <a:rPr b="0" i="0" lang="en-US" sz="1200" u="none" cap="none" strike="noStrike">
                <a:solidFill>
                  <a:srgbClr val="006154"/>
                </a:solidFill>
                <a:latin typeface="Arial"/>
                <a:ea typeface="Arial"/>
                <a:cs typeface="Arial"/>
                <a:sym typeface="Arial"/>
              </a:rPr>
              <a:t>Evaluation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Evaluator Registry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Agentic Evals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LLM-as-Judge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Python Evals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141319"/>
              </a:buClr>
              <a:buSzPts val="1200"/>
              <a:buFont typeface="Arial"/>
              <a:buNone/>
            </a:pPr>
            <a:r>
              <a:rPr b="0" i="0" lang="en-US" sz="1200" u="none" cap="none" strike="noStrike">
                <a:solidFill>
                  <a:srgbClr val="141319"/>
                </a:solidFill>
                <a:latin typeface="Arial"/>
                <a:ea typeface="Arial"/>
                <a:cs typeface="Arial"/>
                <a:sym typeface="Arial"/>
              </a:rPr>
              <a:t>Human Evals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sp>
        <p:nvSpPr>
          <p:cNvPr id="2338" name="Google Shape;2338;h2d7e8d0cc2ebee9_0_258"/>
          <p:cNvSpPr/>
          <p:nvPr/>
        </p:nvSpPr>
        <p:spPr>
          <a:xfrm>
            <a:off x="2900669" y="6461797"/>
            <a:ext cx="6390600" cy="469200"/>
          </a:xfrm>
          <a:prstGeom prst="roundRect">
            <a:avLst>
              <a:gd fmla="val 16667" name="adj"/>
            </a:avLst>
          </a:prstGeom>
          <a:solidFill>
            <a:schemeClr val="dk1"/>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sp>
        <p:nvSpPr>
          <p:cNvPr id="2339" name="Google Shape;2339;h2d7e8d0cc2ebee9_0_258"/>
          <p:cNvSpPr txBox="1"/>
          <p:nvPr>
            <p:ph type="title"/>
          </p:nvPr>
        </p:nvSpPr>
        <p:spPr>
          <a:xfrm>
            <a:off x="263525" y="512676"/>
            <a:ext cx="11664900" cy="215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lt1"/>
              </a:buClr>
              <a:buSzPts val="2800"/>
              <a:buFont typeface="Arial"/>
              <a:buNone/>
            </a:pPr>
            <a:r>
              <a:rPr lang="en-US"/>
              <a:t>Our AI Governance layer keeps every model, agent and workflow compliant, secure and under control</a:t>
            </a:r>
            <a:endParaRPr/>
          </a:p>
        </p:txBody>
      </p:sp>
      <p:sp>
        <p:nvSpPr>
          <p:cNvPr id="2340" name="Google Shape;2340;h2d7e8d0cc2ebee9_0_258"/>
          <p:cNvSpPr txBox="1"/>
          <p:nvPr>
            <p:ph idx="1" type="body"/>
          </p:nvPr>
        </p:nvSpPr>
        <p:spPr>
          <a:xfrm>
            <a:off x="263352" y="260648"/>
            <a:ext cx="11665200" cy="2154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2"/>
              </a:buClr>
              <a:buSzPts val="1000"/>
              <a:buNone/>
            </a:pPr>
            <a:r>
              <a:rPr lang="en-US"/>
              <a:t>AI GOVERNANCE</a:t>
            </a:r>
            <a:endParaRPr/>
          </a:p>
        </p:txBody>
      </p:sp>
      <p:sp>
        <p:nvSpPr>
          <p:cNvPr id="2341" name="Google Shape;2341;h2d7e8d0cc2ebee9_0_258"/>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8A898C"/>
              </a:buClr>
              <a:buSzPts val="700"/>
              <a:buFont typeface="Arial"/>
              <a:buNone/>
            </a:pPr>
            <a:fld id="{00000000-1234-1234-1234-123412341234}" type="slidenum">
              <a:rPr b="0" i="0" lang="en-US" sz="700" u="none" cap="none" strike="noStrike">
                <a:solidFill>
                  <a:srgbClr val="8A898C"/>
                </a:solidFill>
                <a:latin typeface="Arial"/>
                <a:ea typeface="Arial"/>
                <a:cs typeface="Arial"/>
                <a:sym typeface="Arial"/>
              </a:rPr>
              <a:t>‹#›</a:t>
            </a:fld>
            <a:endParaRPr b="0" i="0" sz="700" u="none" cap="none" strike="noStrike">
              <a:solidFill>
                <a:srgbClr val="8A898C"/>
              </a:solidFill>
              <a:latin typeface="Arial"/>
              <a:ea typeface="Arial"/>
              <a:cs typeface="Arial"/>
              <a:sym typeface="Arial"/>
            </a:endParaRPr>
          </a:p>
        </p:txBody>
      </p:sp>
      <p:grpSp>
        <p:nvGrpSpPr>
          <p:cNvPr id="2342" name="Google Shape;2342;h2d7e8d0cc2ebee9_0_258"/>
          <p:cNvGrpSpPr/>
          <p:nvPr/>
        </p:nvGrpSpPr>
        <p:grpSpPr>
          <a:xfrm>
            <a:off x="6040041" y="6183820"/>
            <a:ext cx="111919" cy="144000"/>
            <a:chOff x="6040040" y="6183820"/>
            <a:chExt cx="111919" cy="144000"/>
          </a:xfrm>
        </p:grpSpPr>
        <p:cxnSp>
          <p:nvCxnSpPr>
            <p:cNvPr id="2343" name="Google Shape;2343;h2d7e8d0cc2ebee9_0_258"/>
            <p:cNvCxnSpPr/>
            <p:nvPr/>
          </p:nvCxnSpPr>
          <p:spPr>
            <a:xfrm rot="5400000">
              <a:off x="5968040" y="6255820"/>
              <a:ext cx="144000" cy="0"/>
            </a:xfrm>
            <a:prstGeom prst="straightConnector1">
              <a:avLst/>
            </a:prstGeom>
            <a:noFill/>
            <a:ln cap="flat" cmpd="sng" w="12700">
              <a:solidFill>
                <a:schemeClr val="accent1"/>
              </a:solidFill>
              <a:prstDash val="solid"/>
              <a:miter lim="80"/>
              <a:headEnd len="sm" w="sm" type="none"/>
              <a:tailEnd len="med" w="med" type="triangle"/>
            </a:ln>
          </p:spPr>
        </p:cxnSp>
        <p:cxnSp>
          <p:nvCxnSpPr>
            <p:cNvPr id="2344" name="Google Shape;2344;h2d7e8d0cc2ebee9_0_258"/>
            <p:cNvCxnSpPr/>
            <p:nvPr/>
          </p:nvCxnSpPr>
          <p:spPr>
            <a:xfrm rot="-5400000">
              <a:off x="6079959" y="6255820"/>
              <a:ext cx="144000" cy="0"/>
            </a:xfrm>
            <a:prstGeom prst="straightConnector1">
              <a:avLst/>
            </a:prstGeom>
            <a:noFill/>
            <a:ln cap="flat" cmpd="sng" w="12700">
              <a:solidFill>
                <a:schemeClr val="accent1"/>
              </a:solidFill>
              <a:prstDash val="solid"/>
              <a:miter lim="80"/>
              <a:headEnd len="sm" w="sm" type="none"/>
              <a:tailEnd len="med" w="med" type="triangle"/>
            </a:ln>
          </p:spPr>
        </p:cxnSp>
      </p:grpSp>
      <p:grpSp>
        <p:nvGrpSpPr>
          <p:cNvPr id="2345" name="Google Shape;2345;h2d7e8d0cc2ebee9_0_258"/>
          <p:cNvGrpSpPr/>
          <p:nvPr/>
        </p:nvGrpSpPr>
        <p:grpSpPr>
          <a:xfrm>
            <a:off x="5519129" y="6432453"/>
            <a:ext cx="1153773" cy="483000"/>
            <a:chOff x="2598712" y="5498374"/>
            <a:chExt cx="1153773" cy="483000"/>
          </a:xfrm>
        </p:grpSpPr>
        <p:sp>
          <p:nvSpPr>
            <p:cNvPr id="2346" name="Google Shape;2346;h2d7e8d0cc2ebee9_0_258"/>
            <p:cNvSpPr/>
            <p:nvPr/>
          </p:nvSpPr>
          <p:spPr>
            <a:xfrm>
              <a:off x="2652085" y="5498374"/>
              <a:ext cx="1100400" cy="483000"/>
            </a:xfrm>
            <a:prstGeom prst="roundRect">
              <a:avLst>
                <a:gd fmla="val 11088" name="adj"/>
              </a:avLst>
            </a:prstGeom>
            <a:noFill/>
            <a:ln>
              <a:noFill/>
            </a:ln>
          </p:spPr>
          <p:txBody>
            <a:bodyPr anchorCtr="0" anchor="ctr" bIns="144000" lIns="144000" spcFirstLastPara="1" rIns="144000" wrap="square" tIns="144000">
              <a:noAutofit/>
            </a:bodyPr>
            <a:lstStyle/>
            <a:p>
              <a:pPr indent="0" lvl="0" marL="0" marR="0" rtl="0" algn="l">
                <a:lnSpc>
                  <a:spcPct val="100000"/>
                </a:lnSpc>
                <a:spcBef>
                  <a:spcPts val="0"/>
                </a:spcBef>
                <a:spcAft>
                  <a:spcPts val="0"/>
                </a:spcAft>
                <a:buClr>
                  <a:srgbClr val="FFFFFF"/>
                </a:buClr>
                <a:buSzPts val="1050"/>
                <a:buFont typeface="Arial"/>
                <a:buNone/>
              </a:pPr>
              <a:r>
                <a:rPr b="0" i="0" lang="en-US" sz="1050" u="none" cap="none" strike="noStrike">
                  <a:solidFill>
                    <a:srgbClr val="FFFFFF"/>
                  </a:solidFill>
                  <a:latin typeface="Arial"/>
                  <a:ea typeface="Arial"/>
                  <a:cs typeface="Arial"/>
                  <a:sym typeface="Arial"/>
                </a:rPr>
                <a:t>AI Gateway</a:t>
              </a:r>
              <a:endParaRPr b="0" i="0" sz="1400" u="none" cap="none" strike="noStrike">
                <a:solidFill>
                  <a:srgbClr val="000000"/>
                </a:solidFill>
                <a:latin typeface="Arial"/>
                <a:ea typeface="Arial"/>
                <a:cs typeface="Arial"/>
                <a:sym typeface="Arial"/>
              </a:endParaRPr>
            </a:p>
          </p:txBody>
        </p:sp>
        <p:sp>
          <p:nvSpPr>
            <p:cNvPr id="2347" name="Google Shape;2347;h2d7e8d0cc2ebee9_0_258"/>
            <p:cNvSpPr/>
            <p:nvPr/>
          </p:nvSpPr>
          <p:spPr>
            <a:xfrm>
              <a:off x="2598712" y="5661449"/>
              <a:ext cx="166200" cy="16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8" name="Google Shape;2348;h2d7e8d0cc2ebee9_0_258"/>
          <p:cNvGrpSpPr/>
          <p:nvPr/>
        </p:nvGrpSpPr>
        <p:grpSpPr>
          <a:xfrm>
            <a:off x="2900669" y="1564017"/>
            <a:ext cx="6390600" cy="396300"/>
            <a:chOff x="3171518" y="1564017"/>
            <a:chExt cx="6390600" cy="396300"/>
          </a:xfrm>
        </p:grpSpPr>
        <p:sp>
          <p:nvSpPr>
            <p:cNvPr id="2349" name="Google Shape;2349;h2d7e8d0cc2ebee9_0_258"/>
            <p:cNvSpPr/>
            <p:nvPr/>
          </p:nvSpPr>
          <p:spPr>
            <a:xfrm>
              <a:off x="3171518" y="1564017"/>
              <a:ext cx="6390600" cy="396300"/>
            </a:xfrm>
            <a:prstGeom prst="roundRect">
              <a:avLst>
                <a:gd fmla="val 16667" name="adj"/>
              </a:avLst>
            </a:prstGeom>
            <a:solidFill>
              <a:srgbClr val="D8D8D8"/>
            </a:solidFill>
            <a:ln cap="flat" cmpd="sng" w="9525">
              <a:solidFill>
                <a:schemeClr val="dk1">
                  <a:alpha val="10200"/>
                </a:schemeClr>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141319"/>
                </a:solidFill>
                <a:latin typeface="Arial"/>
                <a:ea typeface="Arial"/>
                <a:cs typeface="Arial"/>
                <a:sym typeface="Arial"/>
              </a:endParaRPr>
            </a:p>
          </p:txBody>
        </p:sp>
        <p:grpSp>
          <p:nvGrpSpPr>
            <p:cNvPr id="2350" name="Google Shape;2350;h2d7e8d0cc2ebee9_0_258"/>
            <p:cNvGrpSpPr/>
            <p:nvPr/>
          </p:nvGrpSpPr>
          <p:grpSpPr>
            <a:xfrm>
              <a:off x="8682554" y="1647361"/>
              <a:ext cx="624545" cy="229500"/>
              <a:chOff x="6619562" y="1600981"/>
              <a:chExt cx="624545" cy="229500"/>
            </a:xfrm>
          </p:grpSpPr>
          <p:sp>
            <p:nvSpPr>
              <p:cNvPr id="2351" name="Google Shape;2351;h2d7e8d0cc2ebee9_0_258"/>
              <p:cNvSpPr/>
              <p:nvPr/>
            </p:nvSpPr>
            <p:spPr>
              <a:xfrm>
                <a:off x="6619562" y="1600981"/>
                <a:ext cx="205800" cy="22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h2d7e8d0cc2ebee9_0_258"/>
              <p:cNvSpPr txBox="1"/>
              <p:nvPr/>
            </p:nvSpPr>
            <p:spPr>
              <a:xfrm>
                <a:off x="6936307" y="1638794"/>
                <a:ext cx="3078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MCP</a:t>
                </a:r>
                <a:endParaRPr b="0" i="0" sz="1400" u="none" cap="none" strike="noStrike">
                  <a:solidFill>
                    <a:srgbClr val="000000"/>
                  </a:solidFill>
                  <a:latin typeface="Arial"/>
                  <a:ea typeface="Arial"/>
                  <a:cs typeface="Arial"/>
                  <a:sym typeface="Arial"/>
                </a:endParaRPr>
              </a:p>
            </p:txBody>
          </p:sp>
        </p:grpSp>
        <p:grpSp>
          <p:nvGrpSpPr>
            <p:cNvPr id="2353" name="Google Shape;2353;h2d7e8d0cc2ebee9_0_258"/>
            <p:cNvGrpSpPr/>
            <p:nvPr/>
          </p:nvGrpSpPr>
          <p:grpSpPr>
            <a:xfrm>
              <a:off x="7100417" y="1685174"/>
              <a:ext cx="1147559" cy="153900"/>
              <a:chOff x="8102358" y="1638794"/>
              <a:chExt cx="1147559" cy="153900"/>
            </a:xfrm>
          </p:grpSpPr>
          <p:sp>
            <p:nvSpPr>
              <p:cNvPr id="2354" name="Google Shape;2354;h2d7e8d0cc2ebee9_0_258"/>
              <p:cNvSpPr/>
              <p:nvPr/>
            </p:nvSpPr>
            <p:spPr>
              <a:xfrm>
                <a:off x="8102358" y="1638794"/>
                <a:ext cx="153900" cy="153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h2d7e8d0cc2ebee9_0_258"/>
              <p:cNvSpPr txBox="1"/>
              <p:nvPr/>
            </p:nvSpPr>
            <p:spPr>
              <a:xfrm>
                <a:off x="8377817" y="1638794"/>
                <a:ext cx="872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OSS Libraries</a:t>
                </a:r>
                <a:endParaRPr b="0" i="0" sz="1400" u="none" cap="none" strike="noStrike">
                  <a:solidFill>
                    <a:srgbClr val="000000"/>
                  </a:solidFill>
                  <a:latin typeface="Arial"/>
                  <a:ea typeface="Arial"/>
                  <a:cs typeface="Arial"/>
                  <a:sym typeface="Arial"/>
                </a:endParaRPr>
              </a:p>
            </p:txBody>
          </p:sp>
        </p:grpSp>
        <p:sp>
          <p:nvSpPr>
            <p:cNvPr id="2356" name="Google Shape;2356;h2d7e8d0cc2ebee9_0_258"/>
            <p:cNvSpPr txBox="1"/>
            <p:nvPr/>
          </p:nvSpPr>
          <p:spPr>
            <a:xfrm>
              <a:off x="3613077" y="1685174"/>
              <a:ext cx="216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API</a:t>
              </a:r>
              <a:endParaRPr b="0" i="0" sz="1400" u="none" cap="none" strike="noStrike">
                <a:solidFill>
                  <a:srgbClr val="000000"/>
                </a:solidFill>
                <a:latin typeface="Arial"/>
                <a:ea typeface="Arial"/>
                <a:cs typeface="Arial"/>
                <a:sym typeface="Arial"/>
              </a:endParaRPr>
            </a:p>
          </p:txBody>
        </p:sp>
        <p:sp>
          <p:nvSpPr>
            <p:cNvPr id="2357" name="Google Shape;2357;h2d7e8d0cc2ebee9_0_258"/>
            <p:cNvSpPr txBox="1"/>
            <p:nvPr/>
          </p:nvSpPr>
          <p:spPr>
            <a:xfrm>
              <a:off x="4272573" y="1685174"/>
              <a:ext cx="2709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SDK</a:t>
              </a:r>
              <a:endParaRPr b="0" i="0" sz="1400" u="none" cap="none" strike="noStrike">
                <a:solidFill>
                  <a:srgbClr val="000000"/>
                </a:solidFill>
                <a:latin typeface="Arial"/>
                <a:ea typeface="Arial"/>
                <a:cs typeface="Arial"/>
                <a:sym typeface="Arial"/>
              </a:endParaRPr>
            </a:p>
          </p:txBody>
        </p:sp>
        <p:sp>
          <p:nvSpPr>
            <p:cNvPr id="2358" name="Google Shape;2358;h2d7e8d0cc2ebee9_0_258"/>
            <p:cNvSpPr txBox="1"/>
            <p:nvPr/>
          </p:nvSpPr>
          <p:spPr>
            <a:xfrm>
              <a:off x="4982159" y="1685174"/>
              <a:ext cx="2133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CLI</a:t>
              </a:r>
              <a:endParaRPr b="0" i="0" sz="1400" u="none" cap="none" strike="noStrike">
                <a:solidFill>
                  <a:srgbClr val="000000"/>
                </a:solidFill>
                <a:latin typeface="Arial"/>
                <a:ea typeface="Arial"/>
                <a:cs typeface="Arial"/>
                <a:sym typeface="Arial"/>
              </a:endParaRPr>
            </a:p>
          </p:txBody>
        </p:sp>
        <p:sp>
          <p:nvSpPr>
            <p:cNvPr id="2359" name="Google Shape;2359;h2d7e8d0cc2ebee9_0_258"/>
            <p:cNvSpPr txBox="1"/>
            <p:nvPr/>
          </p:nvSpPr>
          <p:spPr>
            <a:xfrm>
              <a:off x="5634037" y="1685174"/>
              <a:ext cx="944100" cy="153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141319"/>
                </a:buClr>
                <a:buSzPts val="1000"/>
                <a:buFont typeface="Arial"/>
                <a:buNone/>
              </a:pPr>
              <a:r>
                <a:rPr b="0" i="0" lang="en-US" sz="1000" u="none" cap="none" strike="noStrike">
                  <a:solidFill>
                    <a:srgbClr val="141319"/>
                  </a:solidFill>
                  <a:latin typeface="Arial"/>
                  <a:ea typeface="Arial"/>
                  <a:cs typeface="Arial"/>
                  <a:sym typeface="Arial"/>
                </a:rPr>
                <a:t>Coding Agents</a:t>
              </a:r>
              <a:endParaRPr b="0" i="0" sz="1400" u="none" cap="none" strike="noStrike">
                <a:solidFill>
                  <a:srgbClr val="000000"/>
                </a:solidFill>
                <a:latin typeface="Arial"/>
                <a:ea typeface="Arial"/>
                <a:cs typeface="Arial"/>
                <a:sym typeface="Arial"/>
              </a:endParaRPr>
            </a:p>
          </p:txBody>
        </p:sp>
      </p:grpSp>
      <p:grpSp>
        <p:nvGrpSpPr>
          <p:cNvPr id="2360" name="Google Shape;2360;h2d7e8d0cc2ebee9_0_258"/>
          <p:cNvGrpSpPr/>
          <p:nvPr/>
        </p:nvGrpSpPr>
        <p:grpSpPr>
          <a:xfrm>
            <a:off x="6040041" y="2077786"/>
            <a:ext cx="111919" cy="144000"/>
            <a:chOff x="6100150" y="2095858"/>
            <a:chExt cx="111919" cy="144000"/>
          </a:xfrm>
        </p:grpSpPr>
        <p:cxnSp>
          <p:nvCxnSpPr>
            <p:cNvPr id="2361" name="Google Shape;2361;h2d7e8d0cc2ebee9_0_258"/>
            <p:cNvCxnSpPr/>
            <p:nvPr/>
          </p:nvCxnSpPr>
          <p:spPr>
            <a:xfrm rot="5400000">
              <a:off x="6028150" y="2167858"/>
              <a:ext cx="144000" cy="0"/>
            </a:xfrm>
            <a:prstGeom prst="straightConnector1">
              <a:avLst/>
            </a:prstGeom>
            <a:noFill/>
            <a:ln cap="flat" cmpd="sng" w="12700">
              <a:solidFill>
                <a:schemeClr val="accent1"/>
              </a:solidFill>
              <a:prstDash val="solid"/>
              <a:miter lim="80"/>
              <a:headEnd len="sm" w="sm" type="none"/>
              <a:tailEnd len="med" w="med" type="triangle"/>
            </a:ln>
          </p:spPr>
        </p:cxnSp>
        <p:cxnSp>
          <p:nvCxnSpPr>
            <p:cNvPr id="2362" name="Google Shape;2362;h2d7e8d0cc2ebee9_0_258"/>
            <p:cNvCxnSpPr/>
            <p:nvPr/>
          </p:nvCxnSpPr>
          <p:spPr>
            <a:xfrm rot="-5400000">
              <a:off x="6140069" y="2167858"/>
              <a:ext cx="144000" cy="0"/>
            </a:xfrm>
            <a:prstGeom prst="straightConnector1">
              <a:avLst/>
            </a:prstGeom>
            <a:noFill/>
            <a:ln cap="flat" cmpd="sng" w="12700">
              <a:solidFill>
                <a:schemeClr val="accent1"/>
              </a:solidFill>
              <a:prstDash val="solid"/>
              <a:miter lim="80"/>
              <a:headEnd len="sm" w="sm" type="none"/>
              <a:tailEnd len="med" w="med" type="triangle"/>
            </a:ln>
          </p:spPr>
        </p:cxnSp>
      </p:grpSp>
      <p:sp>
        <p:nvSpPr>
          <p:cNvPr id="2363" name="Google Shape;2363;h2d7e8d0cc2ebee9_0_258"/>
          <p:cNvSpPr/>
          <p:nvPr/>
        </p:nvSpPr>
        <p:spPr>
          <a:xfrm>
            <a:off x="2565400" y="2307081"/>
            <a:ext cx="7061100" cy="3737700"/>
          </a:xfrm>
          <a:prstGeom prst="roundRect">
            <a:avLst>
              <a:gd fmla="val 3504" name="adj"/>
            </a:avLst>
          </a:prstGeom>
          <a:solidFill>
            <a:srgbClr val="006154"/>
          </a:solidFill>
          <a:ln cap="flat" cmpd="sng" w="12700">
            <a:solidFill>
              <a:srgbClr val="1E5C4E"/>
            </a:solidFill>
            <a:prstDash val="solid"/>
            <a:round/>
            <a:headEnd len="sm" w="sm" type="none"/>
            <a:tailEnd len="sm" w="sm" type="none"/>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chemeClr val="dk1"/>
              </a:buClr>
              <a:buSzPts val="1000"/>
              <a:buFont typeface="Arial"/>
              <a:buNone/>
            </a:pPr>
            <a:r>
              <a:t/>
            </a:r>
            <a:endParaRPr b="0" i="0" sz="1000" u="none" cap="none" strike="noStrike">
              <a:solidFill>
                <a:srgbClr val="DF5325"/>
              </a:solidFill>
              <a:latin typeface="Arial"/>
              <a:ea typeface="Arial"/>
              <a:cs typeface="Arial"/>
              <a:sym typeface="Arial"/>
            </a:endParaRPr>
          </a:p>
        </p:txBody>
      </p:sp>
      <p:grpSp>
        <p:nvGrpSpPr>
          <p:cNvPr id="2364" name="Google Shape;2364;h2d7e8d0cc2ebee9_0_258"/>
          <p:cNvGrpSpPr/>
          <p:nvPr/>
        </p:nvGrpSpPr>
        <p:grpSpPr>
          <a:xfrm>
            <a:off x="5456329" y="2467159"/>
            <a:ext cx="1279359" cy="184800"/>
            <a:chOff x="5528918" y="2972438"/>
            <a:chExt cx="1279359" cy="184800"/>
          </a:xfrm>
        </p:grpSpPr>
        <p:sp>
          <p:nvSpPr>
            <p:cNvPr id="2365" name="Google Shape;2365;h2d7e8d0cc2ebee9_0_258"/>
            <p:cNvSpPr txBox="1"/>
            <p:nvPr/>
          </p:nvSpPr>
          <p:spPr>
            <a:xfrm>
              <a:off x="5697377" y="2972438"/>
              <a:ext cx="1110900" cy="184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AI Governance</a:t>
              </a:r>
              <a:endParaRPr b="0" i="0" sz="1400" u="none" cap="none" strike="noStrike">
                <a:solidFill>
                  <a:srgbClr val="000000"/>
                </a:solidFill>
                <a:latin typeface="Arial"/>
                <a:ea typeface="Arial"/>
                <a:cs typeface="Arial"/>
                <a:sym typeface="Arial"/>
              </a:endParaRPr>
            </a:p>
          </p:txBody>
        </p:sp>
        <p:sp>
          <p:nvSpPr>
            <p:cNvPr id="2366" name="Google Shape;2366;h2d7e8d0cc2ebee9_0_258"/>
            <p:cNvSpPr/>
            <p:nvPr/>
          </p:nvSpPr>
          <p:spPr>
            <a:xfrm>
              <a:off x="5528918" y="2987827"/>
              <a:ext cx="166200" cy="166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7" name="Google Shape;2367;h2d7e8d0cc2ebee9_0_258"/>
          <p:cNvSpPr/>
          <p:nvPr/>
        </p:nvSpPr>
        <p:spPr>
          <a:xfrm>
            <a:off x="2900669" y="2844800"/>
            <a:ext cx="1794900" cy="1308000"/>
          </a:xfrm>
          <a:prstGeom prst="roundRect">
            <a:avLst>
              <a:gd fmla="val 3622" name="adj"/>
            </a:avLst>
          </a:prstGeom>
          <a:solidFill>
            <a:srgbClr val="007F6E"/>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Access 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RBAC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Identities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Virtual Keys</a:t>
            </a:r>
            <a:endParaRPr b="0" i="0" sz="1400" u="none" cap="none" strike="noStrike">
              <a:solidFill>
                <a:srgbClr val="000000"/>
              </a:solidFill>
              <a:latin typeface="Arial"/>
              <a:ea typeface="Arial"/>
              <a:cs typeface="Arial"/>
              <a:sym typeface="Arial"/>
            </a:endParaRPr>
          </a:p>
        </p:txBody>
      </p:sp>
      <p:sp>
        <p:nvSpPr>
          <p:cNvPr id="2368" name="Google Shape;2368;h2d7e8d0cc2ebee9_0_258"/>
          <p:cNvSpPr/>
          <p:nvPr/>
        </p:nvSpPr>
        <p:spPr>
          <a:xfrm>
            <a:off x="5198533" y="4356100"/>
            <a:ext cx="1794900" cy="1308000"/>
          </a:xfrm>
          <a:prstGeom prst="roundRect">
            <a:avLst>
              <a:gd fmla="val 3622" name="adj"/>
            </a:avLst>
          </a:prstGeom>
          <a:solidFill>
            <a:srgbClr val="007F6E"/>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Central Registries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Agents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MCPs &amp;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Prompts &amp; Skills</a:t>
            </a:r>
            <a:endParaRPr b="0" i="0" sz="1400" u="none" cap="none" strike="noStrike">
              <a:solidFill>
                <a:srgbClr val="000000"/>
              </a:solidFill>
              <a:latin typeface="Arial"/>
              <a:ea typeface="Arial"/>
              <a:cs typeface="Arial"/>
              <a:sym typeface="Arial"/>
            </a:endParaRPr>
          </a:p>
        </p:txBody>
      </p:sp>
      <p:sp>
        <p:nvSpPr>
          <p:cNvPr id="2369" name="Google Shape;2369;h2d7e8d0cc2ebee9_0_258"/>
          <p:cNvSpPr/>
          <p:nvPr/>
        </p:nvSpPr>
        <p:spPr>
          <a:xfrm>
            <a:off x="5198533" y="2844800"/>
            <a:ext cx="1794900" cy="1308000"/>
          </a:xfrm>
          <a:prstGeom prst="roundRect">
            <a:avLst>
              <a:gd fmla="val 3622" name="adj"/>
            </a:avLst>
          </a:prstGeom>
          <a:solidFill>
            <a:srgbClr val="007F6E"/>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Audit &amp; Compliance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Audit Logs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Compliance Reports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Policy Enforcement</a:t>
            </a:r>
            <a:endParaRPr b="0" i="0" sz="1400" u="none" cap="none" strike="noStrike">
              <a:solidFill>
                <a:srgbClr val="000000"/>
              </a:solidFill>
              <a:latin typeface="Arial"/>
              <a:ea typeface="Arial"/>
              <a:cs typeface="Arial"/>
              <a:sym typeface="Arial"/>
            </a:endParaRPr>
          </a:p>
        </p:txBody>
      </p:sp>
      <p:sp>
        <p:nvSpPr>
          <p:cNvPr id="2370" name="Google Shape;2370;h2d7e8d0cc2ebee9_0_258"/>
          <p:cNvSpPr/>
          <p:nvPr/>
        </p:nvSpPr>
        <p:spPr>
          <a:xfrm>
            <a:off x="7496397" y="4356100"/>
            <a:ext cx="1794900" cy="1308000"/>
          </a:xfrm>
          <a:prstGeom prst="roundRect">
            <a:avLst>
              <a:gd fmla="val 3622" name="adj"/>
            </a:avLst>
          </a:prstGeom>
          <a:solidFill>
            <a:srgbClr val="007F6E"/>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Model Governance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Model Hub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Routing Policies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Approved Models</a:t>
            </a:r>
            <a:endParaRPr b="0" i="0" sz="1400" u="none" cap="none" strike="noStrike">
              <a:solidFill>
                <a:srgbClr val="000000"/>
              </a:solidFill>
              <a:latin typeface="Arial"/>
              <a:ea typeface="Arial"/>
              <a:cs typeface="Arial"/>
              <a:sym typeface="Arial"/>
            </a:endParaRPr>
          </a:p>
        </p:txBody>
      </p:sp>
      <p:sp>
        <p:nvSpPr>
          <p:cNvPr id="2371" name="Google Shape;2371;h2d7e8d0cc2ebee9_0_258"/>
          <p:cNvSpPr/>
          <p:nvPr/>
        </p:nvSpPr>
        <p:spPr>
          <a:xfrm>
            <a:off x="7496397" y="2844800"/>
            <a:ext cx="1794900" cy="1308000"/>
          </a:xfrm>
          <a:prstGeom prst="roundRect">
            <a:avLst>
              <a:gd fmla="val 3622" name="adj"/>
            </a:avLst>
          </a:prstGeom>
          <a:solidFill>
            <a:srgbClr val="007F6E"/>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Finops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Budgets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Usage Limits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Attribution</a:t>
            </a:r>
            <a:endParaRPr b="0" i="0" sz="1400" u="none" cap="none" strike="noStrike">
              <a:solidFill>
                <a:srgbClr val="000000"/>
              </a:solidFill>
              <a:latin typeface="Arial"/>
              <a:ea typeface="Arial"/>
              <a:cs typeface="Arial"/>
              <a:sym typeface="Arial"/>
            </a:endParaRPr>
          </a:p>
        </p:txBody>
      </p:sp>
      <p:sp>
        <p:nvSpPr>
          <p:cNvPr id="2372" name="Google Shape;2372;h2d7e8d0cc2ebee9_0_258"/>
          <p:cNvSpPr/>
          <p:nvPr/>
        </p:nvSpPr>
        <p:spPr>
          <a:xfrm>
            <a:off x="2900669" y="4356100"/>
            <a:ext cx="1794900" cy="1308000"/>
          </a:xfrm>
          <a:prstGeom prst="roundRect">
            <a:avLst>
              <a:gd fmla="val 3622" name="adj"/>
            </a:avLst>
          </a:prstGeom>
          <a:solidFill>
            <a:srgbClr val="007F6E"/>
          </a:solidFill>
          <a:ln>
            <a:noFill/>
          </a:ln>
        </p:spPr>
        <p:txBody>
          <a:bodyPr anchorCtr="0" anchor="ctr" bIns="72000" lIns="72000" spcFirstLastPara="1" rIns="72000" wrap="square" tIns="72000">
            <a:noAutofit/>
          </a:bodyPr>
          <a:lstStyle/>
          <a:p>
            <a:pPr indent="0" lvl="0" marL="0" marR="0" rtl="0" algn="l">
              <a:lnSpc>
                <a:spcPct val="10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AI Safety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Red Teaming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D6E9E2"/>
              </a:buClr>
              <a:buSzPts val="1200"/>
              <a:buFont typeface="Arial"/>
              <a:buNone/>
            </a:pPr>
            <a:r>
              <a:rPr b="0" i="0" lang="en-US" sz="1200" u="none" cap="none" strike="noStrike">
                <a:solidFill>
                  <a:srgbClr val="D6E9E2"/>
                </a:solidFill>
                <a:latin typeface="Arial"/>
                <a:ea typeface="Arial"/>
                <a:cs typeface="Arial"/>
                <a:sym typeface="Arial"/>
              </a:rPr>
              <a:t>PII Detection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7" name="Shape 2377"/>
        <p:cNvGrpSpPr/>
        <p:nvPr/>
      </p:nvGrpSpPr>
      <p:grpSpPr>
        <a:xfrm>
          <a:off x="0" y="0"/>
          <a:ext cx="0" cy="0"/>
          <a:chOff x="0" y="0"/>
          <a:chExt cx="0" cy="0"/>
        </a:xfrm>
      </p:grpSpPr>
      <p:sp>
        <p:nvSpPr>
          <p:cNvPr id="2378" name="Google Shape;2378;h2d7e8d0cc2ebee9_0_296"/>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Teams</a:t>
            </a:r>
            <a:endParaRPr/>
          </a:p>
        </p:txBody>
      </p:sp>
      <p:sp>
        <p:nvSpPr>
          <p:cNvPr id="2379" name="Google Shape;2379;h2d7e8d0cc2ebee9_0_296"/>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TEAMS</a:t>
            </a:r>
            <a:endParaRPr/>
          </a:p>
        </p:txBody>
      </p:sp>
      <p:sp>
        <p:nvSpPr>
          <p:cNvPr id="2380" name="Google Shape;2380;h2d7e8d0cc2ebee9_0_296"/>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381" name="Google Shape;2381;h2d7e8d0cc2ebee9_0_296"/>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382" name="Google Shape;2382;h2d7e8d0cc2ebee9_0_296"/>
          <p:cNvSpPr txBox="1"/>
          <p:nvPr>
            <p:ph idx="12" type="sldNum"/>
          </p:nvPr>
        </p:nvSpPr>
        <p:spPr>
          <a:xfrm>
            <a:off x="12008139" y="6673964"/>
            <a:ext cx="1041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383" name="Google Shape;2383;h2d7e8d0cc2ebee9_0_296"/>
          <p:cNvSpPr/>
          <p:nvPr/>
        </p:nvSpPr>
        <p:spPr>
          <a:xfrm>
            <a:off x="263525" y="1664804"/>
            <a:ext cx="5769533" cy="2187135"/>
          </a:xfrm>
          <a:custGeom>
            <a:rect b="b" l="l" r="r" t="t"/>
            <a:pathLst>
              <a:path extrusionOk="0" h="2187135" w="5769533">
                <a:moveTo>
                  <a:pt x="57920" y="0"/>
                </a:moveTo>
                <a:lnTo>
                  <a:pt x="2023290" y="0"/>
                </a:lnTo>
                <a:lnTo>
                  <a:pt x="3746243" y="0"/>
                </a:lnTo>
                <a:lnTo>
                  <a:pt x="5711613" y="0"/>
                </a:lnTo>
                <a:cubicBezTo>
                  <a:pt x="5743601" y="0"/>
                  <a:pt x="5769533" y="25932"/>
                  <a:pt x="5769533" y="57920"/>
                </a:cubicBezTo>
                <a:lnTo>
                  <a:pt x="5769533" y="238349"/>
                </a:lnTo>
                <a:lnTo>
                  <a:pt x="5769533" y="724403"/>
                </a:lnTo>
                <a:lnTo>
                  <a:pt x="5769533" y="904832"/>
                </a:lnTo>
                <a:lnTo>
                  <a:pt x="5769533" y="1282303"/>
                </a:lnTo>
                <a:lnTo>
                  <a:pt x="5769533" y="1462732"/>
                </a:lnTo>
                <a:lnTo>
                  <a:pt x="5769533" y="1948786"/>
                </a:lnTo>
                <a:lnTo>
                  <a:pt x="5769533" y="2129215"/>
                </a:lnTo>
                <a:cubicBezTo>
                  <a:pt x="5769533" y="2161203"/>
                  <a:pt x="5743601" y="2187135"/>
                  <a:pt x="5711613" y="2187135"/>
                </a:cubicBezTo>
                <a:lnTo>
                  <a:pt x="3746243" y="2187135"/>
                </a:lnTo>
                <a:lnTo>
                  <a:pt x="2023290" y="2187135"/>
                </a:lnTo>
                <a:lnTo>
                  <a:pt x="57920" y="2187135"/>
                </a:lnTo>
                <a:cubicBezTo>
                  <a:pt x="25932" y="2187135"/>
                  <a:pt x="0" y="2161203"/>
                  <a:pt x="0" y="2129215"/>
                </a:cubicBezTo>
                <a:lnTo>
                  <a:pt x="0" y="1948786"/>
                </a:lnTo>
                <a:lnTo>
                  <a:pt x="0" y="1462732"/>
                </a:lnTo>
                <a:lnTo>
                  <a:pt x="0" y="1282303"/>
                </a:lnTo>
                <a:lnTo>
                  <a:pt x="0" y="904832"/>
                </a:lnTo>
                <a:lnTo>
                  <a:pt x="0" y="7244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Team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People 1-3</a:t>
            </a:r>
            <a:endParaRPr b="0" i="0" sz="1400" u="none" cap="none" strike="noStrike">
              <a:solidFill>
                <a:srgbClr val="000000"/>
              </a:solidFill>
              <a:latin typeface="Arial"/>
              <a:ea typeface="Arial"/>
              <a:cs typeface="Arial"/>
              <a:sym typeface="Arial"/>
            </a:endParaRPr>
          </a:p>
        </p:txBody>
      </p:sp>
      <p:sp>
        <p:nvSpPr>
          <p:cNvPr id="2384" name="Google Shape;2384;h2d7e8d0cc2ebee9_0_296"/>
          <p:cNvSpPr/>
          <p:nvPr/>
        </p:nvSpPr>
        <p:spPr>
          <a:xfrm>
            <a:off x="6159115" y="1664804"/>
            <a:ext cx="5769533" cy="2187135"/>
          </a:xfrm>
          <a:custGeom>
            <a:rect b="b" l="l" r="r" t="t"/>
            <a:pathLst>
              <a:path extrusionOk="0" h="2187135" w="5769533">
                <a:moveTo>
                  <a:pt x="57920" y="0"/>
                </a:moveTo>
                <a:lnTo>
                  <a:pt x="2023290" y="0"/>
                </a:lnTo>
                <a:lnTo>
                  <a:pt x="3746243" y="0"/>
                </a:lnTo>
                <a:lnTo>
                  <a:pt x="5711613" y="0"/>
                </a:lnTo>
                <a:cubicBezTo>
                  <a:pt x="5743601" y="0"/>
                  <a:pt x="5769533" y="25932"/>
                  <a:pt x="5769533" y="57920"/>
                </a:cubicBezTo>
                <a:lnTo>
                  <a:pt x="5769533" y="238349"/>
                </a:lnTo>
                <a:lnTo>
                  <a:pt x="5769533" y="724403"/>
                </a:lnTo>
                <a:lnTo>
                  <a:pt x="5769533" y="904832"/>
                </a:lnTo>
                <a:lnTo>
                  <a:pt x="5769533" y="1282303"/>
                </a:lnTo>
                <a:lnTo>
                  <a:pt x="5769533" y="1462732"/>
                </a:lnTo>
                <a:lnTo>
                  <a:pt x="5769533" y="1948786"/>
                </a:lnTo>
                <a:lnTo>
                  <a:pt x="5769533" y="2129215"/>
                </a:lnTo>
                <a:cubicBezTo>
                  <a:pt x="5769533" y="2161203"/>
                  <a:pt x="5743601" y="2187135"/>
                  <a:pt x="5711613" y="2187135"/>
                </a:cubicBezTo>
                <a:lnTo>
                  <a:pt x="3746243" y="2187135"/>
                </a:lnTo>
                <a:lnTo>
                  <a:pt x="2023290" y="2187135"/>
                </a:lnTo>
                <a:lnTo>
                  <a:pt x="57920" y="2187135"/>
                </a:lnTo>
                <a:cubicBezTo>
                  <a:pt x="25932" y="2187135"/>
                  <a:pt x="0" y="2161203"/>
                  <a:pt x="0" y="2129215"/>
                </a:cubicBezTo>
                <a:lnTo>
                  <a:pt x="0" y="1948786"/>
                </a:lnTo>
                <a:lnTo>
                  <a:pt x="0" y="1462732"/>
                </a:lnTo>
                <a:lnTo>
                  <a:pt x="0" y="1282303"/>
                </a:lnTo>
                <a:lnTo>
                  <a:pt x="0" y="904832"/>
                </a:lnTo>
                <a:lnTo>
                  <a:pt x="0" y="7244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Team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People 4-6</a:t>
            </a:r>
            <a:endParaRPr b="0" i="0" sz="1400" u="none" cap="none" strike="noStrike">
              <a:solidFill>
                <a:srgbClr val="000000"/>
              </a:solidFill>
              <a:latin typeface="Arial"/>
              <a:ea typeface="Arial"/>
              <a:cs typeface="Arial"/>
              <a:sym typeface="Arial"/>
            </a:endParaRPr>
          </a:p>
        </p:txBody>
      </p:sp>
      <p:sp>
        <p:nvSpPr>
          <p:cNvPr id="2385" name="Google Shape;2385;h2d7e8d0cc2ebee9_0_296"/>
          <p:cNvSpPr/>
          <p:nvPr/>
        </p:nvSpPr>
        <p:spPr>
          <a:xfrm>
            <a:off x="263525" y="3978168"/>
            <a:ext cx="5769533" cy="2187135"/>
          </a:xfrm>
          <a:custGeom>
            <a:rect b="b" l="l" r="r" t="t"/>
            <a:pathLst>
              <a:path extrusionOk="0" h="2187135" w="5769533">
                <a:moveTo>
                  <a:pt x="57920" y="0"/>
                </a:moveTo>
                <a:lnTo>
                  <a:pt x="2023290" y="0"/>
                </a:lnTo>
                <a:lnTo>
                  <a:pt x="3746243" y="0"/>
                </a:lnTo>
                <a:lnTo>
                  <a:pt x="5711613" y="0"/>
                </a:lnTo>
                <a:cubicBezTo>
                  <a:pt x="5743601" y="0"/>
                  <a:pt x="5769533" y="25932"/>
                  <a:pt x="5769533" y="57920"/>
                </a:cubicBezTo>
                <a:lnTo>
                  <a:pt x="5769533" y="238349"/>
                </a:lnTo>
                <a:lnTo>
                  <a:pt x="5769533" y="724403"/>
                </a:lnTo>
                <a:lnTo>
                  <a:pt x="5769533" y="904832"/>
                </a:lnTo>
                <a:lnTo>
                  <a:pt x="5769533" y="1282303"/>
                </a:lnTo>
                <a:lnTo>
                  <a:pt x="5769533" y="1462732"/>
                </a:lnTo>
                <a:lnTo>
                  <a:pt x="5769533" y="1948786"/>
                </a:lnTo>
                <a:lnTo>
                  <a:pt x="5769533" y="2129215"/>
                </a:lnTo>
                <a:cubicBezTo>
                  <a:pt x="5769533" y="2161203"/>
                  <a:pt x="5743601" y="2187135"/>
                  <a:pt x="5711613" y="2187135"/>
                </a:cubicBezTo>
                <a:lnTo>
                  <a:pt x="3746243" y="2187135"/>
                </a:lnTo>
                <a:lnTo>
                  <a:pt x="2023290" y="2187135"/>
                </a:lnTo>
                <a:lnTo>
                  <a:pt x="57920" y="2187135"/>
                </a:lnTo>
                <a:cubicBezTo>
                  <a:pt x="25932" y="2187135"/>
                  <a:pt x="0" y="2161203"/>
                  <a:pt x="0" y="2129215"/>
                </a:cubicBezTo>
                <a:lnTo>
                  <a:pt x="0" y="1948786"/>
                </a:lnTo>
                <a:lnTo>
                  <a:pt x="0" y="1462732"/>
                </a:lnTo>
                <a:lnTo>
                  <a:pt x="0" y="1282303"/>
                </a:lnTo>
                <a:lnTo>
                  <a:pt x="0" y="904832"/>
                </a:lnTo>
                <a:lnTo>
                  <a:pt x="0" y="7244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Team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People 7-10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0" name="Shape 2390"/>
        <p:cNvGrpSpPr/>
        <p:nvPr/>
      </p:nvGrpSpPr>
      <p:grpSpPr>
        <a:xfrm>
          <a:off x="0" y="0"/>
          <a:ext cx="0" cy="0"/>
          <a:chOff x="0" y="0"/>
          <a:chExt cx="0" cy="0"/>
        </a:xfrm>
      </p:grpSpPr>
      <p:sp>
        <p:nvSpPr>
          <p:cNvPr id="2391" name="Google Shape;2391;h2d7e8d0cc2ebee9_0_308"/>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1: Plan</a:t>
            </a:r>
            <a:endParaRPr/>
          </a:p>
        </p:txBody>
      </p:sp>
      <p:sp>
        <p:nvSpPr>
          <p:cNvPr id="2392" name="Google Shape;2392;h2d7e8d0cc2ebee9_0_308"/>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LET’S START WORKING WITH THE ORQFLOW</a:t>
            </a:r>
            <a:endParaRPr/>
          </a:p>
        </p:txBody>
      </p:sp>
      <p:sp>
        <p:nvSpPr>
          <p:cNvPr id="2393" name="Google Shape;2393;h2d7e8d0cc2ebee9_0_308"/>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394" name="Google Shape;2394;h2d7e8d0cc2ebee9_0_308"/>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395" name="Google Shape;2395;h2d7e8d0cc2ebee9_0_308"/>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396" name="Google Shape;2396;h2d7e8d0cc2ebee9_0_308"/>
          <p:cNvGrpSpPr/>
          <p:nvPr/>
        </p:nvGrpSpPr>
        <p:grpSpPr>
          <a:xfrm>
            <a:off x="263339" y="3719084"/>
            <a:ext cx="11664753" cy="404337"/>
            <a:chOff x="385750" y="3723383"/>
            <a:chExt cx="11420357" cy="395866"/>
          </a:xfrm>
        </p:grpSpPr>
        <p:sp>
          <p:nvSpPr>
            <p:cNvPr id="2397" name="Google Shape;2397;h2d7e8d0cc2ebee9_0_308"/>
            <p:cNvSpPr/>
            <p:nvPr/>
          </p:nvSpPr>
          <p:spPr>
            <a:xfrm>
              <a:off x="1263525" y="3723383"/>
              <a:ext cx="18000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98" name="Google Shape;2398;h2d7e8d0cc2ebee9_0_308"/>
            <p:cNvSpPr/>
            <p:nvPr/>
          </p:nvSpPr>
          <p:spPr>
            <a:xfrm>
              <a:off x="10721068" y="3723383"/>
              <a:ext cx="18000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399" name="Google Shape;2399;h2d7e8d0cc2ebee9_0_308"/>
            <p:cNvCxnSpPr>
              <a:stCxn id="2398" idx="0"/>
              <a:endCxn id="2397" idx="0"/>
            </p:cNvCxnSpPr>
            <p:nvPr/>
          </p:nvCxnSpPr>
          <p:spPr>
            <a:xfrm rot="5400000">
              <a:off x="6082018" y="-1005067"/>
              <a:ext cx="600" cy="9457500"/>
            </a:xfrm>
            <a:prstGeom prst="bentConnector3">
              <a:avLst>
                <a:gd fmla="val -196377823" name="adj1"/>
              </a:avLst>
            </a:prstGeom>
            <a:noFill/>
            <a:ln cap="flat" cmpd="sng" w="12700">
              <a:solidFill>
                <a:srgbClr val="DF5325"/>
              </a:solidFill>
              <a:prstDash val="lgDash"/>
              <a:miter lim="80"/>
              <a:headEnd len="sm" w="sm" type="none"/>
              <a:tailEnd len="med" w="med" type="triangle"/>
            </a:ln>
          </p:spPr>
        </p:cxnSp>
        <p:sp>
          <p:nvSpPr>
            <p:cNvPr id="2400" name="Google Shape;2400;h2d7e8d0cc2ebee9_0_308"/>
            <p:cNvSpPr/>
            <p:nvPr/>
          </p:nvSpPr>
          <p:spPr>
            <a:xfrm>
              <a:off x="385750" y="3723383"/>
              <a:ext cx="1989446" cy="395866"/>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401" name="Google Shape;2401;h2d7e8d0cc2ebee9_0_308"/>
            <p:cNvSpPr/>
            <p:nvPr/>
          </p:nvSpPr>
          <p:spPr>
            <a:xfrm>
              <a:off x="2743289" y="3723383"/>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2402" name="Google Shape;2402;h2d7e8d0cc2ebee9_0_308"/>
            <p:cNvSpPr/>
            <p:nvPr/>
          </p:nvSpPr>
          <p:spPr>
            <a:xfrm>
              <a:off x="5100828" y="3723383"/>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403" name="Google Shape;2403;h2d7e8d0cc2ebee9_0_308"/>
            <p:cNvSpPr/>
            <p:nvPr/>
          </p:nvSpPr>
          <p:spPr>
            <a:xfrm>
              <a:off x="7458367" y="3723383"/>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404" name="Google Shape;2404;h2d7e8d0cc2ebee9_0_308"/>
            <p:cNvSpPr/>
            <p:nvPr/>
          </p:nvSpPr>
          <p:spPr>
            <a:xfrm>
              <a:off x="9815907" y="3723383"/>
              <a:ext cx="1990200" cy="395866"/>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2405" name="Google Shape;2405;h2d7e8d0cc2ebee9_0_308"/>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2406" name="Google Shape;2406;h2d7e8d0cc2ebee9_0_308"/>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2407" name="Google Shape;2407;h2d7e8d0cc2ebee9_0_308"/>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2408" name="Google Shape;2408;h2d7e8d0cc2ebee9_0_308"/>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2409" name="Google Shape;2409;h2d7e8d0cc2ebee9_0_308"/>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4" name="Shape 2414"/>
        <p:cNvGrpSpPr/>
        <p:nvPr/>
      </p:nvGrpSpPr>
      <p:grpSpPr>
        <a:xfrm>
          <a:off x="0" y="0"/>
          <a:ext cx="0" cy="0"/>
          <a:chOff x="0" y="0"/>
          <a:chExt cx="0" cy="0"/>
        </a:xfrm>
      </p:grpSpPr>
      <p:sp>
        <p:nvSpPr>
          <p:cNvPr id="2415" name="Google Shape;2415;h2d7e8d0cc2ebee9_0_331"/>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Plan: Laying the foundation for a successful GenAI build</a:t>
            </a:r>
            <a:endParaRPr/>
          </a:p>
        </p:txBody>
      </p:sp>
      <p:sp>
        <p:nvSpPr>
          <p:cNvPr id="2416" name="Google Shape;2416;h2d7e8d0cc2ebee9_0_331"/>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417" name="Google Shape;2417;h2d7e8d0cc2ebee9_0_331"/>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418" name="Google Shape;2418;h2d7e8d0cc2ebee9_0_331"/>
          <p:cNvSpPr txBox="1"/>
          <p:nvPr>
            <p:ph idx="12" type="sldNum"/>
          </p:nvPr>
        </p:nvSpPr>
        <p:spPr>
          <a:xfrm>
            <a:off x="12010544" y="6673964"/>
            <a:ext cx="993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419" name="Google Shape;2419;h2d7e8d0cc2ebee9_0_331"/>
          <p:cNvPicPr preferRelativeResize="0"/>
          <p:nvPr/>
        </p:nvPicPr>
        <p:blipFill rotWithShape="1">
          <a:blip r:embed="rId3">
            <a:alphaModFix/>
          </a:blip>
          <a:srcRect b="0" l="0" r="0" t="0"/>
          <a:stretch/>
        </p:blipFill>
        <p:spPr>
          <a:xfrm>
            <a:off x="263525" y="260350"/>
            <a:ext cx="3987691" cy="216000"/>
          </a:xfrm>
          <a:prstGeom prst="rect">
            <a:avLst/>
          </a:prstGeom>
          <a:noFill/>
          <a:ln>
            <a:noFill/>
          </a:ln>
        </p:spPr>
      </p:pic>
      <p:sp>
        <p:nvSpPr>
          <p:cNvPr id="2420" name="Google Shape;2420;h2d7e8d0cc2ebee9_0_331"/>
          <p:cNvSpPr/>
          <p:nvPr/>
        </p:nvSpPr>
        <p:spPr>
          <a:xfrm>
            <a:off x="263351" y="2287916"/>
            <a:ext cx="11665200" cy="801300"/>
          </a:xfrm>
          <a:prstGeom prst="roundRect">
            <a:avLst>
              <a:gd fmla="val 560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Success metrics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Define clear, measurable outcomes (accuracy, cost, time saved) so everyone knows what success looks like before building</a:t>
            </a:r>
            <a:endParaRPr b="0" i="0" sz="1400" u="none" cap="none" strike="noStrike">
              <a:solidFill>
                <a:srgbClr val="000000"/>
              </a:solidFill>
              <a:latin typeface="Arial"/>
              <a:ea typeface="Arial"/>
              <a:cs typeface="Arial"/>
              <a:sym typeface="Arial"/>
            </a:endParaRPr>
          </a:p>
        </p:txBody>
      </p:sp>
      <p:sp>
        <p:nvSpPr>
          <p:cNvPr id="2421" name="Google Shape;2421;h2d7e8d0cc2ebee9_0_331"/>
          <p:cNvSpPr/>
          <p:nvPr/>
        </p:nvSpPr>
        <p:spPr>
          <a:xfrm>
            <a:off x="263351" y="3316349"/>
            <a:ext cx="11665200" cy="801300"/>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Data prep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Identify, clean, and label the right data sources to ensure quality input and reduce model bias early on</a:t>
            </a:r>
            <a:endParaRPr b="0" i="0" sz="1400" u="none" cap="none" strike="noStrike">
              <a:solidFill>
                <a:srgbClr val="000000"/>
              </a:solidFill>
              <a:latin typeface="Arial"/>
              <a:ea typeface="Arial"/>
              <a:cs typeface="Arial"/>
              <a:sym typeface="Arial"/>
            </a:endParaRPr>
          </a:p>
        </p:txBody>
      </p:sp>
      <p:sp>
        <p:nvSpPr>
          <p:cNvPr id="2422" name="Google Shape;2422;h2d7e8d0cc2ebee9_0_331"/>
          <p:cNvSpPr/>
          <p:nvPr/>
        </p:nvSpPr>
        <p:spPr>
          <a:xfrm>
            <a:off x="263351" y="4344782"/>
            <a:ext cx="11665200" cy="801300"/>
          </a:xfrm>
          <a:prstGeom prst="roundRect">
            <a:avLst>
              <a:gd fmla="val 8775" name="adj"/>
            </a:avLst>
          </a:prstGeom>
          <a:solidFill>
            <a:schemeClr val="lt2"/>
          </a:solidFill>
          <a:ln>
            <a:noFill/>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Risk identification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Anticipate technical, ethical, and operational risks, like data leaks or model drift and plan mitigation steps upfront</a:t>
            </a:r>
            <a:endParaRPr b="0" i="0" sz="1400" u="none" cap="none" strike="noStrike">
              <a:solidFill>
                <a:srgbClr val="000000"/>
              </a:solidFill>
              <a:latin typeface="Arial"/>
              <a:ea typeface="Arial"/>
              <a:cs typeface="Arial"/>
              <a:sym typeface="Arial"/>
            </a:endParaRPr>
          </a:p>
        </p:txBody>
      </p:sp>
      <p:sp>
        <p:nvSpPr>
          <p:cNvPr id="2423" name="Google Shape;2423;h2d7e8d0cc2ebee9_0_331"/>
          <p:cNvSpPr/>
          <p:nvPr/>
        </p:nvSpPr>
        <p:spPr>
          <a:xfrm>
            <a:off x="263351" y="5373216"/>
            <a:ext cx="11665200" cy="801300"/>
          </a:xfrm>
          <a:prstGeom prst="roundRect">
            <a:avLst>
              <a:gd fmla="val 8775" name="adj"/>
            </a:avLst>
          </a:prstGeom>
          <a:solidFill>
            <a:schemeClr val="lt1">
              <a:alpha val="5100"/>
            </a:schemeClr>
          </a:solidFill>
          <a:ln cap="flat" cmpd="sng" w="9525">
            <a:solidFill>
              <a:schemeClr val="dk1">
                <a:alpha val="10200"/>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Responsible:</a:t>
            </a:r>
            <a:endParaRPr b="0" i="0" sz="1400" u="none" cap="none" strike="noStrike">
              <a:solidFill>
                <a:srgbClr val="000000"/>
              </a:solidFill>
              <a:latin typeface="Arial"/>
              <a:ea typeface="Arial"/>
              <a:cs typeface="Arial"/>
              <a:sym typeface="Arial"/>
            </a:endParaRPr>
          </a:p>
        </p:txBody>
      </p:sp>
      <p:sp>
        <p:nvSpPr>
          <p:cNvPr id="2424" name="Google Shape;2424;h2d7e8d0cc2ebee9_0_331"/>
          <p:cNvSpPr/>
          <p:nvPr/>
        </p:nvSpPr>
        <p:spPr>
          <a:xfrm>
            <a:off x="1595500" y="5654695"/>
            <a:ext cx="1473300" cy="272400"/>
          </a:xfrm>
          <a:prstGeom prst="roundRect">
            <a:avLst>
              <a:gd fmla="val 1666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Product Manager</a:t>
            </a:r>
            <a:endParaRPr b="0" i="0" sz="1400" u="none" cap="none" strike="noStrike">
              <a:solidFill>
                <a:srgbClr val="000000"/>
              </a:solidFill>
              <a:latin typeface="Arial"/>
              <a:ea typeface="Arial"/>
              <a:cs typeface="Arial"/>
              <a:sym typeface="Arial"/>
            </a:endParaRPr>
          </a:p>
        </p:txBody>
      </p:sp>
      <p:sp>
        <p:nvSpPr>
          <p:cNvPr id="2425" name="Google Shape;2425;h2d7e8d0cc2ebee9_0_331"/>
          <p:cNvSpPr/>
          <p:nvPr/>
        </p:nvSpPr>
        <p:spPr>
          <a:xfrm>
            <a:off x="3257292" y="5654695"/>
            <a:ext cx="1987800" cy="272400"/>
          </a:xfrm>
          <a:prstGeom prst="roundRect">
            <a:avLst>
              <a:gd fmla="val 1666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Subject Matter Expert</a:t>
            </a:r>
            <a:endParaRPr b="0" i="0" sz="1400" u="none" cap="none" strike="noStrike">
              <a:solidFill>
                <a:srgbClr val="000000"/>
              </a:solidFill>
              <a:latin typeface="Arial"/>
              <a:ea typeface="Arial"/>
              <a:cs typeface="Arial"/>
              <a:sym typeface="Arial"/>
            </a:endParaRPr>
          </a:p>
        </p:txBody>
      </p:sp>
      <p:grpSp>
        <p:nvGrpSpPr>
          <p:cNvPr id="2426" name="Google Shape;2426;h2d7e8d0cc2ebee9_0_331"/>
          <p:cNvGrpSpPr/>
          <p:nvPr/>
        </p:nvGrpSpPr>
        <p:grpSpPr>
          <a:xfrm>
            <a:off x="263352" y="1664804"/>
            <a:ext cx="2033986" cy="404778"/>
            <a:chOff x="263352" y="5227967"/>
            <a:chExt cx="2033986" cy="404778"/>
          </a:xfrm>
        </p:grpSpPr>
        <p:sp>
          <p:nvSpPr>
            <p:cNvPr id="2427" name="Google Shape;2427;h2d7e8d0cc2ebee9_0_331"/>
            <p:cNvSpPr/>
            <p:nvPr/>
          </p:nvSpPr>
          <p:spPr>
            <a:xfrm>
              <a:off x="263352" y="5227967"/>
              <a:ext cx="2033986" cy="404778"/>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pic>
          <p:nvPicPr>
            <p:cNvPr id="2428" name="Google Shape;2428;h2d7e8d0cc2ebee9_0_331"/>
            <p:cNvPicPr preferRelativeResize="0"/>
            <p:nvPr/>
          </p:nvPicPr>
          <p:blipFill rotWithShape="1">
            <a:blip r:embed="rId4">
              <a:alphaModFix/>
            </a:blip>
            <a:srcRect b="0" l="0" r="0" t="0"/>
            <a:stretch/>
          </p:blipFill>
          <p:spPr>
            <a:xfrm>
              <a:off x="370769" y="5301510"/>
              <a:ext cx="257402" cy="257401"/>
            </a:xfrm>
            <a:prstGeom prst="rect">
              <a:avLst/>
            </a:prstGeom>
            <a:noFill/>
            <a:ln>
              <a:noFill/>
            </a:ln>
          </p:spPr>
        </p:pic>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3" name="Shape 2433"/>
        <p:cNvGrpSpPr/>
        <p:nvPr/>
      </p:nvGrpSpPr>
      <p:grpSpPr>
        <a:xfrm>
          <a:off x="0" y="0"/>
          <a:ext cx="0" cy="0"/>
          <a:chOff x="0" y="0"/>
          <a:chExt cx="0" cy="0"/>
        </a:xfrm>
      </p:grpSpPr>
      <p:sp>
        <p:nvSpPr>
          <p:cNvPr id="2434" name="Google Shape;2434;h2d7e8d0cc2ebee9_0_349"/>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Plan: Do’s and Don’ts</a:t>
            </a:r>
            <a:endParaRPr/>
          </a:p>
        </p:txBody>
      </p:sp>
      <p:sp>
        <p:nvSpPr>
          <p:cNvPr id="2435" name="Google Shape;2435;h2d7e8d0cc2ebee9_0_349"/>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436" name="Google Shape;2436;h2d7e8d0cc2ebee9_0_349"/>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437" name="Google Shape;2437;h2d7e8d0cc2ebee9_0_349"/>
          <p:cNvSpPr txBox="1"/>
          <p:nvPr>
            <p:ph idx="12" type="sldNum"/>
          </p:nvPr>
        </p:nvSpPr>
        <p:spPr>
          <a:xfrm>
            <a:off x="12007338" y="6673964"/>
            <a:ext cx="1059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438" name="Google Shape;2438;h2d7e8d0cc2ebee9_0_349"/>
          <p:cNvPicPr preferRelativeResize="0"/>
          <p:nvPr/>
        </p:nvPicPr>
        <p:blipFill rotWithShape="1">
          <a:blip r:embed="rId3">
            <a:alphaModFix/>
          </a:blip>
          <a:srcRect b="0" l="0" r="0" t="0"/>
          <a:stretch/>
        </p:blipFill>
        <p:spPr>
          <a:xfrm>
            <a:off x="263525" y="260350"/>
            <a:ext cx="3987691" cy="216000"/>
          </a:xfrm>
          <a:prstGeom prst="rect">
            <a:avLst/>
          </a:prstGeom>
          <a:noFill/>
          <a:ln>
            <a:noFill/>
          </a:ln>
        </p:spPr>
      </p:pic>
      <p:sp>
        <p:nvSpPr>
          <p:cNvPr id="2439" name="Google Shape;2439;h2d7e8d0cc2ebee9_0_349"/>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start building without clear metrics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skip data quality checks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overlook security, compliance, or ethical risks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overcomplicate the first version, start small</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ignore stakeholder alignment or user feedback</a:t>
            </a:r>
            <a:endParaRPr b="0" i="0" sz="1400" u="none" cap="none" strike="noStrike">
              <a:solidFill>
                <a:srgbClr val="000000"/>
              </a:solidFill>
              <a:latin typeface="Arial"/>
              <a:ea typeface="Arial"/>
              <a:cs typeface="Arial"/>
              <a:sym typeface="Arial"/>
            </a:endParaRPr>
          </a:p>
        </p:txBody>
      </p:sp>
      <p:sp>
        <p:nvSpPr>
          <p:cNvPr id="2440" name="Google Shape;2440;h2d7e8d0cc2ebee9_0_349"/>
          <p:cNvSpPr/>
          <p:nvPr/>
        </p:nvSpPr>
        <p:spPr>
          <a:xfrm>
            <a:off x="6329437" y="1835129"/>
            <a:ext cx="504000" cy="504000"/>
          </a:xfrm>
          <a:prstGeom prst="roundRect">
            <a:avLst>
              <a:gd fmla="val 8775" name="adj"/>
            </a:avLst>
          </a:prstGeom>
          <a:solidFill>
            <a:schemeClr val="lt1"/>
          </a:solidFill>
          <a:ln cap="flat" cmpd="sng" w="9525">
            <a:solidFill>
              <a:schemeClr val="dk1">
                <a:alpha val="10200"/>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441" name="Google Shape;2441;h2d7e8d0cc2ebee9_0_349"/>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Define clear, measurable success metrics from day one</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Involve domain and data experts early in planning</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Validate the business case before building anything</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Identify and clean critical data sources</a:t>
            </a:r>
            <a:endParaRPr b="0" i="0" sz="1400" u="none" cap="none" strike="noStrike">
              <a:solidFill>
                <a:srgbClr val="000000"/>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Map potential risks and plan mitigations early</a:t>
            </a:r>
            <a:endParaRPr b="0" i="0" sz="1400" u="none" cap="none" strike="noStrike">
              <a:solidFill>
                <a:srgbClr val="000000"/>
              </a:solidFill>
              <a:latin typeface="Arial"/>
              <a:ea typeface="Arial"/>
              <a:cs typeface="Arial"/>
              <a:sym typeface="Arial"/>
            </a:endParaRPr>
          </a:p>
        </p:txBody>
      </p:sp>
      <p:sp>
        <p:nvSpPr>
          <p:cNvPr id="2442" name="Google Shape;2442;h2d7e8d0cc2ebee9_0_349"/>
          <p:cNvSpPr/>
          <p:nvPr/>
        </p:nvSpPr>
        <p:spPr>
          <a:xfrm>
            <a:off x="433848" y="1835129"/>
            <a:ext cx="504000" cy="504000"/>
          </a:xfrm>
          <a:prstGeom prst="roundRect">
            <a:avLst>
              <a:gd fmla="val 8775" name="adj"/>
            </a:avLst>
          </a:prstGeom>
          <a:solidFill>
            <a:schemeClr val="lt1"/>
          </a:solidFill>
          <a:ln cap="flat" cmpd="sng" w="9525">
            <a:solidFill>
              <a:schemeClr val="dk1">
                <a:alpha val="10200"/>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2443" name="Google Shape;2443;h2d7e8d0cc2ebee9_0_349"/>
          <p:cNvPicPr preferRelativeResize="0"/>
          <p:nvPr/>
        </p:nvPicPr>
        <p:blipFill rotWithShape="1">
          <a:blip r:embed="rId4">
            <a:alphaModFix/>
          </a:blip>
          <a:srcRect b="0" l="0" r="0" t="0"/>
          <a:stretch/>
        </p:blipFill>
        <p:spPr>
          <a:xfrm>
            <a:off x="604118" y="1961129"/>
            <a:ext cx="163460" cy="252000"/>
          </a:xfrm>
          <a:prstGeom prst="rect">
            <a:avLst/>
          </a:prstGeom>
          <a:noFill/>
          <a:ln>
            <a:noFill/>
          </a:ln>
        </p:spPr>
      </p:pic>
      <p:pic>
        <p:nvPicPr>
          <p:cNvPr id="2444" name="Google Shape;2444;h2d7e8d0cc2ebee9_0_349"/>
          <p:cNvPicPr preferRelativeResize="0"/>
          <p:nvPr/>
        </p:nvPicPr>
        <p:blipFill rotWithShape="1">
          <a:blip r:embed="rId5">
            <a:alphaModFix/>
          </a:blip>
          <a:srcRect b="0" l="0" r="0" t="0"/>
          <a:stretch/>
        </p:blipFill>
        <p:spPr>
          <a:xfrm>
            <a:off x="6462248" y="1961129"/>
            <a:ext cx="238378" cy="2520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sp>
        <p:nvSpPr>
          <p:cNvPr id="2450" name="Google Shape;2450;h2d7e8d0cc2ebee9_0_364"/>
          <p:cNvSpPr/>
          <p:nvPr/>
        </p:nvSpPr>
        <p:spPr>
          <a:xfrm>
            <a:off x="263525" y="1664804"/>
            <a:ext cx="11664948" cy="4500500"/>
          </a:xfrm>
          <a:custGeom>
            <a:rect b="b" l="l" r="r" t="t"/>
            <a:pathLst>
              <a:path extrusionOk="0" h="4500500" w="11664948">
                <a:moveTo>
                  <a:pt x="61306" y="0"/>
                </a:moveTo>
                <a:lnTo>
                  <a:pt x="11603642" y="0"/>
                </a:lnTo>
                <a:cubicBezTo>
                  <a:pt x="11637500" y="0"/>
                  <a:pt x="11664948" y="27448"/>
                  <a:pt x="11664948" y="61306"/>
                </a:cubicBezTo>
                <a:lnTo>
                  <a:pt x="11664948" y="4439194"/>
                </a:lnTo>
                <a:cubicBezTo>
                  <a:pt x="11664948" y="4473052"/>
                  <a:pt x="11637500" y="4500500"/>
                  <a:pt x="11603642" y="4500500"/>
                </a:cubicBezTo>
                <a:lnTo>
                  <a:pt x="61306" y="4500500"/>
                </a:lnTo>
                <a:cubicBezTo>
                  <a:pt x="27448" y="4500500"/>
                  <a:pt x="0" y="4473052"/>
                  <a:pt x="0" y="4439194"/>
                </a:cubicBezTo>
                <a:lnTo>
                  <a:pt x="0" y="61306"/>
                </a:lnTo>
                <a:cubicBezTo>
                  <a:pt x="0" y="27448"/>
                  <a:pt x="27448" y="0"/>
                  <a:pt x="61306" y="0"/>
                </a:cubicBezTo>
                <a:close/>
              </a:path>
            </a:pathLst>
          </a:custGeom>
          <a:solidFill>
            <a:schemeClr val="lt2"/>
          </a:solidFill>
          <a:ln>
            <a:noFill/>
          </a:ln>
        </p:spPr>
        <p:txBody>
          <a:bodyPr anchorCtr="0" anchor="t" bIns="144000" lIns="180000" spcFirstLastPara="1" rIns="7812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Requirements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Goal: a health chatbot on the website of a GP</a:t>
            </a:r>
            <a:endParaRPr b="0" i="0" sz="1400" u="none" cap="none" strike="noStrike">
              <a:solidFill>
                <a:srgbClr val="000000"/>
              </a:solidFill>
              <a:latin typeface="Arial"/>
              <a:ea typeface="Arial"/>
              <a:cs typeface="Arial"/>
              <a:sym typeface="Arial"/>
            </a:endParaRPr>
          </a:p>
        </p:txBody>
      </p:sp>
      <p:sp>
        <p:nvSpPr>
          <p:cNvPr id="2451" name="Google Shape;2451;h2d7e8d0cc2ebee9_0_364"/>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Setting clear requirements at the start of your AI project</a:t>
            </a:r>
            <a:endParaRPr/>
          </a:p>
        </p:txBody>
      </p:sp>
      <p:sp>
        <p:nvSpPr>
          <p:cNvPr id="2452" name="Google Shape;2452;h2d7e8d0cc2ebee9_0_364"/>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453" name="Google Shape;2453;h2d7e8d0cc2ebee9_0_364"/>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454" name="Google Shape;2454;h2d7e8d0cc2ebee9_0_364"/>
          <p:cNvSpPr txBox="1"/>
          <p:nvPr>
            <p:ph idx="12" type="sldNum"/>
          </p:nvPr>
        </p:nvSpPr>
        <p:spPr>
          <a:xfrm>
            <a:off x="12008139" y="6673964"/>
            <a:ext cx="1041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455" name="Google Shape;2455;h2d7e8d0cc2ebee9_0_364"/>
          <p:cNvPicPr preferRelativeResize="0"/>
          <p:nvPr/>
        </p:nvPicPr>
        <p:blipFill rotWithShape="1">
          <a:blip r:embed="rId3">
            <a:alphaModFix/>
          </a:blip>
          <a:srcRect b="0" l="0" r="0" t="0"/>
          <a:stretch/>
        </p:blipFill>
        <p:spPr>
          <a:xfrm>
            <a:off x="263525" y="260350"/>
            <a:ext cx="3987691" cy="216000"/>
          </a:xfrm>
          <a:prstGeom prst="rect">
            <a:avLst/>
          </a:prstGeom>
          <a:noFill/>
          <a:ln>
            <a:noFill/>
          </a:ln>
        </p:spPr>
      </p:pic>
      <p:sp>
        <p:nvSpPr>
          <p:cNvPr id="2456" name="Google Shape;2456;h2d7e8d0cc2ebee9_0_364"/>
          <p:cNvSpPr/>
          <p:nvPr/>
        </p:nvSpPr>
        <p:spPr>
          <a:xfrm>
            <a:off x="433848" y="1835129"/>
            <a:ext cx="504000" cy="504000"/>
          </a:xfrm>
          <a:prstGeom prst="roundRect">
            <a:avLst>
              <a:gd fmla="val 8775" name="adj"/>
            </a:avLst>
          </a:prstGeom>
          <a:solidFill>
            <a:schemeClr val="lt1"/>
          </a:solidFill>
          <a:ln cap="flat" cmpd="sng" w="9525">
            <a:solidFill>
              <a:schemeClr val="dk1">
                <a:alpha val="10200"/>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2457" name="Google Shape;2457;h2d7e8d0cc2ebee9_0_364"/>
          <p:cNvPicPr preferRelativeResize="0"/>
          <p:nvPr/>
        </p:nvPicPr>
        <p:blipFill rotWithShape="1">
          <a:blip r:embed="rId4">
            <a:alphaModFix/>
          </a:blip>
          <a:srcRect b="0" l="0" r="0" t="0"/>
          <a:stretch/>
        </p:blipFill>
        <p:spPr>
          <a:xfrm>
            <a:off x="5087888" y="3104964"/>
            <a:ext cx="252000" cy="252000"/>
          </a:xfrm>
          <a:prstGeom prst="rect">
            <a:avLst/>
          </a:prstGeom>
          <a:noFill/>
          <a:ln>
            <a:noFill/>
          </a:ln>
        </p:spPr>
      </p:pic>
      <p:sp>
        <p:nvSpPr>
          <p:cNvPr id="2458" name="Google Shape;2458;h2d7e8d0cc2ebee9_0_364"/>
          <p:cNvSpPr txBox="1"/>
          <p:nvPr/>
        </p:nvSpPr>
        <p:spPr>
          <a:xfrm>
            <a:off x="5529461" y="3138631"/>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High consistency/accuracy in responses to customer queries</a:t>
            </a:r>
            <a:endParaRPr b="0" i="0" sz="1400" u="none" cap="none" strike="noStrike">
              <a:solidFill>
                <a:srgbClr val="000000"/>
              </a:solidFill>
              <a:latin typeface="Arial"/>
              <a:ea typeface="Arial"/>
              <a:cs typeface="Arial"/>
              <a:sym typeface="Arial"/>
            </a:endParaRPr>
          </a:p>
        </p:txBody>
      </p:sp>
      <p:pic>
        <p:nvPicPr>
          <p:cNvPr id="2459" name="Google Shape;2459;h2d7e8d0cc2ebee9_0_364"/>
          <p:cNvPicPr preferRelativeResize="0"/>
          <p:nvPr/>
        </p:nvPicPr>
        <p:blipFill rotWithShape="1">
          <a:blip r:embed="rId4">
            <a:alphaModFix/>
          </a:blip>
          <a:srcRect b="0" l="0" r="0" t="0"/>
          <a:stretch/>
        </p:blipFill>
        <p:spPr>
          <a:xfrm>
            <a:off x="5087888" y="3456003"/>
            <a:ext cx="252000" cy="252000"/>
          </a:xfrm>
          <a:prstGeom prst="rect">
            <a:avLst/>
          </a:prstGeom>
          <a:noFill/>
          <a:ln>
            <a:noFill/>
          </a:ln>
        </p:spPr>
      </p:pic>
      <p:sp>
        <p:nvSpPr>
          <p:cNvPr id="2460" name="Google Shape;2460;h2d7e8d0cc2ebee9_0_364"/>
          <p:cNvSpPr txBox="1"/>
          <p:nvPr/>
        </p:nvSpPr>
        <p:spPr>
          <a:xfrm>
            <a:off x="5529461" y="3489670"/>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Minimize additional latency &amp; costs</a:t>
            </a:r>
            <a:endParaRPr b="0" i="0" sz="1400" u="none" cap="none" strike="noStrike">
              <a:solidFill>
                <a:srgbClr val="000000"/>
              </a:solidFill>
              <a:latin typeface="Arial"/>
              <a:ea typeface="Arial"/>
              <a:cs typeface="Arial"/>
              <a:sym typeface="Arial"/>
            </a:endParaRPr>
          </a:p>
        </p:txBody>
      </p:sp>
      <p:pic>
        <p:nvPicPr>
          <p:cNvPr id="2461" name="Google Shape;2461;h2d7e8d0cc2ebee9_0_364"/>
          <p:cNvPicPr preferRelativeResize="0"/>
          <p:nvPr/>
        </p:nvPicPr>
        <p:blipFill rotWithShape="1">
          <a:blip r:embed="rId4">
            <a:alphaModFix/>
          </a:blip>
          <a:srcRect b="0" l="0" r="0" t="0"/>
          <a:stretch/>
        </p:blipFill>
        <p:spPr>
          <a:xfrm>
            <a:off x="5087888" y="3807042"/>
            <a:ext cx="252000" cy="252000"/>
          </a:xfrm>
          <a:prstGeom prst="rect">
            <a:avLst/>
          </a:prstGeom>
          <a:noFill/>
          <a:ln>
            <a:noFill/>
          </a:ln>
        </p:spPr>
      </p:pic>
      <p:sp>
        <p:nvSpPr>
          <p:cNvPr id="2462" name="Google Shape;2462;h2d7e8d0cc2ebee9_0_364"/>
          <p:cNvSpPr txBox="1"/>
          <p:nvPr/>
        </p:nvSpPr>
        <p:spPr>
          <a:xfrm>
            <a:off x="5529461" y="3840709"/>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Robust across different medical domains</a:t>
            </a:r>
            <a:endParaRPr b="0" i="0" sz="1400" u="none" cap="none" strike="noStrike">
              <a:solidFill>
                <a:srgbClr val="000000"/>
              </a:solidFill>
              <a:latin typeface="Arial"/>
              <a:ea typeface="Arial"/>
              <a:cs typeface="Arial"/>
              <a:sym typeface="Arial"/>
            </a:endParaRPr>
          </a:p>
        </p:txBody>
      </p:sp>
      <p:pic>
        <p:nvPicPr>
          <p:cNvPr id="2463" name="Google Shape;2463;h2d7e8d0cc2ebee9_0_364"/>
          <p:cNvPicPr preferRelativeResize="0"/>
          <p:nvPr/>
        </p:nvPicPr>
        <p:blipFill rotWithShape="1">
          <a:blip r:embed="rId4">
            <a:alphaModFix/>
          </a:blip>
          <a:srcRect b="0" l="0" r="0" t="0"/>
          <a:stretch/>
        </p:blipFill>
        <p:spPr>
          <a:xfrm>
            <a:off x="5087888" y="4158081"/>
            <a:ext cx="252000" cy="252000"/>
          </a:xfrm>
          <a:prstGeom prst="rect">
            <a:avLst/>
          </a:prstGeom>
          <a:noFill/>
          <a:ln>
            <a:noFill/>
          </a:ln>
        </p:spPr>
      </p:pic>
      <p:sp>
        <p:nvSpPr>
          <p:cNvPr id="2464" name="Google Shape;2464;h2d7e8d0cc2ebee9_0_364"/>
          <p:cNvSpPr txBox="1"/>
          <p:nvPr/>
        </p:nvSpPr>
        <p:spPr>
          <a:xfrm>
            <a:off x="5529461" y="4191748"/>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Robust across different languages (e.g., Dutch, English, Arabic, Turkish)</a:t>
            </a:r>
            <a:endParaRPr b="0" i="0" sz="1400" u="none" cap="none" strike="noStrike">
              <a:solidFill>
                <a:srgbClr val="000000"/>
              </a:solidFill>
              <a:latin typeface="Arial"/>
              <a:ea typeface="Arial"/>
              <a:cs typeface="Arial"/>
              <a:sym typeface="Arial"/>
            </a:endParaRPr>
          </a:p>
        </p:txBody>
      </p:sp>
      <p:pic>
        <p:nvPicPr>
          <p:cNvPr id="2465" name="Google Shape;2465;h2d7e8d0cc2ebee9_0_364"/>
          <p:cNvPicPr preferRelativeResize="0"/>
          <p:nvPr/>
        </p:nvPicPr>
        <p:blipFill rotWithShape="1">
          <a:blip r:embed="rId4">
            <a:alphaModFix/>
          </a:blip>
          <a:srcRect b="0" l="0" r="0" t="0"/>
          <a:stretch/>
        </p:blipFill>
        <p:spPr>
          <a:xfrm>
            <a:off x="5087888" y="4509120"/>
            <a:ext cx="252000" cy="252000"/>
          </a:xfrm>
          <a:prstGeom prst="rect">
            <a:avLst/>
          </a:prstGeom>
          <a:noFill/>
          <a:ln>
            <a:noFill/>
          </a:ln>
        </p:spPr>
      </p:pic>
      <p:sp>
        <p:nvSpPr>
          <p:cNvPr id="2466" name="Google Shape;2466;h2d7e8d0cc2ebee9_0_364"/>
          <p:cNvSpPr txBox="1"/>
          <p:nvPr/>
        </p:nvSpPr>
        <p:spPr>
          <a:xfrm>
            <a:off x="5529461" y="4542787"/>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No Medical Advice </a:t>
            </a:r>
            <a:endParaRPr b="0" i="0" sz="1400" u="none" cap="none" strike="noStrike">
              <a:solidFill>
                <a:srgbClr val="000000"/>
              </a:solidFill>
              <a:latin typeface="Arial"/>
              <a:ea typeface="Arial"/>
              <a:cs typeface="Arial"/>
              <a:sym typeface="Arial"/>
            </a:endParaRPr>
          </a:p>
        </p:txBody>
      </p:sp>
      <p:pic>
        <p:nvPicPr>
          <p:cNvPr id="2467" name="Google Shape;2467;h2d7e8d0cc2ebee9_0_364"/>
          <p:cNvPicPr preferRelativeResize="0"/>
          <p:nvPr/>
        </p:nvPicPr>
        <p:blipFill rotWithShape="1">
          <a:blip r:embed="rId4">
            <a:alphaModFix/>
          </a:blip>
          <a:srcRect b="0" l="0" r="0" t="0"/>
          <a:stretch/>
        </p:blipFill>
        <p:spPr>
          <a:xfrm>
            <a:off x="5087888" y="4860159"/>
            <a:ext cx="252000" cy="252000"/>
          </a:xfrm>
          <a:prstGeom prst="rect">
            <a:avLst/>
          </a:prstGeom>
          <a:noFill/>
          <a:ln>
            <a:noFill/>
          </a:ln>
        </p:spPr>
      </p:pic>
      <p:sp>
        <p:nvSpPr>
          <p:cNvPr id="2468" name="Google Shape;2468;h2d7e8d0cc2ebee9_0_364"/>
          <p:cNvSpPr txBox="1"/>
          <p:nvPr/>
        </p:nvSpPr>
        <p:spPr>
          <a:xfrm>
            <a:off x="5529461" y="4893826"/>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Etc..</a:t>
            </a:r>
            <a:endParaRPr b="0" i="0" sz="1400" u="none" cap="none" strike="noStrike">
              <a:solidFill>
                <a:srgbClr val="000000"/>
              </a:solidFill>
              <a:latin typeface="Arial"/>
              <a:ea typeface="Arial"/>
              <a:cs typeface="Arial"/>
              <a:sym typeface="Arial"/>
            </a:endParaRPr>
          </a:p>
        </p:txBody>
      </p:sp>
      <p:pic>
        <p:nvPicPr>
          <p:cNvPr id="2469" name="Google Shape;2469;h2d7e8d0cc2ebee9_0_364"/>
          <p:cNvPicPr preferRelativeResize="0"/>
          <p:nvPr/>
        </p:nvPicPr>
        <p:blipFill rotWithShape="1">
          <a:blip r:embed="rId5">
            <a:alphaModFix/>
          </a:blip>
          <a:srcRect b="0" l="0" r="0" t="0"/>
          <a:stretch/>
        </p:blipFill>
        <p:spPr>
          <a:xfrm>
            <a:off x="559848" y="1961129"/>
            <a:ext cx="252000" cy="2520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4" name="Shape 2474"/>
        <p:cNvGrpSpPr/>
        <p:nvPr/>
      </p:nvGrpSpPr>
      <p:grpSpPr>
        <a:xfrm>
          <a:off x="0" y="0"/>
          <a:ext cx="0" cy="0"/>
          <a:chOff x="0" y="0"/>
          <a:chExt cx="0" cy="0"/>
        </a:xfrm>
      </p:grpSpPr>
      <p:sp>
        <p:nvSpPr>
          <p:cNvPr id="2475" name="Google Shape;2475;h2d7e8d0cc2ebee9_0_388"/>
          <p:cNvSpPr/>
          <p:nvPr/>
        </p:nvSpPr>
        <p:spPr>
          <a:xfrm>
            <a:off x="263525" y="1664804"/>
            <a:ext cx="11664948" cy="4500500"/>
          </a:xfrm>
          <a:custGeom>
            <a:rect b="b" l="l" r="r" t="t"/>
            <a:pathLst>
              <a:path extrusionOk="0" h="4500500" w="11664948">
                <a:moveTo>
                  <a:pt x="61306" y="0"/>
                </a:moveTo>
                <a:lnTo>
                  <a:pt x="11603642" y="0"/>
                </a:lnTo>
                <a:cubicBezTo>
                  <a:pt x="11637500" y="0"/>
                  <a:pt x="11664948" y="27448"/>
                  <a:pt x="11664948" y="61306"/>
                </a:cubicBezTo>
                <a:lnTo>
                  <a:pt x="11664948" y="4439194"/>
                </a:lnTo>
                <a:cubicBezTo>
                  <a:pt x="11664948" y="4473052"/>
                  <a:pt x="11637500" y="4500500"/>
                  <a:pt x="11603642" y="4500500"/>
                </a:cubicBezTo>
                <a:lnTo>
                  <a:pt x="61306" y="4500500"/>
                </a:lnTo>
                <a:cubicBezTo>
                  <a:pt x="27448" y="4500500"/>
                  <a:pt x="0" y="4473052"/>
                  <a:pt x="0" y="4439194"/>
                </a:cubicBezTo>
                <a:lnTo>
                  <a:pt x="0" y="61306"/>
                </a:lnTo>
                <a:cubicBezTo>
                  <a:pt x="0" y="27448"/>
                  <a:pt x="27448" y="0"/>
                  <a:pt x="61306" y="0"/>
                </a:cubicBezTo>
                <a:close/>
              </a:path>
            </a:pathLst>
          </a:custGeom>
          <a:solidFill>
            <a:schemeClr val="lt2"/>
          </a:solidFill>
          <a:ln>
            <a:noFill/>
          </a:ln>
        </p:spPr>
        <p:txBody>
          <a:bodyPr anchorCtr="0" anchor="t" bIns="144000" lIns="180000" spcFirstLastPara="1" rIns="7812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Requirements: GRC Control Generation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Goal: high quality control generation</a:t>
            </a:r>
            <a:endParaRPr b="0" i="0" sz="1400" u="none" cap="none" strike="noStrike">
              <a:solidFill>
                <a:srgbClr val="000000"/>
              </a:solidFill>
              <a:latin typeface="Arial"/>
              <a:ea typeface="Arial"/>
              <a:cs typeface="Arial"/>
              <a:sym typeface="Arial"/>
            </a:endParaRPr>
          </a:p>
        </p:txBody>
      </p:sp>
      <p:sp>
        <p:nvSpPr>
          <p:cNvPr id="2476" name="Google Shape;2476;h2d7e8d0cc2ebee9_0_388"/>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Setting clear requirements at the start of your AI project</a:t>
            </a:r>
            <a:endParaRPr/>
          </a:p>
        </p:txBody>
      </p:sp>
      <p:sp>
        <p:nvSpPr>
          <p:cNvPr id="2477" name="Google Shape;2477;h2d7e8d0cc2ebee9_0_388"/>
          <p:cNvSpPr txBox="1"/>
          <p:nvPr>
            <p:ph idx="10" type="dt"/>
          </p:nvPr>
        </p:nvSpPr>
        <p:spPr>
          <a:xfrm>
            <a:off x="1703512" y="6485051"/>
            <a:ext cx="4986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478" name="Google Shape;2478;h2d7e8d0cc2ebee9_0_388"/>
          <p:cNvSpPr txBox="1"/>
          <p:nvPr>
            <p:ph idx="11" type="ftr"/>
          </p:nvPr>
        </p:nvSpPr>
        <p:spPr>
          <a:xfrm>
            <a:off x="263351" y="6485051"/>
            <a:ext cx="1332000" cy="1077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479" name="Google Shape;2479;h2d7e8d0cc2ebee9_0_388"/>
          <p:cNvSpPr txBox="1"/>
          <p:nvPr>
            <p:ph idx="12" type="sldNum"/>
          </p:nvPr>
        </p:nvSpPr>
        <p:spPr>
          <a:xfrm>
            <a:off x="12008139" y="6673964"/>
            <a:ext cx="1041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480" name="Google Shape;2480;h2d7e8d0cc2ebee9_0_388"/>
          <p:cNvPicPr preferRelativeResize="0"/>
          <p:nvPr/>
        </p:nvPicPr>
        <p:blipFill rotWithShape="1">
          <a:blip r:embed="rId3">
            <a:alphaModFix/>
          </a:blip>
          <a:srcRect b="0" l="0" r="0" t="0"/>
          <a:stretch/>
        </p:blipFill>
        <p:spPr>
          <a:xfrm>
            <a:off x="263525" y="260350"/>
            <a:ext cx="3987691" cy="216000"/>
          </a:xfrm>
          <a:prstGeom prst="rect">
            <a:avLst/>
          </a:prstGeom>
          <a:noFill/>
          <a:ln>
            <a:noFill/>
          </a:ln>
        </p:spPr>
      </p:pic>
      <p:sp>
        <p:nvSpPr>
          <p:cNvPr id="2481" name="Google Shape;2481;h2d7e8d0cc2ebee9_0_388"/>
          <p:cNvSpPr/>
          <p:nvPr/>
        </p:nvSpPr>
        <p:spPr>
          <a:xfrm>
            <a:off x="433848" y="1835129"/>
            <a:ext cx="504000" cy="504000"/>
          </a:xfrm>
          <a:prstGeom prst="roundRect">
            <a:avLst>
              <a:gd fmla="val 8775" name="adj"/>
            </a:avLst>
          </a:prstGeom>
          <a:solidFill>
            <a:schemeClr val="lt1"/>
          </a:solidFill>
          <a:ln cap="flat" cmpd="sng" w="9525">
            <a:solidFill>
              <a:schemeClr val="dk1">
                <a:alpha val="10200"/>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2482" name="Google Shape;2482;h2d7e8d0cc2ebee9_0_388"/>
          <p:cNvPicPr preferRelativeResize="0"/>
          <p:nvPr/>
        </p:nvPicPr>
        <p:blipFill rotWithShape="1">
          <a:blip r:embed="rId4">
            <a:alphaModFix/>
          </a:blip>
          <a:srcRect b="0" l="0" r="0" t="0"/>
          <a:stretch/>
        </p:blipFill>
        <p:spPr>
          <a:xfrm>
            <a:off x="5087888" y="3104964"/>
            <a:ext cx="252000" cy="252000"/>
          </a:xfrm>
          <a:prstGeom prst="rect">
            <a:avLst/>
          </a:prstGeom>
          <a:noFill/>
          <a:ln>
            <a:noFill/>
          </a:ln>
        </p:spPr>
      </p:pic>
      <p:sp>
        <p:nvSpPr>
          <p:cNvPr id="2483" name="Google Shape;2483;h2d7e8d0cc2ebee9_0_388"/>
          <p:cNvSpPr txBox="1"/>
          <p:nvPr/>
        </p:nvSpPr>
        <p:spPr>
          <a:xfrm>
            <a:off x="5529461" y="3138631"/>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Goal: high quality control generation</a:t>
            </a:r>
            <a:endParaRPr b="0" i="0" sz="1400" u="none" cap="none" strike="noStrike">
              <a:solidFill>
                <a:srgbClr val="000000"/>
              </a:solidFill>
              <a:latin typeface="Arial"/>
              <a:ea typeface="Arial"/>
              <a:cs typeface="Arial"/>
              <a:sym typeface="Arial"/>
            </a:endParaRPr>
          </a:p>
        </p:txBody>
      </p:sp>
      <p:pic>
        <p:nvPicPr>
          <p:cNvPr id="2484" name="Google Shape;2484;h2d7e8d0cc2ebee9_0_388"/>
          <p:cNvPicPr preferRelativeResize="0"/>
          <p:nvPr/>
        </p:nvPicPr>
        <p:blipFill rotWithShape="1">
          <a:blip r:embed="rId4">
            <a:alphaModFix/>
          </a:blip>
          <a:srcRect b="0" l="0" r="0" t="0"/>
          <a:stretch/>
        </p:blipFill>
        <p:spPr>
          <a:xfrm>
            <a:off x="5087888" y="3456003"/>
            <a:ext cx="252000" cy="252000"/>
          </a:xfrm>
          <a:prstGeom prst="rect">
            <a:avLst/>
          </a:prstGeom>
          <a:noFill/>
          <a:ln>
            <a:noFill/>
          </a:ln>
        </p:spPr>
      </p:pic>
      <p:sp>
        <p:nvSpPr>
          <p:cNvPr id="2485" name="Google Shape;2485;h2d7e8d0cc2ebee9_0_388"/>
          <p:cNvSpPr txBox="1"/>
          <p:nvPr/>
        </p:nvSpPr>
        <p:spPr>
          <a:xfrm>
            <a:off x="5529461" y="3489670"/>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Minimize latency &amp; costs</a:t>
            </a:r>
            <a:endParaRPr b="0" i="0" sz="1400" u="none" cap="none" strike="noStrike">
              <a:solidFill>
                <a:srgbClr val="000000"/>
              </a:solidFill>
              <a:latin typeface="Arial"/>
              <a:ea typeface="Arial"/>
              <a:cs typeface="Arial"/>
              <a:sym typeface="Arial"/>
            </a:endParaRPr>
          </a:p>
        </p:txBody>
      </p:sp>
      <p:pic>
        <p:nvPicPr>
          <p:cNvPr id="2486" name="Google Shape;2486;h2d7e8d0cc2ebee9_0_388"/>
          <p:cNvPicPr preferRelativeResize="0"/>
          <p:nvPr/>
        </p:nvPicPr>
        <p:blipFill rotWithShape="1">
          <a:blip r:embed="rId4">
            <a:alphaModFix/>
          </a:blip>
          <a:srcRect b="0" l="0" r="0" t="0"/>
          <a:stretch/>
        </p:blipFill>
        <p:spPr>
          <a:xfrm>
            <a:off x="5087888" y="3807042"/>
            <a:ext cx="252000" cy="252000"/>
          </a:xfrm>
          <a:prstGeom prst="rect">
            <a:avLst/>
          </a:prstGeom>
          <a:noFill/>
          <a:ln>
            <a:noFill/>
          </a:ln>
        </p:spPr>
      </p:pic>
      <p:sp>
        <p:nvSpPr>
          <p:cNvPr id="2487" name="Google Shape;2487;h2d7e8d0cc2ebee9_0_388"/>
          <p:cNvSpPr txBox="1"/>
          <p:nvPr/>
        </p:nvSpPr>
        <p:spPr>
          <a:xfrm>
            <a:off x="5529461" y="3840709"/>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Robust across different policies</a:t>
            </a:r>
            <a:endParaRPr b="0" i="0" sz="1400" u="none" cap="none" strike="noStrike">
              <a:solidFill>
                <a:srgbClr val="000000"/>
              </a:solidFill>
              <a:latin typeface="Arial"/>
              <a:ea typeface="Arial"/>
              <a:cs typeface="Arial"/>
              <a:sym typeface="Arial"/>
            </a:endParaRPr>
          </a:p>
        </p:txBody>
      </p:sp>
      <p:pic>
        <p:nvPicPr>
          <p:cNvPr id="2488" name="Google Shape;2488;h2d7e8d0cc2ebee9_0_388"/>
          <p:cNvPicPr preferRelativeResize="0"/>
          <p:nvPr/>
        </p:nvPicPr>
        <p:blipFill rotWithShape="1">
          <a:blip r:embed="rId4">
            <a:alphaModFix/>
          </a:blip>
          <a:srcRect b="0" l="0" r="0" t="0"/>
          <a:stretch/>
        </p:blipFill>
        <p:spPr>
          <a:xfrm>
            <a:off x="5087888" y="4158081"/>
            <a:ext cx="252000" cy="252000"/>
          </a:xfrm>
          <a:prstGeom prst="rect">
            <a:avLst/>
          </a:prstGeom>
          <a:noFill/>
          <a:ln>
            <a:noFill/>
          </a:ln>
        </p:spPr>
      </p:pic>
      <p:sp>
        <p:nvSpPr>
          <p:cNvPr id="2489" name="Google Shape;2489;h2d7e8d0cc2ebee9_0_388"/>
          <p:cNvSpPr txBox="1"/>
          <p:nvPr/>
        </p:nvSpPr>
        <p:spPr>
          <a:xfrm>
            <a:off x="5529461" y="4191748"/>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Robust across different languages (e.g., Dutch, English, Arabic, Turkish)</a:t>
            </a:r>
            <a:endParaRPr b="0" i="0" sz="1400" u="none" cap="none" strike="noStrike">
              <a:solidFill>
                <a:srgbClr val="000000"/>
              </a:solidFill>
              <a:latin typeface="Arial"/>
              <a:ea typeface="Arial"/>
              <a:cs typeface="Arial"/>
              <a:sym typeface="Arial"/>
            </a:endParaRPr>
          </a:p>
        </p:txBody>
      </p:sp>
      <p:pic>
        <p:nvPicPr>
          <p:cNvPr id="2490" name="Google Shape;2490;h2d7e8d0cc2ebee9_0_388"/>
          <p:cNvPicPr preferRelativeResize="0"/>
          <p:nvPr/>
        </p:nvPicPr>
        <p:blipFill rotWithShape="1">
          <a:blip r:embed="rId4">
            <a:alphaModFix/>
          </a:blip>
          <a:srcRect b="0" l="0" r="0" t="0"/>
          <a:stretch/>
        </p:blipFill>
        <p:spPr>
          <a:xfrm>
            <a:off x="5087888" y="4509120"/>
            <a:ext cx="252000" cy="252000"/>
          </a:xfrm>
          <a:prstGeom prst="rect">
            <a:avLst/>
          </a:prstGeom>
          <a:noFill/>
          <a:ln>
            <a:noFill/>
          </a:ln>
        </p:spPr>
      </p:pic>
      <p:sp>
        <p:nvSpPr>
          <p:cNvPr id="2491" name="Google Shape;2491;h2d7e8d0cc2ebee9_0_388"/>
          <p:cNvSpPr txBox="1"/>
          <p:nvPr/>
        </p:nvSpPr>
        <p:spPr>
          <a:xfrm>
            <a:off x="5529461" y="4542787"/>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Adheres to output rules: length of name/description, name format</a:t>
            </a:r>
            <a:endParaRPr b="0" i="0" sz="1400" u="none" cap="none" strike="noStrike">
              <a:solidFill>
                <a:srgbClr val="000000"/>
              </a:solidFill>
              <a:latin typeface="Arial"/>
              <a:ea typeface="Arial"/>
              <a:cs typeface="Arial"/>
              <a:sym typeface="Arial"/>
            </a:endParaRPr>
          </a:p>
        </p:txBody>
      </p:sp>
      <p:pic>
        <p:nvPicPr>
          <p:cNvPr id="2492" name="Google Shape;2492;h2d7e8d0cc2ebee9_0_388"/>
          <p:cNvPicPr preferRelativeResize="0"/>
          <p:nvPr/>
        </p:nvPicPr>
        <p:blipFill rotWithShape="1">
          <a:blip r:embed="rId4">
            <a:alphaModFix/>
          </a:blip>
          <a:srcRect b="0" l="0" r="0" t="0"/>
          <a:stretch/>
        </p:blipFill>
        <p:spPr>
          <a:xfrm>
            <a:off x="5087888" y="4860159"/>
            <a:ext cx="252000" cy="252000"/>
          </a:xfrm>
          <a:prstGeom prst="rect">
            <a:avLst/>
          </a:prstGeom>
          <a:noFill/>
          <a:ln>
            <a:noFill/>
          </a:ln>
        </p:spPr>
      </p:pic>
      <p:sp>
        <p:nvSpPr>
          <p:cNvPr id="2493" name="Google Shape;2493;h2d7e8d0cc2ebee9_0_388"/>
          <p:cNvSpPr txBox="1"/>
          <p:nvPr/>
        </p:nvSpPr>
        <p:spPr>
          <a:xfrm>
            <a:off x="5529461" y="4893826"/>
            <a:ext cx="58452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Etc..</a:t>
            </a:r>
            <a:endParaRPr b="0" i="0" sz="1400" u="none" cap="none" strike="noStrike">
              <a:solidFill>
                <a:srgbClr val="000000"/>
              </a:solidFill>
              <a:latin typeface="Arial"/>
              <a:ea typeface="Arial"/>
              <a:cs typeface="Arial"/>
              <a:sym typeface="Arial"/>
            </a:endParaRPr>
          </a:p>
        </p:txBody>
      </p:sp>
      <p:pic>
        <p:nvPicPr>
          <p:cNvPr id="2494" name="Google Shape;2494;h2d7e8d0cc2ebee9_0_388"/>
          <p:cNvPicPr preferRelativeResize="0"/>
          <p:nvPr/>
        </p:nvPicPr>
        <p:blipFill rotWithShape="1">
          <a:blip r:embed="rId5">
            <a:alphaModFix/>
          </a:blip>
          <a:srcRect b="0" l="0" r="0" t="0"/>
          <a:stretch/>
        </p:blipFill>
        <p:spPr>
          <a:xfrm>
            <a:off x="559848" y="1961129"/>
            <a:ext cx="252000" cy="252000"/>
          </a:xfrm>
          <a:prstGeom prst="rect">
            <a:avLst/>
          </a:prstGeom>
          <a:noFill/>
          <a:ln>
            <a:noFill/>
          </a:ln>
        </p:spPr>
      </p:pic>
      <p:sp>
        <p:nvSpPr>
          <p:cNvPr id="2495" name="Google Shape;2495;h2d7e8d0cc2ebee9_0_388"/>
          <p:cNvSpPr/>
          <p:nvPr/>
        </p:nvSpPr>
        <p:spPr>
          <a:xfrm>
            <a:off x="9770465" y="1844824"/>
            <a:ext cx="1978200" cy="1172400"/>
          </a:xfrm>
          <a:prstGeom prst="roundRect">
            <a:avLst>
              <a:gd fmla="val 4548" name="adj"/>
            </a:avLst>
          </a:prstGeom>
          <a:solidFill>
            <a:schemeClr val="accent2"/>
          </a:solidFill>
          <a:ln>
            <a:noFill/>
          </a:ln>
        </p:spPr>
        <p:txBody>
          <a:bodyPr anchorCtr="0" anchor="ctr" bIns="144000" lIns="180000" spcFirstLastPara="1" rIns="144000" wrap="square" tIns="180000">
            <a:noAutofit/>
          </a:bodyPr>
          <a:lstStyle/>
          <a:p>
            <a:pPr indent="0" lvl="0" marL="0" marR="0" rtl="0" algn="ctr">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What does high quality/accuracy mean?</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0" name="Shape 2500"/>
        <p:cNvGrpSpPr/>
        <p:nvPr/>
      </p:nvGrpSpPr>
      <p:grpSpPr>
        <a:xfrm>
          <a:off x="0" y="0"/>
          <a:ext cx="0" cy="0"/>
          <a:chOff x="0" y="0"/>
          <a:chExt cx="0" cy="0"/>
        </a:xfrm>
      </p:grpSpPr>
      <p:sp>
        <p:nvSpPr>
          <p:cNvPr id="2501" name="Google Shape;2501;h2d7e8d0cc2ebee9_0_413"/>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How we manage AI risk: three layers</a:t>
            </a:r>
            <a:endParaRPr/>
          </a:p>
        </p:txBody>
      </p:sp>
      <p:sp>
        <p:nvSpPr>
          <p:cNvPr id="2502" name="Google Shape;2502;h2d7e8d0cc2ebee9_0_413"/>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PLAN  ·  KNOW THE RISKS</a:t>
            </a:r>
            <a:endParaRPr/>
          </a:p>
        </p:txBody>
      </p:sp>
      <p:sp>
        <p:nvSpPr>
          <p:cNvPr id="2503" name="Google Shape;2503;h2d7e8d0cc2ebee9_0_413"/>
          <p:cNvSpPr txBox="1"/>
          <p:nvPr>
            <p:ph idx="12" type="sldNum"/>
          </p:nvPr>
        </p:nvSpPr>
        <p:spPr>
          <a:xfrm>
            <a:off x="12033787" y="6673964"/>
            <a:ext cx="528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504" name="Google Shape;2504;h2d7e8d0cc2ebee9_0_413"/>
          <p:cNvSpPr/>
          <p:nvPr/>
        </p:nvSpPr>
        <p:spPr>
          <a:xfrm>
            <a:off x="457200" y="1066800"/>
            <a:ext cx="112521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D70"/>
              </a:buClr>
              <a:buSzPts val="1400"/>
              <a:buFont typeface="Arial"/>
              <a:buNone/>
            </a:pPr>
            <a:r>
              <a:rPr b="0" i="0" lang="en-US" sz="1400" u="none" cap="none" strike="noStrike">
                <a:solidFill>
                  <a:srgbClr val="6E6D70"/>
                </a:solidFill>
                <a:latin typeface="Arial"/>
                <a:ea typeface="Arial"/>
                <a:cs typeface="Arial"/>
                <a:sym typeface="Arial"/>
              </a:rPr>
              <a:t>Step 1 is already done and kept up to date. Steps 2 and 3 are applied to every agent we build.</a:t>
            </a:r>
            <a:endParaRPr b="0" i="0" sz="1400" u="none" cap="none" strike="noStrike">
              <a:solidFill>
                <a:srgbClr val="000000"/>
              </a:solidFill>
              <a:latin typeface="Arial"/>
              <a:ea typeface="Arial"/>
              <a:cs typeface="Arial"/>
              <a:sym typeface="Arial"/>
            </a:endParaRPr>
          </a:p>
        </p:txBody>
      </p:sp>
      <p:sp>
        <p:nvSpPr>
          <p:cNvPr id="2505" name="Google Shape;2505;h2d7e8d0cc2ebee9_0_413"/>
          <p:cNvSpPr/>
          <p:nvPr/>
        </p:nvSpPr>
        <p:spPr>
          <a:xfrm>
            <a:off x="457200" y="1676400"/>
            <a:ext cx="3581400" cy="3505200"/>
          </a:xfrm>
          <a:prstGeom prst="roundRect">
            <a:avLst>
              <a:gd fmla="val 2581"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06" name="Google Shape;2506;h2d7e8d0cc2ebee9_0_413"/>
          <p:cNvSpPr/>
          <p:nvPr/>
        </p:nvSpPr>
        <p:spPr>
          <a:xfrm>
            <a:off x="711200" y="1930400"/>
            <a:ext cx="558900" cy="558900"/>
          </a:xfrm>
          <a:prstGeom prst="ellipse">
            <a:avLst/>
          </a:prstGeom>
          <a:solidFill>
            <a:srgbClr val="DF53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507" name="Google Shape;2507;h2d7e8d0cc2ebee9_0_413"/>
          <p:cNvSpPr/>
          <p:nvPr/>
        </p:nvSpPr>
        <p:spPr>
          <a:xfrm>
            <a:off x="711200" y="2667000"/>
            <a:ext cx="3073500" cy="40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319"/>
              </a:buClr>
              <a:buSzPts val="2400"/>
              <a:buFont typeface="Arial"/>
              <a:buNone/>
            </a:pPr>
            <a:r>
              <a:rPr b="1" i="0" lang="en-US" sz="2400" u="none" cap="none" strike="noStrike">
                <a:solidFill>
                  <a:srgbClr val="141319"/>
                </a:solidFill>
                <a:latin typeface="Arial"/>
                <a:ea typeface="Arial"/>
                <a:cs typeface="Arial"/>
                <a:sym typeface="Arial"/>
              </a:rPr>
              <a:t>Know the risks</a:t>
            </a:r>
            <a:endParaRPr b="0" i="0" sz="1400" u="none" cap="none" strike="noStrike">
              <a:solidFill>
                <a:srgbClr val="000000"/>
              </a:solidFill>
              <a:latin typeface="Arial"/>
              <a:ea typeface="Arial"/>
              <a:cs typeface="Arial"/>
              <a:sym typeface="Arial"/>
            </a:endParaRPr>
          </a:p>
        </p:txBody>
      </p:sp>
      <p:sp>
        <p:nvSpPr>
          <p:cNvPr id="2508" name="Google Shape;2508;h2d7e8d0cc2ebee9_0_413"/>
          <p:cNvSpPr/>
          <p:nvPr/>
        </p:nvSpPr>
        <p:spPr>
          <a:xfrm>
            <a:off x="711200" y="3073400"/>
            <a:ext cx="3073500" cy="27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F5325"/>
              </a:buClr>
              <a:buSzPts val="1300"/>
              <a:buFont typeface="Arial"/>
              <a:buNone/>
            </a:pPr>
            <a:r>
              <a:rPr b="1" i="0" lang="en-US" sz="1300" u="none" cap="none" strike="noStrike">
                <a:solidFill>
                  <a:srgbClr val="DF5325"/>
                </a:solidFill>
                <a:latin typeface="Arial"/>
                <a:ea typeface="Arial"/>
                <a:cs typeface="Arial"/>
                <a:sym typeface="Arial"/>
              </a:rPr>
              <a:t>already in place  ·  kept current</a:t>
            </a:r>
            <a:endParaRPr b="0" i="0" sz="1400" u="none" cap="none" strike="noStrike">
              <a:solidFill>
                <a:srgbClr val="000000"/>
              </a:solidFill>
              <a:latin typeface="Arial"/>
              <a:ea typeface="Arial"/>
              <a:cs typeface="Arial"/>
              <a:sym typeface="Arial"/>
            </a:endParaRPr>
          </a:p>
        </p:txBody>
      </p:sp>
      <p:sp>
        <p:nvSpPr>
          <p:cNvPr id="2509" name="Google Shape;2509;h2d7e8d0cc2ebee9_0_413"/>
          <p:cNvSpPr/>
          <p:nvPr/>
        </p:nvSpPr>
        <p:spPr>
          <a:xfrm>
            <a:off x="711200" y="3530600"/>
            <a:ext cx="30735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D70"/>
              </a:buClr>
              <a:buSzPts val="1300"/>
              <a:buFont typeface="Arial"/>
              <a:buNone/>
            </a:pPr>
            <a:r>
              <a:rPr b="0" i="1" lang="en-US" sz="1300" u="none" cap="none" strike="noStrike">
                <a:solidFill>
                  <a:srgbClr val="6E6D70"/>
                </a:solidFill>
                <a:latin typeface="Arial"/>
                <a:ea typeface="Arial"/>
                <a:cs typeface="Arial"/>
                <a:sym typeface="Arial"/>
              </a:rPr>
              <a:t>What can go wrong?</a:t>
            </a:r>
            <a:endParaRPr b="0" i="0" sz="1400" u="none" cap="none" strike="noStrike">
              <a:solidFill>
                <a:srgbClr val="000000"/>
              </a:solidFill>
              <a:latin typeface="Arial"/>
              <a:ea typeface="Arial"/>
              <a:cs typeface="Arial"/>
              <a:sym typeface="Arial"/>
            </a:endParaRPr>
          </a:p>
        </p:txBody>
      </p:sp>
      <p:sp>
        <p:nvSpPr>
          <p:cNvPr id="2510" name="Google Shape;2510;h2d7e8d0cc2ebee9_0_413"/>
          <p:cNvSpPr/>
          <p:nvPr/>
        </p:nvSpPr>
        <p:spPr>
          <a:xfrm>
            <a:off x="711200" y="3911600"/>
            <a:ext cx="3073500" cy="139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A4D"/>
              </a:buClr>
              <a:buSzPts val="1300"/>
              <a:buFont typeface="Arial"/>
              <a:buNone/>
            </a:pPr>
            <a:r>
              <a:rPr b="0" i="0" lang="en-US" sz="1300" u="none" cap="none" strike="noStrike">
                <a:solidFill>
                  <a:srgbClr val="4A4A4D"/>
                </a:solidFill>
                <a:latin typeface="Arial"/>
                <a:ea typeface="Arial"/>
                <a:cs typeface="Arial"/>
                <a:sym typeface="Arial"/>
              </a:rPr>
              <a:t>We track the OWASP Top 10 for LLM and Agentic apps as our risk catalogue, cross-checked with EU rules (AI Act, GDPR, NIS2), NIST and the AI Safety Institutes.</a:t>
            </a:r>
            <a:endParaRPr b="0" i="0" sz="1400" u="none" cap="none" strike="noStrike">
              <a:solidFill>
                <a:srgbClr val="000000"/>
              </a:solidFill>
              <a:latin typeface="Arial"/>
              <a:ea typeface="Arial"/>
              <a:cs typeface="Arial"/>
              <a:sym typeface="Arial"/>
            </a:endParaRPr>
          </a:p>
        </p:txBody>
      </p:sp>
      <p:sp>
        <p:nvSpPr>
          <p:cNvPr id="2511" name="Google Shape;2511;h2d7e8d0cc2ebee9_0_413"/>
          <p:cNvSpPr/>
          <p:nvPr/>
        </p:nvSpPr>
        <p:spPr>
          <a:xfrm>
            <a:off x="4292600" y="1676400"/>
            <a:ext cx="3581400" cy="3505200"/>
          </a:xfrm>
          <a:prstGeom prst="roundRect">
            <a:avLst>
              <a:gd fmla="val 2581"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12" name="Google Shape;2512;h2d7e8d0cc2ebee9_0_413"/>
          <p:cNvSpPr/>
          <p:nvPr/>
        </p:nvSpPr>
        <p:spPr>
          <a:xfrm>
            <a:off x="4546600" y="1930400"/>
            <a:ext cx="558900" cy="558900"/>
          </a:xfrm>
          <a:prstGeom prst="ellipse">
            <a:avLst/>
          </a:prstGeom>
          <a:solidFill>
            <a:srgbClr val="DF53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13" name="Google Shape;2513;h2d7e8d0cc2ebee9_0_413"/>
          <p:cNvSpPr/>
          <p:nvPr/>
        </p:nvSpPr>
        <p:spPr>
          <a:xfrm>
            <a:off x="4546600" y="2667000"/>
            <a:ext cx="3073500" cy="40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319"/>
              </a:buClr>
              <a:buSzPts val="2400"/>
              <a:buFont typeface="Arial"/>
              <a:buNone/>
            </a:pPr>
            <a:r>
              <a:rPr b="1" i="0" lang="en-US" sz="2400" u="none" cap="none" strike="noStrike">
                <a:solidFill>
                  <a:srgbClr val="141319"/>
                </a:solidFill>
                <a:latin typeface="Arial"/>
                <a:ea typeface="Arial"/>
                <a:cs typeface="Arial"/>
                <a:sym typeface="Arial"/>
              </a:rPr>
              <a:t>Validate</a:t>
            </a:r>
            <a:endParaRPr b="0" i="0" sz="1400" u="none" cap="none" strike="noStrike">
              <a:solidFill>
                <a:srgbClr val="000000"/>
              </a:solidFill>
              <a:latin typeface="Arial"/>
              <a:ea typeface="Arial"/>
              <a:cs typeface="Arial"/>
              <a:sym typeface="Arial"/>
            </a:endParaRPr>
          </a:p>
        </p:txBody>
      </p:sp>
      <p:sp>
        <p:nvSpPr>
          <p:cNvPr id="2514" name="Google Shape;2514;h2d7e8d0cc2ebee9_0_413"/>
          <p:cNvSpPr/>
          <p:nvPr/>
        </p:nvSpPr>
        <p:spPr>
          <a:xfrm>
            <a:off x="4546600" y="3073400"/>
            <a:ext cx="3073500" cy="27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F5325"/>
              </a:buClr>
              <a:buSzPts val="1300"/>
              <a:buFont typeface="Arial"/>
              <a:buNone/>
            </a:pPr>
            <a:r>
              <a:rPr b="1" i="0" lang="en-US" sz="1300" u="none" cap="none" strike="noStrike">
                <a:solidFill>
                  <a:srgbClr val="DF5325"/>
                </a:solidFill>
                <a:latin typeface="Arial"/>
                <a:ea typeface="Arial"/>
                <a:cs typeface="Arial"/>
                <a:sym typeface="Arial"/>
              </a:rPr>
              <a:t>design time  ·  per agent</a:t>
            </a:r>
            <a:endParaRPr b="0" i="0" sz="1400" u="none" cap="none" strike="noStrike">
              <a:solidFill>
                <a:srgbClr val="000000"/>
              </a:solidFill>
              <a:latin typeface="Arial"/>
              <a:ea typeface="Arial"/>
              <a:cs typeface="Arial"/>
              <a:sym typeface="Arial"/>
            </a:endParaRPr>
          </a:p>
        </p:txBody>
      </p:sp>
      <p:sp>
        <p:nvSpPr>
          <p:cNvPr id="2515" name="Google Shape;2515;h2d7e8d0cc2ebee9_0_413"/>
          <p:cNvSpPr/>
          <p:nvPr/>
        </p:nvSpPr>
        <p:spPr>
          <a:xfrm>
            <a:off x="4546600" y="3530600"/>
            <a:ext cx="30735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A4D"/>
              </a:buClr>
              <a:buSzPts val="1400"/>
              <a:buFont typeface="Arial"/>
              <a:buNone/>
            </a:pPr>
            <a:r>
              <a:rPr b="0" i="1" lang="en-US" sz="1400" u="none" cap="none" strike="noStrike">
                <a:solidFill>
                  <a:srgbClr val="4A4A4D"/>
                </a:solidFill>
                <a:latin typeface="Arial"/>
                <a:ea typeface="Arial"/>
                <a:cs typeface="Arial"/>
                <a:sym typeface="Arial"/>
              </a:rPr>
              <a:t>Is it good, and can it be broken?</a:t>
            </a:r>
            <a:endParaRPr b="0" i="0" sz="1400" u="none" cap="none" strike="noStrike">
              <a:solidFill>
                <a:srgbClr val="000000"/>
              </a:solidFill>
              <a:latin typeface="Arial"/>
              <a:ea typeface="Arial"/>
              <a:cs typeface="Arial"/>
              <a:sym typeface="Arial"/>
            </a:endParaRPr>
          </a:p>
        </p:txBody>
      </p:sp>
      <p:sp>
        <p:nvSpPr>
          <p:cNvPr id="2516" name="Google Shape;2516;h2d7e8d0cc2ebee9_0_413"/>
          <p:cNvSpPr/>
          <p:nvPr/>
        </p:nvSpPr>
        <p:spPr>
          <a:xfrm>
            <a:off x="4546600" y="3911600"/>
            <a:ext cx="3073500" cy="139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319"/>
              </a:buClr>
              <a:buSzPts val="1300"/>
              <a:buFont typeface="Arial"/>
              <a:buNone/>
            </a:pPr>
            <a:r>
              <a:rPr b="0" i="0" lang="en-US" sz="1300" u="none" cap="none" strike="noStrike">
                <a:solidFill>
                  <a:srgbClr val="141319"/>
                </a:solidFill>
                <a:latin typeface="Arial"/>
                <a:ea typeface="Arial"/>
                <a:cs typeface="Arial"/>
                <a:sym typeface="Arial"/>
              </a:rPr>
              <a:t>Every agent passes two tests before release: experiment analysis on our own data, and adversarial red-teaming that attacks it like a bad actor would.</a:t>
            </a:r>
            <a:endParaRPr b="0" i="0" sz="1400" u="none" cap="none" strike="noStrike">
              <a:solidFill>
                <a:srgbClr val="000000"/>
              </a:solidFill>
              <a:latin typeface="Arial"/>
              <a:ea typeface="Arial"/>
              <a:cs typeface="Arial"/>
              <a:sym typeface="Arial"/>
            </a:endParaRPr>
          </a:p>
        </p:txBody>
      </p:sp>
      <p:sp>
        <p:nvSpPr>
          <p:cNvPr id="2517" name="Google Shape;2517;h2d7e8d0cc2ebee9_0_413"/>
          <p:cNvSpPr/>
          <p:nvPr/>
        </p:nvSpPr>
        <p:spPr>
          <a:xfrm>
            <a:off x="8128000" y="1676400"/>
            <a:ext cx="3581400" cy="3505200"/>
          </a:xfrm>
          <a:prstGeom prst="roundRect">
            <a:avLst>
              <a:gd fmla="val 2581"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18" name="Google Shape;2518;h2d7e8d0cc2ebee9_0_413"/>
          <p:cNvSpPr/>
          <p:nvPr/>
        </p:nvSpPr>
        <p:spPr>
          <a:xfrm>
            <a:off x="8382000" y="1930400"/>
            <a:ext cx="558900" cy="558900"/>
          </a:xfrm>
          <a:prstGeom prst="ellipse">
            <a:avLst/>
          </a:prstGeom>
          <a:solidFill>
            <a:srgbClr val="DF532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19" name="Google Shape;2519;h2d7e8d0cc2ebee9_0_413"/>
          <p:cNvSpPr/>
          <p:nvPr/>
        </p:nvSpPr>
        <p:spPr>
          <a:xfrm>
            <a:off x="8382000" y="2667000"/>
            <a:ext cx="3073500" cy="40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319"/>
              </a:buClr>
              <a:buSzPts val="2400"/>
              <a:buFont typeface="Arial"/>
              <a:buNone/>
            </a:pPr>
            <a:r>
              <a:rPr b="1" i="0" lang="en-US" sz="2400" u="none" cap="none" strike="noStrike">
                <a:solidFill>
                  <a:srgbClr val="141319"/>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p:txBody>
      </p:sp>
      <p:sp>
        <p:nvSpPr>
          <p:cNvPr id="2520" name="Google Shape;2520;h2d7e8d0cc2ebee9_0_413"/>
          <p:cNvSpPr/>
          <p:nvPr/>
        </p:nvSpPr>
        <p:spPr>
          <a:xfrm>
            <a:off x="8382000" y="3073400"/>
            <a:ext cx="3073500" cy="27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F5325"/>
              </a:buClr>
              <a:buSzPts val="1300"/>
              <a:buFont typeface="Arial"/>
              <a:buNone/>
            </a:pPr>
            <a:r>
              <a:rPr b="1" i="0" lang="en-US" sz="1300" u="none" cap="none" strike="noStrike">
                <a:solidFill>
                  <a:srgbClr val="DF5325"/>
                </a:solidFill>
                <a:latin typeface="Arial"/>
                <a:ea typeface="Arial"/>
                <a:cs typeface="Arial"/>
                <a:sym typeface="Arial"/>
              </a:rPr>
              <a:t>at runtime  ·  per agent</a:t>
            </a:r>
            <a:endParaRPr b="0" i="0" sz="1400" u="none" cap="none" strike="noStrike">
              <a:solidFill>
                <a:srgbClr val="000000"/>
              </a:solidFill>
              <a:latin typeface="Arial"/>
              <a:ea typeface="Arial"/>
              <a:cs typeface="Arial"/>
              <a:sym typeface="Arial"/>
            </a:endParaRPr>
          </a:p>
        </p:txBody>
      </p:sp>
      <p:sp>
        <p:nvSpPr>
          <p:cNvPr id="2521" name="Google Shape;2521;h2d7e8d0cc2ebee9_0_413"/>
          <p:cNvSpPr/>
          <p:nvPr/>
        </p:nvSpPr>
        <p:spPr>
          <a:xfrm>
            <a:off x="8382000" y="3530600"/>
            <a:ext cx="30735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D70"/>
              </a:buClr>
              <a:buSzPts val="1400"/>
              <a:buFont typeface="Arial"/>
              <a:buNone/>
            </a:pPr>
            <a:r>
              <a:rPr b="0" i="1" lang="en-US" sz="1400" u="none" cap="none" strike="noStrike">
                <a:solidFill>
                  <a:srgbClr val="6E6D70"/>
                </a:solidFill>
                <a:latin typeface="Arial"/>
                <a:ea typeface="Arial"/>
                <a:cs typeface="Arial"/>
                <a:sym typeface="Arial"/>
              </a:rPr>
              <a:t>What do we stop, what do we watch?</a:t>
            </a:r>
            <a:endParaRPr b="0" i="0" sz="1400" u="none" cap="none" strike="noStrike">
              <a:solidFill>
                <a:srgbClr val="000000"/>
              </a:solidFill>
              <a:latin typeface="Arial"/>
              <a:ea typeface="Arial"/>
              <a:cs typeface="Arial"/>
              <a:sym typeface="Arial"/>
            </a:endParaRPr>
          </a:p>
        </p:txBody>
      </p:sp>
      <p:sp>
        <p:nvSpPr>
          <p:cNvPr id="2522" name="Google Shape;2522;h2d7e8d0cc2ebee9_0_413"/>
          <p:cNvSpPr/>
          <p:nvPr/>
        </p:nvSpPr>
        <p:spPr>
          <a:xfrm>
            <a:off x="8382000" y="3911600"/>
            <a:ext cx="3073500" cy="139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A4D"/>
              </a:buClr>
              <a:buSzPts val="1300"/>
              <a:buFont typeface="Arial"/>
              <a:buNone/>
            </a:pPr>
            <a:r>
              <a:rPr b="0" i="0" lang="en-US" sz="1300" u="none" cap="none" strike="noStrike">
                <a:solidFill>
                  <a:srgbClr val="4A4A4D"/>
                </a:solidFill>
                <a:latin typeface="Arial"/>
                <a:ea typeface="Arial"/>
                <a:cs typeface="Arial"/>
                <a:sym typeface="Arial"/>
              </a:rPr>
              <a:t>Guardrails block the few things that must never happen. Evaluators score everything else after the fact so we see drift and issues early.</a:t>
            </a:r>
            <a:endParaRPr b="0" i="0" sz="1400" u="none" cap="none" strike="noStrike">
              <a:solidFill>
                <a:srgbClr val="000000"/>
              </a:solidFill>
              <a:latin typeface="Arial"/>
              <a:ea typeface="Arial"/>
              <a:cs typeface="Arial"/>
              <a:sym typeface="Arial"/>
            </a:endParaRPr>
          </a:p>
        </p:txBody>
      </p:sp>
      <p:sp>
        <p:nvSpPr>
          <p:cNvPr id="2523" name="Google Shape;2523;h2d7e8d0cc2ebee9_0_413"/>
          <p:cNvSpPr/>
          <p:nvPr/>
        </p:nvSpPr>
        <p:spPr>
          <a:xfrm>
            <a:off x="457200" y="5435600"/>
            <a:ext cx="11252100" cy="50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Every control on the following pages traces back to one of these three steps.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8" name="Shape 2528"/>
        <p:cNvGrpSpPr/>
        <p:nvPr/>
      </p:nvGrpSpPr>
      <p:grpSpPr>
        <a:xfrm>
          <a:off x="0" y="0"/>
          <a:ext cx="0" cy="0"/>
          <a:chOff x="0" y="0"/>
          <a:chExt cx="0" cy="0"/>
        </a:xfrm>
      </p:grpSpPr>
      <p:sp>
        <p:nvSpPr>
          <p:cNvPr id="2529" name="Google Shape;2529;h2d7e8d0cc2ebee9_0_440"/>
          <p:cNvSpPr txBox="1"/>
          <p:nvPr>
            <p:ph type="title"/>
          </p:nvPr>
        </p:nvSpPr>
        <p:spPr>
          <a:xfrm>
            <a:off x="263525" y="512676"/>
            <a:ext cx="9651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Eight risks, eight owners</a:t>
            </a:r>
            <a:endParaRPr/>
          </a:p>
        </p:txBody>
      </p:sp>
      <p:sp>
        <p:nvSpPr>
          <p:cNvPr id="2530" name="Google Shape;2530;h2d7e8d0cc2ebee9_0_440"/>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PLAN  ·  KNOW THE RISKS</a:t>
            </a:r>
            <a:endParaRPr/>
          </a:p>
        </p:txBody>
      </p:sp>
      <p:sp>
        <p:nvSpPr>
          <p:cNvPr id="2531" name="Google Shape;2531;h2d7e8d0cc2ebee9_0_440"/>
          <p:cNvSpPr txBox="1"/>
          <p:nvPr>
            <p:ph idx="12" type="sldNum"/>
          </p:nvPr>
        </p:nvSpPr>
        <p:spPr>
          <a:xfrm>
            <a:off x="12033787" y="6673964"/>
            <a:ext cx="528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532" name="Google Shape;2532;h2d7e8d0cc2ebee9_0_440"/>
          <p:cNvPicPr preferRelativeResize="0"/>
          <p:nvPr/>
        </p:nvPicPr>
        <p:blipFill rotWithShape="1">
          <a:blip r:embed="rId3">
            <a:alphaModFix/>
          </a:blip>
          <a:srcRect b="0" l="0" r="0" t="0"/>
          <a:stretch/>
        </p:blipFill>
        <p:spPr>
          <a:xfrm>
            <a:off x="10236200" y="381000"/>
            <a:ext cx="1498600" cy="520700"/>
          </a:xfrm>
          <a:prstGeom prst="rect">
            <a:avLst/>
          </a:prstGeom>
          <a:noFill/>
          <a:ln>
            <a:noFill/>
          </a:ln>
        </p:spPr>
      </p:pic>
      <p:sp>
        <p:nvSpPr>
          <p:cNvPr id="2533" name="Google Shape;2533;h2d7e8d0cc2ebee9_0_440"/>
          <p:cNvSpPr/>
          <p:nvPr/>
        </p:nvSpPr>
        <p:spPr>
          <a:xfrm>
            <a:off x="266700" y="12700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Follows someone else's instructions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Security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Input guardrails, red-teaming</a:t>
            </a:r>
            <a:endParaRPr b="0" i="0" sz="1400" u="none" cap="none" strike="noStrike">
              <a:solidFill>
                <a:srgbClr val="000000"/>
              </a:solidFill>
              <a:latin typeface="Arial"/>
              <a:ea typeface="Arial"/>
              <a:cs typeface="Arial"/>
              <a:sym typeface="Arial"/>
            </a:endParaRPr>
          </a:p>
        </p:txBody>
      </p:sp>
      <p:sp>
        <p:nvSpPr>
          <p:cNvPr id="2534" name="Google Shape;2534;h2d7e8d0cc2ebee9_0_440"/>
          <p:cNvSpPr/>
          <p:nvPr/>
        </p:nvSpPr>
        <p:spPr>
          <a:xfrm>
            <a:off x="3213100" y="12700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Personal data leaks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Compliance / Privacy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PII detection and redaction</a:t>
            </a:r>
            <a:endParaRPr b="0" i="0" sz="1400" u="none" cap="none" strike="noStrike">
              <a:solidFill>
                <a:srgbClr val="000000"/>
              </a:solidFill>
              <a:latin typeface="Arial"/>
              <a:ea typeface="Arial"/>
              <a:cs typeface="Arial"/>
              <a:sym typeface="Arial"/>
            </a:endParaRPr>
          </a:p>
        </p:txBody>
      </p:sp>
      <p:sp>
        <p:nvSpPr>
          <p:cNvPr id="2535" name="Google Shape;2535;h2d7e8d0cc2ebee9_0_440"/>
          <p:cNvSpPr/>
          <p:nvPr/>
        </p:nvSpPr>
        <p:spPr>
          <a:xfrm>
            <a:off x="6159500" y="12700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Confident but wrong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Product / domain experts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Grounding, evaluators, human in the loop</a:t>
            </a:r>
            <a:endParaRPr b="0" i="0" sz="1400" u="none" cap="none" strike="noStrike">
              <a:solidFill>
                <a:srgbClr val="000000"/>
              </a:solidFill>
              <a:latin typeface="Arial"/>
              <a:ea typeface="Arial"/>
              <a:cs typeface="Arial"/>
              <a:sym typeface="Arial"/>
            </a:endParaRPr>
          </a:p>
        </p:txBody>
      </p:sp>
      <p:sp>
        <p:nvSpPr>
          <p:cNvPr id="2536" name="Google Shape;2536;h2d7e8d0cc2ebee9_0_440"/>
          <p:cNvSpPr/>
          <p:nvPr/>
        </p:nvSpPr>
        <p:spPr>
          <a:xfrm>
            <a:off x="9105900" y="12700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Does more than allowed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Security / Architecture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Least privilege, approved models and tools</a:t>
            </a:r>
            <a:endParaRPr b="0" i="0" sz="1400" u="none" cap="none" strike="noStrike">
              <a:solidFill>
                <a:srgbClr val="000000"/>
              </a:solidFill>
              <a:latin typeface="Arial"/>
              <a:ea typeface="Arial"/>
              <a:cs typeface="Arial"/>
              <a:sym typeface="Arial"/>
            </a:endParaRPr>
          </a:p>
        </p:txBody>
      </p:sp>
      <p:sp>
        <p:nvSpPr>
          <p:cNvPr id="2537" name="Google Shape;2537;h2d7e8d0cc2ebee9_0_440"/>
          <p:cNvSpPr/>
          <p:nvPr/>
        </p:nvSpPr>
        <p:spPr>
          <a:xfrm>
            <a:off x="266700" y="30988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Cost runs away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Finance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Budgets and rate limits per key</a:t>
            </a:r>
            <a:endParaRPr b="0" i="0" sz="1400" u="none" cap="none" strike="noStrike">
              <a:solidFill>
                <a:srgbClr val="000000"/>
              </a:solidFill>
              <a:latin typeface="Arial"/>
              <a:ea typeface="Arial"/>
              <a:cs typeface="Arial"/>
              <a:sym typeface="Arial"/>
            </a:endParaRPr>
          </a:p>
        </p:txBody>
      </p:sp>
      <p:sp>
        <p:nvSpPr>
          <p:cNvPr id="2538" name="Google Shape;2538;h2d7e8d0cc2ebee9_0_440"/>
          <p:cNvSpPr/>
          <p:nvPr/>
        </p:nvSpPr>
        <p:spPr>
          <a:xfrm>
            <a:off x="3213100" y="30988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Off-brand or unsafe 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Product / Brand / Legal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Output guardrails, tone evaluators</a:t>
            </a:r>
            <a:endParaRPr b="0" i="0" sz="1400" u="none" cap="none" strike="noStrike">
              <a:solidFill>
                <a:srgbClr val="000000"/>
              </a:solidFill>
              <a:latin typeface="Arial"/>
              <a:ea typeface="Arial"/>
              <a:cs typeface="Arial"/>
              <a:sym typeface="Arial"/>
            </a:endParaRPr>
          </a:p>
        </p:txBody>
      </p:sp>
      <p:sp>
        <p:nvSpPr>
          <p:cNvPr id="2539" name="Google Shape;2539;h2d7e8d0cc2ebee9_0_440"/>
          <p:cNvSpPr/>
          <p:nvPr/>
        </p:nvSpPr>
        <p:spPr>
          <a:xfrm>
            <a:off x="6159500" y="30988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No one can explain what happened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Compliance / Risk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Full traces, versioning, decision log</a:t>
            </a:r>
            <a:endParaRPr b="0" i="0" sz="1400" u="none" cap="none" strike="noStrike">
              <a:solidFill>
                <a:srgbClr val="000000"/>
              </a:solidFill>
              <a:latin typeface="Arial"/>
              <a:ea typeface="Arial"/>
              <a:cs typeface="Arial"/>
              <a:sym typeface="Arial"/>
            </a:endParaRPr>
          </a:p>
        </p:txBody>
      </p:sp>
      <p:sp>
        <p:nvSpPr>
          <p:cNvPr id="2540" name="Google Shape;2540;h2d7e8d0cc2ebee9_0_440"/>
          <p:cNvSpPr/>
          <p:nvPr/>
        </p:nvSpPr>
        <p:spPr>
          <a:xfrm>
            <a:off x="9105900" y="3098800"/>
            <a:ext cx="2819400" cy="1650900"/>
          </a:xfrm>
          <a:prstGeom prst="rect">
            <a:avLst/>
          </a:prstGeom>
          <a:solidFill>
            <a:srgbClr val="FAF7F4"/>
          </a:solidFill>
          <a:ln>
            <a:noFill/>
          </a:ln>
        </p:spPr>
        <p:txBody>
          <a:bodyPr anchorCtr="0" anchor="t" bIns="91425" lIns="118850" spcFirstLastPara="1" rIns="118850" wrap="square" tIns="1097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41319"/>
                </a:solidFill>
                <a:latin typeface="Arial"/>
                <a:ea typeface="Arial"/>
                <a:cs typeface="Arial"/>
                <a:sym typeface="Arial"/>
              </a:rPr>
              <a:t>Nobody signed off, nobody watching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OWNER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1" i="0" lang="en-US" sz="1200" u="none" cap="none" strike="noStrike">
                <a:solidFill>
                  <a:srgbClr val="141319"/>
                </a:solidFill>
                <a:latin typeface="Arial"/>
                <a:ea typeface="Arial"/>
                <a:cs typeface="Arial"/>
                <a:sym typeface="Arial"/>
              </a:rPr>
              <a:t>CoE / Platform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850"/>
              <a:buFont typeface="Arial"/>
              <a:buNone/>
            </a:pPr>
            <a:r>
              <a:rPr b="1" i="0" lang="en-US" sz="850" u="none" cap="none" strike="noStrike">
                <a:solidFill>
                  <a:srgbClr val="DF5325"/>
                </a:solidFill>
                <a:latin typeface="Arial"/>
                <a:ea typeface="Arial"/>
                <a:cs typeface="Arial"/>
                <a:sym typeface="Arial"/>
              </a:rPr>
              <a:t>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rgbClr val="4A4A4D"/>
                </a:solidFill>
                <a:latin typeface="Arial"/>
                <a:ea typeface="Arial"/>
                <a:cs typeface="Arial"/>
                <a:sym typeface="Arial"/>
              </a:rPr>
              <a:t>Go-live gate, monitoring, scheduled evaluations</a:t>
            </a:r>
            <a:endParaRPr b="0" i="0" sz="1400" u="none" cap="none" strike="noStrike">
              <a:solidFill>
                <a:srgbClr val="000000"/>
              </a:solidFill>
              <a:latin typeface="Arial"/>
              <a:ea typeface="Arial"/>
              <a:cs typeface="Arial"/>
              <a:sym typeface="Arial"/>
            </a:endParaRPr>
          </a:p>
        </p:txBody>
      </p:sp>
      <p:sp>
        <p:nvSpPr>
          <p:cNvPr id="2541" name="Google Shape;2541;h2d7e8d0cc2ebee9_0_440"/>
          <p:cNvSpPr/>
          <p:nvPr/>
        </p:nvSpPr>
        <p:spPr>
          <a:xfrm>
            <a:off x="266700" y="4978400"/>
            <a:ext cx="101601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6E6D70"/>
                </a:solidFill>
                <a:latin typeface="Arial"/>
                <a:ea typeface="Arial"/>
                <a:cs typeface="Arial"/>
                <a:sym typeface="Arial"/>
              </a:rPr>
              <a:t>Each team owns the guardrail in its own domain; the CoE makes sure every agent has all eight.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6" name="Shape 2546"/>
        <p:cNvGrpSpPr/>
        <p:nvPr/>
      </p:nvGrpSpPr>
      <p:grpSpPr>
        <a:xfrm>
          <a:off x="0" y="0"/>
          <a:ext cx="0" cy="0"/>
          <a:chOff x="0" y="0"/>
          <a:chExt cx="0" cy="0"/>
        </a:xfrm>
      </p:grpSpPr>
      <p:sp>
        <p:nvSpPr>
          <p:cNvPr id="2547" name="Google Shape;2547;h2d7e8d0cc2ebee9_0_457"/>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Requirements template</a:t>
            </a:r>
            <a:endParaRPr/>
          </a:p>
        </p:txBody>
      </p:sp>
      <p:sp>
        <p:nvSpPr>
          <p:cNvPr id="2548" name="Google Shape;2548;h2d7e8d0cc2ebee9_0_457"/>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REQUIREMENTS MAP</a:t>
            </a:r>
            <a:endParaRPr/>
          </a:p>
        </p:txBody>
      </p:sp>
      <p:sp>
        <p:nvSpPr>
          <p:cNvPr id="2549" name="Google Shape;2549;h2d7e8d0cc2ebee9_0_457"/>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550" name="Google Shape;2550;h2d7e8d0cc2ebee9_0_457"/>
          <p:cNvGrpSpPr/>
          <p:nvPr/>
        </p:nvGrpSpPr>
        <p:grpSpPr>
          <a:xfrm>
            <a:off x="434436" y="1850117"/>
            <a:ext cx="3417580" cy="4279405"/>
            <a:chOff x="4216400" y="1041400"/>
            <a:chExt cx="3759300" cy="5257900"/>
          </a:xfrm>
        </p:grpSpPr>
        <p:sp>
          <p:nvSpPr>
            <p:cNvPr id="2551" name="Google Shape;2551;h2d7e8d0cc2ebee9_0_457"/>
            <p:cNvSpPr/>
            <p:nvPr/>
          </p:nvSpPr>
          <p:spPr>
            <a:xfrm>
              <a:off x="4216400" y="3759200"/>
              <a:ext cx="3759300" cy="25401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552" name="Google Shape;2552;h2d7e8d0cc2ebee9_0_457"/>
            <p:cNvSpPr txBox="1"/>
            <p:nvPr/>
          </p:nvSpPr>
          <p:spPr>
            <a:xfrm>
              <a:off x="4876800" y="3924300"/>
              <a:ext cx="2895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Context integrations</a:t>
              </a:r>
              <a:endParaRPr b="0" i="0" sz="1400" u="none" cap="none" strike="noStrike">
                <a:solidFill>
                  <a:srgbClr val="000000"/>
                </a:solidFill>
                <a:latin typeface="Arial"/>
                <a:ea typeface="Arial"/>
                <a:cs typeface="Arial"/>
                <a:sym typeface="Arial"/>
              </a:endParaRPr>
            </a:p>
          </p:txBody>
        </p:sp>
        <p:sp>
          <p:nvSpPr>
            <p:cNvPr id="2553" name="Google Shape;2553;h2d7e8d0cc2ebee9_0_457"/>
            <p:cNvSpPr txBox="1"/>
            <p:nvPr/>
          </p:nvSpPr>
          <p:spPr>
            <a:xfrm>
              <a:off x="4419600" y="4419600"/>
              <a:ext cx="3352800" cy="17526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What context and tools does it need? e.g. MCP, websearch, database access, custom tools</a:t>
              </a:r>
              <a:endParaRPr b="0" i="0" sz="1400" u="none" cap="none" strike="noStrike">
                <a:solidFill>
                  <a:srgbClr val="000000"/>
                </a:solidFill>
                <a:latin typeface="Arial"/>
                <a:ea typeface="Arial"/>
                <a:cs typeface="Arial"/>
                <a:sym typeface="Arial"/>
              </a:endParaRPr>
            </a:p>
          </p:txBody>
        </p:sp>
        <p:sp>
          <p:nvSpPr>
            <p:cNvPr id="2554" name="Google Shape;2554;h2d7e8d0cc2ebee9_0_457"/>
            <p:cNvSpPr/>
            <p:nvPr/>
          </p:nvSpPr>
          <p:spPr>
            <a:xfrm>
              <a:off x="4216400" y="1041400"/>
              <a:ext cx="3759300" cy="25401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555" name="Google Shape;2555;h2d7e8d0cc2ebee9_0_457"/>
            <p:cNvSpPr txBox="1"/>
            <p:nvPr/>
          </p:nvSpPr>
          <p:spPr>
            <a:xfrm>
              <a:off x="4876800" y="1206500"/>
              <a:ext cx="2895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Entry points</a:t>
              </a:r>
              <a:endParaRPr b="0" i="0" sz="1400" u="none" cap="none" strike="noStrike">
                <a:solidFill>
                  <a:srgbClr val="000000"/>
                </a:solidFill>
                <a:latin typeface="Arial"/>
                <a:ea typeface="Arial"/>
                <a:cs typeface="Arial"/>
                <a:sym typeface="Arial"/>
              </a:endParaRPr>
            </a:p>
          </p:txBody>
        </p:sp>
        <p:sp>
          <p:nvSpPr>
            <p:cNvPr id="2556" name="Google Shape;2556;h2d7e8d0cc2ebee9_0_457"/>
            <p:cNvSpPr txBox="1"/>
            <p:nvPr/>
          </p:nvSpPr>
          <p:spPr>
            <a:xfrm>
              <a:off x="4419600" y="1701800"/>
              <a:ext cx="3352800" cy="17526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Where is the agent triggered from? Where does the output go?</a:t>
              </a:r>
              <a:endParaRPr b="0" i="0" sz="1400" u="none" cap="none" strike="noStrike">
                <a:solidFill>
                  <a:srgbClr val="000000"/>
                </a:solidFill>
                <a:latin typeface="Arial"/>
                <a:ea typeface="Arial"/>
                <a:cs typeface="Arial"/>
                <a:sym typeface="Arial"/>
              </a:endParaRPr>
            </a:p>
          </p:txBody>
        </p:sp>
        <p:sp>
          <p:nvSpPr>
            <p:cNvPr descr="Data integrations icon" id="2557" name="Google Shape;2557;h2d7e8d0cc2ebee9_0_457"/>
            <p:cNvSpPr/>
            <p:nvPr/>
          </p:nvSpPr>
          <p:spPr>
            <a:xfrm>
              <a:off x="4419600" y="3937000"/>
              <a:ext cx="355500" cy="3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Front end icon" id="2558" name="Google Shape;2558;h2d7e8d0cc2ebee9_0_457"/>
            <p:cNvSpPr/>
            <p:nvPr/>
          </p:nvSpPr>
          <p:spPr>
            <a:xfrm>
              <a:off x="4419600" y="1219200"/>
              <a:ext cx="355500" cy="3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9" name="Google Shape;2559;h2d7e8d0cc2ebee9_0_457"/>
          <p:cNvGrpSpPr/>
          <p:nvPr/>
        </p:nvGrpSpPr>
        <p:grpSpPr>
          <a:xfrm>
            <a:off x="8340223" y="1850107"/>
            <a:ext cx="3417580" cy="4279529"/>
            <a:chOff x="8169277" y="1444111"/>
            <a:chExt cx="3759300" cy="4707435"/>
          </a:xfrm>
        </p:grpSpPr>
        <p:sp>
          <p:nvSpPr>
            <p:cNvPr id="2560" name="Google Shape;2560;h2d7e8d0cc2ebee9_0_457"/>
            <p:cNvSpPr/>
            <p:nvPr/>
          </p:nvSpPr>
          <p:spPr>
            <a:xfrm>
              <a:off x="8169277" y="1444111"/>
              <a:ext cx="3759300" cy="22740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561" name="Google Shape;2561;h2d7e8d0cc2ebee9_0_457"/>
            <p:cNvSpPr txBox="1"/>
            <p:nvPr/>
          </p:nvSpPr>
          <p:spPr>
            <a:xfrm>
              <a:off x="8829677" y="1591919"/>
              <a:ext cx="2895600" cy="34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Pre-launch validation</a:t>
              </a:r>
              <a:endParaRPr b="0" i="0" sz="1400" u="none" cap="none" strike="noStrike">
                <a:solidFill>
                  <a:srgbClr val="000000"/>
                </a:solidFill>
                <a:latin typeface="Arial"/>
                <a:ea typeface="Arial"/>
                <a:cs typeface="Arial"/>
                <a:sym typeface="Arial"/>
              </a:endParaRPr>
            </a:p>
          </p:txBody>
        </p:sp>
        <p:sp>
          <p:nvSpPr>
            <p:cNvPr id="2562" name="Google Shape;2562;h2d7e8d0cc2ebee9_0_457"/>
            <p:cNvSpPr txBox="1"/>
            <p:nvPr/>
          </p:nvSpPr>
          <p:spPr>
            <a:xfrm>
              <a:off x="8372477" y="2035344"/>
              <a:ext cx="3352800" cy="15690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What use-case specific risks exist? How do we measure performance before go-live?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Experiment with ~50 example inputs &amp; expected output to baseline accuracy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Adversarial red-teaming</a:t>
              </a:r>
              <a:endParaRPr b="0" i="0" sz="1400" u="none" cap="none" strike="noStrike">
                <a:solidFill>
                  <a:srgbClr val="000000"/>
                </a:solidFill>
                <a:latin typeface="Arial"/>
                <a:ea typeface="Arial"/>
                <a:cs typeface="Arial"/>
                <a:sym typeface="Arial"/>
              </a:endParaRPr>
            </a:p>
          </p:txBody>
        </p:sp>
        <p:grpSp>
          <p:nvGrpSpPr>
            <p:cNvPr id="2563" name="Google Shape;2563;h2d7e8d0cc2ebee9_0_457"/>
            <p:cNvGrpSpPr/>
            <p:nvPr/>
          </p:nvGrpSpPr>
          <p:grpSpPr>
            <a:xfrm>
              <a:off x="8169277" y="3877394"/>
              <a:ext cx="3759300" cy="2274152"/>
              <a:chOff x="8169277" y="3752165"/>
              <a:chExt cx="3759300" cy="2540100"/>
            </a:xfrm>
          </p:grpSpPr>
          <p:sp>
            <p:nvSpPr>
              <p:cNvPr id="2564" name="Google Shape;2564;h2d7e8d0cc2ebee9_0_457"/>
              <p:cNvSpPr/>
              <p:nvPr/>
            </p:nvSpPr>
            <p:spPr>
              <a:xfrm>
                <a:off x="8169277" y="3752165"/>
                <a:ext cx="3759300" cy="25401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565" name="Google Shape;2565;h2d7e8d0cc2ebee9_0_457"/>
              <p:cNvSpPr txBox="1"/>
              <p:nvPr/>
            </p:nvSpPr>
            <p:spPr>
              <a:xfrm>
                <a:off x="8829677" y="3917265"/>
                <a:ext cx="2895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Runtime controls</a:t>
                </a:r>
                <a:endParaRPr b="0" i="0" sz="1400" u="none" cap="none" strike="noStrike">
                  <a:solidFill>
                    <a:srgbClr val="000000"/>
                  </a:solidFill>
                  <a:latin typeface="Arial"/>
                  <a:ea typeface="Arial"/>
                  <a:cs typeface="Arial"/>
                  <a:sym typeface="Arial"/>
                </a:endParaRPr>
              </a:p>
            </p:txBody>
          </p:sp>
          <p:sp>
            <p:nvSpPr>
              <p:cNvPr id="2566" name="Google Shape;2566;h2d7e8d0cc2ebee9_0_457"/>
              <p:cNvSpPr txBox="1"/>
              <p:nvPr/>
            </p:nvSpPr>
            <p:spPr>
              <a:xfrm>
                <a:off x="8372477" y="4412565"/>
                <a:ext cx="3352800" cy="17526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Which controls mitigate the defined risks in production? e.g. RAGAS guardrails, PII redaction, budgets, input / output masking…</a:t>
                </a:r>
                <a:endParaRPr b="0" i="0" sz="1400" u="none" cap="none" strike="noStrike">
                  <a:solidFill>
                    <a:srgbClr val="000000"/>
                  </a:solidFill>
                  <a:latin typeface="Arial"/>
                  <a:ea typeface="Arial"/>
                  <a:cs typeface="Arial"/>
                  <a:sym typeface="Arial"/>
                </a:endParaRPr>
              </a:p>
            </p:txBody>
          </p:sp>
          <p:sp>
            <p:nvSpPr>
              <p:cNvPr descr="Guardrails icon" id="2567" name="Google Shape;2567;h2d7e8d0cc2ebee9_0_457"/>
              <p:cNvSpPr/>
              <p:nvPr/>
            </p:nvSpPr>
            <p:spPr>
              <a:xfrm>
                <a:off x="8372477" y="3929965"/>
                <a:ext cx="355500" cy="3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Safety features icon" id="2568" name="Google Shape;2568;h2d7e8d0cc2ebee9_0_457"/>
            <p:cNvSpPr/>
            <p:nvPr/>
          </p:nvSpPr>
          <p:spPr>
            <a:xfrm>
              <a:off x="8372477" y="1603289"/>
              <a:ext cx="355500" cy="31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9" name="Google Shape;2569;h2d7e8d0cc2ebee9_0_457"/>
          <p:cNvGrpSpPr/>
          <p:nvPr/>
        </p:nvGrpSpPr>
        <p:grpSpPr>
          <a:xfrm>
            <a:off x="4384098" y="4062051"/>
            <a:ext cx="3417600" cy="2067300"/>
            <a:chOff x="4384098" y="1850094"/>
            <a:chExt cx="3417600" cy="2067300"/>
          </a:xfrm>
        </p:grpSpPr>
        <p:sp>
          <p:nvSpPr>
            <p:cNvPr id="2570" name="Google Shape;2570;h2d7e8d0cc2ebee9_0_457"/>
            <p:cNvSpPr/>
            <p:nvPr/>
          </p:nvSpPr>
          <p:spPr>
            <a:xfrm>
              <a:off x="4384098" y="1850094"/>
              <a:ext cx="3417600" cy="20673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571" name="Google Shape;2571;h2d7e8d0cc2ebee9_0_457"/>
            <p:cNvSpPr txBox="1"/>
            <p:nvPr/>
          </p:nvSpPr>
          <p:spPr>
            <a:xfrm>
              <a:off x="4984462" y="1984465"/>
              <a:ext cx="2632500" cy="31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AI capabilities</a:t>
              </a:r>
              <a:endParaRPr b="0" i="0" sz="1400" u="none" cap="none" strike="noStrike">
                <a:solidFill>
                  <a:srgbClr val="000000"/>
                </a:solidFill>
                <a:latin typeface="Arial"/>
                <a:ea typeface="Arial"/>
                <a:cs typeface="Arial"/>
                <a:sym typeface="Arial"/>
              </a:endParaRPr>
            </a:p>
          </p:txBody>
        </p:sp>
        <p:sp>
          <p:nvSpPr>
            <p:cNvPr id="2572" name="Google Shape;2572;h2d7e8d0cc2ebee9_0_457"/>
            <p:cNvSpPr txBox="1"/>
            <p:nvPr/>
          </p:nvSpPr>
          <p:spPr>
            <a:xfrm>
              <a:off x="4568825" y="2387578"/>
              <a:ext cx="3048000" cy="14265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What functionality is needed in the running of the LLM? e.g. memory, skills, user feedback, identity tracking, self-improvement loop, HITL, response healing</a:t>
              </a:r>
              <a:endParaRPr b="0" i="0" sz="1400" u="none" cap="none" strike="noStrike">
                <a:solidFill>
                  <a:srgbClr val="000000"/>
                </a:solidFill>
                <a:latin typeface="Arial"/>
                <a:ea typeface="Arial"/>
                <a:cs typeface="Arial"/>
                <a:sym typeface="Arial"/>
              </a:endParaRPr>
            </a:p>
          </p:txBody>
        </p:sp>
        <p:sp>
          <p:nvSpPr>
            <p:cNvPr descr="Agent build icon" id="2573" name="Google Shape;2573;h2d7e8d0cc2ebee9_0_457"/>
            <p:cNvSpPr/>
            <p:nvPr/>
          </p:nvSpPr>
          <p:spPr>
            <a:xfrm>
              <a:off x="4568825" y="1994801"/>
              <a:ext cx="323400" cy="28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4" name="Google Shape;2574;h2d7e8d0cc2ebee9_0_457"/>
          <p:cNvGrpSpPr/>
          <p:nvPr/>
        </p:nvGrpSpPr>
        <p:grpSpPr>
          <a:xfrm>
            <a:off x="4384098" y="1850094"/>
            <a:ext cx="3417600" cy="2067300"/>
            <a:chOff x="4384098" y="4062051"/>
            <a:chExt cx="3417600" cy="2067300"/>
          </a:xfrm>
        </p:grpSpPr>
        <p:sp>
          <p:nvSpPr>
            <p:cNvPr id="2575" name="Google Shape;2575;h2d7e8d0cc2ebee9_0_457"/>
            <p:cNvSpPr/>
            <p:nvPr/>
          </p:nvSpPr>
          <p:spPr>
            <a:xfrm>
              <a:off x="4384098" y="4062051"/>
              <a:ext cx="3417600" cy="20673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576" name="Google Shape;2576;h2d7e8d0cc2ebee9_0_457"/>
            <p:cNvSpPr txBox="1"/>
            <p:nvPr/>
          </p:nvSpPr>
          <p:spPr>
            <a:xfrm>
              <a:off x="4984462" y="4196422"/>
              <a:ext cx="2632500" cy="31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AI outputs</a:t>
              </a:r>
              <a:endParaRPr b="0" i="0" sz="1400" u="none" cap="none" strike="noStrike">
                <a:solidFill>
                  <a:srgbClr val="000000"/>
                </a:solidFill>
                <a:latin typeface="Arial"/>
                <a:ea typeface="Arial"/>
                <a:cs typeface="Arial"/>
                <a:sym typeface="Arial"/>
              </a:endParaRPr>
            </a:p>
          </p:txBody>
        </p:sp>
        <p:sp>
          <p:nvSpPr>
            <p:cNvPr id="2577" name="Google Shape;2577;h2d7e8d0cc2ebee9_0_457"/>
            <p:cNvSpPr txBox="1"/>
            <p:nvPr/>
          </p:nvSpPr>
          <p:spPr>
            <a:xfrm>
              <a:off x="4568824" y="4599536"/>
              <a:ext cx="3147300" cy="14265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What must the agent produce, in what format, and to what standard?</a:t>
              </a:r>
              <a:endParaRPr b="0" i="0" sz="1400" u="none" cap="none" strike="noStrike">
                <a:solidFill>
                  <a:srgbClr val="000000"/>
                </a:solidFill>
                <a:latin typeface="Arial"/>
                <a:ea typeface="Arial"/>
                <a:cs typeface="Arial"/>
                <a:sym typeface="Arial"/>
              </a:endParaRPr>
            </a:p>
          </p:txBody>
        </p:sp>
        <p:sp>
          <p:nvSpPr>
            <p:cNvPr descr="Agent features icon" id="2578" name="Google Shape;2578;h2d7e8d0cc2ebee9_0_457"/>
            <p:cNvSpPr/>
            <p:nvPr/>
          </p:nvSpPr>
          <p:spPr>
            <a:xfrm>
              <a:off x="4568825" y="4206758"/>
              <a:ext cx="323400" cy="28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79" name="Google Shape;2579;h2d7e8d0cc2ebee9_0_457"/>
          <p:cNvGrpSpPr/>
          <p:nvPr/>
        </p:nvGrpSpPr>
        <p:grpSpPr>
          <a:xfrm>
            <a:off x="266700" y="1358566"/>
            <a:ext cx="11658700" cy="356757"/>
            <a:chOff x="266700" y="990600"/>
            <a:chExt cx="11658700" cy="431700"/>
          </a:xfrm>
        </p:grpSpPr>
        <p:sp>
          <p:nvSpPr>
            <p:cNvPr id="2580" name="Google Shape;2580;h2d7e8d0cc2ebee9_0_457"/>
            <p:cNvSpPr/>
            <p:nvPr/>
          </p:nvSpPr>
          <p:spPr>
            <a:xfrm>
              <a:off x="266700" y="990600"/>
              <a:ext cx="3759300" cy="431700"/>
            </a:xfrm>
            <a:prstGeom prst="roundRect">
              <a:avLst>
                <a:gd fmla="val 50000" name="adj"/>
              </a:avLst>
            </a:prstGeom>
            <a:solidFill>
              <a:srgbClr val="FFFFFF"/>
            </a:solidFill>
            <a:ln cap="flat" cmpd="sng" w="15875">
              <a:solidFill>
                <a:srgbClr val="DF53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81" name="Google Shape;2581;h2d7e8d0cc2ebee9_0_457"/>
            <p:cNvSpPr/>
            <p:nvPr/>
          </p:nvSpPr>
          <p:spPr>
            <a:xfrm>
              <a:off x="4216400" y="990600"/>
              <a:ext cx="3759300" cy="431700"/>
            </a:xfrm>
            <a:prstGeom prst="roundRect">
              <a:avLst>
                <a:gd fmla="val 50000" name="adj"/>
              </a:avLst>
            </a:prstGeom>
            <a:solidFill>
              <a:srgbClr val="FFFFFF"/>
            </a:solidFill>
            <a:ln cap="flat" cmpd="sng" w="15875">
              <a:solidFill>
                <a:srgbClr val="DF53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82" name="Google Shape;2582;h2d7e8d0cc2ebee9_0_457"/>
            <p:cNvSpPr/>
            <p:nvPr/>
          </p:nvSpPr>
          <p:spPr>
            <a:xfrm>
              <a:off x="8166100" y="990600"/>
              <a:ext cx="3759300" cy="431700"/>
            </a:xfrm>
            <a:prstGeom prst="roundRect">
              <a:avLst>
                <a:gd fmla="val 50000" name="adj"/>
              </a:avLst>
            </a:prstGeom>
            <a:solidFill>
              <a:srgbClr val="FFFFFF"/>
            </a:solidFill>
            <a:ln cap="flat" cmpd="sng" w="15875">
              <a:solidFill>
                <a:srgbClr val="DF53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83" name="Google Shape;2583;h2d7e8d0cc2ebee9_0_457"/>
            <p:cNvSpPr txBox="1"/>
            <p:nvPr/>
          </p:nvSpPr>
          <p:spPr>
            <a:xfrm>
              <a:off x="825500" y="1066800"/>
              <a:ext cx="29973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CONNECTIONS</a:t>
              </a:r>
              <a:endParaRPr b="0" i="0" sz="1400" u="none" cap="none" strike="noStrike">
                <a:solidFill>
                  <a:srgbClr val="000000"/>
                </a:solidFill>
                <a:latin typeface="Arial"/>
                <a:ea typeface="Arial"/>
                <a:cs typeface="Arial"/>
                <a:sym typeface="Arial"/>
              </a:endParaRPr>
            </a:p>
          </p:txBody>
        </p:sp>
        <p:sp>
          <p:nvSpPr>
            <p:cNvPr id="2584" name="Google Shape;2584;h2d7e8d0cc2ebee9_0_457"/>
            <p:cNvSpPr txBox="1"/>
            <p:nvPr/>
          </p:nvSpPr>
          <p:spPr>
            <a:xfrm>
              <a:off x="4775200" y="1066800"/>
              <a:ext cx="29973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AI</a:t>
              </a:r>
              <a:endParaRPr b="0" i="0" sz="1400" u="none" cap="none" strike="noStrike">
                <a:solidFill>
                  <a:srgbClr val="000000"/>
                </a:solidFill>
                <a:latin typeface="Arial"/>
                <a:ea typeface="Arial"/>
                <a:cs typeface="Arial"/>
                <a:sym typeface="Arial"/>
              </a:endParaRPr>
            </a:p>
          </p:txBody>
        </p:sp>
        <p:sp>
          <p:nvSpPr>
            <p:cNvPr id="2585" name="Google Shape;2585;h2d7e8d0cc2ebee9_0_457"/>
            <p:cNvSpPr txBox="1"/>
            <p:nvPr/>
          </p:nvSpPr>
          <p:spPr>
            <a:xfrm>
              <a:off x="8724900" y="1066800"/>
              <a:ext cx="29973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SAFETY</a:t>
              </a:r>
              <a:endParaRPr b="0" i="0" sz="1400" u="none" cap="none" strike="noStrike">
                <a:solidFill>
                  <a:srgbClr val="000000"/>
                </a:solidFill>
                <a:latin typeface="Arial"/>
                <a:ea typeface="Arial"/>
                <a:cs typeface="Arial"/>
                <a:sym typeface="Arial"/>
              </a:endParaRPr>
            </a:p>
          </p:txBody>
        </p:sp>
        <p:sp>
          <p:nvSpPr>
            <p:cNvPr descr="Infrastructure column icon" id="2586" name="Google Shape;2586;h2d7e8d0cc2ebee9_0_457"/>
            <p:cNvSpPr/>
            <p:nvPr/>
          </p:nvSpPr>
          <p:spPr>
            <a:xfrm>
              <a:off x="469900" y="1066800"/>
              <a:ext cx="279300" cy="27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AI column icon" id="2587" name="Google Shape;2587;h2d7e8d0cc2ebee9_0_457"/>
            <p:cNvSpPr/>
            <p:nvPr/>
          </p:nvSpPr>
          <p:spPr>
            <a:xfrm>
              <a:off x="4419600" y="1066800"/>
              <a:ext cx="279300" cy="27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Safety column icon" id="2588" name="Google Shape;2588;h2d7e8d0cc2ebee9_0_457"/>
            <p:cNvSpPr/>
            <p:nvPr/>
          </p:nvSpPr>
          <p:spPr>
            <a:xfrm>
              <a:off x="8369300" y="1066800"/>
              <a:ext cx="279300" cy="27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89" name="Google Shape;2589;h2d7e8d0cc2ebee9_0_457"/>
          <p:cNvSpPr txBox="1"/>
          <p:nvPr/>
        </p:nvSpPr>
        <p:spPr>
          <a:xfrm>
            <a:off x="9835978" y="-420130"/>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90" name="Google Shape;2590;h2d7e8d0cc2ebee9_0_457"/>
          <p:cNvSpPr txBox="1"/>
          <p:nvPr/>
        </p:nvSpPr>
        <p:spPr>
          <a:xfrm rot="-5400000">
            <a:off x="-723900" y="2749650"/>
            <a:ext cx="2031900" cy="27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F5325"/>
              </a:buClr>
              <a:buSzPts val="1400"/>
              <a:buFont typeface="Arial"/>
              <a:buNone/>
            </a:pPr>
            <a:r>
              <a:rPr b="1" i="0" lang="en-US" sz="1400" u="none" cap="none" strike="noStrike">
                <a:solidFill>
                  <a:srgbClr val="DF5325"/>
                </a:solidFill>
                <a:latin typeface="Arial"/>
                <a:ea typeface="Arial"/>
                <a:cs typeface="Arial"/>
                <a:sym typeface="Arial"/>
              </a:rPr>
              <a:t>BUSINESS DEFINES</a:t>
            </a:r>
            <a:endParaRPr b="0" i="0" sz="1400" u="none" cap="none" strike="noStrike">
              <a:solidFill>
                <a:srgbClr val="000000"/>
              </a:solidFill>
              <a:latin typeface="Arial"/>
              <a:ea typeface="Arial"/>
              <a:cs typeface="Arial"/>
              <a:sym typeface="Arial"/>
            </a:endParaRPr>
          </a:p>
        </p:txBody>
      </p:sp>
      <p:sp>
        <p:nvSpPr>
          <p:cNvPr id="2591" name="Google Shape;2591;h2d7e8d0cc2ebee9_0_457"/>
          <p:cNvSpPr txBox="1"/>
          <p:nvPr/>
        </p:nvSpPr>
        <p:spPr>
          <a:xfrm rot="-5400000">
            <a:off x="-723900" y="4959450"/>
            <a:ext cx="2031900" cy="27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342D"/>
              </a:buClr>
              <a:buSzPts val="1400"/>
              <a:buFont typeface="Arial"/>
              <a:buNone/>
            </a:pPr>
            <a:r>
              <a:rPr b="1" i="0" lang="en-US" sz="1400" u="none" cap="none" strike="noStrike">
                <a:solidFill>
                  <a:srgbClr val="00342D"/>
                </a:solidFill>
                <a:latin typeface="Arial"/>
                <a:ea typeface="Arial"/>
                <a:cs typeface="Arial"/>
                <a:sym typeface="Arial"/>
              </a:rPr>
              <a:t>AI EXPERT DEFINES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sp>
        <p:nvSpPr>
          <p:cNvPr id="2597" name="Google Shape;2597;h2d7e8d0cc2ebee9_0_506"/>
          <p:cNvSpPr txBox="1"/>
          <p:nvPr>
            <p:ph type="title"/>
          </p:nvPr>
        </p:nvSpPr>
        <p:spPr>
          <a:xfrm>
            <a:off x="263525" y="512676"/>
            <a:ext cx="116649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Requirements map: GP health chatbot (worked example)</a:t>
            </a:r>
            <a:endParaRPr/>
          </a:p>
        </p:txBody>
      </p:sp>
      <p:sp>
        <p:nvSpPr>
          <p:cNvPr id="2598" name="Google Shape;2598;h2d7e8d0cc2ebee9_0_506"/>
          <p:cNvSpPr txBox="1"/>
          <p:nvPr>
            <p:ph idx="1" type="body"/>
          </p:nvPr>
        </p:nvSpPr>
        <p:spPr>
          <a:xfrm>
            <a:off x="263352" y="260648"/>
            <a:ext cx="11665200" cy="1539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REQUIREMENTS MAP</a:t>
            </a:r>
            <a:endParaRPr/>
          </a:p>
        </p:txBody>
      </p:sp>
      <p:sp>
        <p:nvSpPr>
          <p:cNvPr id="2599" name="Google Shape;2599;h2d7e8d0cc2ebee9_0_506"/>
          <p:cNvSpPr txBox="1"/>
          <p:nvPr>
            <p:ph idx="12" type="sldNum"/>
          </p:nvPr>
        </p:nvSpPr>
        <p:spPr>
          <a:xfrm>
            <a:off x="11999323" y="6673964"/>
            <a:ext cx="121800" cy="107700"/>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600" name="Google Shape;2600;h2d7e8d0cc2ebee9_0_506"/>
          <p:cNvGrpSpPr/>
          <p:nvPr/>
        </p:nvGrpSpPr>
        <p:grpSpPr>
          <a:xfrm>
            <a:off x="434436" y="1850117"/>
            <a:ext cx="3417580" cy="4279405"/>
            <a:chOff x="4216400" y="1041400"/>
            <a:chExt cx="3759300" cy="5257900"/>
          </a:xfrm>
        </p:grpSpPr>
        <p:sp>
          <p:nvSpPr>
            <p:cNvPr id="2601" name="Google Shape;2601;h2d7e8d0cc2ebee9_0_506"/>
            <p:cNvSpPr/>
            <p:nvPr/>
          </p:nvSpPr>
          <p:spPr>
            <a:xfrm>
              <a:off x="4216400" y="3759200"/>
              <a:ext cx="3759300" cy="25401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02" name="Google Shape;2602;h2d7e8d0cc2ebee9_0_506"/>
            <p:cNvSpPr txBox="1"/>
            <p:nvPr/>
          </p:nvSpPr>
          <p:spPr>
            <a:xfrm>
              <a:off x="4876800" y="3924300"/>
              <a:ext cx="2895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Context integrations</a:t>
              </a:r>
              <a:endParaRPr b="0" i="0" sz="1400" u="none" cap="none" strike="noStrike">
                <a:solidFill>
                  <a:srgbClr val="000000"/>
                </a:solidFill>
                <a:latin typeface="Arial"/>
                <a:ea typeface="Arial"/>
                <a:cs typeface="Arial"/>
                <a:sym typeface="Arial"/>
              </a:endParaRPr>
            </a:p>
          </p:txBody>
        </p:sp>
        <p:sp>
          <p:nvSpPr>
            <p:cNvPr id="2603" name="Google Shape;2603;h2d7e8d0cc2ebee9_0_506"/>
            <p:cNvSpPr txBox="1"/>
            <p:nvPr/>
          </p:nvSpPr>
          <p:spPr>
            <a:xfrm>
              <a:off x="4419600" y="4419600"/>
              <a:ext cx="3352800" cy="17526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Knowledge base of approved patient information and practice FAQs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Tool: appointment availability in the practice system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No open web search, answers only from approved sources</a:t>
              </a:r>
              <a:endParaRPr b="0" i="0" sz="1400" u="none" cap="none" strike="noStrike">
                <a:solidFill>
                  <a:srgbClr val="000000"/>
                </a:solidFill>
                <a:latin typeface="Arial"/>
                <a:ea typeface="Arial"/>
                <a:cs typeface="Arial"/>
                <a:sym typeface="Arial"/>
              </a:endParaRPr>
            </a:p>
          </p:txBody>
        </p:sp>
        <p:sp>
          <p:nvSpPr>
            <p:cNvPr id="2604" name="Google Shape;2604;h2d7e8d0cc2ebee9_0_506"/>
            <p:cNvSpPr/>
            <p:nvPr/>
          </p:nvSpPr>
          <p:spPr>
            <a:xfrm>
              <a:off x="4216400" y="1041400"/>
              <a:ext cx="3759300" cy="25401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05" name="Google Shape;2605;h2d7e8d0cc2ebee9_0_506"/>
            <p:cNvSpPr txBox="1"/>
            <p:nvPr/>
          </p:nvSpPr>
          <p:spPr>
            <a:xfrm>
              <a:off x="4876800" y="1206500"/>
              <a:ext cx="2895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Entry points</a:t>
              </a:r>
              <a:endParaRPr b="0" i="0" sz="1400" u="none" cap="none" strike="noStrike">
                <a:solidFill>
                  <a:srgbClr val="000000"/>
                </a:solidFill>
                <a:latin typeface="Arial"/>
                <a:ea typeface="Arial"/>
                <a:cs typeface="Arial"/>
                <a:sym typeface="Arial"/>
              </a:endParaRPr>
            </a:p>
          </p:txBody>
        </p:sp>
        <p:sp>
          <p:nvSpPr>
            <p:cNvPr id="2606" name="Google Shape;2606;h2d7e8d0cc2ebee9_0_506"/>
            <p:cNvSpPr txBox="1"/>
            <p:nvPr/>
          </p:nvSpPr>
          <p:spPr>
            <a:xfrm>
              <a:off x="4419600" y="1701800"/>
              <a:ext cx="3352800" cy="17526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Chat widget on the GP practice website, available 24/7</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Answers shown in the chat; urgent cases handed to the practice assistant</a:t>
              </a:r>
              <a:endParaRPr b="0" i="0" sz="1400" u="none" cap="none" strike="noStrike">
                <a:solidFill>
                  <a:srgbClr val="000000"/>
                </a:solidFill>
                <a:latin typeface="Arial"/>
                <a:ea typeface="Arial"/>
                <a:cs typeface="Arial"/>
                <a:sym typeface="Arial"/>
              </a:endParaRPr>
            </a:p>
          </p:txBody>
        </p:sp>
        <p:sp>
          <p:nvSpPr>
            <p:cNvPr descr="Data integrations icon" id="2607" name="Google Shape;2607;h2d7e8d0cc2ebee9_0_506"/>
            <p:cNvSpPr/>
            <p:nvPr/>
          </p:nvSpPr>
          <p:spPr>
            <a:xfrm>
              <a:off x="4419600" y="3937000"/>
              <a:ext cx="355500" cy="3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Front end icon" id="2608" name="Google Shape;2608;h2d7e8d0cc2ebee9_0_506"/>
            <p:cNvSpPr/>
            <p:nvPr/>
          </p:nvSpPr>
          <p:spPr>
            <a:xfrm>
              <a:off x="4419600" y="1219200"/>
              <a:ext cx="355500" cy="3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9" name="Google Shape;2609;h2d7e8d0cc2ebee9_0_506"/>
          <p:cNvGrpSpPr/>
          <p:nvPr/>
        </p:nvGrpSpPr>
        <p:grpSpPr>
          <a:xfrm>
            <a:off x="8340223" y="1850107"/>
            <a:ext cx="3417580" cy="4279529"/>
            <a:chOff x="8169277" y="1444111"/>
            <a:chExt cx="3759300" cy="4707435"/>
          </a:xfrm>
        </p:grpSpPr>
        <p:sp>
          <p:nvSpPr>
            <p:cNvPr id="2610" name="Google Shape;2610;h2d7e8d0cc2ebee9_0_506"/>
            <p:cNvSpPr/>
            <p:nvPr/>
          </p:nvSpPr>
          <p:spPr>
            <a:xfrm>
              <a:off x="8169277" y="1444111"/>
              <a:ext cx="3759300" cy="22740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11" name="Google Shape;2611;h2d7e8d0cc2ebee9_0_506"/>
            <p:cNvSpPr txBox="1"/>
            <p:nvPr/>
          </p:nvSpPr>
          <p:spPr>
            <a:xfrm>
              <a:off x="8829677" y="1591919"/>
              <a:ext cx="2895600" cy="34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Pre-launch validation</a:t>
              </a:r>
              <a:endParaRPr b="0" i="0" sz="1400" u="none" cap="none" strike="noStrike">
                <a:solidFill>
                  <a:srgbClr val="000000"/>
                </a:solidFill>
                <a:latin typeface="Arial"/>
                <a:ea typeface="Arial"/>
                <a:cs typeface="Arial"/>
                <a:sym typeface="Arial"/>
              </a:endParaRPr>
            </a:p>
          </p:txBody>
        </p:sp>
        <p:sp>
          <p:nvSpPr>
            <p:cNvPr id="2612" name="Google Shape;2612;h2d7e8d0cc2ebee9_0_506"/>
            <p:cNvSpPr txBox="1"/>
            <p:nvPr/>
          </p:nvSpPr>
          <p:spPr>
            <a:xfrm>
              <a:off x="8372477" y="2035344"/>
              <a:ext cx="3352800" cy="15690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Risks: medical advice, missed urgent symptoms, wrong-language replies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Experiment with ~50 real patient questions across domains and languages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Red-teaming: attempts to get a diagnosis or dosage</a:t>
              </a:r>
              <a:endParaRPr b="0" i="0" sz="1400" u="none" cap="none" strike="noStrike">
                <a:solidFill>
                  <a:srgbClr val="000000"/>
                </a:solidFill>
                <a:latin typeface="Arial"/>
                <a:ea typeface="Arial"/>
                <a:cs typeface="Arial"/>
                <a:sym typeface="Arial"/>
              </a:endParaRPr>
            </a:p>
          </p:txBody>
        </p:sp>
        <p:grpSp>
          <p:nvGrpSpPr>
            <p:cNvPr id="2613" name="Google Shape;2613;h2d7e8d0cc2ebee9_0_506"/>
            <p:cNvGrpSpPr/>
            <p:nvPr/>
          </p:nvGrpSpPr>
          <p:grpSpPr>
            <a:xfrm>
              <a:off x="8169277" y="3877394"/>
              <a:ext cx="3759300" cy="2274152"/>
              <a:chOff x="8169277" y="3752165"/>
              <a:chExt cx="3759300" cy="2540100"/>
            </a:xfrm>
          </p:grpSpPr>
          <p:sp>
            <p:nvSpPr>
              <p:cNvPr id="2614" name="Google Shape;2614;h2d7e8d0cc2ebee9_0_506"/>
              <p:cNvSpPr/>
              <p:nvPr/>
            </p:nvSpPr>
            <p:spPr>
              <a:xfrm>
                <a:off x="8169277" y="3752165"/>
                <a:ext cx="3759300" cy="25401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15" name="Google Shape;2615;h2d7e8d0cc2ebee9_0_506"/>
              <p:cNvSpPr txBox="1"/>
              <p:nvPr/>
            </p:nvSpPr>
            <p:spPr>
              <a:xfrm>
                <a:off x="8829677" y="3917265"/>
                <a:ext cx="28956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Runtime controls</a:t>
                </a:r>
                <a:endParaRPr b="0" i="0" sz="1400" u="none" cap="none" strike="noStrike">
                  <a:solidFill>
                    <a:srgbClr val="000000"/>
                  </a:solidFill>
                  <a:latin typeface="Arial"/>
                  <a:ea typeface="Arial"/>
                  <a:cs typeface="Arial"/>
                  <a:sym typeface="Arial"/>
                </a:endParaRPr>
              </a:p>
            </p:txBody>
          </p:sp>
          <p:sp>
            <p:nvSpPr>
              <p:cNvPr id="2616" name="Google Shape;2616;h2d7e8d0cc2ebee9_0_506"/>
              <p:cNvSpPr txBox="1"/>
              <p:nvPr/>
            </p:nvSpPr>
            <p:spPr>
              <a:xfrm>
                <a:off x="8372477" y="4412565"/>
                <a:ext cx="3352800" cy="17526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Guardrails on off-topic, jailbreak and medical advice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PII redaction on names, BSN and contact details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Budget and latency limits per conversation</a:t>
                </a:r>
                <a:endParaRPr b="0" i="0" sz="1400" u="none" cap="none" strike="noStrike">
                  <a:solidFill>
                    <a:srgbClr val="000000"/>
                  </a:solidFill>
                  <a:latin typeface="Arial"/>
                  <a:ea typeface="Arial"/>
                  <a:cs typeface="Arial"/>
                  <a:sym typeface="Arial"/>
                </a:endParaRPr>
              </a:p>
            </p:txBody>
          </p:sp>
          <p:sp>
            <p:nvSpPr>
              <p:cNvPr descr="Guardrails icon" id="2617" name="Google Shape;2617;h2d7e8d0cc2ebee9_0_506"/>
              <p:cNvSpPr/>
              <p:nvPr/>
            </p:nvSpPr>
            <p:spPr>
              <a:xfrm>
                <a:off x="8372477" y="3929965"/>
                <a:ext cx="355500" cy="355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Safety features icon" id="2618" name="Google Shape;2618;h2d7e8d0cc2ebee9_0_506"/>
            <p:cNvSpPr/>
            <p:nvPr/>
          </p:nvSpPr>
          <p:spPr>
            <a:xfrm>
              <a:off x="8372477" y="1603289"/>
              <a:ext cx="355500" cy="318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9" name="Google Shape;2619;h2d7e8d0cc2ebee9_0_506"/>
          <p:cNvGrpSpPr/>
          <p:nvPr/>
        </p:nvGrpSpPr>
        <p:grpSpPr>
          <a:xfrm>
            <a:off x="4384098" y="4062051"/>
            <a:ext cx="3417600" cy="2067300"/>
            <a:chOff x="4384098" y="1850094"/>
            <a:chExt cx="3417600" cy="2067300"/>
          </a:xfrm>
        </p:grpSpPr>
        <p:sp>
          <p:nvSpPr>
            <p:cNvPr id="2620" name="Google Shape;2620;h2d7e8d0cc2ebee9_0_506"/>
            <p:cNvSpPr/>
            <p:nvPr/>
          </p:nvSpPr>
          <p:spPr>
            <a:xfrm>
              <a:off x="4384098" y="1850094"/>
              <a:ext cx="3417600" cy="20673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21" name="Google Shape;2621;h2d7e8d0cc2ebee9_0_506"/>
            <p:cNvSpPr txBox="1"/>
            <p:nvPr/>
          </p:nvSpPr>
          <p:spPr>
            <a:xfrm>
              <a:off x="4984462" y="1984465"/>
              <a:ext cx="2632500" cy="31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AI capabilities</a:t>
              </a:r>
              <a:endParaRPr b="0" i="0" sz="1400" u="none" cap="none" strike="noStrike">
                <a:solidFill>
                  <a:srgbClr val="000000"/>
                </a:solidFill>
                <a:latin typeface="Arial"/>
                <a:ea typeface="Arial"/>
                <a:cs typeface="Arial"/>
                <a:sym typeface="Arial"/>
              </a:endParaRPr>
            </a:p>
          </p:txBody>
        </p:sp>
        <p:sp>
          <p:nvSpPr>
            <p:cNvPr id="2622" name="Google Shape;2622;h2d7e8d0cc2ebee9_0_506"/>
            <p:cNvSpPr txBox="1"/>
            <p:nvPr/>
          </p:nvSpPr>
          <p:spPr>
            <a:xfrm>
              <a:off x="4568825" y="2387578"/>
              <a:ext cx="3048000" cy="14265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Session memory only, nothing kept across visits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Thumbs up/down feeding an annotation queue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HITL hand-off for urgent or unclear cases</a:t>
              </a:r>
              <a:endParaRPr b="0" i="0" sz="1400" u="none" cap="none" strike="noStrike">
                <a:solidFill>
                  <a:srgbClr val="000000"/>
                </a:solidFill>
                <a:latin typeface="Arial"/>
                <a:ea typeface="Arial"/>
                <a:cs typeface="Arial"/>
                <a:sym typeface="Arial"/>
              </a:endParaRPr>
            </a:p>
          </p:txBody>
        </p:sp>
        <p:sp>
          <p:nvSpPr>
            <p:cNvPr descr="Agent build icon" id="2623" name="Google Shape;2623;h2d7e8d0cc2ebee9_0_506"/>
            <p:cNvSpPr/>
            <p:nvPr/>
          </p:nvSpPr>
          <p:spPr>
            <a:xfrm>
              <a:off x="4568825" y="1994801"/>
              <a:ext cx="323400" cy="28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4" name="Google Shape;2624;h2d7e8d0cc2ebee9_0_506"/>
          <p:cNvGrpSpPr/>
          <p:nvPr/>
        </p:nvGrpSpPr>
        <p:grpSpPr>
          <a:xfrm>
            <a:off x="4384098" y="1850094"/>
            <a:ext cx="3417600" cy="2067300"/>
            <a:chOff x="4384098" y="4062051"/>
            <a:chExt cx="3417600" cy="2067300"/>
          </a:xfrm>
        </p:grpSpPr>
        <p:sp>
          <p:nvSpPr>
            <p:cNvPr id="2625" name="Google Shape;2625;h2d7e8d0cc2ebee9_0_506"/>
            <p:cNvSpPr/>
            <p:nvPr/>
          </p:nvSpPr>
          <p:spPr>
            <a:xfrm>
              <a:off x="4384098" y="4062051"/>
              <a:ext cx="3417600" cy="2067300"/>
            </a:xfrm>
            <a:prstGeom prst="roundRect">
              <a:avLst>
                <a:gd fmla="val 5000" name="adj"/>
              </a:avLst>
            </a:prstGeom>
            <a:solidFill>
              <a:srgbClr val="FAF7F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p:txBody>
        </p:sp>
        <p:sp>
          <p:nvSpPr>
            <p:cNvPr id="2626" name="Google Shape;2626;h2d7e8d0cc2ebee9_0_506"/>
            <p:cNvSpPr txBox="1"/>
            <p:nvPr/>
          </p:nvSpPr>
          <p:spPr>
            <a:xfrm>
              <a:off x="4984462" y="4196422"/>
              <a:ext cx="2632500" cy="31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AI outputs</a:t>
              </a:r>
              <a:endParaRPr b="0" i="0" sz="1400" u="none" cap="none" strike="noStrike">
                <a:solidFill>
                  <a:srgbClr val="000000"/>
                </a:solidFill>
                <a:latin typeface="Arial"/>
                <a:ea typeface="Arial"/>
                <a:cs typeface="Arial"/>
                <a:sym typeface="Arial"/>
              </a:endParaRPr>
            </a:p>
          </p:txBody>
        </p:sp>
        <p:sp>
          <p:nvSpPr>
            <p:cNvPr id="2627" name="Google Shape;2627;h2d7e8d0cc2ebee9_0_506"/>
            <p:cNvSpPr txBox="1"/>
            <p:nvPr/>
          </p:nvSpPr>
          <p:spPr>
            <a:xfrm>
              <a:off x="4568824" y="4599536"/>
              <a:ext cx="3147300" cy="14265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Short, plain-language answer in the patient's language (NL, EN, AR, TR)</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600"/>
                </a:spcBef>
                <a:spcAft>
                  <a:spcPts val="0"/>
                </a:spcAft>
                <a:buClr>
                  <a:srgbClr val="141319"/>
                </a:buClr>
                <a:buSzPts val="1200"/>
                <a:buFont typeface="Noto Sans Symbols"/>
                <a:buChar char="❑"/>
              </a:pPr>
              <a:r>
                <a:rPr b="0" i="0" lang="en-US" sz="1200" u="none" cap="none" strike="noStrike">
                  <a:solidFill>
                    <a:srgbClr val="141319"/>
                  </a:solidFill>
                  <a:latin typeface="Arial"/>
                  <a:ea typeface="Arial"/>
                  <a:cs typeface="Arial"/>
                  <a:sym typeface="Arial"/>
                </a:rPr>
                <a:t>Grounded in an approved source; never medical advice or a diagnosis</a:t>
              </a:r>
              <a:endParaRPr b="0" i="0" sz="1400" u="none" cap="none" strike="noStrike">
                <a:solidFill>
                  <a:srgbClr val="000000"/>
                </a:solidFill>
                <a:latin typeface="Arial"/>
                <a:ea typeface="Arial"/>
                <a:cs typeface="Arial"/>
                <a:sym typeface="Arial"/>
              </a:endParaRPr>
            </a:p>
          </p:txBody>
        </p:sp>
        <p:sp>
          <p:nvSpPr>
            <p:cNvPr descr="Agent features icon" id="2628" name="Google Shape;2628;h2d7e8d0cc2ebee9_0_506"/>
            <p:cNvSpPr/>
            <p:nvPr/>
          </p:nvSpPr>
          <p:spPr>
            <a:xfrm>
              <a:off x="4568825" y="4206758"/>
              <a:ext cx="323400" cy="289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9" name="Google Shape;2629;h2d7e8d0cc2ebee9_0_506"/>
          <p:cNvGrpSpPr/>
          <p:nvPr/>
        </p:nvGrpSpPr>
        <p:grpSpPr>
          <a:xfrm>
            <a:off x="266700" y="1358566"/>
            <a:ext cx="11658700" cy="356757"/>
            <a:chOff x="266700" y="990600"/>
            <a:chExt cx="11658700" cy="431700"/>
          </a:xfrm>
        </p:grpSpPr>
        <p:sp>
          <p:nvSpPr>
            <p:cNvPr id="2630" name="Google Shape;2630;h2d7e8d0cc2ebee9_0_506"/>
            <p:cNvSpPr/>
            <p:nvPr/>
          </p:nvSpPr>
          <p:spPr>
            <a:xfrm>
              <a:off x="266700" y="990600"/>
              <a:ext cx="3759300" cy="431700"/>
            </a:xfrm>
            <a:prstGeom prst="roundRect">
              <a:avLst>
                <a:gd fmla="val 50000" name="adj"/>
              </a:avLst>
            </a:prstGeom>
            <a:solidFill>
              <a:srgbClr val="FFFFFF"/>
            </a:solidFill>
            <a:ln cap="flat" cmpd="sng" w="15875">
              <a:solidFill>
                <a:srgbClr val="DF53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1" name="Google Shape;2631;h2d7e8d0cc2ebee9_0_506"/>
            <p:cNvSpPr/>
            <p:nvPr/>
          </p:nvSpPr>
          <p:spPr>
            <a:xfrm>
              <a:off x="4216400" y="990600"/>
              <a:ext cx="3759300" cy="431700"/>
            </a:xfrm>
            <a:prstGeom prst="roundRect">
              <a:avLst>
                <a:gd fmla="val 50000" name="adj"/>
              </a:avLst>
            </a:prstGeom>
            <a:solidFill>
              <a:srgbClr val="FFFFFF"/>
            </a:solidFill>
            <a:ln cap="flat" cmpd="sng" w="15875">
              <a:solidFill>
                <a:srgbClr val="DF53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2" name="Google Shape;2632;h2d7e8d0cc2ebee9_0_506"/>
            <p:cNvSpPr/>
            <p:nvPr/>
          </p:nvSpPr>
          <p:spPr>
            <a:xfrm>
              <a:off x="8166100" y="990600"/>
              <a:ext cx="3759300" cy="431700"/>
            </a:xfrm>
            <a:prstGeom prst="roundRect">
              <a:avLst>
                <a:gd fmla="val 50000" name="adj"/>
              </a:avLst>
            </a:prstGeom>
            <a:solidFill>
              <a:srgbClr val="FFFFFF"/>
            </a:solidFill>
            <a:ln cap="flat" cmpd="sng" w="15875">
              <a:solidFill>
                <a:srgbClr val="DF532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3" name="Google Shape;2633;h2d7e8d0cc2ebee9_0_506"/>
            <p:cNvSpPr txBox="1"/>
            <p:nvPr/>
          </p:nvSpPr>
          <p:spPr>
            <a:xfrm>
              <a:off x="825500" y="1066800"/>
              <a:ext cx="29973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CONNECTIONS</a:t>
              </a:r>
              <a:endParaRPr b="0" i="0" sz="1400" u="none" cap="none" strike="noStrike">
                <a:solidFill>
                  <a:srgbClr val="000000"/>
                </a:solidFill>
                <a:latin typeface="Arial"/>
                <a:ea typeface="Arial"/>
                <a:cs typeface="Arial"/>
                <a:sym typeface="Arial"/>
              </a:endParaRPr>
            </a:p>
          </p:txBody>
        </p:sp>
        <p:sp>
          <p:nvSpPr>
            <p:cNvPr id="2634" name="Google Shape;2634;h2d7e8d0cc2ebee9_0_506"/>
            <p:cNvSpPr txBox="1"/>
            <p:nvPr/>
          </p:nvSpPr>
          <p:spPr>
            <a:xfrm>
              <a:off x="4775200" y="1066800"/>
              <a:ext cx="29973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AI</a:t>
              </a:r>
              <a:endParaRPr b="0" i="0" sz="1400" u="none" cap="none" strike="noStrike">
                <a:solidFill>
                  <a:srgbClr val="000000"/>
                </a:solidFill>
                <a:latin typeface="Arial"/>
                <a:ea typeface="Arial"/>
                <a:cs typeface="Arial"/>
                <a:sym typeface="Arial"/>
              </a:endParaRPr>
            </a:p>
          </p:txBody>
        </p:sp>
        <p:sp>
          <p:nvSpPr>
            <p:cNvPr id="2635" name="Google Shape;2635;h2d7e8d0cc2ebee9_0_506"/>
            <p:cNvSpPr txBox="1"/>
            <p:nvPr/>
          </p:nvSpPr>
          <p:spPr>
            <a:xfrm>
              <a:off x="8724900" y="1066800"/>
              <a:ext cx="2997300" cy="27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1319"/>
                </a:buClr>
                <a:buSzPts val="1400"/>
                <a:buFont typeface="Arial"/>
                <a:buNone/>
              </a:pPr>
              <a:r>
                <a:rPr b="1" i="0" lang="en-US" sz="1400" u="none" cap="none" strike="noStrike">
                  <a:solidFill>
                    <a:srgbClr val="141319"/>
                  </a:solidFill>
                  <a:latin typeface="Arial"/>
                  <a:ea typeface="Arial"/>
                  <a:cs typeface="Arial"/>
                  <a:sym typeface="Arial"/>
                </a:rPr>
                <a:t>SAFETY</a:t>
              </a:r>
              <a:endParaRPr b="0" i="0" sz="1400" u="none" cap="none" strike="noStrike">
                <a:solidFill>
                  <a:srgbClr val="000000"/>
                </a:solidFill>
                <a:latin typeface="Arial"/>
                <a:ea typeface="Arial"/>
                <a:cs typeface="Arial"/>
                <a:sym typeface="Arial"/>
              </a:endParaRPr>
            </a:p>
          </p:txBody>
        </p:sp>
        <p:sp>
          <p:nvSpPr>
            <p:cNvPr descr="Infrastructure column icon" id="2636" name="Google Shape;2636;h2d7e8d0cc2ebee9_0_506"/>
            <p:cNvSpPr/>
            <p:nvPr/>
          </p:nvSpPr>
          <p:spPr>
            <a:xfrm>
              <a:off x="469900" y="1066800"/>
              <a:ext cx="279300" cy="27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AI column icon" id="2637" name="Google Shape;2637;h2d7e8d0cc2ebee9_0_506"/>
            <p:cNvSpPr/>
            <p:nvPr/>
          </p:nvSpPr>
          <p:spPr>
            <a:xfrm>
              <a:off x="4419600" y="1066800"/>
              <a:ext cx="279300" cy="27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Safety column icon" id="2638" name="Google Shape;2638;h2d7e8d0cc2ebee9_0_506"/>
            <p:cNvSpPr/>
            <p:nvPr/>
          </p:nvSpPr>
          <p:spPr>
            <a:xfrm>
              <a:off x="8369300" y="1066800"/>
              <a:ext cx="279300" cy="27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9" name="Google Shape;2639;h2d7e8d0cc2ebee9_0_506"/>
          <p:cNvSpPr txBox="1"/>
          <p:nvPr/>
        </p:nvSpPr>
        <p:spPr>
          <a:xfrm>
            <a:off x="9835978" y="-420130"/>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40" name="Google Shape;2640;h2d7e8d0cc2ebee9_0_506"/>
          <p:cNvSpPr txBox="1"/>
          <p:nvPr/>
        </p:nvSpPr>
        <p:spPr>
          <a:xfrm rot="-5400000">
            <a:off x="-723900" y="2749650"/>
            <a:ext cx="2031900" cy="27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DF5325"/>
              </a:buClr>
              <a:buSzPts val="1400"/>
              <a:buFont typeface="Arial"/>
              <a:buNone/>
            </a:pPr>
            <a:r>
              <a:rPr b="1" i="0" lang="en-US" sz="1400" u="none" cap="none" strike="noStrike">
                <a:solidFill>
                  <a:srgbClr val="DF5325"/>
                </a:solidFill>
                <a:latin typeface="Arial"/>
                <a:ea typeface="Arial"/>
                <a:cs typeface="Arial"/>
                <a:sym typeface="Arial"/>
              </a:rPr>
              <a:t>BUSINESS DEFINES</a:t>
            </a:r>
            <a:endParaRPr b="0" i="0" sz="1400" u="none" cap="none" strike="noStrike">
              <a:solidFill>
                <a:srgbClr val="000000"/>
              </a:solidFill>
              <a:latin typeface="Arial"/>
              <a:ea typeface="Arial"/>
              <a:cs typeface="Arial"/>
              <a:sym typeface="Arial"/>
            </a:endParaRPr>
          </a:p>
        </p:txBody>
      </p:sp>
      <p:sp>
        <p:nvSpPr>
          <p:cNvPr id="2641" name="Google Shape;2641;h2d7e8d0cc2ebee9_0_506"/>
          <p:cNvSpPr txBox="1"/>
          <p:nvPr/>
        </p:nvSpPr>
        <p:spPr>
          <a:xfrm rot="-5400000">
            <a:off x="-723900" y="4959450"/>
            <a:ext cx="2031900" cy="279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342D"/>
              </a:buClr>
              <a:buSzPts val="1400"/>
              <a:buFont typeface="Arial"/>
              <a:buNone/>
            </a:pPr>
            <a:r>
              <a:rPr b="1" i="0" lang="en-US" sz="1400" u="none" cap="none" strike="noStrike">
                <a:solidFill>
                  <a:srgbClr val="00342D"/>
                </a:solidFill>
                <a:latin typeface="Arial"/>
                <a:ea typeface="Arial"/>
                <a:cs typeface="Arial"/>
                <a:sym typeface="Arial"/>
              </a:rPr>
              <a:t>AI EXPERT DEFINES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6" name="Shape 2646"/>
        <p:cNvGrpSpPr/>
        <p:nvPr/>
      </p:nvGrpSpPr>
      <p:grpSpPr>
        <a:xfrm>
          <a:off x="0" y="0"/>
          <a:ext cx="0" cy="0"/>
          <a:chOff x="0" y="0"/>
          <a:chExt cx="0" cy="0"/>
        </a:xfrm>
      </p:grpSpPr>
      <p:sp>
        <p:nvSpPr>
          <p:cNvPr id="2647" name="Google Shape;2647;h2d7e8d0cc2ebee9_0_555"/>
          <p:cNvSpPr txBox="1"/>
          <p:nvPr>
            <p:ph type="title"/>
          </p:nvPr>
        </p:nvSpPr>
        <p:spPr>
          <a:xfrm>
            <a:off x="5519936" y="1585545"/>
            <a:ext cx="6408600" cy="369420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10 min</a:t>
            </a:r>
            <a:br>
              <a:rPr lang="en-US"/>
            </a:br>
            <a:r>
              <a:rPr lang="en-US"/>
              <a:t>to fill in the requirements map for your use case</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1" name="Shape 2651"/>
        <p:cNvGrpSpPr/>
        <p:nvPr/>
      </p:nvGrpSpPr>
      <p:grpSpPr>
        <a:xfrm>
          <a:off x="0" y="0"/>
          <a:ext cx="0" cy="0"/>
          <a:chOff x="0" y="0"/>
          <a:chExt cx="0" cy="0"/>
        </a:xfrm>
      </p:grpSpPr>
      <p:sp>
        <p:nvSpPr>
          <p:cNvPr id="2652" name="Google Shape;2652;p104"/>
          <p:cNvSpPr txBox="1"/>
          <p:nvPr>
            <p:ph type="title"/>
          </p:nvPr>
        </p:nvSpPr>
        <p:spPr>
          <a:xfrm>
            <a:off x="5519936" y="2970540"/>
            <a:ext cx="6408538" cy="92333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4. Use cases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6" name="Shape 2656"/>
        <p:cNvGrpSpPr/>
        <p:nvPr/>
      </p:nvGrpSpPr>
      <p:grpSpPr>
        <a:xfrm>
          <a:off x="0" y="0"/>
          <a:ext cx="0" cy="0"/>
          <a:chOff x="0" y="0"/>
          <a:chExt cx="0" cy="0"/>
        </a:xfrm>
      </p:grpSpPr>
      <p:sp>
        <p:nvSpPr>
          <p:cNvPr id="2657" name="Google Shape;2657;p105"/>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Use case: Image Entity Extraction</a:t>
            </a:r>
            <a:endParaRPr/>
          </a:p>
        </p:txBody>
      </p:sp>
      <p:sp>
        <p:nvSpPr>
          <p:cNvPr id="2658" name="Google Shape;2658;p105"/>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IMAGE ENTITY EXTRACTION</a:t>
            </a:r>
            <a:endParaRPr/>
          </a:p>
        </p:txBody>
      </p:sp>
      <p:sp>
        <p:nvSpPr>
          <p:cNvPr id="2659" name="Google Shape;2659;p105"/>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660" name="Google Shape;2660;p105"/>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661" name="Google Shape;2661;p105"/>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662" name="Google Shape;2662;p105"/>
          <p:cNvSpPr/>
          <p:nvPr/>
        </p:nvSpPr>
        <p:spPr>
          <a:xfrm>
            <a:off x="263352" y="1664803"/>
            <a:ext cx="534003" cy="534003"/>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663" name="Google Shape;2663;p105"/>
          <p:cNvSpPr/>
          <p:nvPr/>
        </p:nvSpPr>
        <p:spPr>
          <a:xfrm>
            <a:off x="263353" y="24593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664" name="Google Shape;2664;p105"/>
          <p:cNvSpPr/>
          <p:nvPr/>
        </p:nvSpPr>
        <p:spPr>
          <a:xfrm>
            <a:off x="263353" y="32526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665" name="Google Shape;2665;p105"/>
          <p:cNvSpPr/>
          <p:nvPr/>
        </p:nvSpPr>
        <p:spPr>
          <a:xfrm>
            <a:off x="263353" y="40459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66" name="Google Shape;2666;p105"/>
          <p:cNvSpPr/>
          <p:nvPr/>
        </p:nvSpPr>
        <p:spPr>
          <a:xfrm>
            <a:off x="263353" y="4839206"/>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2667" name="Google Shape;2667;p105"/>
          <p:cNvSpPr/>
          <p:nvPr/>
        </p:nvSpPr>
        <p:spPr>
          <a:xfrm>
            <a:off x="1056652" y="1664803"/>
            <a:ext cx="4846585" cy="534003"/>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Check out system prompt</a:t>
            </a:r>
            <a:endParaRPr b="0" i="0" sz="1400" u="none" cap="none" strike="noStrike">
              <a:solidFill>
                <a:srgbClr val="000000"/>
              </a:solidFill>
              <a:latin typeface="Arial"/>
              <a:ea typeface="Arial"/>
              <a:cs typeface="Arial"/>
              <a:sym typeface="Arial"/>
            </a:endParaRPr>
          </a:p>
        </p:txBody>
      </p:sp>
      <p:sp>
        <p:nvSpPr>
          <p:cNvPr id="2668" name="Google Shape;2668;p105"/>
          <p:cNvSpPr/>
          <p:nvPr/>
        </p:nvSpPr>
        <p:spPr>
          <a:xfrm>
            <a:off x="1056652" y="2459306"/>
            <a:ext cx="48465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Annotate 2 images</a:t>
            </a:r>
            <a:endParaRPr b="0" i="0" sz="1400" u="none" cap="none" strike="noStrike">
              <a:solidFill>
                <a:srgbClr val="000000"/>
              </a:solidFill>
              <a:latin typeface="Arial"/>
              <a:ea typeface="Arial"/>
              <a:cs typeface="Arial"/>
              <a:sym typeface="Arial"/>
            </a:endParaRPr>
          </a:p>
        </p:txBody>
      </p:sp>
      <p:sp>
        <p:nvSpPr>
          <p:cNvPr id="2669" name="Google Shape;2669;p105"/>
          <p:cNvSpPr/>
          <p:nvPr/>
        </p:nvSpPr>
        <p:spPr>
          <a:xfrm>
            <a:off x="1056652" y="3252606"/>
            <a:ext cx="48465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Define + create evaluator</a:t>
            </a:r>
            <a:endParaRPr b="0" i="0" sz="1400" u="none" cap="none" strike="noStrike">
              <a:solidFill>
                <a:srgbClr val="000000"/>
              </a:solidFill>
              <a:latin typeface="Arial"/>
              <a:ea typeface="Arial"/>
              <a:cs typeface="Arial"/>
              <a:sym typeface="Arial"/>
            </a:endParaRPr>
          </a:p>
        </p:txBody>
      </p:sp>
      <p:sp>
        <p:nvSpPr>
          <p:cNvPr id="2670" name="Google Shape;2670;p105"/>
          <p:cNvSpPr/>
          <p:nvPr/>
        </p:nvSpPr>
        <p:spPr>
          <a:xfrm>
            <a:off x="1056652" y="4045906"/>
            <a:ext cx="48465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Run an Experiment</a:t>
            </a:r>
            <a:endParaRPr b="0" i="0" sz="1400" u="none" cap="none" strike="noStrike">
              <a:solidFill>
                <a:srgbClr val="000000"/>
              </a:solidFill>
              <a:latin typeface="Arial"/>
              <a:ea typeface="Arial"/>
              <a:cs typeface="Arial"/>
              <a:sym typeface="Arial"/>
            </a:endParaRPr>
          </a:p>
        </p:txBody>
      </p:sp>
      <p:sp>
        <p:nvSpPr>
          <p:cNvPr id="2671" name="Google Shape;2671;p105"/>
          <p:cNvSpPr/>
          <p:nvPr/>
        </p:nvSpPr>
        <p:spPr>
          <a:xfrm>
            <a:off x="1056652" y="4839206"/>
            <a:ext cx="48465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Find optimal configuration + weaknesses </a:t>
            </a:r>
            <a:endParaRPr b="0" i="0" sz="1400" u="none" cap="none" strike="noStrike">
              <a:solidFill>
                <a:srgbClr val="000000"/>
              </a:solidFill>
              <a:latin typeface="Arial"/>
              <a:ea typeface="Arial"/>
              <a:cs typeface="Arial"/>
              <a:sym typeface="Arial"/>
            </a:endParaRPr>
          </a:p>
        </p:txBody>
      </p:sp>
      <p:sp>
        <p:nvSpPr>
          <p:cNvPr id="2672" name="Google Shape;2672;p105"/>
          <p:cNvSpPr/>
          <p:nvPr/>
        </p:nvSpPr>
        <p:spPr>
          <a:xfrm>
            <a:off x="263353" y="5632504"/>
            <a:ext cx="532800"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6</a:t>
            </a:r>
            <a:endParaRPr b="0" i="0" sz="1200" u="none" cap="none" strike="noStrike">
              <a:solidFill>
                <a:schemeClr val="dk1"/>
              </a:solidFill>
              <a:latin typeface="Arial"/>
              <a:ea typeface="Arial"/>
              <a:cs typeface="Arial"/>
              <a:sym typeface="Arial"/>
            </a:endParaRPr>
          </a:p>
        </p:txBody>
      </p:sp>
      <p:sp>
        <p:nvSpPr>
          <p:cNvPr id="2673" name="Google Shape;2673;p105"/>
          <p:cNvSpPr/>
          <p:nvPr/>
        </p:nvSpPr>
        <p:spPr>
          <a:xfrm>
            <a:off x="1056652" y="5632504"/>
            <a:ext cx="4846585" cy="532800"/>
          </a:xfrm>
          <a:prstGeom prst="roundRect">
            <a:avLst>
              <a:gd fmla="val 8775" name="adj"/>
            </a:avLst>
          </a:prstGeom>
          <a:solidFill>
            <a:srgbClr val="FF8F35">
              <a:alpha val="5098"/>
            </a:srgbClr>
          </a:solidFill>
          <a:ln cap="flat" cmpd="sng" w="9525">
            <a:solidFill>
              <a:schemeClr val="accent1"/>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Turn it into a Deployment</a:t>
            </a:r>
            <a:endParaRPr b="0" i="0" sz="1400" u="none" cap="none" strike="noStrike">
              <a:solidFill>
                <a:srgbClr val="000000"/>
              </a:solidFill>
              <a:latin typeface="Arial"/>
              <a:ea typeface="Arial"/>
              <a:cs typeface="Arial"/>
              <a:sym typeface="Arial"/>
            </a:endParaRPr>
          </a:p>
        </p:txBody>
      </p:sp>
      <p:sp>
        <p:nvSpPr>
          <p:cNvPr id="2674" name="Google Shape;2674;p105"/>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2"/>
              </a:solidFill>
              <a:latin typeface="Arial"/>
              <a:ea typeface="Arial"/>
              <a:cs typeface="Arial"/>
              <a:sym typeface="Arial"/>
            </a:endParaRPr>
          </a:p>
        </p:txBody>
      </p:sp>
      <p:sp>
        <p:nvSpPr>
          <p:cNvPr id="2675" name="Google Shape;2675;p105"/>
          <p:cNvSpPr/>
          <p:nvPr/>
        </p:nvSpPr>
        <p:spPr>
          <a:xfrm>
            <a:off x="6907813" y="2460111"/>
            <a:ext cx="4271962" cy="2909887"/>
          </a:xfrm>
          <a:prstGeom prst="roundRect">
            <a:avLst>
              <a:gd fmla="val 3312" name="adj"/>
            </a:avLst>
          </a:prstGeom>
          <a:solidFill>
            <a:schemeClr val="accent2"/>
          </a:solidFill>
          <a:ln>
            <a:noFill/>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Let’s put a screenshot</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in here of image entity extraction tool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0" name="Shape 2680"/>
        <p:cNvGrpSpPr/>
        <p:nvPr/>
      </p:nvGrpSpPr>
      <p:grpSpPr>
        <a:xfrm>
          <a:off x="0" y="0"/>
          <a:ext cx="0" cy="0"/>
          <a:chOff x="0" y="0"/>
          <a:chExt cx="0" cy="0"/>
        </a:xfrm>
      </p:grpSpPr>
      <p:sp>
        <p:nvSpPr>
          <p:cNvPr id="2681" name="Google Shape;2681;p106"/>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Use case: Enterprise Chat</a:t>
            </a:r>
            <a:endParaRPr/>
          </a:p>
        </p:txBody>
      </p:sp>
      <p:sp>
        <p:nvSpPr>
          <p:cNvPr id="2682" name="Google Shape;2682;p10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ENTERPRISE CHAT</a:t>
            </a:r>
            <a:endParaRPr/>
          </a:p>
        </p:txBody>
      </p:sp>
      <p:sp>
        <p:nvSpPr>
          <p:cNvPr id="2683" name="Google Shape;2683;p10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684" name="Google Shape;2684;p10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685" name="Google Shape;2685;p106"/>
          <p:cNvSpPr txBox="1"/>
          <p:nvPr>
            <p:ph idx="12" type="sldNum"/>
          </p:nvPr>
        </p:nvSpPr>
        <p:spPr>
          <a:xfrm>
            <a:off x="12007338" y="6673964"/>
            <a:ext cx="10579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686" name="Google Shape;2686;p106"/>
          <p:cNvSpPr/>
          <p:nvPr/>
        </p:nvSpPr>
        <p:spPr>
          <a:xfrm>
            <a:off x="10156237" y="1665288"/>
            <a:ext cx="1772238" cy="396000"/>
          </a:xfrm>
          <a:prstGeom prst="roundRect">
            <a:avLst>
              <a:gd fmla="val 11088"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Custom agents</a:t>
            </a:r>
            <a:endParaRPr b="0" i="0" sz="1400" u="none" cap="none" strike="noStrike">
              <a:solidFill>
                <a:srgbClr val="000000"/>
              </a:solidFill>
              <a:latin typeface="Arial"/>
              <a:ea typeface="Arial"/>
              <a:cs typeface="Arial"/>
              <a:sym typeface="Arial"/>
            </a:endParaRPr>
          </a:p>
        </p:txBody>
      </p:sp>
      <p:sp>
        <p:nvSpPr>
          <p:cNvPr id="2687" name="Google Shape;2687;p106"/>
          <p:cNvSpPr/>
          <p:nvPr/>
        </p:nvSpPr>
        <p:spPr>
          <a:xfrm>
            <a:off x="8261602" y="1665288"/>
            <a:ext cx="1772238" cy="396000"/>
          </a:xfrm>
          <a:prstGeom prst="roundRect">
            <a:avLst>
              <a:gd fmla="val 11088"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000"/>
              <a:buFont typeface="Arial"/>
              <a:buNone/>
            </a:pPr>
            <a:r>
              <a:rPr b="0" i="0" lang="en-US" sz="1000" u="none" cap="none" strike="noStrike">
                <a:solidFill>
                  <a:schemeClr val="lt1"/>
                </a:solidFill>
                <a:latin typeface="Arial"/>
                <a:ea typeface="Arial"/>
                <a:cs typeface="Arial"/>
                <a:sym typeface="Arial"/>
              </a:rPr>
              <a:t>Free form chat</a:t>
            </a:r>
            <a:endParaRPr b="0" i="0" sz="1400" u="none" cap="none" strike="noStrike">
              <a:solidFill>
                <a:srgbClr val="000000"/>
              </a:solidFill>
              <a:latin typeface="Arial"/>
              <a:ea typeface="Arial"/>
              <a:cs typeface="Arial"/>
              <a:sym typeface="Arial"/>
            </a:endParaRPr>
          </a:p>
        </p:txBody>
      </p:sp>
      <p:pic>
        <p:nvPicPr>
          <p:cNvPr descr="A screenshot of a computer&#10;&#10;AI-generated content may be incorrect." id="2688" name="Google Shape;2688;p106"/>
          <p:cNvPicPr preferRelativeResize="0"/>
          <p:nvPr/>
        </p:nvPicPr>
        <p:blipFill rotWithShape="1">
          <a:blip r:embed="rId3">
            <a:alphaModFix/>
          </a:blip>
          <a:srcRect b="0" l="0" r="0" t="0"/>
          <a:stretch/>
        </p:blipFill>
        <p:spPr>
          <a:xfrm>
            <a:off x="8263529" y="2183687"/>
            <a:ext cx="3664946" cy="3982164"/>
          </a:xfrm>
          <a:prstGeom prst="roundRect">
            <a:avLst>
              <a:gd fmla="val 2682" name="adj"/>
            </a:avLst>
          </a:prstGeom>
          <a:noFill/>
          <a:ln>
            <a:noFill/>
          </a:ln>
        </p:spPr>
      </p:pic>
      <p:sp>
        <p:nvSpPr>
          <p:cNvPr id="2689" name="Google Shape;2689;p106"/>
          <p:cNvSpPr/>
          <p:nvPr/>
        </p:nvSpPr>
        <p:spPr>
          <a:xfrm>
            <a:off x="263348" y="1665288"/>
            <a:ext cx="7734729" cy="4500562"/>
          </a:xfrm>
          <a:custGeom>
            <a:rect b="b" l="l" r="r" t="t"/>
            <a:pathLst>
              <a:path extrusionOk="0" h="4500562" w="7734729">
                <a:moveTo>
                  <a:pt x="67553" y="0"/>
                </a:moveTo>
                <a:lnTo>
                  <a:pt x="5404036" y="0"/>
                </a:lnTo>
                <a:lnTo>
                  <a:pt x="7667176" y="0"/>
                </a:lnTo>
                <a:cubicBezTo>
                  <a:pt x="7704484" y="0"/>
                  <a:pt x="7734729" y="30245"/>
                  <a:pt x="7734729" y="67553"/>
                </a:cubicBezTo>
                <a:lnTo>
                  <a:pt x="7734729" y="4433009"/>
                </a:lnTo>
                <a:cubicBezTo>
                  <a:pt x="7734729" y="4470317"/>
                  <a:pt x="7704484" y="4500562"/>
                  <a:pt x="7667176" y="4500562"/>
                </a:cubicBezTo>
                <a:lnTo>
                  <a:pt x="5404036" y="4500562"/>
                </a:lnTo>
                <a:lnTo>
                  <a:pt x="67553" y="4500562"/>
                </a:lnTo>
                <a:cubicBezTo>
                  <a:pt x="30245" y="4500562"/>
                  <a:pt x="0" y="4470317"/>
                  <a:pt x="0" y="4433009"/>
                </a:cubicBezTo>
                <a:lnTo>
                  <a:pt x="0" y="67553"/>
                </a:lnTo>
                <a:cubicBezTo>
                  <a:pt x="0" y="30245"/>
                  <a:pt x="30245" y="0"/>
                  <a:pt x="67553"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Orq Enterprise chat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Securely runs on internal data</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Customizable guardrails for compliance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Easy-to-use for all employees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Integrates with internal tools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Speeds up knowledge access and support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4" name="Shape 2694"/>
        <p:cNvGrpSpPr/>
        <p:nvPr/>
      </p:nvGrpSpPr>
      <p:grpSpPr>
        <a:xfrm>
          <a:off x="0" y="0"/>
          <a:ext cx="0" cy="0"/>
          <a:chOff x="0" y="0"/>
          <a:chExt cx="0" cy="0"/>
        </a:xfrm>
      </p:grpSpPr>
      <p:sp>
        <p:nvSpPr>
          <p:cNvPr id="2695" name="Google Shape;2695;p10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Enterprise Chat: Do’s and Don’ts</a:t>
            </a:r>
            <a:endParaRPr/>
          </a:p>
        </p:txBody>
      </p:sp>
      <p:sp>
        <p:nvSpPr>
          <p:cNvPr id="2696" name="Google Shape;2696;p10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ENTERPRISE CHAT</a:t>
            </a:r>
            <a:endParaRPr/>
          </a:p>
        </p:txBody>
      </p:sp>
      <p:sp>
        <p:nvSpPr>
          <p:cNvPr id="2697" name="Google Shape;2697;p10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698" name="Google Shape;2698;p10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699" name="Google Shape;2699;p10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700" name="Google Shape;2700;p107"/>
          <p:cNvSpPr/>
          <p:nvPr/>
        </p:nvSpPr>
        <p:spPr>
          <a:xfrm>
            <a:off x="6159115"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overload the system prompt with product facts or long examples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use few-shot for knowledge that will change (e.g., pricing, specs)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rely on embedding search alone, it misses exact terms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Don’t concatenate too many KB chunks; keep retrieval tight</a:t>
            </a:r>
            <a:br>
              <a:rPr b="0" i="0" lang="en-US" sz="1200" u="none" cap="none" strike="noStrike">
                <a:solidFill>
                  <a:schemeClr val="dk2"/>
                </a:solidFill>
                <a:latin typeface="Arial"/>
                <a:ea typeface="Arial"/>
                <a:cs typeface="Arial"/>
                <a:sym typeface="Arial"/>
              </a:rPr>
            </a:br>
            <a:r>
              <a:rPr b="0" i="0" lang="en-US" sz="1200" u="none" cap="none" strike="noStrike">
                <a:solidFill>
                  <a:schemeClr val="dk2"/>
                </a:solidFill>
                <a:latin typeface="Arial"/>
                <a:ea typeface="Arial"/>
                <a:cs typeface="Arial"/>
                <a:sym typeface="Arial"/>
              </a:rPr>
              <a:t>(3–5 high-quality)</a:t>
            </a:r>
            <a:endParaRPr b="0" i="0" sz="1400" u="none" cap="none" strike="noStrike">
              <a:solidFill>
                <a:srgbClr val="000000"/>
              </a:solidFill>
              <a:latin typeface="Arial"/>
              <a:ea typeface="Arial"/>
              <a:cs typeface="Arial"/>
              <a:sym typeface="Arial"/>
            </a:endParaRPr>
          </a:p>
        </p:txBody>
      </p:sp>
      <p:sp>
        <p:nvSpPr>
          <p:cNvPr id="2701" name="Google Shape;2701;p107"/>
          <p:cNvSpPr/>
          <p:nvPr/>
        </p:nvSpPr>
        <p:spPr>
          <a:xfrm>
            <a:off x="6329437"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2702" name="Google Shape;2702;p107"/>
          <p:cNvSpPr/>
          <p:nvPr/>
        </p:nvSpPr>
        <p:spPr>
          <a:xfrm>
            <a:off x="263526" y="1664804"/>
            <a:ext cx="5769359" cy="4500500"/>
          </a:xfrm>
          <a:custGeom>
            <a:rect b="b" l="l" r="r" t="t"/>
            <a:pathLst>
              <a:path extrusionOk="0" h="4500500" w="5769359">
                <a:moveTo>
                  <a:pt x="61306" y="0"/>
                </a:moveTo>
                <a:lnTo>
                  <a:pt x="2026502" y="0"/>
                </a:lnTo>
                <a:lnTo>
                  <a:pt x="3742857" y="0"/>
                </a:lnTo>
                <a:lnTo>
                  <a:pt x="5708053" y="0"/>
                </a:lnTo>
                <a:cubicBezTo>
                  <a:pt x="5741911" y="0"/>
                  <a:pt x="5769359" y="27448"/>
                  <a:pt x="5769359" y="61306"/>
                </a:cubicBezTo>
                <a:lnTo>
                  <a:pt x="5769359" y="1737294"/>
                </a:lnTo>
                <a:lnTo>
                  <a:pt x="5769359" y="2206946"/>
                </a:lnTo>
                <a:lnTo>
                  <a:pt x="5769359" y="2293554"/>
                </a:lnTo>
                <a:lnTo>
                  <a:pt x="5769359" y="3882934"/>
                </a:lnTo>
                <a:lnTo>
                  <a:pt x="5769359" y="4439194"/>
                </a:lnTo>
                <a:cubicBezTo>
                  <a:pt x="5769359" y="4473052"/>
                  <a:pt x="5741911" y="4500500"/>
                  <a:pt x="5708053" y="4500500"/>
                </a:cubicBezTo>
                <a:lnTo>
                  <a:pt x="3742857" y="4500500"/>
                </a:lnTo>
                <a:lnTo>
                  <a:pt x="2026502" y="4500500"/>
                </a:lnTo>
                <a:lnTo>
                  <a:pt x="61306" y="4500500"/>
                </a:lnTo>
                <a:cubicBezTo>
                  <a:pt x="27448" y="4500500"/>
                  <a:pt x="0" y="4473052"/>
                  <a:pt x="0" y="4439194"/>
                </a:cubicBezTo>
                <a:lnTo>
                  <a:pt x="0" y="3882934"/>
                </a:lnTo>
                <a:lnTo>
                  <a:pt x="0" y="2293554"/>
                </a:lnTo>
                <a:lnTo>
                  <a:pt x="0" y="2206946"/>
                </a:lnTo>
                <a:lnTo>
                  <a:pt x="0" y="1737294"/>
                </a:lnTo>
                <a:lnTo>
                  <a:pt x="0" y="61306"/>
                </a:lnTo>
                <a:cubicBezTo>
                  <a:pt x="0" y="27448"/>
                  <a:pt x="27448" y="0"/>
                  <a:pt x="61306" y="0"/>
                </a:cubicBezTo>
                <a:close/>
              </a:path>
            </a:pathLst>
          </a:custGeom>
          <a:solidFill>
            <a:schemeClr val="lt2"/>
          </a:solidFill>
          <a:ln>
            <a:noFill/>
          </a:ln>
        </p:spPr>
        <p:txBody>
          <a:bodyPr anchorCtr="0" anchor="t" bIns="144000" lIns="180000" spcFirstLastPara="1" rIns="144000" wrap="square" tIns="936000">
            <a:no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Put rules, tone, and format in the system prompt; keep it short and timeless</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Use few-shot examples only to teach output format and reasoning style</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Store factual, long, or changing content (docs, FAQs, policies)</a:t>
            </a:r>
            <a:br>
              <a:rPr b="0" i="0" lang="en-US" sz="1200" u="none" cap="none" strike="noStrike">
                <a:solidFill>
                  <a:schemeClr val="dk2"/>
                </a:solidFill>
                <a:latin typeface="Arial"/>
                <a:ea typeface="Arial"/>
                <a:cs typeface="Arial"/>
                <a:sym typeface="Arial"/>
              </a:rPr>
            </a:br>
            <a:r>
              <a:rPr b="0" i="0" lang="en-US" sz="1200" u="none" cap="none" strike="noStrike">
                <a:solidFill>
                  <a:schemeClr val="dk2"/>
                </a:solidFill>
                <a:latin typeface="Arial"/>
                <a:ea typeface="Arial"/>
                <a:cs typeface="Arial"/>
                <a:sym typeface="Arial"/>
              </a:rPr>
              <a:t>in the KB</a:t>
            </a:r>
            <a:endParaRPr b="0" i="0" sz="1400" u="none" cap="none" strike="noStrike">
              <a:solidFill>
                <a:srgbClr val="000000"/>
              </a:solidFill>
              <a:latin typeface="Arial"/>
              <a:ea typeface="Arial"/>
              <a:cs typeface="Arial"/>
              <a:sym typeface="Arial"/>
            </a:endParaRPr>
          </a:p>
          <a:p>
            <a:pPr indent="-52388" lvl="1" marL="128588" marR="0" rtl="0" algn="l">
              <a:lnSpc>
                <a:spcPct val="100000"/>
              </a:lnSpc>
              <a:spcBef>
                <a:spcPts val="600"/>
              </a:spcBef>
              <a:spcAft>
                <a:spcPts val="0"/>
              </a:spcAft>
              <a:buClr>
                <a:schemeClr val="dk2"/>
              </a:buClr>
              <a:buSzPts val="1200"/>
              <a:buFont typeface="Arial"/>
              <a:buNone/>
            </a:pPr>
            <a:r>
              <a:t/>
            </a:r>
            <a:endParaRPr b="0" i="0" sz="1200" u="none" cap="none" strike="noStrike">
              <a:solidFill>
                <a:schemeClr val="dk2"/>
              </a:solidFill>
              <a:latin typeface="Arial"/>
              <a:ea typeface="Arial"/>
              <a:cs typeface="Arial"/>
              <a:sym typeface="Arial"/>
            </a:endParaRPr>
          </a:p>
          <a:p>
            <a:pPr indent="-128588" lvl="1" marL="128588" marR="0" rtl="0" algn="l">
              <a:lnSpc>
                <a:spcPct val="100000"/>
              </a:lnSpc>
              <a:spcBef>
                <a:spcPts val="60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Configure retrieval with hybrid search, re-ranking, and metadata filters for accuracy</a:t>
            </a:r>
            <a:endParaRPr b="0" i="0" sz="1400" u="none" cap="none" strike="noStrike">
              <a:solidFill>
                <a:srgbClr val="000000"/>
              </a:solidFill>
              <a:latin typeface="Arial"/>
              <a:ea typeface="Arial"/>
              <a:cs typeface="Arial"/>
              <a:sym typeface="Arial"/>
            </a:endParaRPr>
          </a:p>
        </p:txBody>
      </p:sp>
      <p:sp>
        <p:nvSpPr>
          <p:cNvPr id="2703" name="Google Shape;2703;p107"/>
          <p:cNvSpPr/>
          <p:nvPr/>
        </p:nvSpPr>
        <p:spPr>
          <a:xfrm>
            <a:off x="433848" y="1835129"/>
            <a:ext cx="504000" cy="504000"/>
          </a:xfrm>
          <a:prstGeom prst="roundRect">
            <a:avLst>
              <a:gd fmla="val 8775" name="adj"/>
            </a:avLst>
          </a:prstGeom>
          <a:solidFill>
            <a:schemeClr val="lt1"/>
          </a:solidFill>
          <a:ln cap="flat" cmpd="sng" w="9525">
            <a:solidFill>
              <a:schemeClr val="dk1">
                <a:alpha val="10196"/>
              </a:schemeClr>
            </a:solidFill>
            <a:prstDash val="solid"/>
            <a:round/>
            <a:headEnd len="sm" w="sm" type="none"/>
            <a:tailEnd len="sm" w="sm" type="none"/>
          </a:ln>
        </p:spPr>
        <p:txBody>
          <a:bodyPr anchorCtr="0" anchor="ctr" bIns="72000" lIns="72000" spcFirstLastPara="1" rIns="72000" wrap="square" tIns="72000">
            <a:noAutofit/>
          </a:bodyPr>
          <a:lstStyle/>
          <a:p>
            <a:pPr indent="0" lvl="0" marL="0" marR="0" rtl="0" algn="ctr">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pic>
        <p:nvPicPr>
          <p:cNvPr id="2704" name="Google Shape;2704;p107"/>
          <p:cNvPicPr preferRelativeResize="0"/>
          <p:nvPr/>
        </p:nvPicPr>
        <p:blipFill rotWithShape="1">
          <a:blip r:embed="rId3">
            <a:alphaModFix/>
          </a:blip>
          <a:srcRect b="0" l="0" r="0" t="0"/>
          <a:stretch/>
        </p:blipFill>
        <p:spPr>
          <a:xfrm>
            <a:off x="604118" y="1961129"/>
            <a:ext cx="163460" cy="252000"/>
          </a:xfrm>
          <a:prstGeom prst="rect">
            <a:avLst/>
          </a:prstGeom>
          <a:noFill/>
          <a:ln>
            <a:noFill/>
          </a:ln>
        </p:spPr>
      </p:pic>
      <p:pic>
        <p:nvPicPr>
          <p:cNvPr id="2705" name="Google Shape;2705;p107"/>
          <p:cNvPicPr preferRelativeResize="0"/>
          <p:nvPr/>
        </p:nvPicPr>
        <p:blipFill rotWithShape="1">
          <a:blip r:embed="rId4">
            <a:alphaModFix/>
          </a:blip>
          <a:srcRect b="0" l="0" r="0" t="0"/>
          <a:stretch/>
        </p:blipFill>
        <p:spPr>
          <a:xfrm>
            <a:off x="6462248" y="1961129"/>
            <a:ext cx="238378" cy="2520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0" name="Shape 2710"/>
        <p:cNvGrpSpPr/>
        <p:nvPr/>
      </p:nvGrpSpPr>
      <p:grpSpPr>
        <a:xfrm>
          <a:off x="0" y="0"/>
          <a:ext cx="0" cy="0"/>
          <a:chOff x="0" y="0"/>
          <a:chExt cx="0" cy="0"/>
        </a:xfrm>
      </p:grpSpPr>
      <p:sp>
        <p:nvSpPr>
          <p:cNvPr id="2711" name="Google Shape;2711;p108"/>
          <p:cNvSpPr/>
          <p:nvPr/>
        </p:nvSpPr>
        <p:spPr>
          <a:xfrm>
            <a:off x="263352" y="260350"/>
            <a:ext cx="11665296" cy="5905500"/>
          </a:xfrm>
          <a:custGeom>
            <a:rect b="b" l="l" r="r" t="t"/>
            <a:pathLst>
              <a:path extrusionOk="0" h="5905500" w="11665296">
                <a:moveTo>
                  <a:pt x="87815" y="0"/>
                </a:moveTo>
                <a:lnTo>
                  <a:pt x="4120263" y="0"/>
                </a:lnTo>
                <a:lnTo>
                  <a:pt x="7545033" y="0"/>
                </a:lnTo>
                <a:lnTo>
                  <a:pt x="11577481" y="0"/>
                </a:lnTo>
                <a:cubicBezTo>
                  <a:pt x="11625980" y="0"/>
                  <a:pt x="11665296" y="39316"/>
                  <a:pt x="11665296" y="87815"/>
                </a:cubicBezTo>
                <a:lnTo>
                  <a:pt x="11665296" y="5817685"/>
                </a:lnTo>
                <a:cubicBezTo>
                  <a:pt x="11665296" y="5866184"/>
                  <a:pt x="11625980" y="5905500"/>
                  <a:pt x="11577481" y="5905500"/>
                </a:cubicBezTo>
                <a:lnTo>
                  <a:pt x="7545033" y="5905500"/>
                </a:lnTo>
                <a:lnTo>
                  <a:pt x="4120263" y="5905500"/>
                </a:lnTo>
                <a:lnTo>
                  <a:pt x="87815" y="5905500"/>
                </a:lnTo>
                <a:cubicBezTo>
                  <a:pt x="39316" y="5905500"/>
                  <a:pt x="0" y="5866184"/>
                  <a:pt x="0" y="5817685"/>
                </a:cubicBezTo>
                <a:lnTo>
                  <a:pt x="0" y="87815"/>
                </a:lnTo>
                <a:cubicBezTo>
                  <a:pt x="0" y="39316"/>
                  <a:pt x="39316" y="0"/>
                  <a:pt x="87815"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12" name="Google Shape;2712;p10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713" name="Google Shape;2713;p10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714" name="Google Shape;2714;p108"/>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descr="A screenshot of a computer&#10;&#10;AI-generated content may be incorrect." id="2715" name="Google Shape;2715;p108"/>
          <p:cNvPicPr preferRelativeResize="0"/>
          <p:nvPr/>
        </p:nvPicPr>
        <p:blipFill rotWithShape="1">
          <a:blip r:embed="rId3">
            <a:alphaModFix/>
          </a:blip>
          <a:srcRect b="0" l="0" r="0" t="0"/>
          <a:stretch/>
        </p:blipFill>
        <p:spPr>
          <a:xfrm>
            <a:off x="4115780" y="831652"/>
            <a:ext cx="7632848" cy="4762896"/>
          </a:xfrm>
          <a:prstGeom prst="roundRect">
            <a:avLst>
              <a:gd fmla="val 2682" name="adj"/>
            </a:avLst>
          </a:prstGeom>
          <a:noFill/>
          <a:ln>
            <a:noFill/>
          </a:ln>
        </p:spPr>
      </p:pic>
      <p:grpSp>
        <p:nvGrpSpPr>
          <p:cNvPr id="2716" name="Google Shape;2716;p108"/>
          <p:cNvGrpSpPr/>
          <p:nvPr/>
        </p:nvGrpSpPr>
        <p:grpSpPr>
          <a:xfrm>
            <a:off x="766785" y="831652"/>
            <a:ext cx="3168975" cy="3033146"/>
            <a:chOff x="550763" y="1665289"/>
            <a:chExt cx="3529015" cy="3033146"/>
          </a:xfrm>
        </p:grpSpPr>
        <p:sp>
          <p:nvSpPr>
            <p:cNvPr id="2717" name="Google Shape;2717;p108"/>
            <p:cNvSpPr txBox="1"/>
            <p:nvPr/>
          </p:nvSpPr>
          <p:spPr>
            <a:xfrm>
              <a:off x="550763" y="2420888"/>
              <a:ext cx="3529013" cy="2277547"/>
            </a:xfrm>
            <a:prstGeom prst="rect">
              <a:avLst/>
            </a:prstGeom>
            <a:noFill/>
            <a:ln>
              <a:noFill/>
            </a:ln>
          </p:spPr>
          <p:txBody>
            <a:bodyPr anchorCtr="0" anchor="t" bIns="0" lIns="0" spcFirstLastPara="1" rIns="0" wrap="square" tIns="0">
              <a:spAutoFit/>
            </a:bodyPr>
            <a:lstStyle/>
            <a:p>
              <a:pPr indent="-266700" lvl="1" marL="266700" marR="0" rtl="0" algn="l">
                <a:lnSpc>
                  <a:spcPct val="100000"/>
                </a:lnSpc>
                <a:spcBef>
                  <a:spcPts val="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GenAI introduction</a:t>
              </a:r>
              <a:endParaRPr b="0" i="0" sz="1400" u="none" cap="none" strike="noStrike">
                <a:solidFill>
                  <a:srgbClr val="000000"/>
                </a:solidFill>
                <a:latin typeface="Arial"/>
                <a:ea typeface="Arial"/>
                <a:cs typeface="Arial"/>
                <a:sym typeface="Arial"/>
              </a:endParaRPr>
            </a:p>
            <a:p>
              <a:pPr indent="-266700" lvl="1" marL="266700" marR="0" rtl="0" algn="l">
                <a:lnSpc>
                  <a:spcPct val="100000"/>
                </a:lnSpc>
                <a:spcBef>
                  <a:spcPts val="60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The Orqflow introduction</a:t>
              </a:r>
              <a:endParaRPr b="0" i="0" sz="1400" u="none" cap="none" strike="noStrike">
                <a:solidFill>
                  <a:srgbClr val="000000"/>
                </a:solidFill>
                <a:latin typeface="Arial"/>
                <a:ea typeface="Arial"/>
                <a:cs typeface="Arial"/>
                <a:sym typeface="Arial"/>
              </a:endParaRPr>
            </a:p>
            <a:p>
              <a:pPr indent="0" lvl="2" marL="266700" marR="0" rtl="0" algn="l">
                <a:lnSpc>
                  <a:spcPct val="100000"/>
                </a:lnSpc>
                <a:spcBef>
                  <a:spcPts val="600"/>
                </a:spcBef>
                <a:spcAft>
                  <a:spcPts val="0"/>
                </a:spcAft>
                <a:buClr>
                  <a:schemeClr val="dk2"/>
                </a:buClr>
                <a:buSzPts val="1200"/>
                <a:buFont typeface="Avenir"/>
                <a:buNone/>
              </a:pPr>
              <a:r>
                <a:rPr b="0" i="0" lang="en-US" sz="1200" u="none" cap="none" strike="noStrike">
                  <a:solidFill>
                    <a:schemeClr val="dk2"/>
                  </a:solidFill>
                  <a:latin typeface="Arial"/>
                  <a:ea typeface="Arial"/>
                  <a:cs typeface="Arial"/>
                  <a:sym typeface="Arial"/>
                </a:rPr>
                <a:t>2.1  Plan</a:t>
              </a:r>
              <a:endParaRPr b="0" i="0" sz="1400" u="none" cap="none" strike="noStrike">
                <a:solidFill>
                  <a:srgbClr val="000000"/>
                </a:solidFill>
                <a:latin typeface="Arial"/>
                <a:ea typeface="Arial"/>
                <a:cs typeface="Arial"/>
                <a:sym typeface="Arial"/>
              </a:endParaRPr>
            </a:p>
            <a:p>
              <a:pPr indent="0" lvl="2" marL="266700" marR="0" rtl="0" algn="l">
                <a:lnSpc>
                  <a:spcPct val="100000"/>
                </a:lnSpc>
                <a:spcBef>
                  <a:spcPts val="600"/>
                </a:spcBef>
                <a:spcAft>
                  <a:spcPts val="0"/>
                </a:spcAft>
                <a:buClr>
                  <a:schemeClr val="dk2"/>
                </a:buClr>
                <a:buSzPts val="1200"/>
                <a:buFont typeface="Avenir"/>
                <a:buNone/>
              </a:pPr>
              <a:r>
                <a:rPr b="0" i="0" lang="en-US" sz="1200" u="none" cap="none" strike="noStrike">
                  <a:solidFill>
                    <a:schemeClr val="dk2"/>
                  </a:solidFill>
                  <a:latin typeface="Arial"/>
                  <a:ea typeface="Arial"/>
                  <a:cs typeface="Arial"/>
                  <a:sym typeface="Arial"/>
                </a:rPr>
                <a:t>2.2  Build</a:t>
              </a:r>
              <a:endParaRPr b="0" i="0" sz="1400" u="none" cap="none" strike="noStrike">
                <a:solidFill>
                  <a:srgbClr val="000000"/>
                </a:solidFill>
                <a:latin typeface="Arial"/>
                <a:ea typeface="Arial"/>
                <a:cs typeface="Arial"/>
                <a:sym typeface="Arial"/>
              </a:endParaRPr>
            </a:p>
            <a:p>
              <a:pPr indent="0" lvl="2" marL="266700" marR="0" rtl="0" algn="l">
                <a:lnSpc>
                  <a:spcPct val="100000"/>
                </a:lnSpc>
                <a:spcBef>
                  <a:spcPts val="600"/>
                </a:spcBef>
                <a:spcAft>
                  <a:spcPts val="0"/>
                </a:spcAft>
                <a:buClr>
                  <a:schemeClr val="dk2"/>
                </a:buClr>
                <a:buSzPts val="1200"/>
                <a:buFont typeface="Avenir"/>
                <a:buNone/>
              </a:pPr>
              <a:r>
                <a:rPr b="0" i="0" lang="en-US" sz="1200" u="none" cap="none" strike="noStrike">
                  <a:solidFill>
                    <a:schemeClr val="dk2"/>
                  </a:solidFill>
                  <a:latin typeface="Arial"/>
                  <a:ea typeface="Arial"/>
                  <a:cs typeface="Arial"/>
                  <a:sym typeface="Arial"/>
                </a:rPr>
                <a:t>2.3  Experiment</a:t>
              </a:r>
              <a:endParaRPr b="0" i="0" sz="1400" u="none" cap="none" strike="noStrike">
                <a:solidFill>
                  <a:srgbClr val="000000"/>
                </a:solidFill>
                <a:latin typeface="Arial"/>
                <a:ea typeface="Arial"/>
                <a:cs typeface="Arial"/>
                <a:sym typeface="Arial"/>
              </a:endParaRPr>
            </a:p>
            <a:p>
              <a:pPr indent="0" lvl="2" marL="266700" marR="0" rtl="0" algn="l">
                <a:lnSpc>
                  <a:spcPct val="100000"/>
                </a:lnSpc>
                <a:spcBef>
                  <a:spcPts val="600"/>
                </a:spcBef>
                <a:spcAft>
                  <a:spcPts val="0"/>
                </a:spcAft>
                <a:buClr>
                  <a:schemeClr val="dk2"/>
                </a:buClr>
                <a:buSzPts val="1200"/>
                <a:buFont typeface="Avenir"/>
                <a:buNone/>
              </a:pPr>
              <a:r>
                <a:rPr b="0" i="0" lang="en-US" sz="1200" u="none" cap="none" strike="noStrike">
                  <a:solidFill>
                    <a:schemeClr val="dk2"/>
                  </a:solidFill>
                  <a:latin typeface="Arial"/>
                  <a:ea typeface="Arial"/>
                  <a:cs typeface="Arial"/>
                  <a:sym typeface="Arial"/>
                </a:rPr>
                <a:t>2.4  Deploy</a:t>
              </a:r>
              <a:endParaRPr b="0" i="0" sz="1400" u="none" cap="none" strike="noStrike">
                <a:solidFill>
                  <a:srgbClr val="000000"/>
                </a:solidFill>
                <a:latin typeface="Arial"/>
                <a:ea typeface="Arial"/>
                <a:cs typeface="Arial"/>
                <a:sym typeface="Arial"/>
              </a:endParaRPr>
            </a:p>
            <a:p>
              <a:pPr indent="0" lvl="2" marL="266700" marR="0" rtl="0" algn="l">
                <a:lnSpc>
                  <a:spcPct val="100000"/>
                </a:lnSpc>
                <a:spcBef>
                  <a:spcPts val="600"/>
                </a:spcBef>
                <a:spcAft>
                  <a:spcPts val="0"/>
                </a:spcAft>
                <a:buClr>
                  <a:schemeClr val="dk2"/>
                </a:buClr>
                <a:buSzPts val="1200"/>
                <a:buFont typeface="Avenir"/>
                <a:buNone/>
              </a:pPr>
              <a:r>
                <a:rPr b="0" i="0" lang="en-US" sz="1200" u="none" cap="none" strike="noStrike">
                  <a:solidFill>
                    <a:schemeClr val="dk2"/>
                  </a:solidFill>
                  <a:latin typeface="Arial"/>
                  <a:ea typeface="Arial"/>
                  <a:cs typeface="Arial"/>
                  <a:sym typeface="Arial"/>
                </a:rPr>
                <a:t>2.5  Operate</a:t>
              </a:r>
              <a:endParaRPr b="0" i="0" sz="1400" u="none" cap="none" strike="noStrike">
                <a:solidFill>
                  <a:srgbClr val="000000"/>
                </a:solidFill>
                <a:latin typeface="Arial"/>
                <a:ea typeface="Arial"/>
                <a:cs typeface="Arial"/>
                <a:sym typeface="Arial"/>
              </a:endParaRPr>
            </a:p>
            <a:p>
              <a:pPr indent="-266700" lvl="1" marL="266700" marR="0" rtl="0" algn="l">
                <a:lnSpc>
                  <a:spcPct val="100000"/>
                </a:lnSpc>
                <a:spcBef>
                  <a:spcPts val="60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Exercise: Image entity extraction</a:t>
              </a:r>
              <a:endParaRPr b="0" i="0" sz="1400" u="none" cap="none" strike="noStrike">
                <a:solidFill>
                  <a:srgbClr val="000000"/>
                </a:solidFill>
                <a:latin typeface="Arial"/>
                <a:ea typeface="Arial"/>
                <a:cs typeface="Arial"/>
                <a:sym typeface="Arial"/>
              </a:endParaRPr>
            </a:p>
            <a:p>
              <a:pPr indent="-266700" lvl="1" marL="266700" marR="0" rtl="0" algn="l">
                <a:lnSpc>
                  <a:spcPct val="100000"/>
                </a:lnSpc>
                <a:spcBef>
                  <a:spcPts val="600"/>
                </a:spcBef>
                <a:spcAft>
                  <a:spcPts val="0"/>
                </a:spcAft>
                <a:buClr>
                  <a:schemeClr val="dk1"/>
                </a:buClr>
                <a:buSzPts val="1200"/>
                <a:buFont typeface="Arial"/>
                <a:buAutoNum type="arabicPeriod"/>
              </a:pPr>
              <a:r>
                <a:rPr b="0" i="0" lang="en-US" sz="1200" u="none" cap="none" strike="noStrike">
                  <a:solidFill>
                    <a:schemeClr val="dk1"/>
                  </a:solidFill>
                  <a:latin typeface="Arial"/>
                  <a:ea typeface="Arial"/>
                  <a:cs typeface="Arial"/>
                  <a:sym typeface="Arial"/>
                </a:rPr>
                <a:t>Orq Enterprise chat</a:t>
              </a:r>
              <a:endParaRPr b="0" i="0" sz="1400" u="none" cap="none" strike="noStrike">
                <a:solidFill>
                  <a:srgbClr val="000000"/>
                </a:solidFill>
                <a:latin typeface="Arial"/>
                <a:ea typeface="Arial"/>
                <a:cs typeface="Arial"/>
                <a:sym typeface="Arial"/>
              </a:endParaRPr>
            </a:p>
          </p:txBody>
        </p:sp>
        <p:sp>
          <p:nvSpPr>
            <p:cNvPr id="2718" name="Google Shape;2718;p108"/>
            <p:cNvSpPr txBox="1"/>
            <p:nvPr/>
          </p:nvSpPr>
          <p:spPr>
            <a:xfrm>
              <a:off x="550763" y="1665289"/>
              <a:ext cx="3529015"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Recap</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3" name="Shape 2723"/>
        <p:cNvGrpSpPr/>
        <p:nvPr/>
      </p:nvGrpSpPr>
      <p:grpSpPr>
        <a:xfrm>
          <a:off x="0" y="0"/>
          <a:ext cx="0" cy="0"/>
          <a:chOff x="0" y="0"/>
          <a:chExt cx="0" cy="0"/>
        </a:xfrm>
      </p:grpSpPr>
      <p:sp>
        <p:nvSpPr>
          <p:cNvPr id="2724" name="Google Shape;2724;p10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725" name="Google Shape;2725;p10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solidFill>
                  <a:schemeClr val="dk2"/>
                </a:solidFill>
              </a:rPr>
              <a:t>Presentation Deck Template</a:t>
            </a:r>
            <a:endParaRPr/>
          </a:p>
        </p:txBody>
      </p:sp>
      <p:sp>
        <p:nvSpPr>
          <p:cNvPr id="2726" name="Google Shape;2726;p109"/>
          <p:cNvSpPr txBox="1"/>
          <p:nvPr>
            <p:ph idx="12" type="sldNum"/>
          </p:nvPr>
        </p:nvSpPr>
        <p:spPr>
          <a:xfrm>
            <a:off x="12034589" y="6673964"/>
            <a:ext cx="51296"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727" name="Google Shape;2727;p109"/>
          <p:cNvSpPr/>
          <p:nvPr/>
        </p:nvSpPr>
        <p:spPr>
          <a:xfrm>
            <a:off x="4295800" y="260350"/>
            <a:ext cx="7632848" cy="5905500"/>
          </a:xfrm>
          <a:prstGeom prst="roundRect">
            <a:avLst>
              <a:gd fmla="val 1487" name="adj"/>
            </a:avLst>
          </a:prstGeom>
          <a:solidFill>
            <a:srgbClr val="F5F3F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descr="A screenshot of a computer&#10;&#10;AI-generated content may be incorrect." id="2728" name="Google Shape;2728;p109"/>
          <p:cNvPicPr preferRelativeResize="0"/>
          <p:nvPr/>
        </p:nvPicPr>
        <p:blipFill rotWithShape="1">
          <a:blip r:embed="rId3">
            <a:alphaModFix/>
          </a:blip>
          <a:srcRect b="0" l="0" r="0" t="0"/>
          <a:stretch/>
        </p:blipFill>
        <p:spPr>
          <a:xfrm>
            <a:off x="4295800" y="260350"/>
            <a:ext cx="7632848" cy="4762896"/>
          </a:xfrm>
          <a:prstGeom prst="roundRect">
            <a:avLst>
              <a:gd fmla="val 2682" name="adj"/>
            </a:avLst>
          </a:prstGeom>
          <a:noFill/>
          <a:ln>
            <a:noFill/>
          </a:ln>
        </p:spPr>
      </p:pic>
      <p:sp>
        <p:nvSpPr>
          <p:cNvPr id="2729" name="Google Shape;2729;p109"/>
          <p:cNvSpPr txBox="1"/>
          <p:nvPr/>
        </p:nvSpPr>
        <p:spPr>
          <a:xfrm>
            <a:off x="263351" y="1665289"/>
            <a:ext cx="3529015" cy="23083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One control layer for the entire</a:t>
            </a:r>
            <a:br>
              <a:rPr b="0" i="0" lang="en-US" sz="2800" u="none" cap="none" strike="noStrike">
                <a:solidFill>
                  <a:schemeClr val="dk1"/>
                </a:solidFill>
                <a:latin typeface="Arial"/>
                <a:ea typeface="Arial"/>
                <a:cs typeface="Arial"/>
                <a:sym typeface="Arial"/>
              </a:rPr>
            </a:br>
            <a:r>
              <a:rPr b="0" i="0" lang="en-US" sz="2800" u="none" cap="none" strike="noStrike">
                <a:solidFill>
                  <a:schemeClr val="dk1"/>
                </a:solidFill>
                <a:latin typeface="Arial"/>
                <a:ea typeface="Arial"/>
                <a:cs typeface="Arial"/>
                <a:sym typeface="Arial"/>
              </a:rPr>
              <a:t>AI lifecycle.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Fast, compliant and in control.</a:t>
            </a:r>
            <a:endParaRPr b="0" i="0" sz="1400" u="none" cap="none" strike="noStrike">
              <a:solidFill>
                <a:srgbClr val="000000"/>
              </a:solidFill>
              <a:latin typeface="Arial"/>
              <a:ea typeface="Arial"/>
              <a:cs typeface="Arial"/>
              <a:sym typeface="Arial"/>
            </a:endParaRPr>
          </a:p>
        </p:txBody>
      </p:sp>
      <p:sp>
        <p:nvSpPr>
          <p:cNvPr id="2730" name="Google Shape;2730;p109"/>
          <p:cNvSpPr txBox="1"/>
          <p:nvPr/>
        </p:nvSpPr>
        <p:spPr>
          <a:xfrm>
            <a:off x="658774" y="5998360"/>
            <a:ext cx="3025580"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sohrab@orq.ai</a:t>
            </a:r>
            <a:endParaRPr b="0" i="0" sz="1400" u="none" cap="none" strike="noStrike">
              <a:solidFill>
                <a:srgbClr val="000000"/>
              </a:solidFill>
              <a:latin typeface="Arial"/>
              <a:ea typeface="Arial"/>
              <a:cs typeface="Arial"/>
              <a:sym typeface="Arial"/>
            </a:endParaRPr>
          </a:p>
        </p:txBody>
      </p:sp>
      <p:sp>
        <p:nvSpPr>
          <p:cNvPr id="2731" name="Google Shape;2731;p109"/>
          <p:cNvSpPr txBox="1"/>
          <p:nvPr/>
        </p:nvSpPr>
        <p:spPr>
          <a:xfrm>
            <a:off x="658774" y="5602316"/>
            <a:ext cx="3025580"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+31 6 48 01 55 37</a:t>
            </a:r>
            <a:endParaRPr b="0" i="0" sz="1400" u="none" cap="none" strike="noStrike">
              <a:solidFill>
                <a:srgbClr val="000000"/>
              </a:solidFill>
              <a:latin typeface="Arial"/>
              <a:ea typeface="Arial"/>
              <a:cs typeface="Arial"/>
              <a:sym typeface="Arial"/>
            </a:endParaRPr>
          </a:p>
        </p:txBody>
      </p:sp>
      <p:sp>
        <p:nvSpPr>
          <p:cNvPr id="2732" name="Google Shape;2732;p109"/>
          <p:cNvSpPr txBox="1"/>
          <p:nvPr/>
        </p:nvSpPr>
        <p:spPr>
          <a:xfrm>
            <a:off x="658774" y="5206272"/>
            <a:ext cx="3025580" cy="153888"/>
          </a:xfrm>
          <a:prstGeom prst="rect">
            <a:avLst/>
          </a:prstGeom>
          <a:noFill/>
          <a:ln>
            <a:noFill/>
          </a:ln>
        </p:spPr>
        <p:txBody>
          <a:bodyPr anchorCtr="0" anchor="b"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Arial"/>
              <a:buNone/>
            </a:pPr>
            <a:r>
              <a:rPr b="0" i="0" lang="en-US" sz="1000" u="none" cap="none" strike="noStrike">
                <a:solidFill>
                  <a:schemeClr val="accent1"/>
                </a:solidFill>
                <a:latin typeface="Arial"/>
                <a:ea typeface="Arial"/>
                <a:cs typeface="Arial"/>
                <a:sym typeface="Arial"/>
              </a:rPr>
              <a:t>orq.ai</a:t>
            </a:r>
            <a:endParaRPr b="0" i="0" sz="1400" u="none" cap="none" strike="noStrike">
              <a:solidFill>
                <a:srgbClr val="000000"/>
              </a:solidFill>
              <a:latin typeface="Arial"/>
              <a:ea typeface="Arial"/>
              <a:cs typeface="Arial"/>
              <a:sym typeface="Arial"/>
            </a:endParaRPr>
          </a:p>
        </p:txBody>
      </p:sp>
      <p:pic>
        <p:nvPicPr>
          <p:cNvPr id="2733" name="Google Shape;2733;p109"/>
          <p:cNvPicPr preferRelativeResize="0"/>
          <p:nvPr/>
        </p:nvPicPr>
        <p:blipFill rotWithShape="1">
          <a:blip r:embed="rId4">
            <a:alphaModFix/>
          </a:blip>
          <a:srcRect b="0" l="0" r="0" t="0"/>
          <a:stretch/>
        </p:blipFill>
        <p:spPr>
          <a:xfrm>
            <a:off x="263352" y="5157216"/>
            <a:ext cx="252000" cy="252000"/>
          </a:xfrm>
          <a:prstGeom prst="rect">
            <a:avLst/>
          </a:prstGeom>
          <a:noFill/>
          <a:ln>
            <a:noFill/>
          </a:ln>
        </p:spPr>
      </p:pic>
      <p:pic>
        <p:nvPicPr>
          <p:cNvPr id="2734" name="Google Shape;2734;p109"/>
          <p:cNvPicPr preferRelativeResize="0"/>
          <p:nvPr/>
        </p:nvPicPr>
        <p:blipFill rotWithShape="1">
          <a:blip r:embed="rId5">
            <a:alphaModFix/>
          </a:blip>
          <a:srcRect b="0" l="0" r="0" t="0"/>
          <a:stretch/>
        </p:blipFill>
        <p:spPr>
          <a:xfrm>
            <a:off x="263352" y="5553260"/>
            <a:ext cx="252000" cy="252000"/>
          </a:xfrm>
          <a:prstGeom prst="rect">
            <a:avLst/>
          </a:prstGeom>
          <a:noFill/>
          <a:ln>
            <a:noFill/>
          </a:ln>
        </p:spPr>
      </p:pic>
      <p:pic>
        <p:nvPicPr>
          <p:cNvPr id="2735" name="Google Shape;2735;p109"/>
          <p:cNvPicPr preferRelativeResize="0"/>
          <p:nvPr/>
        </p:nvPicPr>
        <p:blipFill rotWithShape="1">
          <a:blip r:embed="rId6">
            <a:alphaModFix/>
          </a:blip>
          <a:srcRect b="0" l="0" r="0" t="0"/>
          <a:stretch/>
        </p:blipFill>
        <p:spPr>
          <a:xfrm>
            <a:off x="261716" y="5939742"/>
            <a:ext cx="263454" cy="252000"/>
          </a:xfrm>
          <a:prstGeom prst="rect">
            <a:avLst/>
          </a:prstGeom>
          <a:noFill/>
          <a:ln>
            <a:noFill/>
          </a:ln>
        </p:spPr>
      </p:pic>
      <p:sp>
        <p:nvSpPr>
          <p:cNvPr id="2736" name="Google Shape;2736;p109"/>
          <p:cNvSpPr txBox="1"/>
          <p:nvPr/>
        </p:nvSpPr>
        <p:spPr>
          <a:xfrm>
            <a:off x="263351" y="4185084"/>
            <a:ext cx="2655962" cy="43088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1400"/>
              <a:buFont typeface="Arial"/>
              <a:buNone/>
            </a:pPr>
            <a:r>
              <a:rPr b="0" i="0" lang="en-US" sz="1400" u="none" cap="none" strike="noStrike">
                <a:solidFill>
                  <a:schemeClr val="dk2"/>
                </a:solidFill>
                <a:latin typeface="Arial"/>
                <a:ea typeface="Arial"/>
                <a:cs typeface="Arial"/>
                <a:sym typeface="Arial"/>
              </a:rPr>
              <a:t>Presenter name 1 &amp;</a:t>
            </a:r>
            <a:br>
              <a:rPr b="0" i="0" lang="en-US" sz="1400" u="none" cap="none" strike="noStrike">
                <a:solidFill>
                  <a:schemeClr val="dk2"/>
                </a:solidFill>
                <a:latin typeface="Arial"/>
                <a:ea typeface="Arial"/>
                <a:cs typeface="Arial"/>
                <a:sym typeface="Arial"/>
              </a:rPr>
            </a:br>
            <a:r>
              <a:rPr b="0" i="0" lang="en-US" sz="1400" u="none" cap="none" strike="noStrike">
                <a:solidFill>
                  <a:schemeClr val="dk2"/>
                </a:solidFill>
                <a:latin typeface="Arial"/>
                <a:ea typeface="Arial"/>
                <a:cs typeface="Arial"/>
                <a:sym typeface="Arial"/>
              </a:rPr>
              <a:t>Presenter name 2</a:t>
            </a:r>
            <a:endParaRPr b="0" i="0" sz="1400" u="none" cap="none" strike="noStrike">
              <a:solidFill>
                <a:srgbClr val="000000"/>
              </a:solidFill>
              <a:latin typeface="Arial"/>
              <a:ea typeface="Arial"/>
              <a:cs typeface="Arial"/>
              <a:sym typeface="Arial"/>
            </a:endParaRPr>
          </a:p>
        </p:txBody>
      </p:sp>
      <p:sp>
        <p:nvSpPr>
          <p:cNvPr id="2737" name="Google Shape;2737;p109"/>
          <p:cNvSpPr/>
          <p:nvPr/>
        </p:nvSpPr>
        <p:spPr>
          <a:xfrm>
            <a:off x="263354" y="637755"/>
            <a:ext cx="2366663" cy="648000"/>
          </a:xfrm>
          <a:custGeom>
            <a:rect b="b" l="l" r="r" t="t"/>
            <a:pathLst>
              <a:path extrusionOk="0" h="242317" w="885000">
                <a:moveTo>
                  <a:pt x="663956" y="153797"/>
                </a:moveTo>
                <a:lnTo>
                  <a:pt x="691768" y="153797"/>
                </a:lnTo>
                <a:lnTo>
                  <a:pt x="691768" y="181674"/>
                </a:lnTo>
                <a:lnTo>
                  <a:pt x="663956" y="181674"/>
                </a:lnTo>
                <a:close/>
                <a:moveTo>
                  <a:pt x="62674" y="153670"/>
                </a:moveTo>
                <a:lnTo>
                  <a:pt x="67373" y="153670"/>
                </a:lnTo>
                <a:cubicBezTo>
                  <a:pt x="74803" y="153670"/>
                  <a:pt x="78549" y="153670"/>
                  <a:pt x="81407" y="155131"/>
                </a:cubicBezTo>
                <a:cubicBezTo>
                  <a:pt x="83883" y="156401"/>
                  <a:pt x="85916" y="158433"/>
                  <a:pt x="87185" y="160909"/>
                </a:cubicBezTo>
                <a:cubicBezTo>
                  <a:pt x="88646" y="163767"/>
                  <a:pt x="88646" y="167450"/>
                  <a:pt x="88646" y="174943"/>
                </a:cubicBezTo>
                <a:lnTo>
                  <a:pt x="88646" y="180086"/>
                </a:lnTo>
                <a:cubicBezTo>
                  <a:pt x="88646" y="186945"/>
                  <a:pt x="88646" y="190437"/>
                  <a:pt x="89916" y="193104"/>
                </a:cubicBezTo>
                <a:cubicBezTo>
                  <a:pt x="91186" y="195961"/>
                  <a:pt x="93472" y="198184"/>
                  <a:pt x="96330" y="199518"/>
                </a:cubicBezTo>
                <a:cubicBezTo>
                  <a:pt x="98996" y="200787"/>
                  <a:pt x="102425" y="200787"/>
                  <a:pt x="109347" y="200787"/>
                </a:cubicBezTo>
                <a:cubicBezTo>
                  <a:pt x="116269" y="200787"/>
                  <a:pt x="119634" y="200787"/>
                  <a:pt x="122301" y="202058"/>
                </a:cubicBezTo>
                <a:cubicBezTo>
                  <a:pt x="125158" y="203391"/>
                  <a:pt x="127444" y="205677"/>
                  <a:pt x="128778" y="208471"/>
                </a:cubicBezTo>
                <a:cubicBezTo>
                  <a:pt x="129984" y="211138"/>
                  <a:pt x="129984" y="214631"/>
                  <a:pt x="129984" y="221552"/>
                </a:cubicBezTo>
                <a:cubicBezTo>
                  <a:pt x="129984" y="228473"/>
                  <a:pt x="129984" y="231966"/>
                  <a:pt x="128778" y="234633"/>
                </a:cubicBezTo>
                <a:cubicBezTo>
                  <a:pt x="127444" y="237490"/>
                  <a:pt x="125158" y="239713"/>
                  <a:pt x="122301" y="241046"/>
                </a:cubicBezTo>
                <a:cubicBezTo>
                  <a:pt x="119634" y="242317"/>
                  <a:pt x="116205" y="242317"/>
                  <a:pt x="109347" y="242317"/>
                </a:cubicBezTo>
                <a:cubicBezTo>
                  <a:pt x="102489" y="242317"/>
                  <a:pt x="98996" y="242317"/>
                  <a:pt x="96330" y="241046"/>
                </a:cubicBezTo>
                <a:cubicBezTo>
                  <a:pt x="93472" y="239713"/>
                  <a:pt x="91186" y="237427"/>
                  <a:pt x="89916" y="234633"/>
                </a:cubicBezTo>
                <a:cubicBezTo>
                  <a:pt x="88646" y="231966"/>
                  <a:pt x="88646" y="228537"/>
                  <a:pt x="88646" y="221615"/>
                </a:cubicBezTo>
                <a:cubicBezTo>
                  <a:pt x="88646" y="214758"/>
                  <a:pt x="88646" y="211265"/>
                  <a:pt x="87376" y="208598"/>
                </a:cubicBezTo>
                <a:cubicBezTo>
                  <a:pt x="86106" y="205740"/>
                  <a:pt x="83820" y="203518"/>
                  <a:pt x="80962" y="202184"/>
                </a:cubicBezTo>
                <a:cubicBezTo>
                  <a:pt x="78295" y="200914"/>
                  <a:pt x="74867" y="200914"/>
                  <a:pt x="67945" y="200914"/>
                </a:cubicBezTo>
                <a:lnTo>
                  <a:pt x="62674" y="200914"/>
                </a:lnTo>
                <a:cubicBezTo>
                  <a:pt x="55181" y="200914"/>
                  <a:pt x="51498" y="200914"/>
                  <a:pt x="48641" y="199454"/>
                </a:cubicBezTo>
                <a:cubicBezTo>
                  <a:pt x="46165" y="198184"/>
                  <a:pt x="44132" y="196152"/>
                  <a:pt x="42799" y="193675"/>
                </a:cubicBezTo>
                <a:cubicBezTo>
                  <a:pt x="41402" y="190818"/>
                  <a:pt x="41402" y="187135"/>
                  <a:pt x="41402" y="179642"/>
                </a:cubicBezTo>
                <a:lnTo>
                  <a:pt x="41402" y="174943"/>
                </a:lnTo>
                <a:cubicBezTo>
                  <a:pt x="41402" y="167513"/>
                  <a:pt x="41402" y="163767"/>
                  <a:pt x="42799" y="160909"/>
                </a:cubicBezTo>
                <a:cubicBezTo>
                  <a:pt x="44132" y="158433"/>
                  <a:pt x="46165" y="156401"/>
                  <a:pt x="48641" y="155131"/>
                </a:cubicBezTo>
                <a:cubicBezTo>
                  <a:pt x="51498" y="153670"/>
                  <a:pt x="55181" y="153670"/>
                  <a:pt x="62674" y="153670"/>
                </a:cubicBezTo>
                <a:close/>
                <a:moveTo>
                  <a:pt x="221551" y="112268"/>
                </a:moveTo>
                <a:cubicBezTo>
                  <a:pt x="228409" y="112268"/>
                  <a:pt x="231902" y="112268"/>
                  <a:pt x="234569" y="113538"/>
                </a:cubicBezTo>
                <a:cubicBezTo>
                  <a:pt x="237426" y="114871"/>
                  <a:pt x="239712" y="117157"/>
                  <a:pt x="240982" y="119951"/>
                </a:cubicBezTo>
                <a:cubicBezTo>
                  <a:pt x="242253" y="122619"/>
                  <a:pt x="242253" y="126111"/>
                  <a:pt x="242253" y="133032"/>
                </a:cubicBezTo>
                <a:cubicBezTo>
                  <a:pt x="242253" y="139954"/>
                  <a:pt x="242253" y="143446"/>
                  <a:pt x="240982" y="146113"/>
                </a:cubicBezTo>
                <a:cubicBezTo>
                  <a:pt x="239712" y="148970"/>
                  <a:pt x="237426" y="151194"/>
                  <a:pt x="234569" y="152527"/>
                </a:cubicBezTo>
                <a:cubicBezTo>
                  <a:pt x="231902" y="153796"/>
                  <a:pt x="228473" y="153796"/>
                  <a:pt x="221551" y="153796"/>
                </a:cubicBezTo>
                <a:cubicBezTo>
                  <a:pt x="214630" y="153796"/>
                  <a:pt x="211264" y="153796"/>
                  <a:pt x="208597" y="155067"/>
                </a:cubicBezTo>
                <a:cubicBezTo>
                  <a:pt x="205740" y="156400"/>
                  <a:pt x="203454" y="158686"/>
                  <a:pt x="202120" y="161481"/>
                </a:cubicBezTo>
                <a:cubicBezTo>
                  <a:pt x="200914" y="164147"/>
                  <a:pt x="200914" y="167576"/>
                  <a:pt x="200914" y="174498"/>
                </a:cubicBezTo>
                <a:lnTo>
                  <a:pt x="200914" y="179641"/>
                </a:lnTo>
                <a:cubicBezTo>
                  <a:pt x="200914" y="187070"/>
                  <a:pt x="200914" y="190817"/>
                  <a:pt x="199454" y="193675"/>
                </a:cubicBezTo>
                <a:cubicBezTo>
                  <a:pt x="198183" y="196151"/>
                  <a:pt x="196151" y="198183"/>
                  <a:pt x="193611" y="199453"/>
                </a:cubicBezTo>
                <a:cubicBezTo>
                  <a:pt x="190818" y="200914"/>
                  <a:pt x="187071" y="200914"/>
                  <a:pt x="179642" y="200914"/>
                </a:cubicBezTo>
                <a:lnTo>
                  <a:pt x="174879" y="200914"/>
                </a:lnTo>
                <a:cubicBezTo>
                  <a:pt x="167449" y="200914"/>
                  <a:pt x="163767" y="200914"/>
                  <a:pt x="160909" y="199453"/>
                </a:cubicBezTo>
                <a:cubicBezTo>
                  <a:pt x="158369" y="198183"/>
                  <a:pt x="156337" y="196151"/>
                  <a:pt x="155067" y="193675"/>
                </a:cubicBezTo>
                <a:cubicBezTo>
                  <a:pt x="153606" y="190817"/>
                  <a:pt x="153606" y="187134"/>
                  <a:pt x="153606" y="179641"/>
                </a:cubicBezTo>
                <a:lnTo>
                  <a:pt x="153606" y="174942"/>
                </a:lnTo>
                <a:cubicBezTo>
                  <a:pt x="153606" y="167513"/>
                  <a:pt x="153606" y="163766"/>
                  <a:pt x="155067" y="160908"/>
                </a:cubicBezTo>
                <a:cubicBezTo>
                  <a:pt x="156337" y="158432"/>
                  <a:pt x="158369" y="156400"/>
                  <a:pt x="160909" y="155131"/>
                </a:cubicBezTo>
                <a:cubicBezTo>
                  <a:pt x="163767" y="153669"/>
                  <a:pt x="167449" y="153669"/>
                  <a:pt x="174879" y="153669"/>
                </a:cubicBezTo>
                <a:lnTo>
                  <a:pt x="180213" y="153669"/>
                </a:lnTo>
                <a:cubicBezTo>
                  <a:pt x="187134" y="153669"/>
                  <a:pt x="190563" y="153669"/>
                  <a:pt x="193231" y="152400"/>
                </a:cubicBezTo>
                <a:cubicBezTo>
                  <a:pt x="196088" y="151066"/>
                  <a:pt x="198310" y="148781"/>
                  <a:pt x="199644" y="145986"/>
                </a:cubicBezTo>
                <a:cubicBezTo>
                  <a:pt x="200914" y="143320"/>
                  <a:pt x="200914" y="139890"/>
                  <a:pt x="200914" y="132969"/>
                </a:cubicBezTo>
                <a:cubicBezTo>
                  <a:pt x="200914" y="126047"/>
                  <a:pt x="200914" y="122619"/>
                  <a:pt x="202120" y="119951"/>
                </a:cubicBezTo>
                <a:cubicBezTo>
                  <a:pt x="203454" y="117094"/>
                  <a:pt x="205740" y="114871"/>
                  <a:pt x="208597" y="113538"/>
                </a:cubicBezTo>
                <a:cubicBezTo>
                  <a:pt x="211264" y="112268"/>
                  <a:pt x="214694" y="112268"/>
                  <a:pt x="221551" y="112268"/>
                </a:cubicBezTo>
                <a:close/>
                <a:moveTo>
                  <a:pt x="121158" y="100457"/>
                </a:moveTo>
                <a:cubicBezTo>
                  <a:pt x="127382" y="100457"/>
                  <a:pt x="130430" y="100457"/>
                  <a:pt x="132906" y="101409"/>
                </a:cubicBezTo>
                <a:cubicBezTo>
                  <a:pt x="136525" y="102806"/>
                  <a:pt x="139446" y="105727"/>
                  <a:pt x="140844" y="109410"/>
                </a:cubicBezTo>
                <a:cubicBezTo>
                  <a:pt x="141796" y="111887"/>
                  <a:pt x="141796" y="114998"/>
                  <a:pt x="141796" y="121157"/>
                </a:cubicBezTo>
                <a:cubicBezTo>
                  <a:pt x="141796" y="127317"/>
                  <a:pt x="141796" y="130429"/>
                  <a:pt x="140844" y="132905"/>
                </a:cubicBezTo>
                <a:cubicBezTo>
                  <a:pt x="139446" y="136588"/>
                  <a:pt x="136525" y="139445"/>
                  <a:pt x="132906" y="140906"/>
                </a:cubicBezTo>
                <a:cubicBezTo>
                  <a:pt x="130430" y="141858"/>
                  <a:pt x="127318" y="141858"/>
                  <a:pt x="121158" y="141858"/>
                </a:cubicBezTo>
                <a:cubicBezTo>
                  <a:pt x="114935" y="141858"/>
                  <a:pt x="111824" y="141858"/>
                  <a:pt x="109411" y="140906"/>
                </a:cubicBezTo>
                <a:cubicBezTo>
                  <a:pt x="105728" y="139509"/>
                  <a:pt x="102870" y="136588"/>
                  <a:pt x="101410" y="132905"/>
                </a:cubicBezTo>
                <a:cubicBezTo>
                  <a:pt x="100457" y="130429"/>
                  <a:pt x="100457" y="127317"/>
                  <a:pt x="100457" y="121157"/>
                </a:cubicBezTo>
                <a:cubicBezTo>
                  <a:pt x="100457" y="114998"/>
                  <a:pt x="100457" y="111887"/>
                  <a:pt x="101410" y="109410"/>
                </a:cubicBezTo>
                <a:cubicBezTo>
                  <a:pt x="102870" y="105727"/>
                  <a:pt x="105728" y="102869"/>
                  <a:pt x="109411" y="101409"/>
                </a:cubicBezTo>
                <a:cubicBezTo>
                  <a:pt x="111824" y="100457"/>
                  <a:pt x="114935" y="100457"/>
                  <a:pt x="121158" y="100457"/>
                </a:cubicBezTo>
                <a:close/>
                <a:moveTo>
                  <a:pt x="356806" y="80772"/>
                </a:moveTo>
                <a:cubicBezTo>
                  <a:pt x="334772" y="80772"/>
                  <a:pt x="318580" y="96266"/>
                  <a:pt x="318580" y="120841"/>
                </a:cubicBezTo>
                <a:cubicBezTo>
                  <a:pt x="318580" y="145415"/>
                  <a:pt x="335026" y="160719"/>
                  <a:pt x="356806" y="160719"/>
                </a:cubicBezTo>
                <a:cubicBezTo>
                  <a:pt x="378841" y="160719"/>
                  <a:pt x="394780" y="145225"/>
                  <a:pt x="394780" y="120841"/>
                </a:cubicBezTo>
                <a:cubicBezTo>
                  <a:pt x="394780" y="96457"/>
                  <a:pt x="378841" y="80772"/>
                  <a:pt x="356806" y="80772"/>
                </a:cubicBezTo>
                <a:close/>
                <a:moveTo>
                  <a:pt x="584518" y="80328"/>
                </a:moveTo>
                <a:cubicBezTo>
                  <a:pt x="562483" y="80328"/>
                  <a:pt x="545846" y="97409"/>
                  <a:pt x="545846" y="121095"/>
                </a:cubicBezTo>
                <a:cubicBezTo>
                  <a:pt x="545846" y="144780"/>
                  <a:pt x="561593" y="160972"/>
                  <a:pt x="584518" y="160972"/>
                </a:cubicBezTo>
                <a:cubicBezTo>
                  <a:pt x="606552" y="160972"/>
                  <a:pt x="622998" y="144780"/>
                  <a:pt x="622998" y="121095"/>
                </a:cubicBezTo>
                <a:cubicBezTo>
                  <a:pt x="622998" y="97409"/>
                  <a:pt x="606552" y="80328"/>
                  <a:pt x="584518" y="80328"/>
                </a:cubicBezTo>
                <a:close/>
                <a:moveTo>
                  <a:pt x="765302" y="80327"/>
                </a:moveTo>
                <a:cubicBezTo>
                  <a:pt x="743268" y="80327"/>
                  <a:pt x="726631" y="97408"/>
                  <a:pt x="726631" y="121094"/>
                </a:cubicBezTo>
                <a:cubicBezTo>
                  <a:pt x="726631" y="144780"/>
                  <a:pt x="742315" y="160972"/>
                  <a:pt x="765302" y="160972"/>
                </a:cubicBezTo>
                <a:cubicBezTo>
                  <a:pt x="787337" y="160972"/>
                  <a:pt x="803719" y="144780"/>
                  <a:pt x="803719" y="121094"/>
                </a:cubicBezTo>
                <a:cubicBezTo>
                  <a:pt x="803719" y="97408"/>
                  <a:pt x="787337" y="80327"/>
                  <a:pt x="765302" y="80327"/>
                </a:cubicBezTo>
                <a:close/>
                <a:moveTo>
                  <a:pt x="858076" y="60135"/>
                </a:moveTo>
                <a:lnTo>
                  <a:pt x="885000" y="60135"/>
                </a:lnTo>
                <a:lnTo>
                  <a:pt x="885000" y="182055"/>
                </a:lnTo>
                <a:lnTo>
                  <a:pt x="858076" y="182055"/>
                </a:lnTo>
                <a:close/>
                <a:moveTo>
                  <a:pt x="502094" y="57341"/>
                </a:moveTo>
                <a:cubicBezTo>
                  <a:pt x="506285" y="57341"/>
                  <a:pt x="509143" y="57595"/>
                  <a:pt x="512890" y="58992"/>
                </a:cubicBezTo>
                <a:lnTo>
                  <a:pt x="512890" y="85725"/>
                </a:lnTo>
                <a:cubicBezTo>
                  <a:pt x="508191" y="84329"/>
                  <a:pt x="504190" y="83630"/>
                  <a:pt x="499046" y="83630"/>
                </a:cubicBezTo>
                <a:cubicBezTo>
                  <a:pt x="480314" y="83630"/>
                  <a:pt x="467424" y="96267"/>
                  <a:pt x="467424" y="123254"/>
                </a:cubicBezTo>
                <a:lnTo>
                  <a:pt x="467424" y="182119"/>
                </a:lnTo>
                <a:lnTo>
                  <a:pt x="440436" y="182119"/>
                </a:lnTo>
                <a:lnTo>
                  <a:pt x="440436" y="182055"/>
                </a:lnTo>
                <a:lnTo>
                  <a:pt x="440436" y="60135"/>
                </a:lnTo>
                <a:lnTo>
                  <a:pt x="467424" y="60135"/>
                </a:lnTo>
                <a:lnTo>
                  <a:pt x="467424" y="100711"/>
                </a:lnTo>
                <a:lnTo>
                  <a:pt x="473964" y="69533"/>
                </a:lnTo>
                <a:cubicBezTo>
                  <a:pt x="478663" y="64389"/>
                  <a:pt x="488252" y="57341"/>
                  <a:pt x="502094" y="57341"/>
                </a:cubicBezTo>
                <a:close/>
                <a:moveTo>
                  <a:pt x="579628" y="56007"/>
                </a:moveTo>
                <a:cubicBezTo>
                  <a:pt x="598360" y="56007"/>
                  <a:pt x="612648" y="63500"/>
                  <a:pt x="622046" y="74549"/>
                </a:cubicBezTo>
                <a:lnTo>
                  <a:pt x="622046" y="60261"/>
                </a:lnTo>
                <a:lnTo>
                  <a:pt x="649033" y="60261"/>
                </a:lnTo>
                <a:lnTo>
                  <a:pt x="649033" y="230124"/>
                </a:lnTo>
                <a:lnTo>
                  <a:pt x="622046" y="230124"/>
                </a:lnTo>
                <a:lnTo>
                  <a:pt x="622046" y="230060"/>
                </a:lnTo>
                <a:lnTo>
                  <a:pt x="622046" y="142240"/>
                </a:lnTo>
                <a:lnTo>
                  <a:pt x="614108" y="175070"/>
                </a:lnTo>
                <a:cubicBezTo>
                  <a:pt x="606552" y="180911"/>
                  <a:pt x="598360" y="185610"/>
                  <a:pt x="579628" y="185610"/>
                </a:cubicBezTo>
                <a:cubicBezTo>
                  <a:pt x="543052" y="185610"/>
                  <a:pt x="517969" y="157734"/>
                  <a:pt x="517969" y="121158"/>
                </a:cubicBezTo>
                <a:cubicBezTo>
                  <a:pt x="517969" y="84582"/>
                  <a:pt x="542798" y="56007"/>
                  <a:pt x="579628" y="56007"/>
                </a:cubicBezTo>
                <a:close/>
                <a:moveTo>
                  <a:pt x="760349" y="55943"/>
                </a:moveTo>
                <a:cubicBezTo>
                  <a:pt x="779145" y="55943"/>
                  <a:pt x="793433" y="63436"/>
                  <a:pt x="802831" y="74485"/>
                </a:cubicBezTo>
                <a:lnTo>
                  <a:pt x="802831" y="60197"/>
                </a:lnTo>
                <a:lnTo>
                  <a:pt x="829755" y="60197"/>
                </a:lnTo>
                <a:lnTo>
                  <a:pt x="829755" y="128206"/>
                </a:lnTo>
                <a:lnTo>
                  <a:pt x="848297" y="182118"/>
                </a:lnTo>
                <a:lnTo>
                  <a:pt x="819658" y="182118"/>
                </a:lnTo>
                <a:lnTo>
                  <a:pt x="805181" y="136842"/>
                </a:lnTo>
                <a:lnTo>
                  <a:pt x="802831" y="167322"/>
                </a:lnTo>
                <a:cubicBezTo>
                  <a:pt x="793877" y="178117"/>
                  <a:pt x="780098" y="185610"/>
                  <a:pt x="760349" y="185610"/>
                </a:cubicBezTo>
                <a:lnTo>
                  <a:pt x="760349" y="185546"/>
                </a:lnTo>
                <a:cubicBezTo>
                  <a:pt x="723837" y="185546"/>
                  <a:pt x="698691" y="157670"/>
                  <a:pt x="698691" y="121094"/>
                </a:cubicBezTo>
                <a:cubicBezTo>
                  <a:pt x="698691" y="84518"/>
                  <a:pt x="723583" y="55943"/>
                  <a:pt x="760349" y="55943"/>
                </a:cubicBezTo>
                <a:close/>
                <a:moveTo>
                  <a:pt x="356806" y="55880"/>
                </a:moveTo>
                <a:cubicBezTo>
                  <a:pt x="394525" y="55880"/>
                  <a:pt x="422910" y="82614"/>
                  <a:pt x="422910" y="120841"/>
                </a:cubicBezTo>
                <a:cubicBezTo>
                  <a:pt x="422910" y="159068"/>
                  <a:pt x="394335" y="185547"/>
                  <a:pt x="356806" y="185547"/>
                </a:cubicBezTo>
                <a:cubicBezTo>
                  <a:pt x="319087" y="185547"/>
                  <a:pt x="290703" y="158814"/>
                  <a:pt x="290703" y="120841"/>
                </a:cubicBezTo>
                <a:cubicBezTo>
                  <a:pt x="290703" y="82868"/>
                  <a:pt x="319087" y="55880"/>
                  <a:pt x="356806" y="55880"/>
                </a:cubicBezTo>
                <a:close/>
                <a:moveTo>
                  <a:pt x="62674" y="41402"/>
                </a:moveTo>
                <a:lnTo>
                  <a:pt x="67373" y="41402"/>
                </a:lnTo>
                <a:cubicBezTo>
                  <a:pt x="74803" y="41402"/>
                  <a:pt x="78549" y="41402"/>
                  <a:pt x="81407" y="42862"/>
                </a:cubicBezTo>
                <a:cubicBezTo>
                  <a:pt x="83883" y="44132"/>
                  <a:pt x="85916" y="46165"/>
                  <a:pt x="87185" y="48641"/>
                </a:cubicBezTo>
                <a:cubicBezTo>
                  <a:pt x="88646" y="51498"/>
                  <a:pt x="88646" y="55181"/>
                  <a:pt x="88646" y="62674"/>
                </a:cubicBezTo>
                <a:lnTo>
                  <a:pt x="88646" y="67373"/>
                </a:lnTo>
                <a:cubicBezTo>
                  <a:pt x="88646" y="74803"/>
                  <a:pt x="88646" y="78549"/>
                  <a:pt x="87185" y="81407"/>
                </a:cubicBezTo>
                <a:cubicBezTo>
                  <a:pt x="85916" y="83883"/>
                  <a:pt x="83883" y="85916"/>
                  <a:pt x="81407" y="87185"/>
                </a:cubicBezTo>
                <a:cubicBezTo>
                  <a:pt x="78549" y="88646"/>
                  <a:pt x="74803" y="88646"/>
                  <a:pt x="67373" y="88646"/>
                </a:cubicBezTo>
                <a:lnTo>
                  <a:pt x="62040" y="88646"/>
                </a:lnTo>
                <a:cubicBezTo>
                  <a:pt x="55181" y="88646"/>
                  <a:pt x="51753" y="88646"/>
                  <a:pt x="49085" y="89916"/>
                </a:cubicBezTo>
                <a:cubicBezTo>
                  <a:pt x="46228" y="91249"/>
                  <a:pt x="43942" y="93535"/>
                  <a:pt x="42608" y="96330"/>
                </a:cubicBezTo>
                <a:cubicBezTo>
                  <a:pt x="41402" y="98996"/>
                  <a:pt x="41402" y="102425"/>
                  <a:pt x="41402" y="109347"/>
                </a:cubicBezTo>
                <a:cubicBezTo>
                  <a:pt x="41402" y="116269"/>
                  <a:pt x="41402" y="119697"/>
                  <a:pt x="40132" y="122365"/>
                </a:cubicBezTo>
                <a:cubicBezTo>
                  <a:pt x="38798" y="125222"/>
                  <a:pt x="36513" y="127445"/>
                  <a:pt x="33719" y="128778"/>
                </a:cubicBezTo>
                <a:cubicBezTo>
                  <a:pt x="31052" y="130048"/>
                  <a:pt x="27559" y="130048"/>
                  <a:pt x="20701" y="130048"/>
                </a:cubicBezTo>
                <a:cubicBezTo>
                  <a:pt x="13843" y="130048"/>
                  <a:pt x="10351" y="130048"/>
                  <a:pt x="7683" y="128778"/>
                </a:cubicBezTo>
                <a:cubicBezTo>
                  <a:pt x="4890" y="127445"/>
                  <a:pt x="2604" y="125158"/>
                  <a:pt x="1270" y="122365"/>
                </a:cubicBezTo>
                <a:cubicBezTo>
                  <a:pt x="0" y="119697"/>
                  <a:pt x="0" y="116205"/>
                  <a:pt x="0" y="109283"/>
                </a:cubicBezTo>
                <a:cubicBezTo>
                  <a:pt x="0" y="102362"/>
                  <a:pt x="0" y="98870"/>
                  <a:pt x="1270" y="96203"/>
                </a:cubicBezTo>
                <a:cubicBezTo>
                  <a:pt x="2604" y="93345"/>
                  <a:pt x="4890" y="91122"/>
                  <a:pt x="7683" y="89789"/>
                </a:cubicBezTo>
                <a:cubicBezTo>
                  <a:pt x="10351" y="88519"/>
                  <a:pt x="13843" y="88519"/>
                  <a:pt x="20701" y="88519"/>
                </a:cubicBezTo>
                <a:cubicBezTo>
                  <a:pt x="27559" y="88519"/>
                  <a:pt x="31052" y="88519"/>
                  <a:pt x="33719" y="87249"/>
                </a:cubicBezTo>
                <a:cubicBezTo>
                  <a:pt x="36513" y="85916"/>
                  <a:pt x="38798" y="83630"/>
                  <a:pt x="40132" y="80835"/>
                </a:cubicBezTo>
                <a:cubicBezTo>
                  <a:pt x="41402" y="78169"/>
                  <a:pt x="41402" y="74740"/>
                  <a:pt x="41402" y="67818"/>
                </a:cubicBezTo>
                <a:lnTo>
                  <a:pt x="41402" y="62674"/>
                </a:lnTo>
                <a:cubicBezTo>
                  <a:pt x="41402" y="55245"/>
                  <a:pt x="41402" y="51498"/>
                  <a:pt x="42799" y="48641"/>
                </a:cubicBezTo>
                <a:cubicBezTo>
                  <a:pt x="44132" y="46165"/>
                  <a:pt x="46165" y="44132"/>
                  <a:pt x="48641" y="42862"/>
                </a:cubicBezTo>
                <a:cubicBezTo>
                  <a:pt x="51498" y="41402"/>
                  <a:pt x="55181" y="41402"/>
                  <a:pt x="62674" y="41402"/>
                </a:cubicBezTo>
                <a:close/>
                <a:moveTo>
                  <a:pt x="858076" y="12192"/>
                </a:moveTo>
                <a:lnTo>
                  <a:pt x="885000" y="12192"/>
                </a:lnTo>
                <a:lnTo>
                  <a:pt x="885000" y="39116"/>
                </a:lnTo>
                <a:lnTo>
                  <a:pt x="858076" y="39116"/>
                </a:lnTo>
                <a:close/>
                <a:moveTo>
                  <a:pt x="133032" y="0"/>
                </a:moveTo>
                <a:cubicBezTo>
                  <a:pt x="139954" y="0"/>
                  <a:pt x="143446" y="0"/>
                  <a:pt x="146113" y="1270"/>
                </a:cubicBezTo>
                <a:cubicBezTo>
                  <a:pt x="148970" y="2604"/>
                  <a:pt x="151194" y="4890"/>
                  <a:pt x="152527" y="7684"/>
                </a:cubicBezTo>
                <a:cubicBezTo>
                  <a:pt x="153796" y="10351"/>
                  <a:pt x="153796" y="13779"/>
                  <a:pt x="153796" y="20701"/>
                </a:cubicBezTo>
                <a:cubicBezTo>
                  <a:pt x="153796" y="27623"/>
                  <a:pt x="153796" y="31052"/>
                  <a:pt x="155003" y="33718"/>
                </a:cubicBezTo>
                <a:cubicBezTo>
                  <a:pt x="156337" y="36576"/>
                  <a:pt x="158623" y="38798"/>
                  <a:pt x="161481" y="40132"/>
                </a:cubicBezTo>
                <a:cubicBezTo>
                  <a:pt x="164147" y="41402"/>
                  <a:pt x="167576" y="41402"/>
                  <a:pt x="174434" y="41402"/>
                </a:cubicBezTo>
                <a:lnTo>
                  <a:pt x="179641" y="41402"/>
                </a:lnTo>
                <a:cubicBezTo>
                  <a:pt x="187070" y="41402"/>
                  <a:pt x="190817" y="41402"/>
                  <a:pt x="193611" y="42863"/>
                </a:cubicBezTo>
                <a:cubicBezTo>
                  <a:pt x="196151" y="44133"/>
                  <a:pt x="198183" y="46165"/>
                  <a:pt x="199453" y="48641"/>
                </a:cubicBezTo>
                <a:cubicBezTo>
                  <a:pt x="200914" y="51498"/>
                  <a:pt x="200914" y="55182"/>
                  <a:pt x="200914" y="62674"/>
                </a:cubicBezTo>
                <a:lnTo>
                  <a:pt x="200914" y="67373"/>
                </a:lnTo>
                <a:lnTo>
                  <a:pt x="200914" y="67437"/>
                </a:lnTo>
                <a:cubicBezTo>
                  <a:pt x="200914" y="74867"/>
                  <a:pt x="200914" y="78613"/>
                  <a:pt x="199453" y="81470"/>
                </a:cubicBezTo>
                <a:cubicBezTo>
                  <a:pt x="198183" y="83947"/>
                  <a:pt x="196151" y="85979"/>
                  <a:pt x="193611" y="87249"/>
                </a:cubicBezTo>
                <a:cubicBezTo>
                  <a:pt x="190817" y="88709"/>
                  <a:pt x="187070" y="88709"/>
                  <a:pt x="179641" y="88709"/>
                </a:cubicBezTo>
                <a:lnTo>
                  <a:pt x="174879" y="88709"/>
                </a:lnTo>
                <a:cubicBezTo>
                  <a:pt x="167449" y="88709"/>
                  <a:pt x="163766" y="88709"/>
                  <a:pt x="160908" y="87249"/>
                </a:cubicBezTo>
                <a:cubicBezTo>
                  <a:pt x="158368" y="85979"/>
                  <a:pt x="156337" y="83947"/>
                  <a:pt x="155067" y="81470"/>
                </a:cubicBezTo>
                <a:cubicBezTo>
                  <a:pt x="153606" y="78613"/>
                  <a:pt x="153606" y="74930"/>
                  <a:pt x="153606" y="67437"/>
                </a:cubicBezTo>
                <a:lnTo>
                  <a:pt x="153606" y="62103"/>
                </a:lnTo>
                <a:cubicBezTo>
                  <a:pt x="153606" y="55245"/>
                  <a:pt x="153606" y="51753"/>
                  <a:pt x="152400" y="49085"/>
                </a:cubicBezTo>
                <a:cubicBezTo>
                  <a:pt x="151066" y="46228"/>
                  <a:pt x="148781" y="44005"/>
                  <a:pt x="145986" y="42672"/>
                </a:cubicBezTo>
                <a:cubicBezTo>
                  <a:pt x="143319" y="41402"/>
                  <a:pt x="139827" y="41402"/>
                  <a:pt x="132968" y="41402"/>
                </a:cubicBezTo>
                <a:cubicBezTo>
                  <a:pt x="126111" y="41402"/>
                  <a:pt x="122619" y="41402"/>
                  <a:pt x="119951" y="40132"/>
                </a:cubicBezTo>
                <a:cubicBezTo>
                  <a:pt x="117093" y="38798"/>
                  <a:pt x="114871" y="36513"/>
                  <a:pt x="113538" y="33718"/>
                </a:cubicBezTo>
                <a:cubicBezTo>
                  <a:pt x="112268" y="31052"/>
                  <a:pt x="112268" y="27623"/>
                  <a:pt x="112268" y="20701"/>
                </a:cubicBezTo>
                <a:cubicBezTo>
                  <a:pt x="112268" y="13779"/>
                  <a:pt x="112268" y="10351"/>
                  <a:pt x="113538" y="7684"/>
                </a:cubicBezTo>
                <a:cubicBezTo>
                  <a:pt x="114871" y="4826"/>
                  <a:pt x="117093" y="2604"/>
                  <a:pt x="119951" y="1270"/>
                </a:cubicBezTo>
                <a:cubicBezTo>
                  <a:pt x="122619" y="0"/>
                  <a:pt x="126111" y="0"/>
                  <a:pt x="133032" y="0"/>
                </a:cubicBezTo>
                <a:close/>
              </a:path>
            </a:pathLst>
          </a:custGeom>
          <a:solidFill>
            <a:srgbClr val="1413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2" name="Shape 2742"/>
        <p:cNvGrpSpPr/>
        <p:nvPr/>
      </p:nvGrpSpPr>
      <p:grpSpPr>
        <a:xfrm>
          <a:off x="0" y="0"/>
          <a:ext cx="0" cy="0"/>
          <a:chOff x="0" y="0"/>
          <a:chExt cx="0" cy="0"/>
        </a:xfrm>
      </p:grpSpPr>
      <p:sp>
        <p:nvSpPr>
          <p:cNvPr id="2743" name="Google Shape;2743;p110"/>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1: Plan</a:t>
            </a:r>
            <a:endParaRPr/>
          </a:p>
        </p:txBody>
      </p:sp>
      <p:sp>
        <p:nvSpPr>
          <p:cNvPr id="2744" name="Google Shape;2744;p11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2745" name="Google Shape;2745;p11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746" name="Google Shape;2746;p11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747" name="Google Shape;2747;p11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748" name="Google Shape;2748;p110"/>
          <p:cNvGrpSpPr/>
          <p:nvPr/>
        </p:nvGrpSpPr>
        <p:grpSpPr>
          <a:xfrm>
            <a:off x="263352" y="3719207"/>
            <a:ext cx="11665296" cy="404488"/>
            <a:chOff x="385750" y="3723383"/>
            <a:chExt cx="11420499" cy="396000"/>
          </a:xfrm>
        </p:grpSpPr>
        <p:sp>
          <p:nvSpPr>
            <p:cNvPr id="2749" name="Google Shape;2749;p110"/>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50" name="Google Shape;2750;p110"/>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751" name="Google Shape;2751;p110"/>
            <p:cNvCxnSpPr>
              <a:stCxn id="2750" idx="0"/>
              <a:endCxn id="2749"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2752" name="Google Shape;2752;p110"/>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753" name="Google Shape;2753;p110"/>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2754" name="Google Shape;2754;p110"/>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755" name="Google Shape;2755;p110"/>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756" name="Google Shape;2756;p110"/>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2757" name="Google Shape;2757;p110"/>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2758" name="Google Shape;2758;p110"/>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2759" name="Google Shape;2759;p110"/>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2760" name="Google Shape;2760;p110"/>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2761" name="Google Shape;2761;p110"/>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5" name="Shape 2765"/>
        <p:cNvGrpSpPr/>
        <p:nvPr/>
      </p:nvGrpSpPr>
      <p:grpSpPr>
        <a:xfrm>
          <a:off x="0" y="0"/>
          <a:ext cx="0" cy="0"/>
          <a:chOff x="0" y="0"/>
          <a:chExt cx="0" cy="0"/>
        </a:xfrm>
      </p:grpSpPr>
      <p:sp>
        <p:nvSpPr>
          <p:cNvPr id="2766" name="Google Shape;2766;p111"/>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Screenshots</a:t>
            </a:r>
            <a:endParaRPr/>
          </a:p>
        </p:txBody>
      </p:sp>
      <p:sp>
        <p:nvSpPr>
          <p:cNvPr id="2767" name="Google Shape;2767;p111"/>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BACKUP</a:t>
            </a:r>
            <a:endParaRPr/>
          </a:p>
        </p:txBody>
      </p:sp>
      <p:sp>
        <p:nvSpPr>
          <p:cNvPr id="2768" name="Google Shape;2768;p11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769" name="Google Shape;2769;p11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770" name="Google Shape;2770;p111"/>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5" name="Shape 2775"/>
        <p:cNvGrpSpPr/>
        <p:nvPr/>
      </p:nvGrpSpPr>
      <p:grpSpPr>
        <a:xfrm>
          <a:off x="0" y="0"/>
          <a:ext cx="0" cy="0"/>
          <a:chOff x="0" y="0"/>
          <a:chExt cx="0" cy="0"/>
        </a:xfrm>
      </p:grpSpPr>
      <p:sp>
        <p:nvSpPr>
          <p:cNvPr id="2776" name="Google Shape;2776;p112"/>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2: Build</a:t>
            </a:r>
            <a:endParaRPr/>
          </a:p>
        </p:txBody>
      </p:sp>
      <p:sp>
        <p:nvSpPr>
          <p:cNvPr id="2777" name="Google Shape;2777;p112"/>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2778" name="Google Shape;2778;p11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779" name="Google Shape;2779;p11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780" name="Google Shape;2780;p112"/>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781" name="Google Shape;2781;p112"/>
          <p:cNvGrpSpPr/>
          <p:nvPr/>
        </p:nvGrpSpPr>
        <p:grpSpPr>
          <a:xfrm>
            <a:off x="263352" y="3719207"/>
            <a:ext cx="11665296" cy="404488"/>
            <a:chOff x="385750" y="3723383"/>
            <a:chExt cx="11420499" cy="396000"/>
          </a:xfrm>
        </p:grpSpPr>
        <p:sp>
          <p:nvSpPr>
            <p:cNvPr id="2782" name="Google Shape;2782;p112"/>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83" name="Google Shape;2783;p112"/>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784" name="Google Shape;2784;p112"/>
            <p:cNvCxnSpPr>
              <a:stCxn id="2783" idx="0"/>
              <a:endCxn id="2782"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2785" name="Google Shape;2785;p112"/>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786" name="Google Shape;2786;p112"/>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400" u="none" cap="none" strike="noStrike">
                <a:solidFill>
                  <a:srgbClr val="000000"/>
                </a:solidFill>
                <a:latin typeface="Arial"/>
                <a:ea typeface="Arial"/>
                <a:cs typeface="Arial"/>
                <a:sym typeface="Arial"/>
              </a:endParaRPr>
            </a:p>
          </p:txBody>
        </p:sp>
        <p:sp>
          <p:nvSpPr>
            <p:cNvPr id="2787" name="Google Shape;2787;p112"/>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788" name="Google Shape;2788;p112"/>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789" name="Google Shape;2789;p112"/>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2790" name="Google Shape;2790;p112"/>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2791" name="Google Shape;2791;p112"/>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2792" name="Google Shape;2792;p112"/>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2793" name="Google Shape;2793;p112"/>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2794" name="Google Shape;2794;p112"/>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8" name="Shape 2798"/>
        <p:cNvGrpSpPr/>
        <p:nvPr/>
      </p:nvGrpSpPr>
      <p:grpSpPr>
        <a:xfrm>
          <a:off x="0" y="0"/>
          <a:ext cx="0" cy="0"/>
          <a:chOff x="0" y="0"/>
          <a:chExt cx="0" cy="0"/>
        </a:xfrm>
      </p:grpSpPr>
      <p:sp>
        <p:nvSpPr>
          <p:cNvPr id="2799" name="Google Shape;2799;p113"/>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Screenshots</a:t>
            </a:r>
            <a:endParaRPr/>
          </a:p>
        </p:txBody>
      </p:sp>
      <p:sp>
        <p:nvSpPr>
          <p:cNvPr id="2800" name="Google Shape;2800;p113"/>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BACKUP</a:t>
            </a:r>
            <a:endParaRPr/>
          </a:p>
        </p:txBody>
      </p:sp>
      <p:sp>
        <p:nvSpPr>
          <p:cNvPr id="2801" name="Google Shape;2801;p113"/>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02" name="Google Shape;2802;p113"/>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03" name="Google Shape;2803;p113"/>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8" name="Shape 2808"/>
        <p:cNvGrpSpPr/>
        <p:nvPr/>
      </p:nvGrpSpPr>
      <p:grpSpPr>
        <a:xfrm>
          <a:off x="0" y="0"/>
          <a:ext cx="0" cy="0"/>
          <a:chOff x="0" y="0"/>
          <a:chExt cx="0" cy="0"/>
        </a:xfrm>
      </p:grpSpPr>
      <p:sp>
        <p:nvSpPr>
          <p:cNvPr id="2809" name="Google Shape;2809;p114"/>
          <p:cNvSpPr/>
          <p:nvPr/>
        </p:nvSpPr>
        <p:spPr>
          <a:xfrm>
            <a:off x="3492948" y="1664804"/>
            <a:ext cx="8435525" cy="4500499"/>
          </a:xfrm>
          <a:custGeom>
            <a:rect b="b" l="l" r="r" t="t"/>
            <a:pathLst>
              <a:path extrusionOk="0" h="4500499" w="8435525">
                <a:moveTo>
                  <a:pt x="57920" y="0"/>
                </a:moveTo>
                <a:lnTo>
                  <a:pt x="758889" y="0"/>
                </a:lnTo>
                <a:lnTo>
                  <a:pt x="3746243" y="0"/>
                </a:lnTo>
                <a:lnTo>
                  <a:pt x="3746245" y="0"/>
                </a:lnTo>
                <a:lnTo>
                  <a:pt x="3988313" y="0"/>
                </a:lnTo>
                <a:lnTo>
                  <a:pt x="4447212" y="0"/>
                </a:lnTo>
                <a:lnTo>
                  <a:pt x="4447214" y="0"/>
                </a:lnTo>
                <a:lnTo>
                  <a:pt x="4689282" y="0"/>
                </a:lnTo>
                <a:lnTo>
                  <a:pt x="7676636" y="0"/>
                </a:lnTo>
                <a:lnTo>
                  <a:pt x="8377605" y="0"/>
                </a:lnTo>
                <a:cubicBezTo>
                  <a:pt x="8409593" y="0"/>
                  <a:pt x="8435525" y="25932"/>
                  <a:pt x="8435525" y="57920"/>
                </a:cubicBezTo>
                <a:lnTo>
                  <a:pt x="8435525" y="238349"/>
                </a:lnTo>
                <a:lnTo>
                  <a:pt x="8435525" y="1282303"/>
                </a:lnTo>
                <a:lnTo>
                  <a:pt x="8435525" y="1462732"/>
                </a:lnTo>
                <a:lnTo>
                  <a:pt x="8435525" y="3037767"/>
                </a:lnTo>
                <a:lnTo>
                  <a:pt x="8435525" y="3218196"/>
                </a:lnTo>
                <a:lnTo>
                  <a:pt x="8435525" y="4262150"/>
                </a:lnTo>
                <a:lnTo>
                  <a:pt x="8435525" y="4442579"/>
                </a:lnTo>
                <a:cubicBezTo>
                  <a:pt x="8435525" y="4474567"/>
                  <a:pt x="8409593" y="4500499"/>
                  <a:pt x="8377605" y="4500499"/>
                </a:cubicBezTo>
                <a:lnTo>
                  <a:pt x="7676636" y="4500499"/>
                </a:lnTo>
                <a:lnTo>
                  <a:pt x="5450512" y="4500499"/>
                </a:lnTo>
                <a:lnTo>
                  <a:pt x="4749543" y="4500499"/>
                </a:lnTo>
                <a:lnTo>
                  <a:pt x="4689282" y="4500499"/>
                </a:lnTo>
                <a:lnTo>
                  <a:pt x="4447212" y="4500499"/>
                </a:lnTo>
                <a:lnTo>
                  <a:pt x="3988313" y="4500499"/>
                </a:lnTo>
                <a:lnTo>
                  <a:pt x="3746243" y="4500499"/>
                </a:lnTo>
                <a:lnTo>
                  <a:pt x="1762189" y="4500499"/>
                </a:lnTo>
                <a:lnTo>
                  <a:pt x="1061220" y="4500499"/>
                </a:lnTo>
                <a:lnTo>
                  <a:pt x="758889" y="4500499"/>
                </a:ln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810" name="Google Shape;2810;p114"/>
          <p:cNvSpPr/>
          <p:nvPr/>
        </p:nvSpPr>
        <p:spPr>
          <a:xfrm>
            <a:off x="263525" y="1664804"/>
            <a:ext cx="3048448" cy="4500499"/>
          </a:xfrm>
          <a:custGeom>
            <a:rect b="b" l="l" r="r" t="t"/>
            <a:pathLst>
              <a:path extrusionOk="0" h="4500499" w="3048448">
                <a:moveTo>
                  <a:pt x="57920" y="0"/>
                </a:moveTo>
                <a:lnTo>
                  <a:pt x="2990528" y="0"/>
                </a:lnTo>
                <a:cubicBezTo>
                  <a:pt x="3022516" y="0"/>
                  <a:pt x="3048448" y="25932"/>
                  <a:pt x="3048448" y="57920"/>
                </a:cubicBezTo>
                <a:lnTo>
                  <a:pt x="3048448" y="238349"/>
                </a:lnTo>
                <a:lnTo>
                  <a:pt x="3048448" y="1282303"/>
                </a:lnTo>
                <a:lnTo>
                  <a:pt x="3048448" y="1462732"/>
                </a:lnTo>
                <a:lnTo>
                  <a:pt x="3048448" y="3037767"/>
                </a:lnTo>
                <a:lnTo>
                  <a:pt x="3048448" y="3218196"/>
                </a:lnTo>
                <a:lnTo>
                  <a:pt x="3048448" y="4262150"/>
                </a:lnTo>
                <a:lnTo>
                  <a:pt x="3048448" y="4442579"/>
                </a:lnTo>
                <a:cubicBezTo>
                  <a:pt x="3048448" y="4474567"/>
                  <a:pt x="3022516" y="4500499"/>
                  <a:pt x="2990528" y="4500499"/>
                </a:cubicBezTo>
                <a:lnTo>
                  <a:pt x="57920" y="4500499"/>
                </a:lnTo>
                <a:cubicBezTo>
                  <a:pt x="25932" y="4500499"/>
                  <a:pt x="0" y="4474567"/>
                  <a:pt x="0" y="4442579"/>
                </a:cubicBezTo>
                <a:lnTo>
                  <a:pt x="0" y="4262150"/>
                </a:lnTo>
                <a:lnTo>
                  <a:pt x="0" y="3218196"/>
                </a:lnTo>
                <a:lnTo>
                  <a:pt x="0" y="3037767"/>
                </a:lnTo>
                <a:lnTo>
                  <a:pt x="0" y="1462732"/>
                </a:lnTo>
                <a:lnTo>
                  <a:pt x="0" y="1282303"/>
                </a:lnTo>
                <a:lnTo>
                  <a:pt x="0" y="238349"/>
                </a:lnTo>
                <a:lnTo>
                  <a:pt x="0" y="57920"/>
                </a:lnTo>
                <a:cubicBezTo>
                  <a:pt x="0" y="25932"/>
                  <a:pt x="25932" y="0"/>
                  <a:pt x="57920" y="0"/>
                </a:cubicBezTo>
                <a:close/>
              </a:path>
            </a:pathLst>
          </a:custGeom>
          <a:solidFill>
            <a:schemeClr val="lt2"/>
          </a:solidFill>
          <a:ln>
            <a:noFill/>
          </a:ln>
        </p:spPr>
        <p:txBody>
          <a:bodyPr anchorCtr="0" anchor="t" bIns="144000" lIns="180000" spcFirstLastPara="1" rIns="144000" wrap="square" tIns="144000">
            <a:noAutofit/>
          </a:bodyPr>
          <a:lstStyle/>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accent1"/>
              </a:solidFill>
              <a:latin typeface="Arial"/>
              <a:ea typeface="Arial"/>
              <a:cs typeface="Arial"/>
              <a:sym typeface="Arial"/>
            </a:endParaRPr>
          </a:p>
        </p:txBody>
      </p:sp>
      <p:sp>
        <p:nvSpPr>
          <p:cNvPr id="2811" name="Google Shape;2811;p11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Testing Deployment</a:t>
            </a:r>
            <a:endParaRPr/>
          </a:p>
        </p:txBody>
      </p:sp>
      <p:sp>
        <p:nvSpPr>
          <p:cNvPr id="2812" name="Google Shape;2812;p11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13" name="Google Shape;2813;p11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14" name="Google Shape;2814;p114"/>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815" name="Google Shape;2815;p114" title="Screenshot 2025-09-01 at 15.02.05.png"/>
          <p:cNvPicPr preferRelativeResize="0"/>
          <p:nvPr/>
        </p:nvPicPr>
        <p:blipFill rotWithShape="1">
          <a:blip r:embed="rId3">
            <a:alphaModFix/>
          </a:blip>
          <a:srcRect b="0" l="0" r="0" t="0"/>
          <a:stretch/>
        </p:blipFill>
        <p:spPr>
          <a:xfrm>
            <a:off x="5216840" y="1844674"/>
            <a:ext cx="4987741" cy="4140201"/>
          </a:xfrm>
          <a:prstGeom prst="roundRect">
            <a:avLst>
              <a:gd fmla="val 2682" name="adj"/>
            </a:avLst>
          </a:prstGeom>
          <a:noFill/>
          <a:ln>
            <a:noFill/>
          </a:ln>
        </p:spPr>
      </p:pic>
      <p:pic>
        <p:nvPicPr>
          <p:cNvPr id="2816" name="Google Shape;2816;p114"/>
          <p:cNvPicPr preferRelativeResize="0"/>
          <p:nvPr/>
        </p:nvPicPr>
        <p:blipFill rotWithShape="1">
          <a:blip r:embed="rId4">
            <a:alphaModFix/>
          </a:blip>
          <a:srcRect b="0" l="0" r="0" t="0"/>
          <a:stretch/>
        </p:blipFill>
        <p:spPr>
          <a:xfrm>
            <a:off x="444386" y="1844674"/>
            <a:ext cx="2686726" cy="4140201"/>
          </a:xfrm>
          <a:prstGeom prst="roundRect">
            <a:avLst>
              <a:gd fmla="val 2682" name="adj"/>
            </a:avLst>
          </a:prstGeom>
          <a:noFill/>
          <a:ln>
            <a:noFill/>
          </a:ln>
        </p:spPr>
      </p:pic>
      <p:pic>
        <p:nvPicPr>
          <p:cNvPr id="2817" name="Google Shape;2817;p114"/>
          <p:cNvPicPr preferRelativeResize="0"/>
          <p:nvPr/>
        </p:nvPicPr>
        <p:blipFill rotWithShape="1">
          <a:blip r:embed="rId5">
            <a:alphaModFix/>
          </a:blip>
          <a:srcRect b="0" l="0" r="0" t="0"/>
          <a:stretch/>
        </p:blipFill>
        <p:spPr>
          <a:xfrm>
            <a:off x="263525" y="260350"/>
            <a:ext cx="3946030" cy="21600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2" name="Shape 2822"/>
        <p:cNvGrpSpPr/>
        <p:nvPr/>
      </p:nvGrpSpPr>
      <p:grpSpPr>
        <a:xfrm>
          <a:off x="0" y="0"/>
          <a:ext cx="0" cy="0"/>
          <a:chOff x="0" y="0"/>
          <a:chExt cx="0" cy="0"/>
        </a:xfrm>
      </p:grpSpPr>
      <p:sp>
        <p:nvSpPr>
          <p:cNvPr id="2823" name="Google Shape;2823;p115"/>
          <p:cNvSpPr txBox="1"/>
          <p:nvPr>
            <p:ph type="title"/>
          </p:nvPr>
        </p:nvSpPr>
        <p:spPr>
          <a:xfrm>
            <a:off x="5519936" y="2508876"/>
            <a:ext cx="6408538" cy="1846659"/>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1"/>
              </a:buClr>
              <a:buSzPts val="6000"/>
              <a:buFont typeface="Arial"/>
              <a:buNone/>
            </a:pPr>
            <a:r>
              <a:rPr lang="en-US"/>
              <a:t>Run</a:t>
            </a:r>
            <a:br>
              <a:rPr lang="en-US"/>
            </a:br>
            <a:r>
              <a:rPr lang="en-US"/>
              <a:t>Deployment</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7" name="Shape 2827"/>
        <p:cNvGrpSpPr/>
        <p:nvPr/>
      </p:nvGrpSpPr>
      <p:grpSpPr>
        <a:xfrm>
          <a:off x="0" y="0"/>
          <a:ext cx="0" cy="0"/>
          <a:chOff x="0" y="0"/>
          <a:chExt cx="0" cy="0"/>
        </a:xfrm>
      </p:grpSpPr>
      <p:sp>
        <p:nvSpPr>
          <p:cNvPr id="2828" name="Google Shape;2828;p116"/>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Configuratie code</a:t>
            </a:r>
            <a:endParaRPr/>
          </a:p>
        </p:txBody>
      </p:sp>
      <p:sp>
        <p:nvSpPr>
          <p:cNvPr id="2829" name="Google Shape;2829;p116"/>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t/>
            </a:r>
            <a:endParaRPr/>
          </a:p>
        </p:txBody>
      </p:sp>
      <p:sp>
        <p:nvSpPr>
          <p:cNvPr id="2830" name="Google Shape;2830;p116"/>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31" name="Google Shape;2831;p116"/>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32" name="Google Shape;2832;p116"/>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7" name="Shape 2837"/>
        <p:cNvGrpSpPr/>
        <p:nvPr/>
      </p:nvGrpSpPr>
      <p:grpSpPr>
        <a:xfrm>
          <a:off x="0" y="0"/>
          <a:ext cx="0" cy="0"/>
          <a:chOff x="0" y="0"/>
          <a:chExt cx="0" cy="0"/>
        </a:xfrm>
      </p:grpSpPr>
      <p:sp>
        <p:nvSpPr>
          <p:cNvPr id="2838" name="Google Shape;2838;p117"/>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3: Experiment</a:t>
            </a:r>
            <a:endParaRPr/>
          </a:p>
        </p:txBody>
      </p:sp>
      <p:sp>
        <p:nvSpPr>
          <p:cNvPr id="2839" name="Google Shape;2839;p117"/>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2840" name="Google Shape;2840;p117"/>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41" name="Google Shape;2841;p117"/>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42" name="Google Shape;2842;p117"/>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843" name="Google Shape;2843;p117"/>
          <p:cNvGrpSpPr/>
          <p:nvPr/>
        </p:nvGrpSpPr>
        <p:grpSpPr>
          <a:xfrm>
            <a:off x="263352" y="3719207"/>
            <a:ext cx="11665296" cy="404488"/>
            <a:chOff x="385750" y="3723383"/>
            <a:chExt cx="11420499" cy="396000"/>
          </a:xfrm>
        </p:grpSpPr>
        <p:sp>
          <p:nvSpPr>
            <p:cNvPr id="2844" name="Google Shape;2844;p117"/>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45" name="Google Shape;2845;p117"/>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846" name="Google Shape;2846;p117"/>
            <p:cNvCxnSpPr>
              <a:stCxn id="2845" idx="0"/>
              <a:endCxn id="2844"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2847" name="Google Shape;2847;p117"/>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848" name="Google Shape;2848;p117"/>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2849" name="Google Shape;2849;p117"/>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400" u="none" cap="none" strike="noStrike">
                <a:solidFill>
                  <a:srgbClr val="000000"/>
                </a:solidFill>
                <a:latin typeface="Arial"/>
                <a:ea typeface="Arial"/>
                <a:cs typeface="Arial"/>
                <a:sym typeface="Arial"/>
              </a:endParaRPr>
            </a:p>
          </p:txBody>
        </p:sp>
        <p:sp>
          <p:nvSpPr>
            <p:cNvPr id="2850" name="Google Shape;2850;p117"/>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851" name="Google Shape;2851;p117"/>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2852" name="Google Shape;2852;p117"/>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2853" name="Google Shape;2853;p117"/>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2854" name="Google Shape;2854;p117"/>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2855" name="Google Shape;2855;p117"/>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2856" name="Google Shape;2856;p117"/>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0" name="Shape 2860"/>
        <p:cNvGrpSpPr/>
        <p:nvPr/>
      </p:nvGrpSpPr>
      <p:grpSpPr>
        <a:xfrm>
          <a:off x="0" y="0"/>
          <a:ext cx="0" cy="0"/>
          <a:chOff x="0" y="0"/>
          <a:chExt cx="0" cy="0"/>
        </a:xfrm>
      </p:grpSpPr>
      <p:sp>
        <p:nvSpPr>
          <p:cNvPr id="2861" name="Google Shape;2861;p118"/>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Screenshots</a:t>
            </a:r>
            <a:endParaRPr/>
          </a:p>
        </p:txBody>
      </p:sp>
      <p:sp>
        <p:nvSpPr>
          <p:cNvPr id="2862" name="Google Shape;2862;p118"/>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BACKUP</a:t>
            </a:r>
            <a:endParaRPr/>
          </a:p>
        </p:txBody>
      </p:sp>
      <p:sp>
        <p:nvSpPr>
          <p:cNvPr id="2863" name="Google Shape;2863;p118"/>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64" name="Google Shape;2864;p118"/>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65" name="Google Shape;2865;p118"/>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0" name="Shape 2870"/>
        <p:cNvGrpSpPr/>
        <p:nvPr/>
      </p:nvGrpSpPr>
      <p:grpSpPr>
        <a:xfrm>
          <a:off x="0" y="0"/>
          <a:ext cx="0" cy="0"/>
          <a:chOff x="0" y="0"/>
          <a:chExt cx="0" cy="0"/>
        </a:xfrm>
      </p:grpSpPr>
      <p:sp>
        <p:nvSpPr>
          <p:cNvPr id="2871" name="Google Shape;2871;p119"/>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4: Deploy</a:t>
            </a:r>
            <a:endParaRPr/>
          </a:p>
        </p:txBody>
      </p:sp>
      <p:sp>
        <p:nvSpPr>
          <p:cNvPr id="2872" name="Google Shape;2872;p119"/>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2873" name="Google Shape;2873;p119"/>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74" name="Google Shape;2874;p119"/>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75" name="Google Shape;2875;p119"/>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876" name="Google Shape;2876;p119"/>
          <p:cNvGrpSpPr/>
          <p:nvPr/>
        </p:nvGrpSpPr>
        <p:grpSpPr>
          <a:xfrm>
            <a:off x="263352" y="3719207"/>
            <a:ext cx="11665296" cy="404488"/>
            <a:chOff x="385750" y="3723383"/>
            <a:chExt cx="11420499" cy="396000"/>
          </a:xfrm>
        </p:grpSpPr>
        <p:sp>
          <p:nvSpPr>
            <p:cNvPr id="2877" name="Google Shape;2877;p119"/>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878" name="Google Shape;2878;p119"/>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879" name="Google Shape;2879;p119"/>
            <p:cNvCxnSpPr>
              <a:stCxn id="2878" idx="0"/>
              <a:endCxn id="2877"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2880" name="Google Shape;2880;p119"/>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881" name="Google Shape;2881;p119"/>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2882" name="Google Shape;2882;p119"/>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200" u="none" cap="none" strike="noStrike">
                <a:solidFill>
                  <a:schemeClr val="dk1"/>
                </a:solidFill>
                <a:latin typeface="Arial"/>
                <a:ea typeface="Arial"/>
                <a:cs typeface="Arial"/>
                <a:sym typeface="Arial"/>
              </a:endParaRPr>
            </a:p>
          </p:txBody>
        </p:sp>
        <p:sp>
          <p:nvSpPr>
            <p:cNvPr id="2883" name="Google Shape;2883;p119"/>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400" u="none" cap="none" strike="noStrike">
                <a:solidFill>
                  <a:srgbClr val="000000"/>
                </a:solidFill>
                <a:latin typeface="Arial"/>
                <a:ea typeface="Arial"/>
                <a:cs typeface="Arial"/>
                <a:sym typeface="Arial"/>
              </a:endParaRPr>
            </a:p>
          </p:txBody>
        </p:sp>
        <p:sp>
          <p:nvSpPr>
            <p:cNvPr id="2884" name="Google Shape;2884;p119"/>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2885" name="Google Shape;2885;p119"/>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2886" name="Google Shape;2886;p119"/>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2887" name="Google Shape;2887;p119"/>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2888" name="Google Shape;2888;p119"/>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2889" name="Google Shape;2889;p119"/>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3" name="Shape 2893"/>
        <p:cNvGrpSpPr/>
        <p:nvPr/>
      </p:nvGrpSpPr>
      <p:grpSpPr>
        <a:xfrm>
          <a:off x="0" y="0"/>
          <a:ext cx="0" cy="0"/>
          <a:chOff x="0" y="0"/>
          <a:chExt cx="0" cy="0"/>
        </a:xfrm>
      </p:grpSpPr>
      <p:sp>
        <p:nvSpPr>
          <p:cNvPr id="2894" name="Google Shape;2894;p120"/>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Screenshots</a:t>
            </a:r>
            <a:endParaRPr/>
          </a:p>
        </p:txBody>
      </p:sp>
      <p:sp>
        <p:nvSpPr>
          <p:cNvPr id="2895" name="Google Shape;2895;p120"/>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BACKUP</a:t>
            </a:r>
            <a:endParaRPr/>
          </a:p>
        </p:txBody>
      </p:sp>
      <p:sp>
        <p:nvSpPr>
          <p:cNvPr id="2896" name="Google Shape;2896;p120"/>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897" name="Google Shape;2897;p120"/>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898" name="Google Shape;2898;p120"/>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3" name="Shape 2903"/>
        <p:cNvGrpSpPr/>
        <p:nvPr/>
      </p:nvGrpSpPr>
      <p:grpSpPr>
        <a:xfrm>
          <a:off x="0" y="0"/>
          <a:ext cx="0" cy="0"/>
          <a:chOff x="0" y="0"/>
          <a:chExt cx="0" cy="0"/>
        </a:xfrm>
      </p:grpSpPr>
      <p:sp>
        <p:nvSpPr>
          <p:cNvPr id="2904" name="Google Shape;2904;p121"/>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Phase 5: Operate</a:t>
            </a:r>
            <a:endParaRPr/>
          </a:p>
        </p:txBody>
      </p:sp>
      <p:sp>
        <p:nvSpPr>
          <p:cNvPr id="2905" name="Google Shape;2905;p121"/>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WORKING WITH THE ORQFLOW</a:t>
            </a:r>
            <a:endParaRPr/>
          </a:p>
        </p:txBody>
      </p:sp>
      <p:sp>
        <p:nvSpPr>
          <p:cNvPr id="2906" name="Google Shape;2906;p121"/>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907" name="Google Shape;2907;p121"/>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908" name="Google Shape;2908;p121"/>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grpSp>
        <p:nvGrpSpPr>
          <p:cNvPr id="2909" name="Google Shape;2909;p121"/>
          <p:cNvGrpSpPr/>
          <p:nvPr/>
        </p:nvGrpSpPr>
        <p:grpSpPr>
          <a:xfrm>
            <a:off x="263352" y="3719207"/>
            <a:ext cx="11665296" cy="404488"/>
            <a:chOff x="385750" y="3723383"/>
            <a:chExt cx="11420499" cy="396000"/>
          </a:xfrm>
        </p:grpSpPr>
        <p:sp>
          <p:nvSpPr>
            <p:cNvPr id="2910" name="Google Shape;2910;p121"/>
            <p:cNvSpPr/>
            <p:nvPr/>
          </p:nvSpPr>
          <p:spPr>
            <a:xfrm>
              <a:off x="1263525"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11" name="Google Shape;2911;p121"/>
            <p:cNvSpPr/>
            <p:nvPr/>
          </p:nvSpPr>
          <p:spPr>
            <a:xfrm>
              <a:off x="10721068" y="3723383"/>
              <a:ext cx="180020" cy="36000"/>
            </a:xfrm>
            <a:prstGeom prst="rect">
              <a:avLst/>
            </a:prstGeom>
            <a:solidFill>
              <a:srgbClr val="FF8F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cxnSp>
          <p:nvCxnSpPr>
            <p:cNvPr id="2912" name="Google Shape;2912;p121"/>
            <p:cNvCxnSpPr>
              <a:stCxn id="2911" idx="0"/>
              <a:endCxn id="2910" idx="0"/>
            </p:cNvCxnSpPr>
            <p:nvPr/>
          </p:nvCxnSpPr>
          <p:spPr>
            <a:xfrm rot="5400000">
              <a:off x="6082028" y="-1005067"/>
              <a:ext cx="600" cy="9457500"/>
            </a:xfrm>
            <a:prstGeom prst="bentConnector3">
              <a:avLst>
                <a:gd fmla="val 2376155" name="adj1"/>
              </a:avLst>
            </a:prstGeom>
            <a:noFill/>
            <a:ln cap="flat" cmpd="sng" w="12700">
              <a:solidFill>
                <a:srgbClr val="DF5325"/>
              </a:solidFill>
              <a:prstDash val="lgDash"/>
              <a:miter lim="80"/>
              <a:headEnd len="sm" w="sm" type="none"/>
              <a:tailEnd len="med" w="med" type="triangle"/>
            </a:ln>
          </p:spPr>
        </p:cxnSp>
        <p:sp>
          <p:nvSpPr>
            <p:cNvPr id="2913" name="Google Shape;2913;p121"/>
            <p:cNvSpPr/>
            <p:nvPr/>
          </p:nvSpPr>
          <p:spPr>
            <a:xfrm>
              <a:off x="385750" y="3723383"/>
              <a:ext cx="1990342" cy="396000"/>
            </a:xfrm>
            <a:custGeom>
              <a:rect b="b" l="l" r="r" t="t"/>
              <a:pathLst>
                <a:path extrusionOk="0" h="297085" w="1484661">
                  <a:moveTo>
                    <a:pt x="1484471" y="150781"/>
                  </a:moveTo>
                  <a:cubicBezTo>
                    <a:pt x="1484471" y="150019"/>
                    <a:pt x="1484662" y="149257"/>
                    <a:pt x="1484662" y="148495"/>
                  </a:cubicBezTo>
                  <a:cubicBezTo>
                    <a:pt x="1484662" y="147733"/>
                    <a:pt x="1484471" y="146971"/>
                    <a:pt x="1484471" y="146209"/>
                  </a:cubicBezTo>
                  <a:cubicBezTo>
                    <a:pt x="1484376" y="144114"/>
                    <a:pt x="1484281" y="142018"/>
                    <a:pt x="1483900" y="140018"/>
                  </a:cubicBezTo>
                  <a:lnTo>
                    <a:pt x="1463421" y="27909"/>
                  </a:lnTo>
                  <a:cubicBezTo>
                    <a:pt x="1460468" y="11716"/>
                    <a:pt x="1446371" y="0"/>
                    <a:pt x="1429988" y="0"/>
                  </a:cubicBezTo>
                  <a:lnTo>
                    <a:pt x="34004" y="0"/>
                  </a:lnTo>
                  <a:cubicBezTo>
                    <a:pt x="15240" y="-95"/>
                    <a:pt x="0" y="15145"/>
                    <a:pt x="0" y="33909"/>
                  </a:cubicBezTo>
                  <a:lnTo>
                    <a:pt x="0" y="263081"/>
                  </a:lnTo>
                  <a:cubicBezTo>
                    <a:pt x="0" y="281845"/>
                    <a:pt x="15240" y="297085"/>
                    <a:pt x="34004" y="297085"/>
                  </a:cubicBezTo>
                  <a:lnTo>
                    <a:pt x="1429988" y="297085"/>
                  </a:lnTo>
                  <a:cubicBezTo>
                    <a:pt x="1446371" y="297085"/>
                    <a:pt x="1460468" y="285369"/>
                    <a:pt x="1463421" y="269177"/>
                  </a:cubicBezTo>
                  <a:lnTo>
                    <a:pt x="1483900" y="157068"/>
                  </a:lnTo>
                  <a:cubicBezTo>
                    <a:pt x="1484281" y="154972"/>
                    <a:pt x="1484376" y="152972"/>
                    <a:pt x="1484471"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Plan</a:t>
              </a:r>
              <a:endParaRPr b="0" i="0" sz="1400" u="none" cap="none" strike="noStrike">
                <a:solidFill>
                  <a:srgbClr val="000000"/>
                </a:solidFill>
                <a:latin typeface="Arial"/>
                <a:ea typeface="Arial"/>
                <a:cs typeface="Arial"/>
                <a:sym typeface="Arial"/>
              </a:endParaRPr>
            </a:p>
          </p:txBody>
        </p:sp>
        <p:sp>
          <p:nvSpPr>
            <p:cNvPr id="2914" name="Google Shape;2914;p121"/>
            <p:cNvSpPr/>
            <p:nvPr/>
          </p:nvSpPr>
          <p:spPr>
            <a:xfrm>
              <a:off x="2743289"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Build</a:t>
              </a:r>
              <a:endParaRPr b="0" i="0" sz="1200" u="none" cap="none" strike="noStrike">
                <a:solidFill>
                  <a:schemeClr val="dk1"/>
                </a:solidFill>
                <a:latin typeface="Arial"/>
                <a:ea typeface="Arial"/>
                <a:cs typeface="Arial"/>
                <a:sym typeface="Arial"/>
              </a:endParaRPr>
            </a:p>
          </p:txBody>
        </p:sp>
        <p:sp>
          <p:nvSpPr>
            <p:cNvPr id="2915" name="Google Shape;2915;p121"/>
            <p:cNvSpPr/>
            <p:nvPr/>
          </p:nvSpPr>
          <p:spPr>
            <a:xfrm>
              <a:off x="5100828"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Experiment</a:t>
              </a:r>
              <a:endParaRPr b="0" i="0" sz="1200" u="none" cap="none" strike="noStrike">
                <a:solidFill>
                  <a:schemeClr val="dk1"/>
                </a:solidFill>
                <a:latin typeface="Arial"/>
                <a:ea typeface="Arial"/>
                <a:cs typeface="Arial"/>
                <a:sym typeface="Arial"/>
              </a:endParaRPr>
            </a:p>
          </p:txBody>
        </p:sp>
        <p:sp>
          <p:nvSpPr>
            <p:cNvPr id="2916" name="Google Shape;2916;p121"/>
            <p:cNvSpPr/>
            <p:nvPr/>
          </p:nvSpPr>
          <p:spPr>
            <a:xfrm>
              <a:off x="745836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chemeClr val="accent6"/>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Deploy</a:t>
              </a:r>
              <a:endParaRPr b="0" i="0" sz="1200" u="none" cap="none" strike="noStrike">
                <a:solidFill>
                  <a:schemeClr val="dk1"/>
                </a:solidFill>
                <a:latin typeface="Arial"/>
                <a:ea typeface="Arial"/>
                <a:cs typeface="Arial"/>
                <a:sym typeface="Arial"/>
              </a:endParaRPr>
            </a:p>
          </p:txBody>
        </p:sp>
        <p:sp>
          <p:nvSpPr>
            <p:cNvPr id="2917" name="Google Shape;2917;p121"/>
            <p:cNvSpPr/>
            <p:nvPr/>
          </p:nvSpPr>
          <p:spPr>
            <a:xfrm>
              <a:off x="9815907" y="3723383"/>
              <a:ext cx="1990342" cy="396000"/>
            </a:xfrm>
            <a:custGeom>
              <a:rect b="b" l="l" r="r" t="t"/>
              <a:pathLst>
                <a:path extrusionOk="0" h="297085" w="1485224">
                  <a:moveTo>
                    <a:pt x="1485035" y="150781"/>
                  </a:moveTo>
                  <a:cubicBezTo>
                    <a:pt x="1485035" y="150019"/>
                    <a:pt x="1485225" y="149257"/>
                    <a:pt x="1485225" y="148495"/>
                  </a:cubicBezTo>
                  <a:cubicBezTo>
                    <a:pt x="1485225" y="147733"/>
                    <a:pt x="1485035" y="146971"/>
                    <a:pt x="1485035" y="146209"/>
                  </a:cubicBezTo>
                  <a:cubicBezTo>
                    <a:pt x="1484939" y="144114"/>
                    <a:pt x="1484844" y="142018"/>
                    <a:pt x="1484463" y="140018"/>
                  </a:cubicBezTo>
                  <a:lnTo>
                    <a:pt x="1463984" y="27909"/>
                  </a:lnTo>
                  <a:cubicBezTo>
                    <a:pt x="1461032" y="11716"/>
                    <a:pt x="1446935" y="0"/>
                    <a:pt x="1430552" y="0"/>
                  </a:cubicBezTo>
                  <a:lnTo>
                    <a:pt x="33996" y="0"/>
                  </a:lnTo>
                  <a:cubicBezTo>
                    <a:pt x="12755" y="-95"/>
                    <a:pt x="-3247" y="19146"/>
                    <a:pt x="563" y="40005"/>
                  </a:cubicBezTo>
                  <a:lnTo>
                    <a:pt x="18756" y="140018"/>
                  </a:lnTo>
                  <a:cubicBezTo>
                    <a:pt x="19232" y="142875"/>
                    <a:pt x="19518" y="145733"/>
                    <a:pt x="19518" y="148590"/>
                  </a:cubicBezTo>
                  <a:cubicBezTo>
                    <a:pt x="19518" y="151448"/>
                    <a:pt x="19232" y="154305"/>
                    <a:pt x="18756" y="157163"/>
                  </a:cubicBezTo>
                  <a:lnTo>
                    <a:pt x="563" y="256985"/>
                  </a:lnTo>
                  <a:cubicBezTo>
                    <a:pt x="-3247" y="277845"/>
                    <a:pt x="12755" y="297085"/>
                    <a:pt x="33996" y="297085"/>
                  </a:cubicBezTo>
                  <a:lnTo>
                    <a:pt x="1430552" y="297085"/>
                  </a:lnTo>
                  <a:cubicBezTo>
                    <a:pt x="1446935" y="297085"/>
                    <a:pt x="1461032" y="285369"/>
                    <a:pt x="1463984" y="269177"/>
                  </a:cubicBezTo>
                  <a:lnTo>
                    <a:pt x="1484463" y="157068"/>
                  </a:lnTo>
                  <a:cubicBezTo>
                    <a:pt x="1484844" y="154972"/>
                    <a:pt x="1484939" y="152972"/>
                    <a:pt x="1485035" y="150876"/>
                  </a:cubicBezTo>
                  <a:close/>
                </a:path>
              </a:pathLst>
            </a:custGeom>
            <a:solidFill>
              <a:srgbClr val="FF8F35"/>
            </a:solidFill>
            <a:ln>
              <a:noFill/>
            </a:ln>
          </p:spPr>
          <p:txBody>
            <a:bodyPr anchorCtr="0" anchor="ctr" bIns="144000" lIns="144000" spcFirstLastPara="1" rIns="144000" wrap="square" tIns="1440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Operate</a:t>
              </a:r>
              <a:endParaRPr b="0" i="0" sz="1400" u="none" cap="none" strike="noStrike">
                <a:solidFill>
                  <a:srgbClr val="000000"/>
                </a:solidFill>
                <a:latin typeface="Arial"/>
                <a:ea typeface="Arial"/>
                <a:cs typeface="Arial"/>
                <a:sym typeface="Arial"/>
              </a:endParaRPr>
            </a:p>
          </p:txBody>
        </p:sp>
        <p:pic>
          <p:nvPicPr>
            <p:cNvPr id="2918" name="Google Shape;2918;p121"/>
            <p:cNvPicPr preferRelativeResize="0"/>
            <p:nvPr/>
          </p:nvPicPr>
          <p:blipFill rotWithShape="1">
            <a:blip r:embed="rId3">
              <a:alphaModFix/>
            </a:blip>
            <a:srcRect b="0" l="0" r="0" t="0"/>
            <a:stretch/>
          </p:blipFill>
          <p:spPr>
            <a:xfrm>
              <a:off x="7584071" y="3795383"/>
              <a:ext cx="252000" cy="252000"/>
            </a:xfrm>
            <a:prstGeom prst="rect">
              <a:avLst/>
            </a:prstGeom>
            <a:noFill/>
            <a:ln>
              <a:noFill/>
            </a:ln>
          </p:spPr>
        </p:pic>
        <p:pic>
          <p:nvPicPr>
            <p:cNvPr id="2919" name="Google Shape;2919;p121"/>
            <p:cNvPicPr preferRelativeResize="0"/>
            <p:nvPr/>
          </p:nvPicPr>
          <p:blipFill rotWithShape="1">
            <a:blip r:embed="rId4">
              <a:alphaModFix/>
            </a:blip>
            <a:srcRect b="0" l="0" r="0" t="0"/>
            <a:stretch/>
          </p:blipFill>
          <p:spPr>
            <a:xfrm>
              <a:off x="9948456" y="3795383"/>
              <a:ext cx="252000" cy="252000"/>
            </a:xfrm>
            <a:prstGeom prst="rect">
              <a:avLst/>
            </a:prstGeom>
            <a:noFill/>
            <a:ln>
              <a:noFill/>
            </a:ln>
          </p:spPr>
        </p:pic>
        <p:pic>
          <p:nvPicPr>
            <p:cNvPr id="2920" name="Google Shape;2920;p121"/>
            <p:cNvPicPr preferRelativeResize="0"/>
            <p:nvPr/>
          </p:nvPicPr>
          <p:blipFill rotWithShape="1">
            <a:blip r:embed="rId5">
              <a:alphaModFix/>
            </a:blip>
            <a:srcRect b="0" l="0" r="0" t="0"/>
            <a:stretch/>
          </p:blipFill>
          <p:spPr>
            <a:xfrm>
              <a:off x="2855299" y="3795383"/>
              <a:ext cx="298667" cy="252000"/>
            </a:xfrm>
            <a:prstGeom prst="rect">
              <a:avLst/>
            </a:prstGeom>
            <a:noFill/>
            <a:ln>
              <a:noFill/>
            </a:ln>
          </p:spPr>
        </p:pic>
        <p:pic>
          <p:nvPicPr>
            <p:cNvPr id="2921" name="Google Shape;2921;p121"/>
            <p:cNvPicPr preferRelativeResize="0"/>
            <p:nvPr/>
          </p:nvPicPr>
          <p:blipFill rotWithShape="1">
            <a:blip r:embed="rId6">
              <a:alphaModFix/>
            </a:blip>
            <a:srcRect b="0" l="0" r="0" t="0"/>
            <a:stretch/>
          </p:blipFill>
          <p:spPr>
            <a:xfrm>
              <a:off x="5219685" y="3795383"/>
              <a:ext cx="228375" cy="252000"/>
            </a:xfrm>
            <a:prstGeom prst="rect">
              <a:avLst/>
            </a:prstGeom>
            <a:noFill/>
            <a:ln>
              <a:noFill/>
            </a:ln>
          </p:spPr>
        </p:pic>
        <p:pic>
          <p:nvPicPr>
            <p:cNvPr id="2922" name="Google Shape;2922;p121"/>
            <p:cNvPicPr preferRelativeResize="0"/>
            <p:nvPr/>
          </p:nvPicPr>
          <p:blipFill rotWithShape="1">
            <a:blip r:embed="rId7">
              <a:alphaModFix/>
            </a:blip>
            <a:srcRect b="0" l="0" r="0" t="0"/>
            <a:stretch/>
          </p:blipFill>
          <p:spPr>
            <a:xfrm>
              <a:off x="490913" y="3795383"/>
              <a:ext cx="252000" cy="252000"/>
            </a:xfrm>
            <a:prstGeom prst="rect">
              <a:avLst/>
            </a:prstGeom>
            <a:noFill/>
            <a:ln>
              <a:noFill/>
            </a:ln>
          </p:spPr>
        </p:pic>
      </p:gr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6" name="Shape 2926"/>
        <p:cNvGrpSpPr/>
        <p:nvPr/>
      </p:nvGrpSpPr>
      <p:grpSpPr>
        <a:xfrm>
          <a:off x="0" y="0"/>
          <a:ext cx="0" cy="0"/>
          <a:chOff x="0" y="0"/>
          <a:chExt cx="0" cy="0"/>
        </a:xfrm>
      </p:grpSpPr>
      <p:sp>
        <p:nvSpPr>
          <p:cNvPr id="2927" name="Google Shape;2927;p122"/>
          <p:cNvSpPr txBox="1"/>
          <p:nvPr>
            <p:ph type="title"/>
          </p:nvPr>
        </p:nvSpPr>
        <p:spPr>
          <a:xfrm>
            <a:off x="263525" y="512676"/>
            <a:ext cx="11664949"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Screenshots</a:t>
            </a:r>
            <a:endParaRPr/>
          </a:p>
        </p:txBody>
      </p:sp>
      <p:sp>
        <p:nvSpPr>
          <p:cNvPr id="2928" name="Google Shape;2928;p122"/>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BACKUP</a:t>
            </a:r>
            <a:endParaRPr/>
          </a:p>
        </p:txBody>
      </p:sp>
      <p:sp>
        <p:nvSpPr>
          <p:cNvPr id="2929" name="Google Shape;2929;p122"/>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2930" name="Google Shape;2930;p122"/>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2931" name="Google Shape;2931;p122"/>
          <p:cNvSpPr txBox="1"/>
          <p:nvPr>
            <p:ph idx="12" type="sldNum"/>
          </p:nvPr>
        </p:nvSpPr>
        <p:spPr>
          <a:xfrm>
            <a:off x="11999323" y="6673964"/>
            <a:ext cx="121828"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5" name="Shape 2935"/>
        <p:cNvGrpSpPr/>
        <p:nvPr/>
      </p:nvGrpSpPr>
      <p:grpSpPr>
        <a:xfrm>
          <a:off x="0" y="0"/>
          <a:ext cx="0" cy="0"/>
          <a:chOff x="0" y="0"/>
          <a:chExt cx="0" cy="0"/>
        </a:xfrm>
      </p:grpSpPr>
      <p:sp>
        <p:nvSpPr>
          <p:cNvPr id="2936" name="Google Shape;2936;p123"/>
          <p:cNvSpPr txBox="1"/>
          <p:nvPr>
            <p:ph type="title"/>
          </p:nvPr>
        </p:nvSpPr>
        <p:spPr>
          <a:xfrm>
            <a:off x="263525" y="512676"/>
            <a:ext cx="8890000"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The OWASP Top 10s: LLM apps and AI agents</a:t>
            </a:r>
            <a:endParaRPr/>
          </a:p>
        </p:txBody>
      </p:sp>
      <p:sp>
        <p:nvSpPr>
          <p:cNvPr id="2937" name="Google Shape;2937;p123"/>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b="0" lang="en-US" sz="1000" cap="none">
                <a:solidFill>
                  <a:schemeClr val="accent1"/>
                </a:solidFill>
                <a:latin typeface="Arial"/>
                <a:ea typeface="Arial"/>
                <a:cs typeface="Arial"/>
                <a:sym typeface="Arial"/>
              </a:rPr>
              <a:t>BACKUP  ·  THE INDUSTRY STANDARD</a:t>
            </a:r>
            <a:endParaRPr/>
          </a:p>
        </p:txBody>
      </p:sp>
      <p:sp>
        <p:nvSpPr>
          <p:cNvPr id="2938" name="Google Shape;2938;p123"/>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pic>
        <p:nvPicPr>
          <p:cNvPr id="2939" name="Google Shape;2939;p123"/>
          <p:cNvPicPr preferRelativeResize="0"/>
          <p:nvPr/>
        </p:nvPicPr>
        <p:blipFill rotWithShape="1">
          <a:blip r:embed="rId3">
            <a:alphaModFix/>
          </a:blip>
          <a:srcRect b="0" l="0" r="0" t="0"/>
          <a:stretch/>
        </p:blipFill>
        <p:spPr>
          <a:xfrm>
            <a:off x="10236200" y="381000"/>
            <a:ext cx="1498600" cy="520700"/>
          </a:xfrm>
          <a:prstGeom prst="rect">
            <a:avLst/>
          </a:prstGeom>
          <a:noFill/>
          <a:ln>
            <a:noFill/>
          </a:ln>
        </p:spPr>
      </p:pic>
      <p:sp>
        <p:nvSpPr>
          <p:cNvPr id="2940" name="Google Shape;2940;p123"/>
          <p:cNvSpPr txBox="1"/>
          <p:nvPr/>
        </p:nvSpPr>
        <p:spPr>
          <a:xfrm>
            <a:off x="457200" y="6375400"/>
            <a:ext cx="10160000" cy="20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A4D"/>
              </a:buClr>
              <a:buSzPts val="1000"/>
              <a:buFont typeface="Arial"/>
              <a:buNone/>
            </a:pPr>
            <a:r>
              <a:rPr b="1" i="0" lang="en-US" sz="1000" u="none" cap="none" strike="noStrike">
                <a:solidFill>
                  <a:srgbClr val="4A4A4D"/>
                </a:solidFill>
                <a:latin typeface="Arial"/>
                <a:ea typeface="Arial"/>
                <a:cs typeface="Arial"/>
                <a:sym typeface="Arial"/>
              </a:rPr>
              <a:t>OWASP</a:t>
            </a:r>
            <a:r>
              <a:rPr b="0" i="0" lang="en-US" sz="1000" u="none" cap="none" strike="noStrike">
                <a:solidFill>
                  <a:srgbClr val="4A4A4D"/>
                </a:solidFill>
                <a:latin typeface="Arial"/>
                <a:ea typeface="Arial"/>
                <a:cs typeface="Arial"/>
                <a:sym typeface="Arial"/>
              </a:rPr>
              <a:t> = Open Worldwide Application Security Project. LLM Top 10: Aug 2026 edition. Agentic Top 10 (ASI): Dec 2025 edition.</a:t>
            </a:r>
            <a:endParaRPr b="0" i="0" sz="1400" u="none" cap="none" strike="noStrike">
              <a:solidFill>
                <a:srgbClr val="000000"/>
              </a:solidFill>
              <a:latin typeface="Arial"/>
              <a:ea typeface="Arial"/>
              <a:cs typeface="Arial"/>
              <a:sym typeface="Arial"/>
            </a:endParaRPr>
          </a:p>
        </p:txBody>
      </p:sp>
      <p:sp>
        <p:nvSpPr>
          <p:cNvPr id="2941" name="Google Shape;2941;p123"/>
          <p:cNvSpPr txBox="1"/>
          <p:nvPr/>
        </p:nvSpPr>
        <p:spPr>
          <a:xfrm>
            <a:off x="457200" y="1028700"/>
            <a:ext cx="112522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D70"/>
              </a:buClr>
              <a:buSzPts val="1250"/>
              <a:buFont typeface="Arial"/>
              <a:buNone/>
            </a:pPr>
            <a:r>
              <a:rPr b="0" i="0" lang="en-US" sz="1250" u="none" cap="none" strike="noStrike">
                <a:solidFill>
                  <a:srgbClr val="6E6D70"/>
                </a:solidFill>
                <a:latin typeface="Arial"/>
                <a:ea typeface="Arial"/>
                <a:cs typeface="Arial"/>
                <a:sym typeface="Arial"/>
              </a:rPr>
              <a:t>Left: risks of any application with a model inside it. Right: the extra risks once the model plans, uses tools and acts on its own.</a:t>
            </a:r>
            <a:endParaRPr b="0" i="0" sz="1400" u="none" cap="none" strike="noStrike">
              <a:solidFill>
                <a:srgbClr val="000000"/>
              </a:solidFill>
              <a:latin typeface="Arial"/>
              <a:ea typeface="Arial"/>
              <a:cs typeface="Arial"/>
              <a:sym typeface="Arial"/>
            </a:endParaRPr>
          </a:p>
        </p:txBody>
      </p:sp>
      <p:sp>
        <p:nvSpPr>
          <p:cNvPr id="2942" name="Google Shape;2942;p123"/>
          <p:cNvSpPr/>
          <p:nvPr/>
        </p:nvSpPr>
        <p:spPr>
          <a:xfrm>
            <a:off x="457200" y="1346200"/>
            <a:ext cx="5435600" cy="279400"/>
          </a:xfrm>
          <a:prstGeom prst="rect">
            <a:avLst/>
          </a:prstGeom>
          <a:noFill/>
          <a:ln>
            <a:noFill/>
          </a:ln>
        </p:spPr>
        <p:txBody>
          <a:bodyPr anchorCtr="0" anchor="b" bIns="38100" lIns="0" spcFirstLastPara="1" rIns="101600" wrap="square" tIns="38100">
            <a:noAutofit/>
          </a:bodyPr>
          <a:lstStyle/>
          <a:p>
            <a:pPr indent="0" lvl="0" marL="0" marR="0" rtl="0" algn="l">
              <a:lnSpc>
                <a:spcPct val="100000"/>
              </a:lnSpc>
              <a:spcBef>
                <a:spcPts val="0"/>
              </a:spcBef>
              <a:spcAft>
                <a:spcPts val="0"/>
              </a:spcAft>
              <a:buClr>
                <a:srgbClr val="DF5325"/>
              </a:buClr>
              <a:buSzPts val="1050"/>
              <a:buFont typeface="Arial"/>
              <a:buNone/>
            </a:pPr>
            <a:r>
              <a:rPr b="1" i="0" lang="en-US" sz="1050" u="none" cap="none" strike="noStrike">
                <a:solidFill>
                  <a:srgbClr val="DF5325"/>
                </a:solidFill>
                <a:latin typeface="Arial"/>
                <a:ea typeface="Arial"/>
                <a:cs typeface="Arial"/>
                <a:sym typeface="Arial"/>
              </a:rPr>
              <a:t>OWASP Top 10 for LLM Applications</a:t>
            </a:r>
            <a:r>
              <a:rPr b="0" i="0" lang="en-US" sz="950" u="none" cap="none" strike="noStrike">
                <a:solidFill>
                  <a:srgbClr val="4A4A4D"/>
                </a:solidFill>
                <a:latin typeface="Arial"/>
                <a:ea typeface="Arial"/>
                <a:cs typeface="Arial"/>
                <a:sym typeface="Arial"/>
              </a:rPr>
              <a:t>   2026 edition · the model as a component</a:t>
            </a:r>
            <a:endParaRPr b="0" i="0" sz="1400" u="none" cap="none" strike="noStrike">
              <a:solidFill>
                <a:srgbClr val="000000"/>
              </a:solidFill>
              <a:latin typeface="Arial"/>
              <a:ea typeface="Arial"/>
              <a:cs typeface="Arial"/>
              <a:sym typeface="Arial"/>
            </a:endParaRPr>
          </a:p>
        </p:txBody>
      </p:sp>
      <p:sp>
        <p:nvSpPr>
          <p:cNvPr id="2943" name="Google Shape;2943;p123"/>
          <p:cNvSpPr/>
          <p:nvPr/>
        </p:nvSpPr>
        <p:spPr>
          <a:xfrm>
            <a:off x="457200" y="167640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LLM01  </a:t>
            </a:r>
            <a:r>
              <a:rPr b="1" i="0" lang="en-US" sz="1050" u="none" cap="none" strike="noStrike">
                <a:solidFill>
                  <a:srgbClr val="141319"/>
                </a:solidFill>
                <a:latin typeface="Arial"/>
                <a:ea typeface="Arial"/>
                <a:cs typeface="Arial"/>
                <a:sym typeface="Arial"/>
              </a:rPr>
              <a:t>Prompt injection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Hidden instructions in a message or document override the model’s rules.</a:t>
            </a:r>
            <a:endParaRPr b="0" i="0" sz="1400" u="none" cap="none" strike="noStrike">
              <a:solidFill>
                <a:srgbClr val="000000"/>
              </a:solidFill>
              <a:latin typeface="Arial"/>
              <a:ea typeface="Arial"/>
              <a:cs typeface="Arial"/>
              <a:sym typeface="Arial"/>
            </a:endParaRPr>
          </a:p>
        </p:txBody>
      </p:sp>
      <p:sp>
        <p:nvSpPr>
          <p:cNvPr id="2944" name="Google Shape;2944;p123"/>
          <p:cNvSpPr/>
          <p:nvPr/>
        </p:nvSpPr>
        <p:spPr>
          <a:xfrm>
            <a:off x="457200" y="213868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LLM02  </a:t>
            </a:r>
            <a:r>
              <a:rPr b="1" i="0" lang="en-US" sz="1050" u="none" cap="none" strike="noStrike">
                <a:solidFill>
                  <a:srgbClr val="141319"/>
                </a:solidFill>
                <a:latin typeface="Arial"/>
                <a:ea typeface="Arial"/>
                <a:cs typeface="Arial"/>
                <a:sym typeface="Arial"/>
              </a:rPr>
              <a:t>Sensitive information disclosure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Personal or customer data ends up in a prompt, a log or someone else’s answer.</a:t>
            </a:r>
            <a:endParaRPr b="0" i="0" sz="1400" u="none" cap="none" strike="noStrike">
              <a:solidFill>
                <a:srgbClr val="000000"/>
              </a:solidFill>
              <a:latin typeface="Arial"/>
              <a:ea typeface="Arial"/>
              <a:cs typeface="Arial"/>
              <a:sym typeface="Arial"/>
            </a:endParaRPr>
          </a:p>
        </p:txBody>
      </p:sp>
      <p:sp>
        <p:nvSpPr>
          <p:cNvPr id="2945" name="Google Shape;2945;p123"/>
          <p:cNvSpPr/>
          <p:nvPr/>
        </p:nvSpPr>
        <p:spPr>
          <a:xfrm>
            <a:off x="457200" y="260096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LLM03  </a:t>
            </a:r>
            <a:r>
              <a:rPr b="1" i="0" lang="en-US" sz="1050" u="none" cap="none" strike="noStrike">
                <a:solidFill>
                  <a:srgbClr val="141319"/>
                </a:solidFill>
                <a:latin typeface="Arial"/>
                <a:ea typeface="Arial"/>
                <a:cs typeface="Arial"/>
                <a:sym typeface="Arial"/>
              </a:rPr>
              <a:t>Excessive agency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The model gets more permissions or autonomy than the task actually needs.</a:t>
            </a:r>
            <a:endParaRPr b="0" i="0" sz="1400" u="none" cap="none" strike="noStrike">
              <a:solidFill>
                <a:srgbClr val="000000"/>
              </a:solidFill>
              <a:latin typeface="Arial"/>
              <a:ea typeface="Arial"/>
              <a:cs typeface="Arial"/>
              <a:sym typeface="Arial"/>
            </a:endParaRPr>
          </a:p>
        </p:txBody>
      </p:sp>
      <p:sp>
        <p:nvSpPr>
          <p:cNvPr id="2946" name="Google Shape;2946;p123"/>
          <p:cNvSpPr/>
          <p:nvPr/>
        </p:nvSpPr>
        <p:spPr>
          <a:xfrm>
            <a:off x="457200" y="306324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LLM04  </a:t>
            </a:r>
            <a:r>
              <a:rPr b="1" i="0" lang="en-US" sz="1050" u="none" cap="none" strike="noStrike">
                <a:solidFill>
                  <a:srgbClr val="141319"/>
                </a:solidFill>
                <a:latin typeface="Arial"/>
                <a:ea typeface="Arial"/>
                <a:cs typeface="Arial"/>
                <a:sym typeface="Arial"/>
              </a:rPr>
              <a:t>Supply chain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A model, library or provider is compromised or changed without notice.</a:t>
            </a:r>
            <a:endParaRPr b="0" i="0" sz="1400" u="none" cap="none" strike="noStrike">
              <a:solidFill>
                <a:srgbClr val="000000"/>
              </a:solidFill>
              <a:latin typeface="Arial"/>
              <a:ea typeface="Arial"/>
              <a:cs typeface="Arial"/>
              <a:sym typeface="Arial"/>
            </a:endParaRPr>
          </a:p>
        </p:txBody>
      </p:sp>
      <p:sp>
        <p:nvSpPr>
          <p:cNvPr id="2947" name="Google Shape;2947;p123"/>
          <p:cNvSpPr/>
          <p:nvPr/>
        </p:nvSpPr>
        <p:spPr>
          <a:xfrm>
            <a:off x="457200" y="352552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LLM05  </a:t>
            </a:r>
            <a:r>
              <a:rPr b="1" i="0" lang="en-US" sz="1050" u="none" cap="none" strike="noStrike">
                <a:solidFill>
                  <a:srgbClr val="141319"/>
                </a:solidFill>
                <a:latin typeface="Arial"/>
                <a:ea typeface="Arial"/>
                <a:cs typeface="Arial"/>
                <a:sym typeface="Arial"/>
              </a:rPr>
              <a:t>Data &amp; model poisoning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Tampered training data or knowledge sources quietly skew the answers.</a:t>
            </a:r>
            <a:endParaRPr b="0" i="0" sz="1400" u="none" cap="none" strike="noStrike">
              <a:solidFill>
                <a:srgbClr val="000000"/>
              </a:solidFill>
              <a:latin typeface="Arial"/>
              <a:ea typeface="Arial"/>
              <a:cs typeface="Arial"/>
              <a:sym typeface="Arial"/>
            </a:endParaRPr>
          </a:p>
        </p:txBody>
      </p:sp>
      <p:sp>
        <p:nvSpPr>
          <p:cNvPr id="2948" name="Google Shape;2948;p123"/>
          <p:cNvSpPr/>
          <p:nvPr/>
        </p:nvSpPr>
        <p:spPr>
          <a:xfrm>
            <a:off x="457200" y="398780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LLM06  </a:t>
            </a:r>
            <a:r>
              <a:rPr b="1" i="0" lang="en-US" sz="1050" u="none" cap="none" strike="noStrike">
                <a:solidFill>
                  <a:srgbClr val="141319"/>
                </a:solidFill>
                <a:latin typeface="Arial"/>
                <a:ea typeface="Arial"/>
                <a:cs typeface="Arial"/>
                <a:sym typeface="Arial"/>
              </a:rPr>
              <a:t>Unbounded consumption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Runaway or abusive usage drives cost up or takes the service down.</a:t>
            </a:r>
            <a:endParaRPr b="0" i="0" sz="1400" u="none" cap="none" strike="noStrike">
              <a:solidFill>
                <a:srgbClr val="000000"/>
              </a:solidFill>
              <a:latin typeface="Arial"/>
              <a:ea typeface="Arial"/>
              <a:cs typeface="Arial"/>
              <a:sym typeface="Arial"/>
            </a:endParaRPr>
          </a:p>
        </p:txBody>
      </p:sp>
      <p:sp>
        <p:nvSpPr>
          <p:cNvPr id="2949" name="Google Shape;2949;p123"/>
          <p:cNvSpPr/>
          <p:nvPr/>
        </p:nvSpPr>
        <p:spPr>
          <a:xfrm>
            <a:off x="457200" y="445008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LLM07  </a:t>
            </a:r>
            <a:r>
              <a:rPr b="1" i="0" lang="en-US" sz="1050" u="none" cap="none" strike="noStrike">
                <a:solidFill>
                  <a:srgbClr val="141319"/>
                </a:solidFill>
                <a:latin typeface="Arial"/>
                <a:ea typeface="Arial"/>
                <a:cs typeface="Arial"/>
                <a:sym typeface="Arial"/>
              </a:rPr>
              <a:t>Misinformation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A confident but wrong answer is acted on by a colleague or a customer.</a:t>
            </a:r>
            <a:endParaRPr b="0" i="0" sz="1400" u="none" cap="none" strike="noStrike">
              <a:solidFill>
                <a:srgbClr val="000000"/>
              </a:solidFill>
              <a:latin typeface="Arial"/>
              <a:ea typeface="Arial"/>
              <a:cs typeface="Arial"/>
              <a:sym typeface="Arial"/>
            </a:endParaRPr>
          </a:p>
        </p:txBody>
      </p:sp>
      <p:sp>
        <p:nvSpPr>
          <p:cNvPr id="2950" name="Google Shape;2950;p123"/>
          <p:cNvSpPr/>
          <p:nvPr/>
        </p:nvSpPr>
        <p:spPr>
          <a:xfrm>
            <a:off x="457200" y="491236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LLM08  </a:t>
            </a:r>
            <a:r>
              <a:rPr b="1" i="0" lang="en-US" sz="1050" u="none" cap="none" strike="noStrike">
                <a:solidFill>
                  <a:srgbClr val="141319"/>
                </a:solidFill>
                <a:latin typeface="Arial"/>
                <a:ea typeface="Arial"/>
                <a:cs typeface="Arial"/>
                <a:sym typeface="Arial"/>
              </a:rPr>
              <a:t>Hidden context exposure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System prompts, business rules or internal context get exposed.</a:t>
            </a:r>
            <a:endParaRPr b="0" i="0" sz="1400" u="none" cap="none" strike="noStrike">
              <a:solidFill>
                <a:srgbClr val="000000"/>
              </a:solidFill>
              <a:latin typeface="Arial"/>
              <a:ea typeface="Arial"/>
              <a:cs typeface="Arial"/>
              <a:sym typeface="Arial"/>
            </a:endParaRPr>
          </a:p>
        </p:txBody>
      </p:sp>
      <p:sp>
        <p:nvSpPr>
          <p:cNvPr id="2951" name="Google Shape;2951;p123"/>
          <p:cNvSpPr/>
          <p:nvPr/>
        </p:nvSpPr>
        <p:spPr>
          <a:xfrm>
            <a:off x="457200" y="537464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LLM09  </a:t>
            </a:r>
            <a:r>
              <a:rPr b="1" i="0" lang="en-US" sz="1050" u="none" cap="none" strike="noStrike">
                <a:solidFill>
                  <a:srgbClr val="141319"/>
                </a:solidFill>
                <a:latin typeface="Arial"/>
                <a:ea typeface="Arial"/>
                <a:cs typeface="Arial"/>
                <a:sym typeface="Arial"/>
              </a:rPr>
              <a:t>Vector &amp; embedding weaknesses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Retrieval returns documents a user was never allowed to see.</a:t>
            </a:r>
            <a:endParaRPr b="0" i="0" sz="1400" u="none" cap="none" strike="noStrike">
              <a:solidFill>
                <a:srgbClr val="000000"/>
              </a:solidFill>
              <a:latin typeface="Arial"/>
              <a:ea typeface="Arial"/>
              <a:cs typeface="Arial"/>
              <a:sym typeface="Arial"/>
            </a:endParaRPr>
          </a:p>
        </p:txBody>
      </p:sp>
      <p:sp>
        <p:nvSpPr>
          <p:cNvPr id="2952" name="Google Shape;2952;p123"/>
          <p:cNvSpPr/>
          <p:nvPr/>
        </p:nvSpPr>
        <p:spPr>
          <a:xfrm>
            <a:off x="457200" y="583692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LLM10  </a:t>
            </a:r>
            <a:r>
              <a:rPr b="1" i="0" lang="en-US" sz="1050" u="none" cap="none" strike="noStrike">
                <a:solidFill>
                  <a:srgbClr val="141319"/>
                </a:solidFill>
                <a:latin typeface="Arial"/>
                <a:ea typeface="Arial"/>
                <a:cs typeface="Arial"/>
                <a:sym typeface="Arial"/>
              </a:rPr>
              <a:t>Improper output handling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Model output goes straight into a letter or a system with no check in between.</a:t>
            </a:r>
            <a:endParaRPr b="0" i="0" sz="1400" u="none" cap="none" strike="noStrike">
              <a:solidFill>
                <a:srgbClr val="000000"/>
              </a:solidFill>
              <a:latin typeface="Arial"/>
              <a:ea typeface="Arial"/>
              <a:cs typeface="Arial"/>
              <a:sym typeface="Arial"/>
            </a:endParaRPr>
          </a:p>
        </p:txBody>
      </p:sp>
      <p:sp>
        <p:nvSpPr>
          <p:cNvPr id="2953" name="Google Shape;2953;p123"/>
          <p:cNvSpPr/>
          <p:nvPr/>
        </p:nvSpPr>
        <p:spPr>
          <a:xfrm>
            <a:off x="6299200" y="1346200"/>
            <a:ext cx="5435600" cy="279400"/>
          </a:xfrm>
          <a:prstGeom prst="rect">
            <a:avLst/>
          </a:prstGeom>
          <a:noFill/>
          <a:ln>
            <a:noFill/>
          </a:ln>
        </p:spPr>
        <p:txBody>
          <a:bodyPr anchorCtr="0" anchor="b" bIns="38100" lIns="0" spcFirstLastPara="1" rIns="101600" wrap="square" tIns="38100">
            <a:noAutofit/>
          </a:bodyPr>
          <a:lstStyle/>
          <a:p>
            <a:pPr indent="0" lvl="0" marL="0" marR="0" rtl="0" algn="l">
              <a:lnSpc>
                <a:spcPct val="100000"/>
              </a:lnSpc>
              <a:spcBef>
                <a:spcPts val="0"/>
              </a:spcBef>
              <a:spcAft>
                <a:spcPts val="0"/>
              </a:spcAft>
              <a:buClr>
                <a:srgbClr val="DF5325"/>
              </a:buClr>
              <a:buSzPts val="1050"/>
              <a:buFont typeface="Arial"/>
              <a:buNone/>
            </a:pPr>
            <a:r>
              <a:rPr b="1" i="0" lang="en-US" sz="1050" u="none" cap="none" strike="noStrike">
                <a:solidFill>
                  <a:srgbClr val="DF5325"/>
                </a:solidFill>
                <a:latin typeface="Arial"/>
                <a:ea typeface="Arial"/>
                <a:cs typeface="Arial"/>
                <a:sym typeface="Arial"/>
              </a:rPr>
              <a:t>OWASP Top 10 for Agentic Applications</a:t>
            </a:r>
            <a:r>
              <a:rPr b="0" i="0" lang="en-US" sz="950" u="none" cap="none" strike="noStrike">
                <a:solidFill>
                  <a:srgbClr val="4A4A4D"/>
                </a:solidFill>
                <a:latin typeface="Arial"/>
                <a:ea typeface="Arial"/>
                <a:cs typeface="Arial"/>
                <a:sym typeface="Arial"/>
              </a:rPr>
              <a:t>   2026 edition · the model as an actor</a:t>
            </a:r>
            <a:endParaRPr b="0" i="0" sz="1400" u="none" cap="none" strike="noStrike">
              <a:solidFill>
                <a:srgbClr val="000000"/>
              </a:solidFill>
              <a:latin typeface="Arial"/>
              <a:ea typeface="Arial"/>
              <a:cs typeface="Arial"/>
              <a:sym typeface="Arial"/>
            </a:endParaRPr>
          </a:p>
        </p:txBody>
      </p:sp>
      <p:sp>
        <p:nvSpPr>
          <p:cNvPr id="2954" name="Google Shape;2954;p123"/>
          <p:cNvSpPr/>
          <p:nvPr/>
        </p:nvSpPr>
        <p:spPr>
          <a:xfrm>
            <a:off x="6299200" y="167640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ASI01  </a:t>
            </a:r>
            <a:r>
              <a:rPr b="1" i="0" lang="en-US" sz="1050" u="none" cap="none" strike="noStrike">
                <a:solidFill>
                  <a:srgbClr val="141319"/>
                </a:solidFill>
                <a:latin typeface="Arial"/>
                <a:ea typeface="Arial"/>
                <a:cs typeface="Arial"/>
                <a:sym typeface="Arial"/>
              </a:rPr>
              <a:t>Agent goal hijack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Content the agent reads (an email, a document) redirects what it is trying to achieve.</a:t>
            </a:r>
            <a:endParaRPr b="0" i="0" sz="1400" u="none" cap="none" strike="noStrike">
              <a:solidFill>
                <a:srgbClr val="000000"/>
              </a:solidFill>
              <a:latin typeface="Arial"/>
              <a:ea typeface="Arial"/>
              <a:cs typeface="Arial"/>
              <a:sym typeface="Arial"/>
            </a:endParaRPr>
          </a:p>
        </p:txBody>
      </p:sp>
      <p:sp>
        <p:nvSpPr>
          <p:cNvPr id="2955" name="Google Shape;2955;p123"/>
          <p:cNvSpPr/>
          <p:nvPr/>
        </p:nvSpPr>
        <p:spPr>
          <a:xfrm>
            <a:off x="6299200" y="213868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ASI02  </a:t>
            </a:r>
            <a:r>
              <a:rPr b="1" i="0" lang="en-US" sz="1050" u="none" cap="none" strike="noStrike">
                <a:solidFill>
                  <a:srgbClr val="141319"/>
                </a:solidFill>
                <a:latin typeface="Arial"/>
                <a:ea typeface="Arial"/>
                <a:cs typeface="Arial"/>
                <a:sym typeface="Arial"/>
              </a:rPr>
              <a:t>Tool misuse &amp; exploitation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The agent uses a legitimate tool unsafely, or is tricked into calling the wrong one.</a:t>
            </a:r>
            <a:endParaRPr b="0" i="0" sz="1400" u="none" cap="none" strike="noStrike">
              <a:solidFill>
                <a:srgbClr val="000000"/>
              </a:solidFill>
              <a:latin typeface="Arial"/>
              <a:ea typeface="Arial"/>
              <a:cs typeface="Arial"/>
              <a:sym typeface="Arial"/>
            </a:endParaRPr>
          </a:p>
        </p:txBody>
      </p:sp>
      <p:sp>
        <p:nvSpPr>
          <p:cNvPr id="2956" name="Google Shape;2956;p123"/>
          <p:cNvSpPr/>
          <p:nvPr/>
        </p:nvSpPr>
        <p:spPr>
          <a:xfrm>
            <a:off x="6299200" y="260096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ASI03  </a:t>
            </a:r>
            <a:r>
              <a:rPr b="1" i="0" lang="en-US" sz="1050" u="none" cap="none" strike="noStrike">
                <a:solidFill>
                  <a:srgbClr val="141319"/>
                </a:solidFill>
                <a:latin typeface="Arial"/>
                <a:ea typeface="Arial"/>
                <a:cs typeface="Arial"/>
                <a:sym typeface="Arial"/>
              </a:rPr>
              <a:t>Identity &amp; privilege abuse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The agent’s credentials are inherited, over-scoped or used to act as someone else.</a:t>
            </a:r>
            <a:endParaRPr b="0" i="0" sz="1400" u="none" cap="none" strike="noStrike">
              <a:solidFill>
                <a:srgbClr val="000000"/>
              </a:solidFill>
              <a:latin typeface="Arial"/>
              <a:ea typeface="Arial"/>
              <a:cs typeface="Arial"/>
              <a:sym typeface="Arial"/>
            </a:endParaRPr>
          </a:p>
        </p:txBody>
      </p:sp>
      <p:sp>
        <p:nvSpPr>
          <p:cNvPr id="2957" name="Google Shape;2957;p123"/>
          <p:cNvSpPr/>
          <p:nvPr/>
        </p:nvSpPr>
        <p:spPr>
          <a:xfrm>
            <a:off x="6299200" y="306324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ASI04  </a:t>
            </a:r>
            <a:r>
              <a:rPr b="1" i="0" lang="en-US" sz="1050" u="none" cap="none" strike="noStrike">
                <a:solidFill>
                  <a:srgbClr val="141319"/>
                </a:solidFill>
                <a:latin typeface="Arial"/>
                <a:ea typeface="Arial"/>
                <a:cs typeface="Arial"/>
                <a:sym typeface="Arial"/>
              </a:rPr>
              <a:t>Agentic supply chain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A malicious or compromised tool, MCP server, plug-in or sub-agent joins the chain.</a:t>
            </a:r>
            <a:endParaRPr b="0" i="0" sz="1400" u="none" cap="none" strike="noStrike">
              <a:solidFill>
                <a:srgbClr val="000000"/>
              </a:solidFill>
              <a:latin typeface="Arial"/>
              <a:ea typeface="Arial"/>
              <a:cs typeface="Arial"/>
              <a:sym typeface="Arial"/>
            </a:endParaRPr>
          </a:p>
        </p:txBody>
      </p:sp>
      <p:sp>
        <p:nvSpPr>
          <p:cNvPr id="2958" name="Google Shape;2958;p123"/>
          <p:cNvSpPr/>
          <p:nvPr/>
        </p:nvSpPr>
        <p:spPr>
          <a:xfrm>
            <a:off x="6299200" y="352552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ASI05  </a:t>
            </a:r>
            <a:r>
              <a:rPr b="1" i="0" lang="en-US" sz="1050" u="none" cap="none" strike="noStrike">
                <a:solidFill>
                  <a:srgbClr val="141319"/>
                </a:solidFill>
                <a:latin typeface="Arial"/>
                <a:ea typeface="Arial"/>
                <a:cs typeface="Arial"/>
                <a:sym typeface="Arial"/>
              </a:rPr>
              <a:t>Unexpected code execution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The agent generates and runs code or commands that nobody reviewed.</a:t>
            </a:r>
            <a:endParaRPr b="0" i="0" sz="1400" u="none" cap="none" strike="noStrike">
              <a:solidFill>
                <a:srgbClr val="000000"/>
              </a:solidFill>
              <a:latin typeface="Arial"/>
              <a:ea typeface="Arial"/>
              <a:cs typeface="Arial"/>
              <a:sym typeface="Arial"/>
            </a:endParaRPr>
          </a:p>
        </p:txBody>
      </p:sp>
      <p:sp>
        <p:nvSpPr>
          <p:cNvPr id="2959" name="Google Shape;2959;p123"/>
          <p:cNvSpPr/>
          <p:nvPr/>
        </p:nvSpPr>
        <p:spPr>
          <a:xfrm>
            <a:off x="6299200" y="398780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ASI06  </a:t>
            </a:r>
            <a:r>
              <a:rPr b="1" i="0" lang="en-US" sz="1050" u="none" cap="none" strike="noStrike">
                <a:solidFill>
                  <a:srgbClr val="141319"/>
                </a:solidFill>
                <a:latin typeface="Arial"/>
                <a:ea typeface="Arial"/>
                <a:cs typeface="Arial"/>
                <a:sym typeface="Arial"/>
              </a:rPr>
              <a:t>Memory &amp; context poisoning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False facts planted in the agent’s memory persist and steer later sessions.</a:t>
            </a:r>
            <a:endParaRPr b="0" i="0" sz="1400" u="none" cap="none" strike="noStrike">
              <a:solidFill>
                <a:srgbClr val="000000"/>
              </a:solidFill>
              <a:latin typeface="Arial"/>
              <a:ea typeface="Arial"/>
              <a:cs typeface="Arial"/>
              <a:sym typeface="Arial"/>
            </a:endParaRPr>
          </a:p>
        </p:txBody>
      </p:sp>
      <p:sp>
        <p:nvSpPr>
          <p:cNvPr id="2960" name="Google Shape;2960;p123"/>
          <p:cNvSpPr/>
          <p:nvPr/>
        </p:nvSpPr>
        <p:spPr>
          <a:xfrm>
            <a:off x="6299200" y="445008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ASI07  </a:t>
            </a:r>
            <a:r>
              <a:rPr b="1" i="0" lang="en-US" sz="1050" u="none" cap="none" strike="noStrike">
                <a:solidFill>
                  <a:srgbClr val="141319"/>
                </a:solidFill>
                <a:latin typeface="Arial"/>
                <a:ea typeface="Arial"/>
                <a:cs typeface="Arial"/>
                <a:sym typeface="Arial"/>
              </a:rPr>
              <a:t>Insecure inter-agent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Agents trust messages from other agents without authentication or checks.</a:t>
            </a:r>
            <a:endParaRPr b="0" i="0" sz="1400" u="none" cap="none" strike="noStrike">
              <a:solidFill>
                <a:srgbClr val="000000"/>
              </a:solidFill>
              <a:latin typeface="Arial"/>
              <a:ea typeface="Arial"/>
              <a:cs typeface="Arial"/>
              <a:sym typeface="Arial"/>
            </a:endParaRPr>
          </a:p>
        </p:txBody>
      </p:sp>
      <p:sp>
        <p:nvSpPr>
          <p:cNvPr id="2961" name="Google Shape;2961;p123"/>
          <p:cNvSpPr/>
          <p:nvPr/>
        </p:nvSpPr>
        <p:spPr>
          <a:xfrm>
            <a:off x="6299200" y="491236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ASI08  </a:t>
            </a:r>
            <a:r>
              <a:rPr b="1" i="0" lang="en-US" sz="1050" u="none" cap="none" strike="noStrike">
                <a:solidFill>
                  <a:srgbClr val="141319"/>
                </a:solidFill>
                <a:latin typeface="Arial"/>
                <a:ea typeface="Arial"/>
                <a:cs typeface="Arial"/>
                <a:sym typeface="Arial"/>
              </a:rPr>
              <a:t>Cascading failures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One wrong step propagates through a multi-step or multi-agent workflow.</a:t>
            </a:r>
            <a:endParaRPr b="0" i="0" sz="1400" u="none" cap="none" strike="noStrike">
              <a:solidFill>
                <a:srgbClr val="000000"/>
              </a:solidFill>
              <a:latin typeface="Arial"/>
              <a:ea typeface="Arial"/>
              <a:cs typeface="Arial"/>
              <a:sym typeface="Arial"/>
            </a:endParaRPr>
          </a:p>
        </p:txBody>
      </p:sp>
      <p:sp>
        <p:nvSpPr>
          <p:cNvPr id="2962" name="Google Shape;2962;p123"/>
          <p:cNvSpPr/>
          <p:nvPr/>
        </p:nvSpPr>
        <p:spPr>
          <a:xfrm>
            <a:off x="6299200" y="537464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ASI09  </a:t>
            </a:r>
            <a:r>
              <a:rPr b="1" i="0" lang="en-US" sz="1050" u="none" cap="none" strike="noStrike">
                <a:solidFill>
                  <a:srgbClr val="141319"/>
                </a:solidFill>
                <a:latin typeface="Arial"/>
                <a:ea typeface="Arial"/>
                <a:cs typeface="Arial"/>
                <a:sym typeface="Arial"/>
              </a:rPr>
              <a:t>Human–agent trust exploitation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People accept a fluent, confident agent’s output or request without verifying it.</a:t>
            </a:r>
            <a:endParaRPr b="0" i="0" sz="1400" u="none" cap="none" strike="noStrike">
              <a:solidFill>
                <a:srgbClr val="000000"/>
              </a:solidFill>
              <a:latin typeface="Arial"/>
              <a:ea typeface="Arial"/>
              <a:cs typeface="Arial"/>
              <a:sym typeface="Arial"/>
            </a:endParaRPr>
          </a:p>
        </p:txBody>
      </p:sp>
      <p:sp>
        <p:nvSpPr>
          <p:cNvPr id="2963" name="Google Shape;2963;p123"/>
          <p:cNvSpPr/>
          <p:nvPr/>
        </p:nvSpPr>
        <p:spPr>
          <a:xfrm>
            <a:off x="6299200" y="5836920"/>
            <a:ext cx="5435600" cy="431800"/>
          </a:xfrm>
          <a:prstGeom prst="rect">
            <a:avLst/>
          </a:prstGeom>
          <a:solidFill>
            <a:srgbClr val="FAF7F4"/>
          </a:solidFill>
          <a:ln>
            <a:noFill/>
          </a:ln>
        </p:spPr>
        <p:txBody>
          <a:bodyPr anchorCtr="0" anchor="ctr" bIns="38100" lIns="101600" spcFirstLastPara="1" rIns="101600" wrap="square" tIns="38100">
            <a:noAutofit/>
          </a:bodyPr>
          <a:lstStyle/>
          <a:p>
            <a:pPr indent="0" lvl="0" marL="0" marR="0" rtl="0" algn="l">
              <a:lnSpc>
                <a:spcPct val="100000"/>
              </a:lnSpc>
              <a:spcBef>
                <a:spcPts val="0"/>
              </a:spcBef>
              <a:spcAft>
                <a:spcPts val="0"/>
              </a:spcAft>
              <a:buClr>
                <a:srgbClr val="DF5325"/>
              </a:buClr>
              <a:buSzPts val="1000"/>
              <a:buFont typeface="Arial"/>
              <a:buNone/>
            </a:pPr>
            <a:r>
              <a:rPr b="1" i="0" lang="en-US" sz="1000" u="none" cap="none" strike="noStrike">
                <a:solidFill>
                  <a:srgbClr val="DF5325"/>
                </a:solidFill>
                <a:latin typeface="Arial"/>
                <a:ea typeface="Arial"/>
                <a:cs typeface="Arial"/>
                <a:sym typeface="Arial"/>
              </a:rPr>
              <a:t>ASI10  </a:t>
            </a:r>
            <a:r>
              <a:rPr b="1" i="0" lang="en-US" sz="1050" u="none" cap="none" strike="noStrike">
                <a:solidFill>
                  <a:srgbClr val="141319"/>
                </a:solidFill>
                <a:latin typeface="Arial"/>
                <a:ea typeface="Arial"/>
                <a:cs typeface="Arial"/>
                <a:sym typeface="Arial"/>
              </a:rPr>
              <a:t>Rogue agents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
              </a:spcBef>
              <a:spcAft>
                <a:spcPts val="0"/>
              </a:spcAft>
              <a:buClr>
                <a:srgbClr val="4A4A4D"/>
              </a:buClr>
              <a:buSzPts val="950"/>
              <a:buFont typeface="Arial"/>
              <a:buNone/>
            </a:pPr>
            <a:r>
              <a:rPr b="0" i="0" lang="en-US" sz="950" u="none" cap="none" strike="noStrike">
                <a:solidFill>
                  <a:srgbClr val="4A4A4D"/>
                </a:solidFill>
                <a:latin typeface="Arial"/>
                <a:ea typeface="Arial"/>
                <a:cs typeface="Arial"/>
                <a:sym typeface="Arial"/>
              </a:rPr>
              <a:t>An agent drifts from its mandate and keeps acting outside policy, unnoticed.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7" name="Shape 2967"/>
        <p:cNvGrpSpPr/>
        <p:nvPr/>
      </p:nvGrpSpPr>
      <p:grpSpPr>
        <a:xfrm>
          <a:off x="0" y="0"/>
          <a:ext cx="0" cy="0"/>
          <a:chOff x="0" y="0"/>
          <a:chExt cx="0" cy="0"/>
        </a:xfrm>
      </p:grpSpPr>
      <p:sp>
        <p:nvSpPr>
          <p:cNvPr id="2968" name="Google Shape;2968;p124"/>
          <p:cNvSpPr txBox="1"/>
          <p:nvPr>
            <p:ph type="title"/>
          </p:nvPr>
        </p:nvSpPr>
        <p:spPr>
          <a:xfrm>
            <a:off x="263525" y="512676"/>
            <a:ext cx="8890000" cy="430887"/>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Beyond OWASP: the rules and catalogues</a:t>
            </a:r>
            <a:endParaRPr/>
          </a:p>
        </p:txBody>
      </p:sp>
      <p:sp>
        <p:nvSpPr>
          <p:cNvPr id="2969" name="Google Shape;2969;p124"/>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b="0" lang="en-US" sz="1000" cap="none">
                <a:solidFill>
                  <a:schemeClr val="accent1"/>
                </a:solidFill>
                <a:latin typeface="Arial"/>
                <a:ea typeface="Arial"/>
                <a:cs typeface="Arial"/>
                <a:sym typeface="Arial"/>
              </a:rPr>
              <a:t>BACKUP  ·  THE INDUSTRY STANDARD</a:t>
            </a:r>
            <a:endParaRPr/>
          </a:p>
        </p:txBody>
      </p:sp>
      <p:sp>
        <p:nvSpPr>
          <p:cNvPr id="2970" name="Google Shape;2970;p124"/>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2971" name="Google Shape;2971;p124"/>
          <p:cNvSpPr txBox="1"/>
          <p:nvPr/>
        </p:nvSpPr>
        <p:spPr>
          <a:xfrm>
            <a:off x="457200" y="6375400"/>
            <a:ext cx="10160000" cy="203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A4A4D"/>
              </a:buClr>
              <a:buSzPts val="1000"/>
              <a:buFont typeface="Arial"/>
              <a:buNone/>
            </a:pPr>
            <a:r>
              <a:rPr b="1" i="0" lang="en-US" sz="1000" u="none" cap="none" strike="noStrike">
                <a:solidFill>
                  <a:srgbClr val="4A4A4D"/>
                </a:solidFill>
                <a:latin typeface="Arial"/>
                <a:ea typeface="Arial"/>
                <a:cs typeface="Arial"/>
                <a:sym typeface="Arial"/>
              </a:rPr>
              <a:t>Also relevant</a:t>
            </a:r>
            <a:r>
              <a:rPr b="0" i="0" lang="en-US" sz="1000" u="none" cap="none" strike="noStrike">
                <a:solidFill>
                  <a:srgbClr val="4A4A4D"/>
                </a:solidFill>
                <a:latin typeface="Arial"/>
                <a:ea typeface="Arial"/>
                <a:cs typeface="Arial"/>
                <a:sym typeface="Arial"/>
              </a:rPr>
              <a:t>: NIST AI RMF and ISO/IEC 42001 (governance standards), and sector guidance for financial services (EIOPA, DNB, AFM).</a:t>
            </a:r>
            <a:endParaRPr b="0" i="0" sz="1400" u="none" cap="none" strike="noStrike">
              <a:solidFill>
                <a:srgbClr val="000000"/>
              </a:solidFill>
              <a:latin typeface="Arial"/>
              <a:ea typeface="Arial"/>
              <a:cs typeface="Arial"/>
              <a:sym typeface="Arial"/>
            </a:endParaRPr>
          </a:p>
        </p:txBody>
      </p:sp>
      <p:sp>
        <p:nvSpPr>
          <p:cNvPr id="2972" name="Google Shape;2972;p124"/>
          <p:cNvSpPr txBox="1"/>
          <p:nvPr/>
        </p:nvSpPr>
        <p:spPr>
          <a:xfrm>
            <a:off x="457200" y="1028700"/>
            <a:ext cx="11252200" cy="279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D70"/>
              </a:buClr>
              <a:buSzPts val="1250"/>
              <a:buFont typeface="Arial"/>
              <a:buNone/>
            </a:pPr>
            <a:r>
              <a:rPr b="0" i="0" lang="en-US" sz="1250" u="none" cap="none" strike="noStrike">
                <a:solidFill>
                  <a:srgbClr val="6E6D70"/>
                </a:solidFill>
                <a:latin typeface="Arial"/>
                <a:ea typeface="Arial"/>
                <a:cs typeface="Arial"/>
                <a:sym typeface="Arial"/>
              </a:rPr>
              <a:t>Three regulations you must comply with, three catalogues we test against. The OWASP Top 10s sit in the middle and map to all of them.</a:t>
            </a:r>
            <a:endParaRPr b="0" i="0" sz="1400" u="none" cap="none" strike="noStrike">
              <a:solidFill>
                <a:srgbClr val="000000"/>
              </a:solidFill>
              <a:latin typeface="Arial"/>
              <a:ea typeface="Arial"/>
              <a:cs typeface="Arial"/>
              <a:sym typeface="Arial"/>
            </a:endParaRPr>
          </a:p>
        </p:txBody>
      </p:sp>
      <p:sp>
        <p:nvSpPr>
          <p:cNvPr id="2973" name="Google Shape;2973;p124"/>
          <p:cNvSpPr/>
          <p:nvPr/>
        </p:nvSpPr>
        <p:spPr>
          <a:xfrm>
            <a:off x="457200" y="1346200"/>
            <a:ext cx="5435600" cy="279400"/>
          </a:xfrm>
          <a:prstGeom prst="rect">
            <a:avLst/>
          </a:prstGeom>
          <a:noFill/>
          <a:ln>
            <a:noFill/>
          </a:ln>
        </p:spPr>
        <p:txBody>
          <a:bodyPr anchorCtr="0" anchor="b" bIns="76200" lIns="0" spcFirstLastPara="1" rIns="127000" wrap="square" tIns="76200">
            <a:noAutofit/>
          </a:bodyPr>
          <a:lstStyle/>
          <a:p>
            <a:pPr indent="0" lvl="0" marL="0" marR="0" rtl="0" algn="l">
              <a:lnSpc>
                <a:spcPct val="100000"/>
              </a:lnSpc>
              <a:spcBef>
                <a:spcPts val="0"/>
              </a:spcBef>
              <a:spcAft>
                <a:spcPts val="0"/>
              </a:spcAft>
              <a:buClr>
                <a:srgbClr val="DF5325"/>
              </a:buClr>
              <a:buSzPts val="1050"/>
              <a:buFont typeface="Arial"/>
              <a:buNone/>
            </a:pPr>
            <a:r>
              <a:rPr b="1" i="0" lang="en-US" sz="1050" u="none" cap="none" strike="noStrike">
                <a:solidFill>
                  <a:srgbClr val="DF5325"/>
                </a:solidFill>
                <a:latin typeface="Arial"/>
                <a:ea typeface="Arial"/>
                <a:cs typeface="Arial"/>
                <a:sym typeface="Arial"/>
              </a:rPr>
              <a:t>Regulation</a:t>
            </a:r>
            <a:r>
              <a:rPr b="0" i="0" lang="en-US" sz="950" u="none" cap="none" strike="noStrike">
                <a:solidFill>
                  <a:srgbClr val="4A4A4D"/>
                </a:solidFill>
                <a:latin typeface="Arial"/>
                <a:ea typeface="Arial"/>
                <a:cs typeface="Arial"/>
                <a:sym typeface="Arial"/>
              </a:rPr>
              <a:t>   what you are legally bound to</a:t>
            </a:r>
            <a:endParaRPr b="0" i="0" sz="1400" u="none" cap="none" strike="noStrike">
              <a:solidFill>
                <a:srgbClr val="000000"/>
              </a:solidFill>
              <a:latin typeface="Arial"/>
              <a:ea typeface="Arial"/>
              <a:cs typeface="Arial"/>
              <a:sym typeface="Arial"/>
            </a:endParaRPr>
          </a:p>
        </p:txBody>
      </p:sp>
      <p:sp>
        <p:nvSpPr>
          <p:cNvPr id="2974" name="Google Shape;2974;p124"/>
          <p:cNvSpPr/>
          <p:nvPr/>
        </p:nvSpPr>
        <p:spPr>
          <a:xfrm>
            <a:off x="457200" y="1676400"/>
            <a:ext cx="5435600" cy="1473200"/>
          </a:xfrm>
          <a:prstGeom prst="rect">
            <a:avLst/>
          </a:prstGeom>
          <a:solidFill>
            <a:srgbClr val="FAF7F4"/>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DF5325"/>
              </a:buClr>
              <a:buSzPts val="1100"/>
              <a:buFont typeface="Arial"/>
              <a:buNone/>
            </a:pPr>
            <a:r>
              <a:rPr b="1" i="0" lang="en-US" sz="1100" u="none" cap="none" strike="noStrike">
                <a:solidFill>
                  <a:srgbClr val="DF5325"/>
                </a:solidFill>
                <a:latin typeface="Arial"/>
                <a:ea typeface="Arial"/>
                <a:cs typeface="Arial"/>
                <a:sym typeface="Arial"/>
              </a:rPr>
              <a:t>LAW  </a:t>
            </a:r>
            <a:r>
              <a:rPr b="1" i="0" lang="en-US" sz="1200" u="none" cap="none" strike="noStrike">
                <a:solidFill>
                  <a:srgbClr val="141319"/>
                </a:solidFill>
                <a:latin typeface="Arial"/>
                <a:ea typeface="Arial"/>
                <a:cs typeface="Arial"/>
                <a:sym typeface="Arial"/>
              </a:rPr>
              <a:t>EU AI 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Risk-based EU regulation for AI systems. Uses such as credit scoring, recruitment and life and health insurance pricing are high-risk (Annex III); general-purpose-model obligations already apply.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 classify every use case, keep technical documentation and logs, ensure human oversight — the platform’s audit trail is the evidence</a:t>
            </a:r>
            <a:endParaRPr b="0" i="0" sz="1400" u="none" cap="none" strike="noStrike">
              <a:solidFill>
                <a:srgbClr val="000000"/>
              </a:solidFill>
              <a:latin typeface="Arial"/>
              <a:ea typeface="Arial"/>
              <a:cs typeface="Arial"/>
              <a:sym typeface="Arial"/>
            </a:endParaRPr>
          </a:p>
        </p:txBody>
      </p:sp>
      <p:sp>
        <p:nvSpPr>
          <p:cNvPr id="2975" name="Google Shape;2975;p124"/>
          <p:cNvSpPr/>
          <p:nvPr/>
        </p:nvSpPr>
        <p:spPr>
          <a:xfrm>
            <a:off x="457200" y="3251200"/>
            <a:ext cx="5435600" cy="1473200"/>
          </a:xfrm>
          <a:prstGeom prst="rect">
            <a:avLst/>
          </a:prstGeom>
          <a:solidFill>
            <a:srgbClr val="FAF7F4"/>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DF5325"/>
              </a:buClr>
              <a:buSzPts val="1100"/>
              <a:buFont typeface="Arial"/>
              <a:buNone/>
            </a:pPr>
            <a:r>
              <a:rPr b="1" i="0" lang="en-US" sz="1100" u="none" cap="none" strike="noStrike">
                <a:solidFill>
                  <a:srgbClr val="DF5325"/>
                </a:solidFill>
                <a:latin typeface="Arial"/>
                <a:ea typeface="Arial"/>
                <a:cs typeface="Arial"/>
                <a:sym typeface="Arial"/>
              </a:rPr>
              <a:t>LAW  </a:t>
            </a:r>
            <a:r>
              <a:rPr b="1" i="0" lang="en-US" sz="1200" u="none" cap="none" strike="noStrike">
                <a:solidFill>
                  <a:srgbClr val="141319"/>
                </a:solidFill>
                <a:latin typeface="Arial"/>
                <a:ea typeface="Arial"/>
                <a:cs typeface="Arial"/>
                <a:sym typeface="Arial"/>
              </a:rPr>
              <a:t>GDPR / AVG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Personal data in prompts, logs, retrieval sources and fine-tuning. Solely automated decisions with legal or similar effect are restricted (Art. 22); a DPIA is required for high-risk processing.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 data minimisation, PII detection &amp; redaction, EU-located processing, DPIA before go-live, human in the loop on decisions</a:t>
            </a:r>
            <a:endParaRPr b="0" i="0" sz="1400" u="none" cap="none" strike="noStrike">
              <a:solidFill>
                <a:srgbClr val="000000"/>
              </a:solidFill>
              <a:latin typeface="Arial"/>
              <a:ea typeface="Arial"/>
              <a:cs typeface="Arial"/>
              <a:sym typeface="Arial"/>
            </a:endParaRPr>
          </a:p>
        </p:txBody>
      </p:sp>
      <p:sp>
        <p:nvSpPr>
          <p:cNvPr id="2976" name="Google Shape;2976;p124"/>
          <p:cNvSpPr/>
          <p:nvPr/>
        </p:nvSpPr>
        <p:spPr>
          <a:xfrm>
            <a:off x="457200" y="4826000"/>
            <a:ext cx="5435600" cy="1473200"/>
          </a:xfrm>
          <a:prstGeom prst="rect">
            <a:avLst/>
          </a:prstGeom>
          <a:solidFill>
            <a:srgbClr val="FAF7F4"/>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DF5325"/>
              </a:buClr>
              <a:buSzPts val="1100"/>
              <a:buFont typeface="Arial"/>
              <a:buNone/>
            </a:pPr>
            <a:r>
              <a:rPr b="1" i="0" lang="en-US" sz="1100" u="none" cap="none" strike="noStrike">
                <a:solidFill>
                  <a:srgbClr val="DF5325"/>
                </a:solidFill>
                <a:latin typeface="Arial"/>
                <a:ea typeface="Arial"/>
                <a:cs typeface="Arial"/>
                <a:sym typeface="Arial"/>
              </a:rPr>
              <a:t>LAW  </a:t>
            </a:r>
            <a:r>
              <a:rPr b="1" i="0" lang="en-US" sz="1200" u="none" cap="none" strike="noStrike">
                <a:solidFill>
                  <a:srgbClr val="141319"/>
                </a:solidFill>
                <a:latin typeface="Arial"/>
                <a:ea typeface="Arial"/>
                <a:cs typeface="Arial"/>
                <a:sym typeface="Arial"/>
              </a:rPr>
              <a:t>DORA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Digital Operational Resilience Act for financial entities: ICT risk management, incident reporting, resilience testing and oversight of third-party ICT providers, which includes model and cloud vendors.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 register of AI providers and models, exit strategy per provider, concentration risk, incidents logged and reportable</a:t>
            </a:r>
            <a:endParaRPr b="0" i="0" sz="1400" u="none" cap="none" strike="noStrike">
              <a:solidFill>
                <a:srgbClr val="000000"/>
              </a:solidFill>
              <a:latin typeface="Arial"/>
              <a:ea typeface="Arial"/>
              <a:cs typeface="Arial"/>
              <a:sym typeface="Arial"/>
            </a:endParaRPr>
          </a:p>
        </p:txBody>
      </p:sp>
      <p:sp>
        <p:nvSpPr>
          <p:cNvPr id="2977" name="Google Shape;2977;p124"/>
          <p:cNvSpPr/>
          <p:nvPr/>
        </p:nvSpPr>
        <p:spPr>
          <a:xfrm>
            <a:off x="6299200" y="1346200"/>
            <a:ext cx="5435600" cy="279400"/>
          </a:xfrm>
          <a:prstGeom prst="rect">
            <a:avLst/>
          </a:prstGeom>
          <a:noFill/>
          <a:ln>
            <a:noFill/>
          </a:ln>
        </p:spPr>
        <p:txBody>
          <a:bodyPr anchorCtr="0" anchor="b" bIns="76200" lIns="0" spcFirstLastPara="1" rIns="127000" wrap="square" tIns="76200">
            <a:noAutofit/>
          </a:bodyPr>
          <a:lstStyle/>
          <a:p>
            <a:pPr indent="0" lvl="0" marL="0" marR="0" rtl="0" algn="l">
              <a:lnSpc>
                <a:spcPct val="100000"/>
              </a:lnSpc>
              <a:spcBef>
                <a:spcPts val="0"/>
              </a:spcBef>
              <a:spcAft>
                <a:spcPts val="0"/>
              </a:spcAft>
              <a:buClr>
                <a:srgbClr val="DF5325"/>
              </a:buClr>
              <a:buSzPts val="1050"/>
              <a:buFont typeface="Arial"/>
              <a:buNone/>
            </a:pPr>
            <a:r>
              <a:rPr b="1" i="0" lang="en-US" sz="1050" u="none" cap="none" strike="noStrike">
                <a:solidFill>
                  <a:srgbClr val="DF5325"/>
                </a:solidFill>
                <a:latin typeface="Arial"/>
                <a:ea typeface="Arial"/>
                <a:cs typeface="Arial"/>
                <a:sym typeface="Arial"/>
              </a:rPr>
              <a:t>Threat catalogues</a:t>
            </a:r>
            <a:r>
              <a:rPr b="0" i="0" lang="en-US" sz="950" u="none" cap="none" strike="noStrike">
                <a:solidFill>
                  <a:srgbClr val="4A4A4D"/>
                </a:solidFill>
                <a:latin typeface="Arial"/>
                <a:ea typeface="Arial"/>
                <a:cs typeface="Arial"/>
                <a:sym typeface="Arial"/>
              </a:rPr>
              <a:t>   what we test and map against</a:t>
            </a:r>
            <a:endParaRPr b="0" i="0" sz="1400" u="none" cap="none" strike="noStrike">
              <a:solidFill>
                <a:srgbClr val="000000"/>
              </a:solidFill>
              <a:latin typeface="Arial"/>
              <a:ea typeface="Arial"/>
              <a:cs typeface="Arial"/>
              <a:sym typeface="Arial"/>
            </a:endParaRPr>
          </a:p>
        </p:txBody>
      </p:sp>
      <p:sp>
        <p:nvSpPr>
          <p:cNvPr id="2978" name="Google Shape;2978;p124"/>
          <p:cNvSpPr/>
          <p:nvPr/>
        </p:nvSpPr>
        <p:spPr>
          <a:xfrm>
            <a:off x="6299200" y="1676400"/>
            <a:ext cx="5435600" cy="1473200"/>
          </a:xfrm>
          <a:prstGeom prst="rect">
            <a:avLst/>
          </a:prstGeom>
          <a:solidFill>
            <a:srgbClr val="FAF7F4"/>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DF5325"/>
              </a:buClr>
              <a:buSzPts val="1100"/>
              <a:buFont typeface="Arial"/>
              <a:buNone/>
            </a:pPr>
            <a:r>
              <a:rPr b="1" i="0" lang="en-US" sz="1100" u="none" cap="none" strike="noStrike">
                <a:solidFill>
                  <a:srgbClr val="DF5325"/>
                </a:solidFill>
                <a:latin typeface="Arial"/>
                <a:ea typeface="Arial"/>
                <a:cs typeface="Arial"/>
                <a:sym typeface="Arial"/>
              </a:rPr>
              <a:t>CATALOGUE  </a:t>
            </a:r>
            <a:r>
              <a:rPr b="1" i="0" lang="en-US" sz="1200" u="none" cap="none" strike="noStrike">
                <a:solidFill>
                  <a:srgbClr val="141319"/>
                </a:solidFill>
                <a:latin typeface="Arial"/>
                <a:ea typeface="Arial"/>
                <a:cs typeface="Arial"/>
                <a:sym typeface="Arial"/>
              </a:rPr>
              <a:t>MITRE ATLAS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Adversarial Threat Landscape for AI Systems: the ATT&amp;CK-style knowledge base of real-world adversary tactics and techniques against AI, with documented case studies.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 red-team scenarios and evaluators are mapped to ATLAS techniques; the OWASP LLM Top 10 maps to it as well</a:t>
            </a:r>
            <a:endParaRPr b="0" i="0" sz="1400" u="none" cap="none" strike="noStrike">
              <a:solidFill>
                <a:srgbClr val="000000"/>
              </a:solidFill>
              <a:latin typeface="Arial"/>
              <a:ea typeface="Arial"/>
              <a:cs typeface="Arial"/>
              <a:sym typeface="Arial"/>
            </a:endParaRPr>
          </a:p>
        </p:txBody>
      </p:sp>
      <p:sp>
        <p:nvSpPr>
          <p:cNvPr id="2979" name="Google Shape;2979;p124"/>
          <p:cNvSpPr/>
          <p:nvPr/>
        </p:nvSpPr>
        <p:spPr>
          <a:xfrm>
            <a:off x="6299200" y="3251200"/>
            <a:ext cx="5435600" cy="1473200"/>
          </a:xfrm>
          <a:prstGeom prst="rect">
            <a:avLst/>
          </a:prstGeom>
          <a:solidFill>
            <a:srgbClr val="FAF7F4"/>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DF5325"/>
              </a:buClr>
              <a:buSzPts val="1100"/>
              <a:buFont typeface="Arial"/>
              <a:buNone/>
            </a:pPr>
            <a:r>
              <a:rPr b="1" i="0" lang="en-US" sz="1100" u="none" cap="none" strike="noStrike">
                <a:solidFill>
                  <a:srgbClr val="DF5325"/>
                </a:solidFill>
                <a:latin typeface="Arial"/>
                <a:ea typeface="Arial"/>
                <a:cs typeface="Arial"/>
                <a:sym typeface="Arial"/>
              </a:rPr>
              <a:t>CATALOGUE  </a:t>
            </a:r>
            <a:r>
              <a:rPr b="1" i="0" lang="en-US" sz="1200" u="none" cap="none" strike="noStrike">
                <a:solidFill>
                  <a:srgbClr val="141319"/>
                </a:solidFill>
                <a:latin typeface="Arial"/>
                <a:ea typeface="Arial"/>
                <a:cs typeface="Arial"/>
                <a:sym typeface="Arial"/>
              </a:rPr>
              <a:t>OWASP AI Exchange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The comprehensive open reference of AI threats and controls across the whole lifecycle, from data and training to runtime. Feeds ISO/IEC 27090 and EU AI Act standardisation.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 the control library behind the Top 10s: pick the controls per risk here</a:t>
            </a:r>
            <a:endParaRPr b="0" i="0" sz="1400" u="none" cap="none" strike="noStrike">
              <a:solidFill>
                <a:srgbClr val="000000"/>
              </a:solidFill>
              <a:latin typeface="Arial"/>
              <a:ea typeface="Arial"/>
              <a:cs typeface="Arial"/>
              <a:sym typeface="Arial"/>
            </a:endParaRPr>
          </a:p>
        </p:txBody>
      </p:sp>
      <p:sp>
        <p:nvSpPr>
          <p:cNvPr id="2980" name="Google Shape;2980;p124"/>
          <p:cNvSpPr/>
          <p:nvPr/>
        </p:nvSpPr>
        <p:spPr>
          <a:xfrm>
            <a:off x="6299200" y="4826000"/>
            <a:ext cx="5435600" cy="1473200"/>
          </a:xfrm>
          <a:prstGeom prst="rect">
            <a:avLst/>
          </a:prstGeom>
          <a:solidFill>
            <a:srgbClr val="FAF7F4"/>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DF5325"/>
              </a:buClr>
              <a:buSzPts val="1100"/>
              <a:buFont typeface="Arial"/>
              <a:buNone/>
            </a:pPr>
            <a:r>
              <a:rPr b="1" i="0" lang="en-US" sz="1100" u="none" cap="none" strike="noStrike">
                <a:solidFill>
                  <a:srgbClr val="DF5325"/>
                </a:solidFill>
                <a:latin typeface="Arial"/>
                <a:ea typeface="Arial"/>
                <a:cs typeface="Arial"/>
                <a:sym typeface="Arial"/>
              </a:rPr>
              <a:t>CATALOGUE  </a:t>
            </a:r>
            <a:r>
              <a:rPr b="1" i="0" lang="en-US" sz="1200" u="none" cap="none" strike="noStrike">
                <a:solidFill>
                  <a:srgbClr val="141319"/>
                </a:solidFill>
                <a:latin typeface="Arial"/>
                <a:ea typeface="Arial"/>
                <a:cs typeface="Arial"/>
                <a:sym typeface="Arial"/>
              </a:rPr>
              <a:t>OWASP MCP Top 10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Risks in the Model Context Protocol layer where agents connect to tools and data: tool poisoning, leaked tokens and secrets, over-broad permissions, insecure servers.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250"/>
              </a:spcBef>
              <a:spcAft>
                <a:spcPts val="0"/>
              </a:spcAft>
              <a:buClr>
                <a:srgbClr val="4A4A4D"/>
              </a:buClr>
              <a:buSzPts val="1050"/>
              <a:buFont typeface="Arial"/>
              <a:buNone/>
            </a:pPr>
            <a:r>
              <a:rPr b="0" i="0" lang="en-US" sz="1050" u="none" cap="none" strike="noStrike">
                <a:solidFill>
                  <a:srgbClr val="4A4A4D"/>
                </a:solidFill>
                <a:latin typeface="Arial"/>
                <a:ea typeface="Arial"/>
                <a:cs typeface="Arial"/>
                <a:sym typeface="Arial"/>
              </a:rPr>
              <a:t>→ tool allow-list, scoped short-lived credentials, all tool calls routed and logged through the gateway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37" name="Google Shape;537;p14"/>
          <p:cNvSpPr txBox="1"/>
          <p:nvPr>
            <p:ph type="title"/>
          </p:nvPr>
        </p:nvSpPr>
        <p:spPr>
          <a:xfrm>
            <a:off x="263525" y="512676"/>
            <a:ext cx="11664949" cy="446276"/>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2800"/>
              <a:buFont typeface="Arial"/>
              <a:buNone/>
            </a:pPr>
            <a:r>
              <a:rPr lang="en-US"/>
              <a:t>Coding agents vs. agents built with code</a:t>
            </a:r>
            <a:endParaRPr/>
          </a:p>
        </p:txBody>
      </p:sp>
      <p:sp>
        <p:nvSpPr>
          <p:cNvPr id="538" name="Google Shape;538;p14"/>
          <p:cNvSpPr txBox="1"/>
          <p:nvPr>
            <p:ph idx="1" type="body"/>
          </p:nvPr>
        </p:nvSpPr>
        <p:spPr>
          <a:xfrm>
            <a:off x="263352" y="260648"/>
            <a:ext cx="11665123" cy="153888"/>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accent1"/>
              </a:buClr>
              <a:buSzPts val="1000"/>
              <a:buNone/>
            </a:pPr>
            <a:r>
              <a:rPr lang="en-US"/>
              <a:t>GENAI INTRODUCTION</a:t>
            </a:r>
            <a:endParaRPr/>
          </a:p>
        </p:txBody>
      </p:sp>
      <p:sp>
        <p:nvSpPr>
          <p:cNvPr id="539" name="Google Shape;539;p14"/>
          <p:cNvSpPr txBox="1"/>
          <p:nvPr>
            <p:ph idx="10" type="dt"/>
          </p:nvPr>
        </p:nvSpPr>
        <p:spPr>
          <a:xfrm>
            <a:off x="1703512" y="6485051"/>
            <a:ext cx="498534"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1/22/2026</a:t>
            </a:r>
            <a:endParaRPr/>
          </a:p>
        </p:txBody>
      </p:sp>
      <p:sp>
        <p:nvSpPr>
          <p:cNvPr id="540" name="Google Shape;540;p14"/>
          <p:cNvSpPr txBox="1"/>
          <p:nvPr>
            <p:ph idx="11" type="ftr"/>
          </p:nvPr>
        </p:nvSpPr>
        <p:spPr>
          <a:xfrm>
            <a:off x="263351" y="6485051"/>
            <a:ext cx="1332149" cy="107722"/>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SzPts val="1400"/>
              <a:buNone/>
            </a:pPr>
            <a:r>
              <a:rPr lang="en-US"/>
              <a:t>Presentation Deck Template</a:t>
            </a:r>
            <a:endParaRPr/>
          </a:p>
        </p:txBody>
      </p:sp>
      <p:sp>
        <p:nvSpPr>
          <p:cNvPr id="541" name="Google Shape;541;p14"/>
          <p:cNvSpPr txBox="1"/>
          <p:nvPr>
            <p:ph idx="12" type="sldNum"/>
          </p:nvPr>
        </p:nvSpPr>
        <p:spPr>
          <a:xfrm>
            <a:off x="12033787" y="6673964"/>
            <a:ext cx="52899" cy="107722"/>
          </a:xfrm>
          <a:prstGeom prst="rect">
            <a:avLst/>
          </a:prstGeom>
          <a:noFill/>
          <a:ln>
            <a:noFill/>
          </a:ln>
        </p:spPr>
        <p:txBody>
          <a:bodyPr anchorCtr="0" anchor="ctr" bIns="0" lIns="0" spcFirstLastPara="1" rIns="0" wrap="square" tIns="0">
            <a:spAutoFit/>
          </a:bodyPr>
          <a:lstStyle/>
          <a:p>
            <a:pPr indent="0" lvl="0" marL="0" rtl="0" algn="ctr">
              <a:lnSpc>
                <a:spcPct val="100000"/>
              </a:lnSpc>
              <a:spcBef>
                <a:spcPts val="0"/>
              </a:spcBef>
              <a:spcAft>
                <a:spcPts val="0"/>
              </a:spcAft>
              <a:buSzPts val="700"/>
              <a:buNone/>
            </a:pPr>
            <a:fld id="{00000000-1234-1234-1234-123412341234}" type="slidenum">
              <a:rPr lang="en-US"/>
              <a:t>‹#›</a:t>
            </a:fld>
            <a:endParaRPr/>
          </a:p>
        </p:txBody>
      </p:sp>
      <p:sp>
        <p:nvSpPr>
          <p:cNvPr id="543" name="Google Shape;543;p14"/>
          <p:cNvSpPr txBox="1"/>
          <p:nvPr/>
        </p:nvSpPr>
        <p:spPr>
          <a:xfrm>
            <a:off x="2650000" y="1664804"/>
            <a:ext cx="2020000"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200" u="none" cap="none" strike="noStrike">
                <a:solidFill>
                  <a:srgbClr val="6B6A6D"/>
                </a:solidFill>
                <a:latin typeface="Arial"/>
                <a:ea typeface="Arial"/>
                <a:cs typeface="Arial"/>
                <a:sym typeface="Arial"/>
              </a:rPr>
              <a:t>Who asks</a:t>
            </a:r>
            <a:endParaRPr b="0" i="0" sz="1400" u="none" cap="none" strike="noStrike">
              <a:solidFill>
                <a:srgbClr val="000000"/>
              </a:solidFill>
              <a:latin typeface="Arial"/>
              <a:ea typeface="Arial"/>
              <a:cs typeface="Arial"/>
              <a:sym typeface="Arial"/>
            </a:endParaRPr>
          </a:p>
        </p:txBody>
      </p:sp>
      <p:sp>
        <p:nvSpPr>
          <p:cNvPr id="543" name="Google Shape;543;p14"/>
          <p:cNvSpPr txBox="1"/>
          <p:nvPr/>
        </p:nvSpPr>
        <p:spPr>
          <a:xfrm>
            <a:off x="5070000" y="1664804"/>
            <a:ext cx="2020000"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200" u="none" cap="none" strike="noStrike">
                <a:solidFill>
                  <a:srgbClr val="6B6A6D"/>
                </a:solidFill>
                <a:latin typeface="Arial"/>
                <a:ea typeface="Arial"/>
                <a:cs typeface="Arial"/>
                <a:sym typeface="Arial"/>
              </a:rPr>
              <a:t>What runs</a:t>
            </a:r>
            <a:endParaRPr b="0" i="0" sz="1400" u="none" cap="none" strike="noStrike">
              <a:solidFill>
                <a:srgbClr val="000000"/>
              </a:solidFill>
              <a:latin typeface="Arial"/>
              <a:ea typeface="Arial"/>
              <a:cs typeface="Arial"/>
              <a:sym typeface="Arial"/>
            </a:endParaRPr>
          </a:p>
        </p:txBody>
      </p:sp>
      <p:sp>
        <p:nvSpPr>
          <p:cNvPr id="543" name="Google Shape;543;p14"/>
          <p:cNvSpPr txBox="1"/>
          <p:nvPr/>
        </p:nvSpPr>
        <p:spPr>
          <a:xfrm>
            <a:off x="7490000" y="1664804"/>
            <a:ext cx="2020000"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200" u="none" cap="none" strike="noStrike">
                <a:solidFill>
                  <a:srgbClr val="6B6A6D"/>
                </a:solidFill>
                <a:latin typeface="Arial"/>
                <a:ea typeface="Arial"/>
                <a:cs typeface="Arial"/>
                <a:sym typeface="Arial"/>
              </a:rPr>
              <a:t>How</a:t>
            </a:r>
            <a:endParaRPr b="0" i="0" sz="1400" u="none" cap="none" strike="noStrike">
              <a:solidFill>
                <a:srgbClr val="000000"/>
              </a:solidFill>
              <a:latin typeface="Arial"/>
              <a:ea typeface="Arial"/>
              <a:cs typeface="Arial"/>
              <a:sym typeface="Arial"/>
            </a:endParaRPr>
          </a:p>
        </p:txBody>
      </p:sp>
      <p:sp>
        <p:nvSpPr>
          <p:cNvPr id="543" name="Google Shape;543;p14"/>
          <p:cNvSpPr txBox="1"/>
          <p:nvPr/>
        </p:nvSpPr>
        <p:spPr>
          <a:xfrm>
            <a:off x="9910000" y="1664804"/>
            <a:ext cx="2020000"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200" u="none" cap="none" strike="noStrike">
                <a:solidFill>
                  <a:srgbClr val="6B6A6D"/>
                </a:solidFill>
                <a:latin typeface="Arial"/>
                <a:ea typeface="Arial"/>
                <a:cs typeface="Arial"/>
                <a:sym typeface="Arial"/>
              </a:rPr>
              <a:t>Output</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263526" y="2000000"/>
            <a:ext cx="215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Coding agent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the output is code</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2650000" y="200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You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“Add a refund check to the app”</a:t>
            </a:r>
            <a:endParaRPr b="0" i="0" sz="1400" u="none" cap="none" strike="noStrike">
              <a:solidFill>
                <a:srgbClr val="000000"/>
              </a:solidFill>
              <a:latin typeface="Arial"/>
              <a:ea typeface="Arial"/>
              <a:cs typeface="Arial"/>
              <a:sym typeface="Arial"/>
            </a:endParaRPr>
          </a:p>
        </p:txBody>
      </p:sp>
      <p:cxnSp>
        <p:nvCxnSpPr>
          <p:cNvPr id="546" name="Connector 545"/>
          <p:cNvCxnSpPr/>
          <p:nvPr/>
        </p:nvCxnSpPr>
        <p:spPr>
          <a:xfrm>
            <a:off x="4710000" y="257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5070000" y="200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Coding agent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Claude Code, Codex, Cursor</a:t>
            </a:r>
            <a:endParaRPr b="0" i="0" sz="1400" u="none" cap="none" strike="noStrike">
              <a:solidFill>
                <a:srgbClr val="000000"/>
              </a:solidFill>
              <a:latin typeface="Arial"/>
              <a:ea typeface="Arial"/>
              <a:cs typeface="Arial"/>
              <a:sym typeface="Arial"/>
            </a:endParaRPr>
          </a:p>
        </p:txBody>
      </p:sp>
      <p:cxnSp>
        <p:nvCxnSpPr>
          <p:cNvPr id="547" name="Connector 546"/>
          <p:cNvCxnSpPr/>
          <p:nvPr/>
        </p:nvCxnSpPr>
        <p:spPr>
          <a:xfrm>
            <a:off x="7130000" y="257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7490000" y="200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Edits your repo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reads files, runs tests</a:t>
            </a:r>
            <a:endParaRPr b="0" i="0" sz="1400" u="none" cap="none" strike="noStrike">
              <a:solidFill>
                <a:srgbClr val="000000"/>
              </a:solidFill>
              <a:latin typeface="Arial"/>
              <a:ea typeface="Arial"/>
              <a:cs typeface="Arial"/>
              <a:sym typeface="Arial"/>
            </a:endParaRPr>
          </a:p>
        </p:txBody>
      </p:sp>
      <p:cxnSp>
        <p:nvCxnSpPr>
          <p:cNvPr id="548" name="Connector 547"/>
          <p:cNvCxnSpPr/>
          <p:nvPr/>
        </p:nvCxnSpPr>
        <p:spPr>
          <a:xfrm>
            <a:off x="9550000" y="257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9910000" y="2000000"/>
            <a:ext cx="2020000" cy="1150000"/>
          </a:xfrm>
          <a:prstGeom prst="roundRect">
            <a:avLst>
              <a:gd fmla="val 8775" name="adj"/>
            </a:avLst>
          </a:prstGeom>
          <a:solidFill>
            <a:srgbClr val="DF5325"/>
          </a:solidFill>
          <a:ln cap="flat" cmpd="sng" w="9525">
            <a:no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rgbClr val="FFFFFF"/>
                </a:solidFill>
                <a:latin typeface="Arial"/>
                <a:ea typeface="Arial"/>
                <a:cs typeface="Arial"/>
                <a:sym typeface="Arial"/>
              </a:rPr>
              <a:t>Code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rgbClr val="FFFFFF"/>
                </a:solidFill>
                <a:latin typeface="Arial"/>
                <a:ea typeface="Arial"/>
                <a:cs typeface="Arial"/>
                <a:sym typeface="Arial"/>
              </a:rPr>
              <a:t>a diff you review</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263526" y="3380000"/>
            <a:ext cx="215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Agent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the output is an action or answer</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2650000" y="338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Customer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“Is my windscreen covered?”</a:t>
            </a:r>
            <a:endParaRPr b="0" i="0" sz="1400" u="none" cap="none" strike="noStrike">
              <a:solidFill>
                <a:srgbClr val="000000"/>
              </a:solidFill>
              <a:latin typeface="Arial"/>
              <a:ea typeface="Arial"/>
              <a:cs typeface="Arial"/>
              <a:sym typeface="Arial"/>
            </a:endParaRPr>
          </a:p>
        </p:txBody>
      </p:sp>
      <p:cxnSp>
        <p:nvCxnSpPr>
          <p:cNvPr id="549" name="Connector 548"/>
          <p:cNvCxnSpPr/>
          <p:nvPr/>
        </p:nvCxnSpPr>
        <p:spPr>
          <a:xfrm>
            <a:off x="4710000" y="395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5070000" y="338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Agent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LLM + instructions + tools</a:t>
            </a:r>
            <a:endParaRPr b="0" i="0" sz="1400" u="none" cap="none" strike="noStrike">
              <a:solidFill>
                <a:srgbClr val="000000"/>
              </a:solidFill>
              <a:latin typeface="Arial"/>
              <a:ea typeface="Arial"/>
              <a:cs typeface="Arial"/>
              <a:sym typeface="Arial"/>
            </a:endParaRPr>
          </a:p>
        </p:txBody>
      </p:sp>
      <p:cxnSp>
        <p:nvCxnSpPr>
          <p:cNvPr id="550" name="Connector 549"/>
          <p:cNvCxnSpPr/>
          <p:nvPr/>
        </p:nvCxnSpPr>
        <p:spPr>
          <a:xfrm>
            <a:off x="7130000" y="395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7490000" y="338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Calls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policy lookup, CRM, calculator</a:t>
            </a:r>
            <a:endParaRPr b="0" i="0" sz="1400" u="none" cap="none" strike="noStrike">
              <a:solidFill>
                <a:srgbClr val="000000"/>
              </a:solidFill>
              <a:latin typeface="Arial"/>
              <a:ea typeface="Arial"/>
              <a:cs typeface="Arial"/>
              <a:sym typeface="Arial"/>
            </a:endParaRPr>
          </a:p>
        </p:txBody>
      </p:sp>
      <p:cxnSp>
        <p:nvCxnSpPr>
          <p:cNvPr id="551" name="Connector 550"/>
          <p:cNvCxnSpPr/>
          <p:nvPr/>
        </p:nvCxnSpPr>
        <p:spPr>
          <a:xfrm>
            <a:off x="9550000" y="395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9910000" y="3380000"/>
            <a:ext cx="2020000" cy="1150000"/>
          </a:xfrm>
          <a:prstGeom prst="roundRect">
            <a:avLst>
              <a:gd fmla="val 8775" name="adj"/>
            </a:avLst>
          </a:prstGeom>
          <a:solidFill>
            <a:srgbClr val="DF5325"/>
          </a:solidFill>
          <a:ln cap="flat" cmpd="sng" w="9525">
            <a:no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rgbClr val="FFFFFF"/>
                </a:solidFill>
                <a:latin typeface="Arial"/>
                <a:ea typeface="Arial"/>
                <a:cs typeface="Arial"/>
                <a:sym typeface="Arial"/>
              </a:rPr>
              <a:t>Answer / 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rgbClr val="FFFFFF"/>
                </a:solidFill>
                <a:latin typeface="Arial"/>
                <a:ea typeface="Arial"/>
                <a:cs typeface="Arial"/>
                <a:sym typeface="Arial"/>
              </a:rPr>
              <a:t>decision sent to the customer</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263526" y="4760000"/>
            <a:ext cx="215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Coding agent builds an agent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the output is an agent</a:t>
            </a:r>
            <a:endParaRPr b="0" i="0" sz="1400" u="none" cap="none" strike="noStrike">
              <a:solidFill>
                <a:srgbClr val="000000"/>
              </a:solidFill>
              <a:latin typeface="Arial"/>
              <a:ea typeface="Arial"/>
              <a:cs typeface="Arial"/>
              <a:sym typeface="Arial"/>
            </a:endParaRPr>
          </a:p>
        </p:txBody>
      </p:sp>
      <p:sp>
        <p:nvSpPr>
          <p:cNvPr id="545" name="Google Shape;545;p14"/>
          <p:cNvSpPr/>
          <p:nvPr/>
        </p:nvSpPr>
        <p:spPr>
          <a:xfrm>
            <a:off x="2650000" y="476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You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“Build me a claims agent in Orq”</a:t>
            </a:r>
            <a:endParaRPr b="0" i="0" sz="1400" u="none" cap="none" strike="noStrike">
              <a:solidFill>
                <a:srgbClr val="000000"/>
              </a:solidFill>
              <a:latin typeface="Arial"/>
              <a:ea typeface="Arial"/>
              <a:cs typeface="Arial"/>
              <a:sym typeface="Arial"/>
            </a:endParaRPr>
          </a:p>
        </p:txBody>
      </p:sp>
      <p:cxnSp>
        <p:nvCxnSpPr>
          <p:cNvPr id="552" name="Connector 551"/>
          <p:cNvCxnSpPr/>
          <p:nvPr/>
        </p:nvCxnSpPr>
        <p:spPr>
          <a:xfrm>
            <a:off x="4710000" y="533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5070000" y="476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Coding agent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Claude Code, Codex, Cursor</a:t>
            </a:r>
            <a:endParaRPr b="0" i="0" sz="1400" u="none" cap="none" strike="noStrike">
              <a:solidFill>
                <a:srgbClr val="000000"/>
              </a:solidFill>
              <a:latin typeface="Arial"/>
              <a:ea typeface="Arial"/>
              <a:cs typeface="Arial"/>
              <a:sym typeface="Arial"/>
            </a:endParaRPr>
          </a:p>
        </p:txBody>
      </p:sp>
      <p:cxnSp>
        <p:nvCxnSpPr>
          <p:cNvPr id="553" name="Connector 552"/>
          <p:cNvCxnSpPr/>
          <p:nvPr/>
        </p:nvCxnSpPr>
        <p:spPr>
          <a:xfrm>
            <a:off x="7130000" y="533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7490000" y="4760000"/>
            <a:ext cx="2020000" cy="1150000"/>
          </a:xfrm>
          <a:prstGeom prst="roundRect">
            <a:avLst>
              <a:gd fmla="val 8775" name="adj"/>
            </a:avLst>
          </a:prstGeom>
          <a:solidFill>
            <a:schemeClr val="lt1">
              <a:alpha val="5098"/>
            </a:schemeClr>
          </a:solidFill>
          <a:ln cap="flat" cmpd="sng" w="9525">
            <a:solidFill>
              <a:schemeClr val="dk1">
                <a:alpha val="10196"/>
              </a:schemeClr>
            </a:solid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orq CLI / MCP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chemeClr val="dk2"/>
                </a:solidFill>
                <a:latin typeface="Arial"/>
                <a:ea typeface="Arial"/>
                <a:cs typeface="Arial"/>
                <a:sym typeface="Arial"/>
              </a:rPr>
              <a:t>creates agent, tools, evaluators</a:t>
            </a:r>
            <a:endParaRPr b="0" i="0" sz="1400" u="none" cap="none" strike="noStrike">
              <a:solidFill>
                <a:srgbClr val="000000"/>
              </a:solidFill>
              <a:latin typeface="Arial"/>
              <a:ea typeface="Arial"/>
              <a:cs typeface="Arial"/>
              <a:sym typeface="Arial"/>
            </a:endParaRPr>
          </a:p>
        </p:txBody>
      </p:sp>
      <p:cxnSp>
        <p:nvCxnSpPr>
          <p:cNvPr id="554" name="Connector 553"/>
          <p:cNvCxnSpPr/>
          <p:nvPr/>
        </p:nvCxnSpPr>
        <p:spPr>
          <a:xfrm>
            <a:off x="9550000" y="5335000"/>
            <a:ext cx="320000" cy="0"/>
          </a:xfrm>
          <a:prstGeom prst="line">
            <a:avLst/>
          </a:prstGeom>
          <a:ln w="19050">
            <a:solidFill>
              <a:srgbClr val="6B6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5" name="Google Shape;545;p14"/>
          <p:cNvSpPr/>
          <p:nvPr/>
        </p:nvSpPr>
        <p:spPr>
          <a:xfrm>
            <a:off x="9910000" y="4760000"/>
            <a:ext cx="2020000" cy="1150000"/>
          </a:xfrm>
          <a:prstGeom prst="roundRect">
            <a:avLst>
              <a:gd fmla="val 8775" name="adj"/>
            </a:avLst>
          </a:prstGeom>
          <a:solidFill>
            <a:srgbClr val="DF5325"/>
          </a:solidFill>
          <a:ln cap="flat" cmpd="sng" w="9525">
            <a:noFill/>
            <a:prstDash val="solid"/>
            <a:round/>
            <a:headEnd len="sm" w="sm" type="none"/>
            <a:tailEnd len="sm" w="sm" type="none"/>
          </a:ln>
        </p:spPr>
        <p:txBody>
          <a:bodyPr anchorCtr="0" anchor="ctr" bIns="72000" lIns="144000" spcFirstLastPara="1" rIns="144000" wrap="square" tIns="72000">
            <a:no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rgbClr val="FFFFFF"/>
                </a:solidFill>
                <a:latin typeface="Arial"/>
                <a:ea typeface="Arial"/>
                <a:cs typeface="Arial"/>
                <a:sym typeface="Arial"/>
              </a:rPr>
              <a:t>Agent in Orq</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1000"/>
              <a:buFont typeface="Arial"/>
              <a:buNone/>
            </a:pPr>
            <a:r>
              <a:rPr b="0" i="0" lang="en-US" sz="1000" u="none" cap="none" strike="noStrike">
                <a:solidFill>
                  <a:srgbClr val="FFFFFF"/>
                </a:solidFill>
                <a:latin typeface="Arial"/>
                <a:ea typeface="Arial"/>
                <a:cs typeface="Arial"/>
                <a:sym typeface="Arial"/>
              </a:rPr>
              <a:t>then runs like the row above</a:t>
            </a:r>
            <a:endParaRPr b="0" i="0" sz="1400" u="none" cap="none" strike="noStrike">
              <a:solidFill>
                <a:srgbClr val="000000"/>
              </a:solidFill>
              <a:latin typeface="Arial"/>
              <a:ea typeface="Arial"/>
              <a:cs typeface="Arial"/>
              <a:sym typeface="Arial"/>
            </a:endParaRPr>
          </a:p>
        </p:txBody>
      </p:sp>
      <p:sp>
        <p:nvSpPr>
          <p:cNvPr id="543" name="Google Shape;543;p14"/>
          <p:cNvSpPr txBox="1"/>
          <p:nvPr/>
        </p:nvSpPr>
        <p:spPr>
          <a:xfrm>
            <a:off x="2650000" y="6000000"/>
            <a:ext cx="9300000" cy="246221"/>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00"/>
              <a:buFont typeface="Arial"/>
              <a:buNone/>
            </a:pPr>
            <a:r>
              <a:rPr b="0" i="0" lang="en-US" sz="1100" u="none" cap="none" strike="noStrike">
                <a:solidFill>
                  <a:srgbClr val="6B6A6D"/>
                </a:solidFill>
                <a:latin typeface="Arial"/>
                <a:ea typeface="Arial"/>
                <a:cs typeface="Arial"/>
                <a:sym typeface="Arial"/>
              </a:rPr>
              <a:t>The agent built in the last row is the agent from the middle row: same thing, a different way to create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Theme">
  <a:themeElements>
    <a:clrScheme name="Custom 38">
      <a:dk1>
        <a:srgbClr val="141319"/>
      </a:dk1>
      <a:lt1>
        <a:srgbClr val="FFFFFF"/>
      </a:lt1>
      <a:dk2>
        <a:srgbClr val="8A898C"/>
      </a:dk2>
      <a:lt2>
        <a:srgbClr val="FAF7F4"/>
      </a:lt2>
      <a:accent1>
        <a:srgbClr val="DF5325"/>
      </a:accent1>
      <a:accent2>
        <a:srgbClr val="00FFDD"/>
      </a:accent2>
      <a:accent3>
        <a:srgbClr val="00342D"/>
      </a:accent3>
      <a:accent4>
        <a:srgbClr val="141319"/>
      </a:accent4>
      <a:accent5>
        <a:srgbClr val="35B8FF"/>
      </a:accent5>
      <a:accent6>
        <a:srgbClr val="DDD7D2"/>
      </a:accent6>
      <a:hlink>
        <a:srgbClr val="FF8F35"/>
      </a:hlink>
      <a:folHlink>
        <a:srgbClr val="FF8F3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2025-11-07T09:59:56Z</dcterms:created>
  <dc:creator>Ante Sosic</dc:creator>
</cp:coreProperties>
</file>